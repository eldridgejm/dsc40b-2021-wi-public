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  <p:sldMasterId id="2147483681" r:id="rId2"/>
    <p:sldMasterId id="2147483668" r:id="rId3"/>
  </p:sldMasterIdLst>
  <p:notesMasterIdLst>
    <p:notesMasterId r:id="rId51"/>
  </p:notesMasterIdLst>
  <p:sldIdLst>
    <p:sldId id="256" r:id="rId4"/>
    <p:sldId id="779" r:id="rId5"/>
    <p:sldId id="812" r:id="rId6"/>
    <p:sldId id="813" r:id="rId7"/>
    <p:sldId id="814" r:id="rId8"/>
    <p:sldId id="815" r:id="rId9"/>
    <p:sldId id="816" r:id="rId10"/>
    <p:sldId id="817" r:id="rId11"/>
    <p:sldId id="818" r:id="rId12"/>
    <p:sldId id="819" r:id="rId13"/>
    <p:sldId id="820" r:id="rId14"/>
    <p:sldId id="822" r:id="rId15"/>
    <p:sldId id="826" r:id="rId16"/>
    <p:sldId id="825" r:id="rId17"/>
    <p:sldId id="828" r:id="rId18"/>
    <p:sldId id="832" r:id="rId19"/>
    <p:sldId id="827" r:id="rId20"/>
    <p:sldId id="831" r:id="rId21"/>
    <p:sldId id="829" r:id="rId22"/>
    <p:sldId id="830" r:id="rId23"/>
    <p:sldId id="833" r:id="rId24"/>
    <p:sldId id="834" r:id="rId25"/>
    <p:sldId id="835" r:id="rId26"/>
    <p:sldId id="836" r:id="rId27"/>
    <p:sldId id="837" r:id="rId28"/>
    <p:sldId id="838" r:id="rId29"/>
    <p:sldId id="841" r:id="rId30"/>
    <p:sldId id="839" r:id="rId31"/>
    <p:sldId id="840" r:id="rId32"/>
    <p:sldId id="842" r:id="rId33"/>
    <p:sldId id="843" r:id="rId34"/>
    <p:sldId id="844" r:id="rId35"/>
    <p:sldId id="845" r:id="rId36"/>
    <p:sldId id="846" r:id="rId37"/>
    <p:sldId id="847" r:id="rId38"/>
    <p:sldId id="848" r:id="rId39"/>
    <p:sldId id="849" r:id="rId40"/>
    <p:sldId id="850" r:id="rId41"/>
    <p:sldId id="852" r:id="rId42"/>
    <p:sldId id="851" r:id="rId43"/>
    <p:sldId id="853" r:id="rId44"/>
    <p:sldId id="854" r:id="rId45"/>
    <p:sldId id="855" r:id="rId46"/>
    <p:sldId id="811" r:id="rId47"/>
    <p:sldId id="821" r:id="rId48"/>
    <p:sldId id="823" r:id="rId49"/>
    <p:sldId id="824" r:id="rId50"/>
  </p:sldIdLst>
  <p:sldSz cx="9144000" cy="6858000" type="screen4x3"/>
  <p:notesSz cx="6858000" cy="9144000"/>
  <p:embeddedFontLst>
    <p:embeddedFont>
      <p:font typeface="Bookman Old Style" panose="02050604050505020204" pitchFamily="18" charset="0"/>
      <p:regular r:id="rId52"/>
      <p:bold r:id="rId53"/>
      <p:italic r:id="rId54"/>
      <p:boldItalic r:id="rId55"/>
    </p:embeddedFont>
    <p:embeddedFont>
      <p:font typeface="Calibri" panose="020F0502020204030204" pitchFamily="34" charset="0"/>
      <p:regular r:id="rId56"/>
      <p:bold r:id="rId57"/>
      <p:italic r:id="rId58"/>
      <p:boldItalic r:id="rId59"/>
    </p:embeddedFont>
    <p:embeddedFont>
      <p:font typeface="Calibri Light" panose="020F0302020204030204" pitchFamily="34" charset="0"/>
      <p:regular r:id="rId60"/>
      <p:italic r:id="rId61"/>
    </p:embeddedFont>
    <p:embeddedFont>
      <p:font typeface="Cambria Math" panose="02040503050406030204" pitchFamily="18" charset="0"/>
      <p:regular r:id="rId62"/>
    </p:embeddedFont>
    <p:embeddedFont>
      <p:font typeface="Gill Sans MT" panose="020B0502020104020203" pitchFamily="34" charset="0"/>
      <p:regular r:id="rId63"/>
      <p:bold r:id="rId64"/>
      <p:italic r:id="rId65"/>
      <p:boldItalic r:id="rId66"/>
    </p:embeddedFont>
    <p:embeddedFont>
      <p:font typeface="Times" panose="02020603050405020304" pitchFamily="18" charset="0"/>
      <p:regular r:id="rId67"/>
      <p:bold r:id="rId68"/>
      <p:italic r:id="rId69"/>
      <p:boldItalic r:id="rId70"/>
    </p:embeddedFont>
    <p:embeddedFont>
      <p:font typeface="Wingdings 3" panose="05040102010807070707" pitchFamily="18" charset="2"/>
      <p:regular r:id="rId71"/>
    </p:embeddedFont>
  </p:embeddedFontLst>
  <p:custDataLst>
    <p:tags r:id="rId72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0E8F"/>
    <a:srgbClr val="700000"/>
    <a:srgbClr val="187E61"/>
    <a:srgbClr val="6E7792"/>
    <a:srgbClr val="FF9900"/>
    <a:srgbClr val="FFFFCC"/>
    <a:srgbClr val="46464C"/>
    <a:srgbClr val="1F0C64"/>
    <a:srgbClr val="9FA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0909" autoAdjust="0"/>
  </p:normalViewPr>
  <p:slideViewPr>
    <p:cSldViewPr>
      <p:cViewPr varScale="1">
        <p:scale>
          <a:sx n="61" d="100"/>
          <a:sy n="61" d="100"/>
        </p:scale>
        <p:origin x="14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12.fntdata"/><Relationship Id="rId68" Type="http://schemas.openxmlformats.org/officeDocument/2006/relationships/font" Target="fonts/font1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font" Target="fonts/font15.fntdata"/><Relationship Id="rId74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font" Target="fonts/font10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font" Target="fonts/font5.fntdata"/><Relationship Id="rId64" Type="http://schemas.openxmlformats.org/officeDocument/2006/relationships/font" Target="fonts/font13.fntdata"/><Relationship Id="rId69" Type="http://schemas.openxmlformats.org/officeDocument/2006/relationships/font" Target="fonts/font18.fntdata"/><Relationship Id="rId8" Type="http://schemas.openxmlformats.org/officeDocument/2006/relationships/slide" Target="slides/slide5.xml"/><Relationship Id="rId51" Type="http://schemas.openxmlformats.org/officeDocument/2006/relationships/notesMaster" Target="notesMasters/notesMaster1.xml"/><Relationship Id="rId72" Type="http://schemas.openxmlformats.org/officeDocument/2006/relationships/tags" Target="tags/tag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8.fntdata"/><Relationship Id="rId67" Type="http://schemas.openxmlformats.org/officeDocument/2006/relationships/font" Target="fonts/font16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70" Type="http://schemas.openxmlformats.org/officeDocument/2006/relationships/font" Target="fonts/font19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font" Target="fonts/font6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font" Target="fonts/font14.fntdata"/><Relationship Id="rId73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font" Target="fonts/font4.fntdata"/><Relationship Id="rId76" Type="http://schemas.openxmlformats.org/officeDocument/2006/relationships/tableStyles" Target="tableStyles.xml"/><Relationship Id="rId7" Type="http://schemas.openxmlformats.org/officeDocument/2006/relationships/slide" Target="slides/slide4.xml"/><Relationship Id="rId71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C45A928-D252-4E73-BA6C-5EBB50EA9974}" type="datetimeFigureOut">
              <a:rPr lang="en-US"/>
              <a:pPr>
                <a:defRPr/>
              </a:pPr>
              <a:t>1/24/2021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DE926EA-2410-44E1-B457-BBA54A1622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734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about three nodes, what is the easiest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E926EA-2410-44E1-B457-BBA54A162217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9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about three nodes, what is the easiest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E926EA-2410-44E1-B457-BBA54A162217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35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E926EA-2410-44E1-B457-BBA54A162217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30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E926EA-2410-44E1-B457-BBA54A162217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86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E926EA-2410-44E1-B457-BBA54A162217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92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E926EA-2410-44E1-B457-BBA54A162217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766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draw on the nodes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E926EA-2410-44E1-B457-BBA54A162217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704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draw on the nodes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E926EA-2410-44E1-B457-BBA54A162217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884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"/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21"/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 sz="1400" smtClean="0"/>
            </a:lvl1pPr>
          </a:lstStyle>
          <a:p>
            <a:pPr>
              <a:defRPr/>
            </a:pPr>
            <a:fld id="{E16C4EF9-5865-4A6A-9380-B94D95EDFBB1}" type="datetime1">
              <a:rPr lang="en-US"/>
              <a:pPr>
                <a:defRPr/>
              </a:pPr>
              <a:t>1/24/2021</a:t>
            </a:fld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1"/>
          </p:nvPr>
        </p:nvSpPr>
        <p:spPr>
          <a:xfrm>
            <a:off x="1216025" y="6354763"/>
            <a:ext cx="12192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E774B-0244-43AE-81AE-949E2AED0B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8D4EC-B919-4B7F-AD2C-08A3936481C2}" type="datetime1">
              <a:rPr lang="en-US"/>
              <a:pPr>
                <a:defRPr/>
              </a:pPr>
              <a:t>1/24/2021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1FFA5E-D537-4A8C-B688-12FAF7CC1F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78A1A-418A-4889-8466-7277E8543661}" type="datetime1">
              <a:rPr lang="en-US"/>
              <a:pPr>
                <a:defRPr/>
              </a:pPr>
              <a:t>1/24/2021</a:t>
            </a:fld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51084-9ADD-481F-8E3A-A4A104A15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D7207B-C772-46C0-AF6B-C696C628ECD6}" type="datetime1">
              <a:rPr lang="en-US"/>
              <a:pPr>
                <a:defRPr/>
              </a:pPr>
              <a:t>1/24/2021</a:t>
            </a:fld>
            <a:endParaRPr lang="en-US"/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0823A-D158-4554-9F4D-D1401680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90D1A-9AF0-4373-9C19-31BA056F18D0}" type="datetime1">
              <a:rPr lang="en-US"/>
              <a:pPr>
                <a:defRPr/>
              </a:pPr>
              <a:t>1/24/2021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02858-B2E8-4CEF-AB5E-E0718287C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5CEBB1-9625-48F6-B3A4-11D228BFD397}" type="datetime1">
              <a:rPr lang="en-US"/>
              <a:pPr>
                <a:defRPr/>
              </a:pPr>
              <a:t>1/24/2021</a:t>
            </a:fld>
            <a:endParaRPr lang="en-US"/>
          </a:p>
        </p:txBody>
      </p:sp>
      <p:sp>
        <p:nvSpPr>
          <p:cNvPr id="3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D8101-5309-4DFF-AB2A-546F31B418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95152B-B4E1-457A-BC5F-3AB91570D542}" type="datetime1">
              <a:rPr lang="en-US" smtClean="0"/>
              <a:pPr>
                <a:defRPr/>
              </a:pPr>
              <a:t>1/24/2021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DBEE41-09A9-4372-AA29-C508F4A535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1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04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8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71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98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19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67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413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52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82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69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8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092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31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41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69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73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51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690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250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575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30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D195152B-B4E1-457A-BC5F-3AB91570D542}" type="datetime1">
              <a:rPr lang="en-US"/>
              <a:pPr>
                <a:defRPr/>
              </a:pPr>
              <a:t>1/24/2021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1BDBEE41-09A9-4372-AA29-C508F4A535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246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65" r:id="rId3"/>
    <p:sldLayoutId id="2147483664" r:id="rId4"/>
    <p:sldLayoutId id="2147483663" r:id="rId5"/>
    <p:sldLayoutId id="2147483662" r:id="rId6"/>
    <p:sldLayoutId id="2147483680" r:id="rId7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6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4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" y="1447800"/>
            <a:ext cx="74676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1219200" y="1823484"/>
            <a:ext cx="6858000" cy="1295400"/>
          </a:xfrm>
        </p:spPr>
        <p:txBody>
          <a:bodyPr/>
          <a:lstStyle/>
          <a:p>
            <a:pPr algn="ctr" eaLnBrk="1" hangingPunct="1"/>
            <a:r>
              <a:rPr lang="en-US" sz="2800" dirty="0">
                <a:solidFill>
                  <a:schemeClr val="bg1"/>
                </a:solidFill>
              </a:rPr>
              <a:t>DSC40B: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Theoretical Foundations of Data Science II </a:t>
            </a:r>
            <a:endParaRPr lang="en-US" sz="2800" i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62400"/>
            <a:ext cx="6858000" cy="188595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/>
              <a:t>Lecture 8:   </a:t>
            </a:r>
            <a:r>
              <a:rPr lang="en-US" sz="2800" i="1" dirty="0"/>
              <a:t>Binary search tree</a:t>
            </a:r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sz="2400" i="1" dirty="0"/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sz="1600" dirty="0"/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dirty="0"/>
              <a:t>Instructor: Yusu Wang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447800"/>
            <a:ext cx="304800" cy="2057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F6649-5A64-45D6-A6CA-8E8A3A6B0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94781-9569-4BCE-B3A3-2C8EB0F996B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/>
              <a:t>Imagine you are maintaining a database indexed by some keys (real values), and you hope to support the following operations: </a:t>
            </a:r>
          </a:p>
          <a:p>
            <a:pPr lvl="8"/>
            <a:endParaRPr lang="en-US" altLang="en-US" sz="800" dirty="0"/>
          </a:p>
          <a:p>
            <a:pPr lvl="1"/>
            <a:r>
              <a:rPr lang="en-US" altLang="en-US" sz="2000" dirty="0"/>
              <a:t>Search </a:t>
            </a:r>
          </a:p>
          <a:p>
            <a:pPr lvl="1"/>
            <a:r>
              <a:rPr lang="en-US" altLang="en-US" sz="2000" dirty="0"/>
              <a:t>Maximum</a:t>
            </a:r>
          </a:p>
          <a:p>
            <a:pPr lvl="1"/>
            <a:r>
              <a:rPr lang="en-US" altLang="en-US" sz="2000" dirty="0"/>
              <a:t>Minimum</a:t>
            </a:r>
          </a:p>
          <a:p>
            <a:pPr lvl="1"/>
            <a:r>
              <a:rPr lang="en-US" altLang="en-US" sz="2000" dirty="0"/>
              <a:t>Successor</a:t>
            </a:r>
          </a:p>
          <a:p>
            <a:pPr lvl="1"/>
            <a:r>
              <a:rPr lang="en-US" altLang="en-US" sz="2000" dirty="0"/>
              <a:t>Predecessor</a:t>
            </a:r>
          </a:p>
          <a:p>
            <a:pPr lvl="8"/>
            <a:endParaRPr lang="en-US" altLang="en-US" sz="2000" dirty="0"/>
          </a:p>
          <a:p>
            <a:pPr lvl="1"/>
            <a:r>
              <a:rPr lang="en-US" altLang="en-US" sz="2000" dirty="0"/>
              <a:t>Insert</a:t>
            </a:r>
          </a:p>
          <a:p>
            <a:pPr lvl="1"/>
            <a:r>
              <a:rPr lang="en-US" altLang="en-US" sz="2000" dirty="0"/>
              <a:t>Delete </a:t>
            </a:r>
          </a:p>
          <a:p>
            <a:pPr lvl="1"/>
            <a:r>
              <a:rPr lang="en-US" altLang="en-US" sz="2000" dirty="0"/>
              <a:t>Extract-Max</a:t>
            </a:r>
          </a:p>
          <a:p>
            <a:pPr lvl="1"/>
            <a:r>
              <a:rPr lang="en-US" altLang="en-US" sz="2000" dirty="0"/>
              <a:t>Increase-key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E9089B-9A0A-4030-B720-1B8ECB17E183}"/>
              </a:ext>
            </a:extLst>
          </p:cNvPr>
          <p:cNvSpPr/>
          <p:nvPr/>
        </p:nvSpPr>
        <p:spPr>
          <a:xfrm>
            <a:off x="990600" y="2514600"/>
            <a:ext cx="2362200" cy="2057400"/>
          </a:xfrm>
          <a:prstGeom prst="rect">
            <a:avLst/>
          </a:prstGeom>
          <a:solidFill>
            <a:srgbClr val="187E61">
              <a:alpha val="3686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A5275E-A0D9-4671-9CDD-49341A31EC82}"/>
              </a:ext>
            </a:extLst>
          </p:cNvPr>
          <p:cNvSpPr txBox="1"/>
          <p:nvPr/>
        </p:nvSpPr>
        <p:spPr>
          <a:xfrm>
            <a:off x="3931527" y="2083259"/>
            <a:ext cx="39624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First approach: sort the array of keys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640F01-FF2E-48B1-A6BC-63779AD93F49}"/>
                  </a:ext>
                </a:extLst>
              </p:cNvPr>
              <p:cNvSpPr txBox="1"/>
              <p:nvPr/>
            </p:nvSpPr>
            <p:spPr>
              <a:xfrm>
                <a:off x="5212474" y="2452591"/>
                <a:ext cx="138605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640F01-FF2E-48B1-A6BC-63779AD93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474" y="2452591"/>
                <a:ext cx="1386052" cy="430887"/>
              </a:xfrm>
              <a:prstGeom prst="rect">
                <a:avLst/>
              </a:prstGeom>
              <a:blipFill>
                <a:blip r:embed="rId2"/>
                <a:stretch>
                  <a:fillRect b="-18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EC27F7-DD78-4266-8225-746274E4EA8C}"/>
                  </a:ext>
                </a:extLst>
              </p:cNvPr>
              <p:cNvSpPr txBox="1"/>
              <p:nvPr/>
            </p:nvSpPr>
            <p:spPr>
              <a:xfrm>
                <a:off x="5243348" y="2845713"/>
                <a:ext cx="138605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EC27F7-DD78-4266-8225-746274E4E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3348" y="2845713"/>
                <a:ext cx="1386052" cy="430887"/>
              </a:xfrm>
              <a:prstGeom prst="rect">
                <a:avLst/>
              </a:prstGeom>
              <a:blipFill>
                <a:blip r:embed="rId3"/>
                <a:stretch>
                  <a:fillRect b="-18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01D9B3-F1AB-4189-B770-54A75684C13F}"/>
                  </a:ext>
                </a:extLst>
              </p:cNvPr>
              <p:cNvSpPr txBox="1"/>
              <p:nvPr/>
            </p:nvSpPr>
            <p:spPr>
              <a:xfrm>
                <a:off x="5257800" y="3226713"/>
                <a:ext cx="138605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01D9B3-F1AB-4189-B770-54A75684C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3226713"/>
                <a:ext cx="1386052" cy="430887"/>
              </a:xfrm>
              <a:prstGeom prst="rect">
                <a:avLst/>
              </a:prstGeom>
              <a:blipFill>
                <a:blip r:embed="rId4"/>
                <a:stretch>
                  <a:fillRect b="-18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785071-EA27-49E8-B8E4-54AF8E0931B9}"/>
                  </a:ext>
                </a:extLst>
              </p:cNvPr>
              <p:cNvSpPr txBox="1"/>
              <p:nvPr/>
            </p:nvSpPr>
            <p:spPr>
              <a:xfrm>
                <a:off x="5257800" y="3581400"/>
                <a:ext cx="138605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785071-EA27-49E8-B8E4-54AF8E093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3581400"/>
                <a:ext cx="1386052" cy="430887"/>
              </a:xfrm>
              <a:prstGeom prst="rect">
                <a:avLst/>
              </a:prstGeom>
              <a:blipFill>
                <a:blip r:embed="rId5"/>
                <a:stretch>
                  <a:fillRect b="-1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42306A-9989-4678-8519-F4CD30D34E76}"/>
                  </a:ext>
                </a:extLst>
              </p:cNvPr>
              <p:cNvSpPr txBox="1"/>
              <p:nvPr/>
            </p:nvSpPr>
            <p:spPr>
              <a:xfrm>
                <a:off x="5257800" y="3988713"/>
                <a:ext cx="138605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42306A-9989-4678-8519-F4CD30D34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3988713"/>
                <a:ext cx="1386052" cy="430887"/>
              </a:xfrm>
              <a:prstGeom prst="rect">
                <a:avLst/>
              </a:prstGeom>
              <a:blipFill>
                <a:blip r:embed="rId4"/>
                <a:stretch>
                  <a:fillRect b="-18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8BE8D0-D162-4774-AFE1-EEA924C492EA}"/>
                  </a:ext>
                </a:extLst>
              </p:cNvPr>
              <p:cNvSpPr txBox="1"/>
              <p:nvPr/>
            </p:nvSpPr>
            <p:spPr>
              <a:xfrm>
                <a:off x="5284076" y="5072836"/>
                <a:ext cx="138605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8BE8D0-D162-4774-AFE1-EEA924C49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6" y="5072836"/>
                <a:ext cx="1386052" cy="430887"/>
              </a:xfrm>
              <a:prstGeom prst="rect">
                <a:avLst/>
              </a:prstGeom>
              <a:blipFill>
                <a:blip r:embed="rId6"/>
                <a:stretch>
                  <a:fillRect b="-18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9399857E-15A5-4F95-820F-F1520D56D6F7}"/>
              </a:ext>
            </a:extLst>
          </p:cNvPr>
          <p:cNvSpPr/>
          <p:nvPr/>
        </p:nvSpPr>
        <p:spPr>
          <a:xfrm>
            <a:off x="4372304" y="4492240"/>
            <a:ext cx="3250324" cy="4464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 we use a linked list instead?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9014B7-6BDF-4EC8-8116-985DA20351FB}"/>
              </a:ext>
            </a:extLst>
          </p:cNvPr>
          <p:cNvSpPr/>
          <p:nvPr/>
        </p:nvSpPr>
        <p:spPr>
          <a:xfrm>
            <a:off x="3231274" y="5581029"/>
            <a:ext cx="5410200" cy="894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How to have a good data structure so we can support all these operations efficiently? </a:t>
            </a:r>
          </a:p>
        </p:txBody>
      </p:sp>
    </p:spTree>
    <p:extLst>
      <p:ext uri="{BB962C8B-B14F-4D97-AF65-F5344CB8AC3E}">
        <p14:creationId xmlns:p14="http://schemas.microsoft.com/office/powerpoint/2010/main" val="275050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/>
      <p:bldP spid="11" grpId="0"/>
      <p:bldP spid="12" grpId="0"/>
      <p:bldP spid="13" grpId="0"/>
      <p:bldP spid="14" grpId="0"/>
      <p:bldP spid="15" grpId="0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230B7-71A8-4479-9A31-5C525AD01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8827B-D199-46EC-B6BD-5D5BA1059E4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r>
              <a:rPr lang="en-US" dirty="0"/>
              <a:t>Binary search tree </a:t>
            </a:r>
          </a:p>
          <a:p>
            <a:pPr lvl="1"/>
            <a:r>
              <a:rPr lang="en-US" dirty="0"/>
              <a:t>support all the operations from previous slide </a:t>
            </a:r>
          </a:p>
          <a:p>
            <a:pPr lvl="2"/>
            <a:r>
              <a:rPr lang="en-US" dirty="0"/>
              <a:t>in time proportional to height of tree</a:t>
            </a:r>
          </a:p>
          <a:p>
            <a:pPr lvl="1"/>
            <a:endParaRPr lang="en-US" dirty="0"/>
          </a:p>
          <a:p>
            <a:r>
              <a:rPr lang="en-US" dirty="0"/>
              <a:t>(Review</a:t>
            </a:r>
            <a:r>
              <a:rPr lang="en-US" dirty="0">
                <a:sym typeface="Wingdings" panose="05000000000000000000" pitchFamily="2" charset="2"/>
              </a:rPr>
              <a:t>): h</a:t>
            </a:r>
            <a:r>
              <a:rPr lang="en-US" dirty="0"/>
              <a:t>ow to implement key operations, and time complexity</a:t>
            </a:r>
          </a:p>
          <a:p>
            <a:pPr lvl="1"/>
            <a:r>
              <a:rPr lang="en-US" dirty="0"/>
              <a:t>search,  insert (and delete) </a:t>
            </a:r>
          </a:p>
          <a:p>
            <a:pPr lvl="1"/>
            <a:endParaRPr lang="en-US" dirty="0"/>
          </a:p>
          <a:p>
            <a:r>
              <a:rPr lang="en-US" dirty="0"/>
              <a:t>Extension to </a:t>
            </a:r>
            <a:r>
              <a:rPr lang="en-US" dirty="0">
                <a:solidFill>
                  <a:srgbClr val="700000"/>
                </a:solidFill>
              </a:rPr>
              <a:t>balanced</a:t>
            </a:r>
            <a:r>
              <a:rPr lang="en-US" dirty="0"/>
              <a:t> binary search tree </a:t>
            </a:r>
          </a:p>
          <a:p>
            <a:endParaRPr lang="en-US" dirty="0"/>
          </a:p>
          <a:p>
            <a:r>
              <a:rPr lang="en-US" i="1" dirty="0"/>
              <a:t>Select</a:t>
            </a:r>
            <a:r>
              <a:rPr lang="en-US" dirty="0"/>
              <a:t> query:  </a:t>
            </a:r>
            <a:r>
              <a:rPr lang="en-US" dirty="0">
                <a:solidFill>
                  <a:srgbClr val="700000"/>
                </a:solidFill>
              </a:rPr>
              <a:t>augmenting</a:t>
            </a:r>
            <a:r>
              <a:rPr lang="en-US" dirty="0"/>
              <a:t> data structure </a:t>
            </a:r>
          </a:p>
          <a:p>
            <a:pPr lvl="1"/>
            <a:r>
              <a:rPr lang="en-US" dirty="0"/>
              <a:t>median, order statistics</a:t>
            </a:r>
          </a:p>
        </p:txBody>
      </p:sp>
    </p:spTree>
    <p:extLst>
      <p:ext uri="{BB962C8B-B14F-4D97-AF65-F5344CB8AC3E}">
        <p14:creationId xmlns:p14="http://schemas.microsoft.com/office/powerpoint/2010/main" val="2837156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224D8-06EE-4945-BFBF-76AB65AAB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552" y="29337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What is binary search tree?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AB0FC-B4DD-4920-BD6D-3003B3242FB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526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333B-C3F7-473F-9544-A85F454D7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6797C-B811-4154-8502-B283D88E7C5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dirty="0"/>
              <a:t>A binary tree is a rooted tree</a:t>
            </a:r>
          </a:p>
          <a:p>
            <a:pPr lvl="1"/>
            <a:r>
              <a:rPr lang="en-US" altLang="en-US" dirty="0"/>
              <a:t>where each node has at most 2 children 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Represented by a linked data structure</a:t>
            </a:r>
          </a:p>
          <a:p>
            <a:endParaRPr lang="en-US" altLang="en-US" dirty="0"/>
          </a:p>
          <a:p>
            <a:r>
              <a:rPr lang="en-US" altLang="en-US" dirty="0"/>
              <a:t>Each node contains at least fields:</a:t>
            </a:r>
          </a:p>
          <a:p>
            <a:pPr lvl="1"/>
            <a:r>
              <a:rPr lang="en-US" altLang="en-US" i="1" dirty="0"/>
              <a:t>Key  </a:t>
            </a:r>
          </a:p>
          <a:p>
            <a:pPr lvl="1"/>
            <a:r>
              <a:rPr lang="en-US" altLang="en-US" i="1" dirty="0"/>
              <a:t>Left</a:t>
            </a:r>
          </a:p>
          <a:p>
            <a:pPr lvl="1"/>
            <a:r>
              <a:rPr lang="en-US" altLang="en-US" i="1" dirty="0"/>
              <a:t>Right</a:t>
            </a:r>
          </a:p>
          <a:p>
            <a:pPr lvl="1"/>
            <a:r>
              <a:rPr lang="en-US" altLang="en-US" i="1" dirty="0"/>
              <a:t>Parent</a:t>
            </a:r>
          </a:p>
          <a:p>
            <a:endParaRPr lang="en-US" dirty="0"/>
          </a:p>
        </p:txBody>
      </p:sp>
      <p:sp>
        <p:nvSpPr>
          <p:cNvPr id="15" name="Oval 5">
            <a:extLst>
              <a:ext uri="{FF2B5EF4-FFF2-40B4-BE49-F238E27FC236}">
                <a16:creationId xmlns:a16="http://schemas.microsoft.com/office/drawing/2014/main" id="{4B5ACFD5-68C1-4E85-9559-BBA13B63B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6499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 dirty="0">
                <a:solidFill>
                  <a:srgbClr val="700000"/>
                </a:solidFill>
              </a:rPr>
              <a:t>3</a:t>
            </a:r>
          </a:p>
        </p:txBody>
      </p:sp>
      <p:sp>
        <p:nvSpPr>
          <p:cNvPr id="16" name="Oval 6">
            <a:extLst>
              <a:ext uri="{FF2B5EF4-FFF2-40B4-BE49-F238E27FC236}">
                <a16:creationId xmlns:a16="http://schemas.microsoft.com/office/drawing/2014/main" id="{085B60CE-7B2E-4C93-BE9F-4ED919542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7929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 dirty="0"/>
              <a:t>2</a:t>
            </a:r>
          </a:p>
        </p:txBody>
      </p:sp>
      <p:sp>
        <p:nvSpPr>
          <p:cNvPr id="17" name="Oval 9">
            <a:extLst>
              <a:ext uri="{FF2B5EF4-FFF2-40B4-BE49-F238E27FC236}">
                <a16:creationId xmlns:a16="http://schemas.microsoft.com/office/drawing/2014/main" id="{0A6DF7FD-99F9-407B-BAB6-8F1C67327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7929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4</a:t>
            </a:r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EFDADDEE-3283-4D4E-A9E8-C9C505A58F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00800" y="418338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634FA4A9-15D3-4034-A501-498C64A3533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410718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175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807C6-8498-482E-8536-8F27961D2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9772C1-FE6B-4AB5-8A27-1472B1F9B52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41434" y="1295400"/>
                <a:ext cx="8229600" cy="1059180"/>
              </a:xfrm>
            </p:spPr>
            <p:txBody>
              <a:bodyPr/>
              <a:lstStyle/>
              <a:p>
                <a:r>
                  <a:rPr lang="en-US" dirty="0"/>
                  <a:t>From root, following left pointers, we will visit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13, 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6,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3,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9772C1-FE6B-4AB5-8A27-1472B1F9B5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41434" y="1295400"/>
                <a:ext cx="8229600" cy="1059180"/>
              </a:xfrm>
              <a:blipFill>
                <a:blip r:embed="rId2"/>
                <a:stretch>
                  <a:fillRect l="-667" t="-5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3">
            <a:extLst>
              <a:ext uri="{FF2B5EF4-FFF2-40B4-BE49-F238E27FC236}">
                <a16:creationId xmlns:a16="http://schemas.microsoft.com/office/drawing/2014/main" id="{67CDFE0D-C4DE-4D83-8AAC-25B5A0983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1259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 dirty="0"/>
              <a:t>13</a:t>
            </a: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A611ABB0-6F9E-4EBA-A0D7-E323C14B0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7355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18</a:t>
            </a: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81EEA953-CC05-4F72-B74B-20E5CEF6D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6499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3</a:t>
            </a: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5891F00D-7DDB-40B6-A9BE-52A2D9900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7929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2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2BF7D079-A7E2-495F-A092-64F0B3714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6593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6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FC9C6105-0DB4-40A9-BC37-97BB0B600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2663" y="235616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5040AA3C-E47C-4EF6-A026-B22BBC7D1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7929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4</a:t>
            </a:r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8BFE63B7-5252-4C24-A1BB-EA5DEFC5A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6499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7</a:t>
            </a:r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ED045127-0186-45B1-8202-AD94B27A4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0" y="45643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13</a:t>
            </a:r>
          </a:p>
        </p:txBody>
      </p:sp>
      <p:sp>
        <p:nvSpPr>
          <p:cNvPr id="14" name="Oval 12">
            <a:extLst>
              <a:ext uri="{FF2B5EF4-FFF2-40B4-BE49-F238E27FC236}">
                <a16:creationId xmlns:a16="http://schemas.microsoft.com/office/drawing/2014/main" id="{CCA85B6A-009B-45F1-88AA-0E723119A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47167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 dirty="0"/>
              <a:t>9</a:t>
            </a: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FD02FC07-5707-431C-B5C4-F24F7BBA3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6499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17</a:t>
            </a:r>
          </a:p>
        </p:txBody>
      </p:sp>
      <p:sp>
        <p:nvSpPr>
          <p:cNvPr id="16" name="Oval 14">
            <a:extLst>
              <a:ext uri="{FF2B5EF4-FFF2-40B4-BE49-F238E27FC236}">
                <a16:creationId xmlns:a16="http://schemas.microsoft.com/office/drawing/2014/main" id="{E4ECC4F0-3319-4AAB-9035-B226E5892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6499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20</a:t>
            </a: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155FAC64-2D62-442E-A9F2-E958CE44B9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2354580"/>
            <a:ext cx="1371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C47F1264-AB09-4DC6-A969-EB7C6332D8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5000" y="311658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826C211A-D720-4875-9C4D-0F7A95D069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418338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DA0CAEE1-C63B-42F2-A73B-E3D68111E6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10718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CF99E8E5-FE3D-4451-A7C6-7CCDBF612FE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311658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A4F694BE-6B7B-4250-9701-1193A09E6C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410718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01FF17AF-1005-41BB-BD98-365D5248A3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61000" y="411988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7640E8DC-5F95-406F-B77B-8111887EE9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354580"/>
            <a:ext cx="1295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6B0AE291-0B3B-4130-968D-0ACF19D3F6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3600" y="319278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9DF97C74-CD18-4090-990A-F076EEBA003A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319278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77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333B-C3F7-473F-9544-A85F454D7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6797C-B811-4154-8502-B283D88E7C5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dirty="0"/>
              <a:t>A binary tree is a rooted tree where</a:t>
            </a:r>
          </a:p>
          <a:p>
            <a:pPr lvl="1"/>
            <a:r>
              <a:rPr lang="en-US" altLang="en-US" dirty="0"/>
              <a:t>each node has at most 2 children </a:t>
            </a:r>
          </a:p>
          <a:p>
            <a:r>
              <a:rPr lang="en-US" dirty="0"/>
              <a:t>A node is the root of the tree</a:t>
            </a:r>
          </a:p>
          <a:p>
            <a:pPr lvl="1"/>
            <a:r>
              <a:rPr lang="en-US" dirty="0"/>
              <a:t>if its parent is Nil</a:t>
            </a:r>
          </a:p>
          <a:p>
            <a:r>
              <a:rPr lang="en-US" dirty="0"/>
              <a:t>A node is a leaf </a:t>
            </a:r>
          </a:p>
          <a:p>
            <a:pPr lvl="1"/>
            <a:r>
              <a:rPr lang="en-US" dirty="0"/>
              <a:t>if both children are Nil </a:t>
            </a:r>
          </a:p>
          <a:p>
            <a:r>
              <a:rPr lang="en-US" dirty="0"/>
              <a:t>Left sub-tree, right sub-tree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>
                <a:solidFill>
                  <a:srgbClr val="700000"/>
                </a:solidFill>
              </a:rPr>
              <a:t>complete binary tree </a:t>
            </a:r>
          </a:p>
          <a:p>
            <a:pPr lvl="1"/>
            <a:r>
              <a:rPr lang="en-US" dirty="0"/>
              <a:t>is a binary tree where each node has two children other than leaves 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CD9D34C-D96B-42C6-AE4C-2A1AEFF7DE19}"/>
              </a:ext>
            </a:extLst>
          </p:cNvPr>
          <p:cNvGrpSpPr/>
          <p:nvPr/>
        </p:nvGrpSpPr>
        <p:grpSpPr>
          <a:xfrm>
            <a:off x="6019800" y="1905000"/>
            <a:ext cx="2518543" cy="2707990"/>
            <a:chOff x="6244457" y="1828800"/>
            <a:chExt cx="2518543" cy="2707990"/>
          </a:xfrm>
        </p:grpSpPr>
        <p:sp>
          <p:nvSpPr>
            <p:cNvPr id="15" name="Oval 5">
              <a:extLst>
                <a:ext uri="{FF2B5EF4-FFF2-40B4-BE49-F238E27FC236}">
                  <a16:creationId xmlns:a16="http://schemas.microsoft.com/office/drawing/2014/main" id="{4B5ACFD5-68C1-4E85-9559-BBA13B63B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0894" y="182880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>
                  <a:solidFill>
                    <a:srgbClr val="700000"/>
                  </a:solidFill>
                </a:rPr>
                <a:t>3</a:t>
              </a:r>
            </a:p>
          </p:txBody>
        </p:sp>
        <p:sp>
          <p:nvSpPr>
            <p:cNvPr id="16" name="Oval 6">
              <a:extLst>
                <a:ext uri="{FF2B5EF4-FFF2-40B4-BE49-F238E27FC236}">
                  <a16:creationId xmlns:a16="http://schemas.microsoft.com/office/drawing/2014/main" id="{085B60CE-7B2E-4C93-BE9F-4ED919542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7494" y="297180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2</a:t>
              </a:r>
            </a:p>
          </p:txBody>
        </p:sp>
        <p:sp>
          <p:nvSpPr>
            <p:cNvPr id="17" name="Oval 9">
              <a:extLst>
                <a:ext uri="{FF2B5EF4-FFF2-40B4-BE49-F238E27FC236}">
                  <a16:creationId xmlns:a16="http://schemas.microsoft.com/office/drawing/2014/main" id="{0A6DF7FD-99F9-407B-BAB6-8F1C67327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4294" y="297180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4</a:t>
              </a:r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EFDADDEE-3283-4D4E-A9E8-C9C505A58F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38494" y="2362200"/>
              <a:ext cx="228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634FA4A9-15D3-4034-A501-498C64A353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05294" y="3467100"/>
              <a:ext cx="228600" cy="495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17">
              <a:extLst>
                <a:ext uri="{FF2B5EF4-FFF2-40B4-BE49-F238E27FC236}">
                  <a16:creationId xmlns:a16="http://schemas.microsoft.com/office/drawing/2014/main" id="{E3482F36-2662-442C-BD1C-6D8C49CA47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82102" y="3469990"/>
              <a:ext cx="228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17">
              <a:extLst>
                <a:ext uri="{FF2B5EF4-FFF2-40B4-BE49-F238E27FC236}">
                  <a16:creationId xmlns:a16="http://schemas.microsoft.com/office/drawing/2014/main" id="{36887851-CF64-44BF-9123-F22B4D35B3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48094" y="3448050"/>
              <a:ext cx="228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18">
              <a:extLst>
                <a:ext uri="{FF2B5EF4-FFF2-40B4-BE49-F238E27FC236}">
                  <a16:creationId xmlns:a16="http://schemas.microsoft.com/office/drawing/2014/main" id="{BB22520B-5FE9-4E19-BA88-259DF34606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33794" y="2294934"/>
              <a:ext cx="3048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8">
              <a:extLst>
                <a:ext uri="{FF2B5EF4-FFF2-40B4-BE49-F238E27FC236}">
                  <a16:creationId xmlns:a16="http://schemas.microsoft.com/office/drawing/2014/main" id="{1471BB75-68D9-4CF4-9D1C-8160B52771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60980" y="3489040"/>
              <a:ext cx="228600" cy="495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Oval 6">
              <a:extLst>
                <a:ext uri="{FF2B5EF4-FFF2-40B4-BE49-F238E27FC236}">
                  <a16:creationId xmlns:a16="http://schemas.microsoft.com/office/drawing/2014/main" id="{57D62014-BAD9-4FBA-9B56-E0739601B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4457" y="407959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5</a:t>
              </a:r>
            </a:p>
          </p:txBody>
        </p:sp>
        <p:sp>
          <p:nvSpPr>
            <p:cNvPr id="14" name="Oval 6">
              <a:extLst>
                <a:ext uri="{FF2B5EF4-FFF2-40B4-BE49-F238E27FC236}">
                  <a16:creationId xmlns:a16="http://schemas.microsoft.com/office/drawing/2014/main" id="{CCC66AB0-3C2C-4555-8CED-563FAA16F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2294" y="407959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12</a:t>
              </a:r>
            </a:p>
          </p:txBody>
        </p:sp>
        <p:sp>
          <p:nvSpPr>
            <p:cNvPr id="20" name="Oval 6">
              <a:extLst>
                <a:ext uri="{FF2B5EF4-FFF2-40B4-BE49-F238E27FC236}">
                  <a16:creationId xmlns:a16="http://schemas.microsoft.com/office/drawing/2014/main" id="{4A5DB80A-B527-42DD-9C5E-10A6653B5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5694" y="4059226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1</a:t>
              </a:r>
            </a:p>
          </p:txBody>
        </p:sp>
        <p:sp>
          <p:nvSpPr>
            <p:cNvPr id="21" name="Oval 6">
              <a:extLst>
                <a:ext uri="{FF2B5EF4-FFF2-40B4-BE49-F238E27FC236}">
                  <a16:creationId xmlns:a16="http://schemas.microsoft.com/office/drawing/2014/main" id="{2F957756-B39B-4E02-A2B4-917D52353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5800" y="407959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397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B68CF-253E-4879-AED2-318ADFDAA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 (BST)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25C9EE-51AE-4B53-B350-F7D66905EE2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383424"/>
                <a:ext cx="8229600" cy="2819400"/>
              </a:xfrm>
            </p:spPr>
            <p:txBody>
              <a:bodyPr/>
              <a:lstStyle/>
              <a:p>
                <a:r>
                  <a:rPr lang="en-US" altLang="en-US" dirty="0">
                    <a:solidFill>
                      <a:srgbClr val="0070C0"/>
                    </a:solidFill>
                  </a:rPr>
                  <a:t>Binary-search-tree property</a:t>
                </a:r>
              </a:p>
              <a:p>
                <a:pPr lvl="1"/>
                <a:r>
                  <a:rPr lang="en-US" altLang="en-US" dirty="0"/>
                  <a:t>For any node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en-US" dirty="0"/>
                  <a:t>,  </a:t>
                </a:r>
              </a:p>
              <a:p>
                <a:pPr lvl="1">
                  <a:buFont typeface="Wingdings" charset="2"/>
                  <a:buNone/>
                </a:pPr>
                <a:r>
                  <a:rPr lang="en-US" altLang="en-US" dirty="0"/>
                  <a:t>	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𝐾𝑒𝑦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𝐿𝑒𝑓𝑡</m:t>
                        </m:r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𝐾𝑒𝑦</m:t>
                    </m:r>
                  </m:oMath>
                </a14:m>
                <a:r>
                  <a:rPr lang="en-US" altLang="en-US" dirty="0"/>
                  <a:t>  and  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𝐾𝑒𝑦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𝑅𝑖𝑔h𝑡</m:t>
                        </m:r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𝐾𝑒𝑦</m:t>
                    </m:r>
                  </m:oMath>
                </a14:m>
                <a:r>
                  <a:rPr lang="en-US" altLang="en-US" sz="1000" dirty="0"/>
                  <a:t>	</a:t>
                </a:r>
              </a:p>
              <a:p>
                <a:r>
                  <a:rPr lang="en-US" altLang="en-US" dirty="0"/>
                  <a:t>A binary tree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en-US" dirty="0"/>
                  <a:t> is a </a:t>
                </a:r>
                <a:r>
                  <a:rPr lang="en-US" altLang="en-US" dirty="0">
                    <a:solidFill>
                      <a:srgbClr val="0070C0"/>
                    </a:solidFill>
                  </a:rPr>
                  <a:t>binary search tree </a:t>
                </a:r>
                <a:r>
                  <a:rPr lang="en-US" altLang="en-US" dirty="0"/>
                  <a:t>(BST) if </a:t>
                </a:r>
              </a:p>
              <a:p>
                <a:pPr lvl="1"/>
                <a:r>
                  <a:rPr lang="en-US" altLang="en-US" dirty="0"/>
                  <a:t>it satisfies the binary search tree property</a:t>
                </a:r>
              </a:p>
              <a:p>
                <a:pPr lvl="1"/>
                <a:endParaRPr lang="en-US" altLang="en-US" dirty="0"/>
              </a:p>
              <a:p>
                <a:pPr lvl="1"/>
                <a:endParaRPr lang="en-US" alt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25C9EE-51AE-4B53-B350-F7D66905EE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383424"/>
                <a:ext cx="8229600" cy="2819400"/>
              </a:xfrm>
              <a:blipFill>
                <a:blip r:embed="rId2"/>
                <a:stretch>
                  <a:fillRect l="-667" t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58C548C-B8F1-4078-9F83-B7BEB4E682A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46690" y="4064876"/>
                <a:ext cx="8229600" cy="180252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altLang="en-US" dirty="0">
                    <a:solidFill>
                      <a:srgbClr val="0070C0"/>
                    </a:solidFill>
                  </a:rPr>
                  <a:t>Fact</a:t>
                </a:r>
              </a:p>
              <a:p>
                <a:pPr marL="274638" lvl="1" indent="0">
                  <a:buNone/>
                </a:pPr>
                <a:r>
                  <a:rPr lang="en-US" altLang="en-US" dirty="0"/>
                  <a:t>Given a binary search tree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, for any node </a:t>
                </a:r>
                <a14:m>
                  <m:oMath xmlns:m="http://schemas.openxmlformats.org/officeDocument/2006/math">
                    <m:r>
                      <a:rPr lang="en-US" alt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en-US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en-US" dirty="0"/>
                  <a:t>,  we have </a:t>
                </a:r>
              </a:p>
              <a:p>
                <a:pPr lvl="1">
                  <a:buFont typeface="Wingdings" charset="2"/>
                  <a:buNone/>
                </a:pPr>
                <a:r>
                  <a:rPr lang="en-US" altLang="en-US" dirty="0"/>
                  <a:t>	</a:t>
                </a:r>
                <a14:m>
                  <m:oMath xmlns:m="http://schemas.openxmlformats.org/officeDocument/2006/math">
                    <m:r>
                      <a:rPr lang="en-US" alt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i="1" smtClean="0">
                        <a:latin typeface="Cambria Math" panose="02040503050406030204" pitchFamily="18" charset="0"/>
                      </a:rPr>
                      <m:t>𝐾𝑒𝑦</m:t>
                    </m:r>
                    <m:r>
                      <a:rPr lang="en-US" altLang="en-US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en-US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i="1" smtClean="0">
                        <a:latin typeface="Cambria Math" panose="02040503050406030204" pitchFamily="18" charset="0"/>
                      </a:rPr>
                      <m:t>𝐾𝑒𝑦</m:t>
                    </m:r>
                  </m:oMath>
                </a14:m>
                <a:r>
                  <a:rPr lang="en-US" altLang="en-US" dirty="0"/>
                  <a:t>  if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en-US" dirty="0"/>
                  <a:t> is in the left subtree of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altLang="en-US" dirty="0"/>
                  <a:t> and </a:t>
                </a:r>
              </a:p>
              <a:p>
                <a:pPr lvl="1">
                  <a:buFont typeface="Wingdings" charset="2"/>
                  <a:buNone/>
                </a:pPr>
                <a:r>
                  <a:rPr lang="en-US" altLang="en-US" dirty="0"/>
                  <a:t>	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𝐾𝑒𝑦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𝐾𝑒𝑦</m:t>
                    </m:r>
                  </m:oMath>
                </a14:m>
                <a:r>
                  <a:rPr lang="en-US" altLang="en-US" dirty="0"/>
                  <a:t>  if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en-US" dirty="0"/>
                  <a:t> is in the right subtree of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dirty="0"/>
                  <a:t>    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58C548C-B8F1-4078-9F83-B7BEB4E68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6690" y="4064876"/>
                <a:ext cx="8229600" cy="1802524"/>
              </a:xfrm>
              <a:prstGeom prst="rect">
                <a:avLst/>
              </a:prstGeom>
              <a:blipFill>
                <a:blip r:embed="rId3"/>
                <a:stretch>
                  <a:fillRect t="-2333" b="-2333"/>
                </a:stretch>
              </a:blip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9549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807C6-8498-482E-8536-8F27961D2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772C1-FE6B-4AB5-8A27-1472B1F9B52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41434" y="1295400"/>
            <a:ext cx="8229600" cy="1059180"/>
          </a:xfrm>
        </p:spPr>
        <p:txBody>
          <a:bodyPr/>
          <a:lstStyle/>
          <a:p>
            <a:r>
              <a:rPr lang="en-US" dirty="0"/>
              <a:t>A valid BST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553F15A-842D-46F9-9682-E155E40B2144}"/>
              </a:ext>
            </a:extLst>
          </p:cNvPr>
          <p:cNvGrpSpPr/>
          <p:nvPr/>
        </p:nvGrpSpPr>
        <p:grpSpPr>
          <a:xfrm>
            <a:off x="914400" y="2125980"/>
            <a:ext cx="6781800" cy="3124200"/>
            <a:chOff x="914400" y="2125980"/>
            <a:chExt cx="6781800" cy="3124200"/>
          </a:xfrm>
        </p:grpSpPr>
        <p:sp>
          <p:nvSpPr>
            <p:cNvPr id="5" name="Oval 3">
              <a:extLst>
                <a:ext uri="{FF2B5EF4-FFF2-40B4-BE49-F238E27FC236}">
                  <a16:creationId xmlns:a16="http://schemas.microsoft.com/office/drawing/2014/main" id="{67CDFE0D-C4DE-4D83-8AAC-25B5A0983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2125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13</a:t>
              </a:r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A611ABB0-6F9E-4EBA-A0D7-E323C14B0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27355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18</a:t>
              </a:r>
            </a:p>
          </p:txBody>
        </p:sp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81EEA953-CC05-4F72-B74B-20E5CEF6DB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3</a:t>
              </a:r>
            </a:p>
          </p:txBody>
        </p:sp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5891F00D-7DDB-40B6-A9BE-52A2D9900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792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2</a:t>
              </a:r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2BF7D079-A7E2-495F-A092-64F0B3714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26593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6</a:t>
              </a: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FC9C6105-0DB4-40A9-BC37-97BB0B600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4250" y="2354580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 altLang="en-US"/>
            </a:p>
          </p:txBody>
        </p:sp>
        <p:sp>
          <p:nvSpPr>
            <p:cNvPr id="11" name="Oval 9">
              <a:extLst>
                <a:ext uri="{FF2B5EF4-FFF2-40B4-BE49-F238E27FC236}">
                  <a16:creationId xmlns:a16="http://schemas.microsoft.com/office/drawing/2014/main" id="{5040AA3C-E47C-4EF6-A026-B22BBC7D1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4792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4</a:t>
              </a:r>
            </a:p>
          </p:txBody>
        </p:sp>
        <p:sp>
          <p:nvSpPr>
            <p:cNvPr id="12" name="Oval 10">
              <a:extLst>
                <a:ext uri="{FF2B5EF4-FFF2-40B4-BE49-F238E27FC236}">
                  <a16:creationId xmlns:a16="http://schemas.microsoft.com/office/drawing/2014/main" id="{8BFE63B7-5252-4C24-A1BB-EA5DEFC5A9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7</a:t>
              </a:r>
            </a:p>
          </p:txBody>
        </p:sp>
        <p:sp>
          <p:nvSpPr>
            <p:cNvPr id="13" name="Oval 11">
              <a:extLst>
                <a:ext uri="{FF2B5EF4-FFF2-40B4-BE49-F238E27FC236}">
                  <a16:creationId xmlns:a16="http://schemas.microsoft.com/office/drawing/2014/main" id="{ED045127-0186-45B1-8202-AD94B27A4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0000" y="45643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13</a:t>
              </a:r>
            </a:p>
          </p:txBody>
        </p:sp>
        <p:sp>
          <p:nvSpPr>
            <p:cNvPr id="14" name="Oval 12">
              <a:extLst>
                <a:ext uri="{FF2B5EF4-FFF2-40B4-BE49-F238E27FC236}">
                  <a16:creationId xmlns:a16="http://schemas.microsoft.com/office/drawing/2014/main" id="{CCA85B6A-009B-45F1-88AA-0E723119A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6700" y="47167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9</a:t>
              </a:r>
            </a:p>
          </p:txBody>
        </p:sp>
        <p:sp>
          <p:nvSpPr>
            <p:cNvPr id="15" name="Oval 13">
              <a:extLst>
                <a:ext uri="{FF2B5EF4-FFF2-40B4-BE49-F238E27FC236}">
                  <a16:creationId xmlns:a16="http://schemas.microsoft.com/office/drawing/2014/main" id="{FD02FC07-5707-431C-B5C4-F24F7BBA3C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17</a:t>
              </a:r>
            </a:p>
          </p:txBody>
        </p:sp>
        <p:sp>
          <p:nvSpPr>
            <p:cNvPr id="16" name="Oval 14">
              <a:extLst>
                <a:ext uri="{FF2B5EF4-FFF2-40B4-BE49-F238E27FC236}">
                  <a16:creationId xmlns:a16="http://schemas.microsoft.com/office/drawing/2014/main" id="{E4ECC4F0-3319-4AAB-9035-B226E5892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0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20</a:t>
              </a:r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155FAC64-2D62-442E-A9F2-E958CE44B9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1800" y="2354580"/>
              <a:ext cx="1371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C47F1264-AB09-4DC6-A969-EB7C6332D8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5000" y="3116580"/>
              <a:ext cx="5334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826C211A-D720-4875-9C4D-0F7A95D069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5400" y="4183380"/>
              <a:ext cx="228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DA0CAEE1-C63B-42F2-A73B-E3D68111E6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8800" y="4107180"/>
              <a:ext cx="3048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CF99E8E5-FE3D-4451-A7C6-7CCDBF612F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800" y="311658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A4F694BE-6B7B-4250-9701-1193A09E6C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0" y="4107180"/>
              <a:ext cx="228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01FF17AF-1005-41BB-BD98-365D5248A3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61000" y="4119880"/>
              <a:ext cx="1524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7640E8DC-5F95-406F-B77B-8111887EE9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200" y="2354580"/>
              <a:ext cx="1295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6B0AE291-0B3B-4130-968D-0ACF19D3F6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43600" y="3192780"/>
              <a:ext cx="457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9DF97C74-CD18-4090-990A-F076EEBA00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4200" y="3192780"/>
              <a:ext cx="457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9798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807C6-8498-482E-8536-8F27961D2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772C1-FE6B-4AB5-8A27-1472B1F9B52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41434" y="1295400"/>
            <a:ext cx="8229600" cy="1059180"/>
          </a:xfrm>
        </p:spPr>
        <p:txBody>
          <a:bodyPr/>
          <a:lstStyle/>
          <a:p>
            <a:r>
              <a:rPr lang="en-US" dirty="0"/>
              <a:t>?</a:t>
            </a:r>
          </a:p>
        </p:txBody>
      </p:sp>
      <p:sp>
        <p:nvSpPr>
          <p:cNvPr id="5" name="Oval 3">
            <a:extLst>
              <a:ext uri="{FF2B5EF4-FFF2-40B4-BE49-F238E27FC236}">
                <a16:creationId xmlns:a16="http://schemas.microsoft.com/office/drawing/2014/main" id="{67CDFE0D-C4DE-4D83-8AAC-25B5A0983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1259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 dirty="0"/>
              <a:t>13</a:t>
            </a: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A611ABB0-6F9E-4EBA-A0D7-E323C14B0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7355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18</a:t>
            </a: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81EEA953-CC05-4F72-B74B-20E5CEF6D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6499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3</a:t>
            </a: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5891F00D-7DDB-40B6-A9BE-52A2D9900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7929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2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2BF7D079-A7E2-495F-A092-64F0B3714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7324" y="27355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 dirty="0"/>
              <a:t>6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FC9C6105-0DB4-40A9-BC37-97BB0B600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2663" y="235616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5040AA3C-E47C-4EF6-A026-B22BBC7D1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7929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4</a:t>
            </a:r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8BFE63B7-5252-4C24-A1BB-EA5DEFC5A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6499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7</a:t>
            </a:r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ED045127-0186-45B1-8202-AD94B27A4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0" y="45643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13</a:t>
            </a:r>
          </a:p>
        </p:txBody>
      </p:sp>
      <p:sp>
        <p:nvSpPr>
          <p:cNvPr id="14" name="Oval 12">
            <a:extLst>
              <a:ext uri="{FF2B5EF4-FFF2-40B4-BE49-F238E27FC236}">
                <a16:creationId xmlns:a16="http://schemas.microsoft.com/office/drawing/2014/main" id="{CCA85B6A-009B-45F1-88AA-0E723119A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47167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 dirty="0"/>
              <a:t>9</a:t>
            </a: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FD02FC07-5707-431C-B5C4-F24F7BBA3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6499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 dirty="0"/>
              <a:t>19</a:t>
            </a:r>
          </a:p>
        </p:txBody>
      </p:sp>
      <p:sp>
        <p:nvSpPr>
          <p:cNvPr id="16" name="Oval 14">
            <a:extLst>
              <a:ext uri="{FF2B5EF4-FFF2-40B4-BE49-F238E27FC236}">
                <a16:creationId xmlns:a16="http://schemas.microsoft.com/office/drawing/2014/main" id="{E4ECC4F0-3319-4AAB-9035-B226E5892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6499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20</a:t>
            </a: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155FAC64-2D62-442E-A9F2-E958CE44B9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2354580"/>
            <a:ext cx="1371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C47F1264-AB09-4DC6-A969-EB7C6332D8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5000" y="311658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826C211A-D720-4875-9C4D-0F7A95D069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418338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DA0CAEE1-C63B-42F2-A73B-E3D68111E6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10718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CF99E8E5-FE3D-4451-A7C6-7CCDBF612FE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311658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A4F694BE-6B7B-4250-9701-1193A09E6C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410718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01FF17AF-1005-41BB-BD98-365D5248A3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61000" y="411988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7640E8DC-5F95-406F-B77B-8111887EE9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354580"/>
            <a:ext cx="1295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6B0AE291-0B3B-4130-968D-0ACF19D3F6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3600" y="319278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9DF97C74-CD18-4090-990A-F076EEBA003A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319278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74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A075E-E0BF-460F-AF81-210A3F471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38526-B6C2-443F-B1F4-67F0815DF29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Given the same set of elements</a:t>
            </a:r>
          </a:p>
          <a:p>
            <a:pPr lvl="1"/>
            <a:r>
              <a:rPr lang="en-US" dirty="0"/>
              <a:t>there are many possible BSTs over them </a:t>
            </a:r>
          </a:p>
          <a:p>
            <a:pPr lvl="1"/>
            <a:endParaRPr lang="en-US" dirty="0"/>
          </a:p>
          <a:p>
            <a:r>
              <a:rPr lang="en-US" dirty="0"/>
              <a:t>Minimum? </a:t>
            </a:r>
          </a:p>
          <a:p>
            <a:pPr lvl="1"/>
            <a:r>
              <a:rPr lang="en-US" dirty="0"/>
              <a:t>Does it have to be a leaf? 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B23986-94F1-4DC6-B538-7559EBF1BAA3}"/>
              </a:ext>
            </a:extLst>
          </p:cNvPr>
          <p:cNvGrpSpPr/>
          <p:nvPr/>
        </p:nvGrpSpPr>
        <p:grpSpPr>
          <a:xfrm>
            <a:off x="5067300" y="2286000"/>
            <a:ext cx="3619500" cy="2590800"/>
            <a:chOff x="914400" y="2659380"/>
            <a:chExt cx="3619500" cy="2590800"/>
          </a:xfrm>
        </p:grpSpPr>
        <p:sp>
          <p:nvSpPr>
            <p:cNvPr id="4" name="Oval 5">
              <a:extLst>
                <a:ext uri="{FF2B5EF4-FFF2-40B4-BE49-F238E27FC236}">
                  <a16:creationId xmlns:a16="http://schemas.microsoft.com/office/drawing/2014/main" id="{12F815DE-F566-4A0A-9F66-40BE338E1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3</a:t>
              </a:r>
            </a:p>
          </p:txBody>
        </p:sp>
        <p:sp>
          <p:nvSpPr>
            <p:cNvPr id="5" name="Oval 6">
              <a:extLst>
                <a:ext uri="{FF2B5EF4-FFF2-40B4-BE49-F238E27FC236}">
                  <a16:creationId xmlns:a16="http://schemas.microsoft.com/office/drawing/2014/main" id="{6CEE5C98-74A4-40BF-96B8-8066C98C1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792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2</a:t>
              </a:r>
            </a:p>
          </p:txBody>
        </p:sp>
        <p:sp>
          <p:nvSpPr>
            <p:cNvPr id="6" name="Oval 7">
              <a:extLst>
                <a:ext uri="{FF2B5EF4-FFF2-40B4-BE49-F238E27FC236}">
                  <a16:creationId xmlns:a16="http://schemas.microsoft.com/office/drawing/2014/main" id="{AB08D98F-F44A-4F52-9C08-2D035829B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26593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6</a:t>
              </a:r>
            </a:p>
          </p:txBody>
        </p:sp>
        <p:sp>
          <p:nvSpPr>
            <p:cNvPr id="7" name="Oval 9">
              <a:extLst>
                <a:ext uri="{FF2B5EF4-FFF2-40B4-BE49-F238E27FC236}">
                  <a16:creationId xmlns:a16="http://schemas.microsoft.com/office/drawing/2014/main" id="{0C54561F-0CBA-47BA-AAD5-9CC7AC692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4792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4</a:t>
              </a:r>
            </a:p>
          </p:txBody>
        </p:sp>
        <p:sp>
          <p:nvSpPr>
            <p:cNvPr id="8" name="Oval 10">
              <a:extLst>
                <a:ext uri="{FF2B5EF4-FFF2-40B4-BE49-F238E27FC236}">
                  <a16:creationId xmlns:a16="http://schemas.microsoft.com/office/drawing/2014/main" id="{6354E5C7-9095-47C1-8A87-6FD2C78BC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7</a:t>
              </a:r>
            </a:p>
          </p:txBody>
        </p:sp>
        <p:sp>
          <p:nvSpPr>
            <p:cNvPr id="9" name="Oval 12">
              <a:extLst>
                <a:ext uri="{FF2B5EF4-FFF2-40B4-BE49-F238E27FC236}">
                  <a16:creationId xmlns:a16="http://schemas.microsoft.com/office/drawing/2014/main" id="{8BE25834-2B54-4136-8A75-CCA97528F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6700" y="47167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9</a:t>
              </a:r>
            </a:p>
          </p:txBody>
        </p:sp>
        <p:sp>
          <p:nvSpPr>
            <p:cNvPr id="10" name="Line 16">
              <a:extLst>
                <a:ext uri="{FF2B5EF4-FFF2-40B4-BE49-F238E27FC236}">
                  <a16:creationId xmlns:a16="http://schemas.microsoft.com/office/drawing/2014/main" id="{BF10A34F-B4AA-4625-B01E-3EA48164F2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5000" y="3116580"/>
              <a:ext cx="5334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17">
              <a:extLst>
                <a:ext uri="{FF2B5EF4-FFF2-40B4-BE49-F238E27FC236}">
                  <a16:creationId xmlns:a16="http://schemas.microsoft.com/office/drawing/2014/main" id="{787A89FD-7AE0-4F23-9414-5BB3A4F338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5400" y="4183380"/>
              <a:ext cx="228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8">
              <a:extLst>
                <a:ext uri="{FF2B5EF4-FFF2-40B4-BE49-F238E27FC236}">
                  <a16:creationId xmlns:a16="http://schemas.microsoft.com/office/drawing/2014/main" id="{A88A7150-2077-4964-8225-ADC934F23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8800" y="4107180"/>
              <a:ext cx="3048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9">
              <a:extLst>
                <a:ext uri="{FF2B5EF4-FFF2-40B4-BE49-F238E27FC236}">
                  <a16:creationId xmlns:a16="http://schemas.microsoft.com/office/drawing/2014/main" id="{B5D59DB4-DEE3-425B-980B-AFCCDF2402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800" y="311658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20">
              <a:extLst>
                <a:ext uri="{FF2B5EF4-FFF2-40B4-BE49-F238E27FC236}">
                  <a16:creationId xmlns:a16="http://schemas.microsoft.com/office/drawing/2014/main" id="{1801B90D-3E7F-4EE3-AD93-86773EB35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0" y="4107180"/>
              <a:ext cx="228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4457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A075E-E0BF-460F-AF81-210A3F471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138526-B6C2-443F-B1F4-67F0815DF299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Given the same set of elements</a:t>
                </a:r>
              </a:p>
              <a:p>
                <a:pPr lvl="1"/>
                <a:r>
                  <a:rPr lang="en-US" dirty="0"/>
                  <a:t>there are many possible BSTs over them 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Minimum? </a:t>
                </a:r>
              </a:p>
              <a:p>
                <a:pPr lvl="1"/>
                <a:r>
                  <a:rPr lang="en-US" dirty="0"/>
                  <a:t>Does it have to be a leaf? 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Maximum? </a:t>
                </a:r>
              </a:p>
              <a:p>
                <a:endParaRPr lang="en-US" dirty="0"/>
              </a:p>
              <a:p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nodes, </a:t>
                </a:r>
              </a:p>
              <a:p>
                <a:pPr lvl="1"/>
                <a:r>
                  <a:rPr lang="en-US" dirty="0"/>
                  <a:t>Tallest possible BST tree has height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=__________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Shortest possible BST tree has height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=__________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138526-B6C2-443F-B1F4-67F0815DF2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667" t="-1111" b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955E7543-6D6F-4921-95C1-8690DF9FB389}"/>
              </a:ext>
            </a:extLst>
          </p:cNvPr>
          <p:cNvGrpSpPr/>
          <p:nvPr/>
        </p:nvGrpSpPr>
        <p:grpSpPr>
          <a:xfrm>
            <a:off x="5600700" y="2133600"/>
            <a:ext cx="3086100" cy="2590800"/>
            <a:chOff x="1447800" y="2659380"/>
            <a:chExt cx="3086100" cy="2590800"/>
          </a:xfrm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7C64700C-ADBD-47CA-B39F-2DD866105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3</a:t>
              </a:r>
            </a:p>
          </p:txBody>
        </p:sp>
        <p:sp>
          <p:nvSpPr>
            <p:cNvPr id="18" name="Oval 6">
              <a:extLst>
                <a:ext uri="{FF2B5EF4-FFF2-40B4-BE49-F238E27FC236}">
                  <a16:creationId xmlns:a16="http://schemas.microsoft.com/office/drawing/2014/main" id="{E7625530-202A-4440-A5EE-B96E1F9D5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7278" y="4740691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7</a:t>
              </a:r>
            </a:p>
          </p:txBody>
        </p:sp>
        <p:sp>
          <p:nvSpPr>
            <p:cNvPr id="19" name="Oval 7">
              <a:extLst>
                <a:ext uri="{FF2B5EF4-FFF2-40B4-BE49-F238E27FC236}">
                  <a16:creationId xmlns:a16="http://schemas.microsoft.com/office/drawing/2014/main" id="{195E522A-A8FF-4894-9809-F68B226FA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26593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6</a:t>
              </a:r>
            </a:p>
          </p:txBody>
        </p:sp>
        <p:sp>
          <p:nvSpPr>
            <p:cNvPr id="20" name="Oval 9">
              <a:extLst>
                <a:ext uri="{FF2B5EF4-FFF2-40B4-BE49-F238E27FC236}">
                  <a16:creationId xmlns:a16="http://schemas.microsoft.com/office/drawing/2014/main" id="{BBEDBAAF-781E-42FB-BE18-F187FC119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4792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4</a:t>
              </a:r>
            </a:p>
          </p:txBody>
        </p:sp>
        <p:sp>
          <p:nvSpPr>
            <p:cNvPr id="21" name="Oval 10">
              <a:extLst>
                <a:ext uri="{FF2B5EF4-FFF2-40B4-BE49-F238E27FC236}">
                  <a16:creationId xmlns:a16="http://schemas.microsoft.com/office/drawing/2014/main" id="{A8E480BB-3FBC-4D8B-8197-20268B9D5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8</a:t>
              </a:r>
            </a:p>
          </p:txBody>
        </p:sp>
        <p:sp>
          <p:nvSpPr>
            <p:cNvPr id="22" name="Oval 12">
              <a:extLst>
                <a:ext uri="{FF2B5EF4-FFF2-40B4-BE49-F238E27FC236}">
                  <a16:creationId xmlns:a16="http://schemas.microsoft.com/office/drawing/2014/main" id="{B9461F6A-F6A5-4045-9891-4D5A5D98C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6700" y="47167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9</a:t>
              </a:r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CDECF1D8-9C76-4A24-8AE3-3649A49B87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5000" y="3116580"/>
              <a:ext cx="5334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17">
              <a:extLst>
                <a:ext uri="{FF2B5EF4-FFF2-40B4-BE49-F238E27FC236}">
                  <a16:creationId xmlns:a16="http://schemas.microsoft.com/office/drawing/2014/main" id="{9967A7B1-9397-4A05-809F-3E68D6257B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50324" y="4131090"/>
              <a:ext cx="304800" cy="6618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18">
              <a:extLst>
                <a:ext uri="{FF2B5EF4-FFF2-40B4-BE49-F238E27FC236}">
                  <a16:creationId xmlns:a16="http://schemas.microsoft.com/office/drawing/2014/main" id="{B07ED83B-95D9-4FD8-B44A-5328D6CF2D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8800" y="4107180"/>
              <a:ext cx="3048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19">
              <a:extLst>
                <a:ext uri="{FF2B5EF4-FFF2-40B4-BE49-F238E27FC236}">
                  <a16:creationId xmlns:a16="http://schemas.microsoft.com/office/drawing/2014/main" id="{D866EABA-5FB9-4D10-9499-910FF081BC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800" y="311658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0">
              <a:extLst>
                <a:ext uri="{FF2B5EF4-FFF2-40B4-BE49-F238E27FC236}">
                  <a16:creationId xmlns:a16="http://schemas.microsoft.com/office/drawing/2014/main" id="{07ECF861-307F-44D8-8690-2766DB5D47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0" y="4107180"/>
              <a:ext cx="228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425CE6A-2D02-4BF0-822A-E6B76DA5CBFB}"/>
                  </a:ext>
                </a:extLst>
              </p:cNvPr>
              <p:cNvSpPr txBox="1"/>
              <p:nvPr/>
            </p:nvSpPr>
            <p:spPr>
              <a:xfrm>
                <a:off x="5981700" y="5166096"/>
                <a:ext cx="7455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425CE6A-2D02-4BF0-822A-E6B76DA5C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5166096"/>
                <a:ext cx="74557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D34F97B-4E83-4373-A147-C7D19F94C14D}"/>
                  </a:ext>
                </a:extLst>
              </p:cNvPr>
              <p:cNvSpPr txBox="1"/>
              <p:nvPr/>
            </p:nvSpPr>
            <p:spPr>
              <a:xfrm>
                <a:off x="6218511" y="5607792"/>
                <a:ext cx="7455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unc>
                            <m:funcPr>
                              <m:ctrlP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lg</m:t>
                              </m:r>
                            </m:fName>
                            <m:e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D34F97B-4E83-4373-A147-C7D19F94C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8511" y="5607792"/>
                <a:ext cx="745578" cy="461665"/>
              </a:xfrm>
              <a:prstGeom prst="rect">
                <a:avLst/>
              </a:prstGeom>
              <a:blipFill>
                <a:blip r:embed="rId5"/>
                <a:stretch>
                  <a:fillRect l="-6557" r="-213115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121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224D8-06EE-4945-BFBF-76AB65AAB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552" y="29337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Operations in BST </a:t>
            </a:r>
          </a:p>
        </p:txBody>
      </p:sp>
    </p:spTree>
    <p:extLst>
      <p:ext uri="{BB962C8B-B14F-4D97-AF65-F5344CB8AC3E}">
        <p14:creationId xmlns:p14="http://schemas.microsoft.com/office/powerpoint/2010/main" val="719616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1F7A4-31AE-491E-8072-A1D8D10FA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operation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20871C-302A-45FE-9913-64C3C11CF12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3328888"/>
              </a:xfrm>
            </p:spPr>
            <p:txBody>
              <a:bodyPr/>
              <a:lstStyle/>
              <a:p>
                <a:r>
                  <a:rPr lang="en-US" dirty="0"/>
                  <a:t>A BST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nodes can be viewed as a way to store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keys in a smart way, so that queries among these keys become easy. </a:t>
                </a:r>
              </a:p>
              <a:p>
                <a:r>
                  <a:rPr lang="en-US" dirty="0"/>
                  <a:t>Tree-search(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Input:</a:t>
                </a:r>
                <a:r>
                  <a:rPr lang="en-US" dirty="0"/>
                  <a:t>  given a tree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a query key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Output:</a:t>
                </a:r>
                <a:r>
                  <a:rPr lang="en-US" dirty="0"/>
                  <a:t>  search whether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in the tree rooted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if it is in, return a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otherwise, returns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𝑁𝐼𝐿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20871C-302A-45FE-9913-64C3C11CF1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3328888"/>
              </a:xfrm>
              <a:blipFill>
                <a:blip r:embed="rId2"/>
                <a:stretch>
                  <a:fillRect l="-667" t="-1648" b="-2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44A80297-2895-4A68-92F3-9B68E80003FB}"/>
              </a:ext>
            </a:extLst>
          </p:cNvPr>
          <p:cNvGrpSpPr/>
          <p:nvPr/>
        </p:nvGrpSpPr>
        <p:grpSpPr>
          <a:xfrm>
            <a:off x="5486400" y="3962400"/>
            <a:ext cx="3086100" cy="2590800"/>
            <a:chOff x="1447800" y="2659380"/>
            <a:chExt cx="3086100" cy="2590800"/>
          </a:xfrm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DE356556-A92C-4429-A077-310A7F0DF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3</a:t>
              </a:r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54B71A76-6D30-4688-9B0B-76E7B9A72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7278" y="4740691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7</a:t>
              </a: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0EAF3022-CC74-4FCC-8B3B-94A3123EC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26593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6</a:t>
              </a:r>
            </a:p>
          </p:txBody>
        </p:sp>
        <p:sp>
          <p:nvSpPr>
            <p:cNvPr id="8" name="Oval 9">
              <a:extLst>
                <a:ext uri="{FF2B5EF4-FFF2-40B4-BE49-F238E27FC236}">
                  <a16:creationId xmlns:a16="http://schemas.microsoft.com/office/drawing/2014/main" id="{0399D1AD-8BDE-4FA0-B9FB-5BAC1EB27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4792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4</a:t>
              </a:r>
            </a:p>
          </p:txBody>
        </p:sp>
        <p:sp>
          <p:nvSpPr>
            <p:cNvPr id="9" name="Oval 10">
              <a:extLst>
                <a:ext uri="{FF2B5EF4-FFF2-40B4-BE49-F238E27FC236}">
                  <a16:creationId xmlns:a16="http://schemas.microsoft.com/office/drawing/2014/main" id="{2C487A5B-66CC-4254-9FEF-DBE1A4A4B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8</a:t>
              </a:r>
            </a:p>
          </p:txBody>
        </p:sp>
        <p:sp>
          <p:nvSpPr>
            <p:cNvPr id="10" name="Oval 12">
              <a:extLst>
                <a:ext uri="{FF2B5EF4-FFF2-40B4-BE49-F238E27FC236}">
                  <a16:creationId xmlns:a16="http://schemas.microsoft.com/office/drawing/2014/main" id="{2E3E2BCD-E371-4C60-8EEC-C198F9FD9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6700" y="47167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9</a:t>
              </a:r>
            </a:p>
          </p:txBody>
        </p:sp>
        <p:sp>
          <p:nvSpPr>
            <p:cNvPr id="11" name="Line 16">
              <a:extLst>
                <a:ext uri="{FF2B5EF4-FFF2-40B4-BE49-F238E27FC236}">
                  <a16:creationId xmlns:a16="http://schemas.microsoft.com/office/drawing/2014/main" id="{E91BC684-603D-44D7-80E5-7A26CF8122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5000" y="3116580"/>
              <a:ext cx="5334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7">
              <a:extLst>
                <a:ext uri="{FF2B5EF4-FFF2-40B4-BE49-F238E27FC236}">
                  <a16:creationId xmlns:a16="http://schemas.microsoft.com/office/drawing/2014/main" id="{ABF1BEF6-2655-4321-B563-58DBB30D7C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50324" y="4131090"/>
              <a:ext cx="304800" cy="6618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8">
              <a:extLst>
                <a:ext uri="{FF2B5EF4-FFF2-40B4-BE49-F238E27FC236}">
                  <a16:creationId xmlns:a16="http://schemas.microsoft.com/office/drawing/2014/main" id="{7CFD94DD-50FA-489D-8E78-0B135480E7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8800" y="4107180"/>
              <a:ext cx="3048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9">
              <a:extLst>
                <a:ext uri="{FF2B5EF4-FFF2-40B4-BE49-F238E27FC236}">
                  <a16:creationId xmlns:a16="http://schemas.microsoft.com/office/drawing/2014/main" id="{30336B1C-16B1-498B-BE89-DD4CDF3130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800" y="311658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20">
              <a:extLst>
                <a:ext uri="{FF2B5EF4-FFF2-40B4-BE49-F238E27FC236}">
                  <a16:creationId xmlns:a16="http://schemas.microsoft.com/office/drawing/2014/main" id="{FB2593F9-B8BE-4972-B0CF-F81B09427B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0" y="4107180"/>
              <a:ext cx="228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934486D-25A7-49E5-98EB-85FEDAFBB4E8}"/>
                  </a:ext>
                </a:extLst>
              </p:cNvPr>
              <p:cNvSpPr txBox="1"/>
              <p:nvPr/>
            </p:nvSpPr>
            <p:spPr>
              <a:xfrm>
                <a:off x="1219200" y="4873438"/>
                <a:ext cx="2971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Tree-search(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8</m:t>
                    </m:r>
                  </m:oMath>
                </a14:m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934486D-25A7-49E5-98EB-85FEDAFBB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4873438"/>
                <a:ext cx="2971800" cy="369332"/>
              </a:xfrm>
              <a:prstGeom prst="rect">
                <a:avLst/>
              </a:prstGeom>
              <a:blipFill>
                <a:blip r:embed="rId3"/>
                <a:stretch>
                  <a:fillRect l="-163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7C79E53-C742-452D-8F99-71F1124F5FA6}"/>
                  </a:ext>
                </a:extLst>
              </p:cNvPr>
              <p:cNvSpPr txBox="1"/>
              <p:nvPr/>
            </p:nvSpPr>
            <p:spPr>
              <a:xfrm>
                <a:off x="6963103" y="3844949"/>
                <a:ext cx="45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7C79E53-C742-452D-8F99-71F1124F5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3103" y="3844949"/>
                <a:ext cx="4572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7A3ABE9-92D0-456B-AC8B-28D0044A456A}"/>
                  </a:ext>
                </a:extLst>
              </p:cNvPr>
              <p:cNvSpPr txBox="1"/>
              <p:nvPr/>
            </p:nvSpPr>
            <p:spPr>
              <a:xfrm>
                <a:off x="1219200" y="5354548"/>
                <a:ext cx="2971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Tree-search(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4</m:t>
                    </m:r>
                  </m:oMath>
                </a14:m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7A3ABE9-92D0-456B-AC8B-28D0044A4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5354548"/>
                <a:ext cx="2971800" cy="369332"/>
              </a:xfrm>
              <a:prstGeom prst="rect">
                <a:avLst/>
              </a:prstGeom>
              <a:blipFill>
                <a:blip r:embed="rId5"/>
                <a:stretch>
                  <a:fillRect l="-163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FE2EAD4-66EE-45BD-B301-25178834B3ED}"/>
                  </a:ext>
                </a:extLst>
              </p:cNvPr>
              <p:cNvSpPr txBox="1"/>
              <p:nvPr/>
            </p:nvSpPr>
            <p:spPr>
              <a:xfrm>
                <a:off x="1219200" y="5802868"/>
                <a:ext cx="2971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Tree-search(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5</m:t>
                    </m:r>
                  </m:oMath>
                </a14:m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FE2EAD4-66EE-45BD-B301-25178834B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5802868"/>
                <a:ext cx="2971800" cy="369332"/>
              </a:xfrm>
              <a:prstGeom prst="rect">
                <a:avLst/>
              </a:prstGeom>
              <a:blipFill>
                <a:blip r:embed="rId6"/>
                <a:stretch>
                  <a:fillRect l="-1639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248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BDD06-AFD3-40CC-BCEC-44E1981C7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Tree-search algorithm, recursive version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C8BCBD-639B-4E0D-981D-40ACA069122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4343400"/>
                <a:ext cx="8229600" cy="2057400"/>
              </a:xfrm>
            </p:spPr>
            <p:txBody>
              <a:bodyPr/>
              <a:lstStyle/>
              <a:p>
                <a:r>
                  <a:rPr lang="en-US" dirty="0"/>
                  <a:t>Given an input tree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and a key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will start by calling  </a:t>
                </a:r>
                <a:r>
                  <a:rPr lang="en-US" dirty="0">
                    <a:solidFill>
                      <a:schemeClr val="tx1"/>
                    </a:solidFill>
                  </a:rPr>
                  <a:t>Tree-search(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B0E8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rgbClr val="0B0E8F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0" dirty="0">
                    <a:solidFill>
                      <a:srgbClr val="0B0E8F"/>
                    </a:solidFill>
                    <a:latin typeface="Cambria Math" panose="02040503050406030204" pitchFamily="18" charset="0"/>
                  </a:rPr>
                  <a:t>root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B0E8F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solidFill>
                          <a:srgbClr val="0B0E8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C8BCBD-639B-4E0D-981D-40ACA06912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4343400"/>
                <a:ext cx="8229600" cy="2057400"/>
              </a:xfrm>
              <a:blipFill>
                <a:blip r:embed="rId2"/>
                <a:stretch>
                  <a:fillRect l="-667" t="-29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4">
            <a:extLst>
              <a:ext uri="{FF2B5EF4-FFF2-40B4-BE49-F238E27FC236}">
                <a16:creationId xmlns:a16="http://schemas.microsoft.com/office/drawing/2014/main" id="{883B86A0-98A6-4EA1-9185-69C03CE9D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371600"/>
            <a:ext cx="5469978" cy="2743200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8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imes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imes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imes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imes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buFont typeface="Wingdings" charset="2"/>
              <a:buNone/>
            </a:pPr>
            <a:r>
              <a:rPr lang="en-US" altLang="en-US" b="0" dirty="0"/>
              <a:t>   Tree-search ( </a:t>
            </a:r>
            <a:r>
              <a:rPr lang="en-US" altLang="en-US" b="0" i="1" dirty="0">
                <a:solidFill>
                  <a:srgbClr val="0B0E8F"/>
                </a:solidFill>
              </a:rPr>
              <a:t>x, k</a:t>
            </a:r>
            <a:r>
              <a:rPr lang="en-US" altLang="en-US" b="0" dirty="0"/>
              <a:t>)</a:t>
            </a:r>
          </a:p>
          <a:p>
            <a:pPr lvl="1" eaLnBrk="1" hangingPunct="1">
              <a:buFont typeface="Wingdings" charset="2"/>
              <a:buNone/>
            </a:pPr>
            <a:r>
              <a:rPr lang="en-US" altLang="en-US" b="0" dirty="0"/>
              <a:t>	if </a:t>
            </a:r>
            <a:r>
              <a:rPr lang="en-US" altLang="en-US" b="0" i="1" dirty="0">
                <a:solidFill>
                  <a:srgbClr val="0B1196"/>
                </a:solidFill>
              </a:rPr>
              <a:t>x</a:t>
            </a:r>
            <a:r>
              <a:rPr lang="en-US" altLang="en-US" b="0" dirty="0"/>
              <a:t> = Nil or </a:t>
            </a:r>
            <a:r>
              <a:rPr lang="en-US" altLang="en-US" b="0" i="1" dirty="0">
                <a:solidFill>
                  <a:srgbClr val="0B1196"/>
                </a:solidFill>
              </a:rPr>
              <a:t>k </a:t>
            </a:r>
            <a:r>
              <a:rPr lang="en-US" altLang="en-US" b="0" dirty="0"/>
              <a:t>= </a:t>
            </a:r>
            <a:r>
              <a:rPr lang="en-US" altLang="en-US" b="0" i="1" dirty="0" err="1">
                <a:solidFill>
                  <a:srgbClr val="0B1196"/>
                </a:solidFill>
              </a:rPr>
              <a:t>x</a:t>
            </a:r>
            <a:r>
              <a:rPr lang="en-US" altLang="en-US" b="0" dirty="0" err="1"/>
              <a:t>.key</a:t>
            </a:r>
            <a:endParaRPr lang="en-US" altLang="en-US" b="0" dirty="0"/>
          </a:p>
          <a:p>
            <a:pPr lvl="1" eaLnBrk="1" hangingPunct="1">
              <a:buFont typeface="Wingdings" charset="2"/>
              <a:buNone/>
            </a:pPr>
            <a:r>
              <a:rPr lang="en-US" altLang="en-US" b="0" dirty="0"/>
              <a:t>		then return </a:t>
            </a:r>
            <a:r>
              <a:rPr lang="en-US" altLang="en-US" b="0" i="1" dirty="0">
                <a:solidFill>
                  <a:srgbClr val="0B1196"/>
                </a:solidFill>
              </a:rPr>
              <a:t>x</a:t>
            </a:r>
            <a:endParaRPr lang="en-US" altLang="en-US" b="0" dirty="0"/>
          </a:p>
          <a:p>
            <a:pPr lvl="1" eaLnBrk="1" hangingPunct="1">
              <a:buFont typeface="Wingdings" charset="2"/>
              <a:buNone/>
            </a:pPr>
            <a:r>
              <a:rPr lang="en-US" altLang="en-US" b="0" dirty="0"/>
              <a:t>   if </a:t>
            </a:r>
            <a:r>
              <a:rPr lang="en-US" altLang="en-US" b="0" i="1" dirty="0">
                <a:solidFill>
                  <a:srgbClr val="0B1196"/>
                </a:solidFill>
              </a:rPr>
              <a:t>k</a:t>
            </a:r>
            <a:r>
              <a:rPr lang="en-US" altLang="en-US" b="0" dirty="0"/>
              <a:t> &lt; </a:t>
            </a:r>
            <a:r>
              <a:rPr lang="en-US" altLang="en-US" b="0" i="1" dirty="0" err="1">
                <a:solidFill>
                  <a:srgbClr val="0B1196"/>
                </a:solidFill>
              </a:rPr>
              <a:t>x</a:t>
            </a:r>
            <a:r>
              <a:rPr lang="en-US" altLang="en-US" b="0" dirty="0" err="1"/>
              <a:t>.key</a:t>
            </a:r>
            <a:endParaRPr lang="en-US" altLang="en-US" b="0" dirty="0"/>
          </a:p>
          <a:p>
            <a:pPr lvl="1" eaLnBrk="1" hangingPunct="1">
              <a:buFont typeface="Wingdings" charset="2"/>
              <a:buNone/>
            </a:pPr>
            <a:r>
              <a:rPr lang="en-US" altLang="en-US" b="0" dirty="0"/>
              <a:t>	   then return Tree-search( </a:t>
            </a:r>
            <a:r>
              <a:rPr lang="en-US" altLang="en-US" b="0" i="1" dirty="0" err="1">
                <a:solidFill>
                  <a:srgbClr val="0B1196"/>
                </a:solidFill>
              </a:rPr>
              <a:t>x</a:t>
            </a:r>
            <a:r>
              <a:rPr lang="en-US" altLang="en-US" b="0" dirty="0" err="1"/>
              <a:t>.left</a:t>
            </a:r>
            <a:r>
              <a:rPr lang="en-US" altLang="en-US" b="0" dirty="0"/>
              <a:t>, </a:t>
            </a:r>
            <a:r>
              <a:rPr lang="en-US" altLang="en-US" b="0" i="1" dirty="0">
                <a:solidFill>
                  <a:srgbClr val="0B1196"/>
                </a:solidFill>
              </a:rPr>
              <a:t>k</a:t>
            </a:r>
            <a:r>
              <a:rPr lang="en-US" altLang="en-US" b="0" dirty="0"/>
              <a:t> )</a:t>
            </a:r>
          </a:p>
          <a:p>
            <a:pPr lvl="1" eaLnBrk="1" hangingPunct="1">
              <a:buFont typeface="Wingdings" charset="2"/>
              <a:buNone/>
            </a:pPr>
            <a:r>
              <a:rPr lang="en-US" altLang="en-US" b="0" dirty="0"/>
              <a:t>	   else  return Tree-search( </a:t>
            </a:r>
            <a:r>
              <a:rPr lang="en-US" altLang="en-US" b="0" i="1" dirty="0" err="1">
                <a:solidFill>
                  <a:srgbClr val="0B1196"/>
                </a:solidFill>
              </a:rPr>
              <a:t>x</a:t>
            </a:r>
            <a:r>
              <a:rPr lang="en-US" altLang="en-US" b="0" dirty="0" err="1"/>
              <a:t>.right</a:t>
            </a:r>
            <a:r>
              <a:rPr lang="en-US" altLang="en-US" b="0" dirty="0"/>
              <a:t>, </a:t>
            </a:r>
            <a:r>
              <a:rPr lang="en-US" altLang="en-US" b="0" i="1" dirty="0">
                <a:solidFill>
                  <a:srgbClr val="0B1196"/>
                </a:solidFill>
              </a:rPr>
              <a:t>k</a:t>
            </a:r>
            <a:r>
              <a:rPr lang="en-US" altLang="en-US" b="0" dirty="0"/>
              <a:t> )</a:t>
            </a:r>
          </a:p>
          <a:p>
            <a:pPr lvl="1" eaLnBrk="1" hangingPunct="1">
              <a:buFont typeface="Wingdings" charset="2"/>
              <a:buNone/>
            </a:pPr>
            <a:endParaRPr lang="en-US" altLang="en-US" b="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B3DE699-DCCF-4B8C-925F-657A7D05EBAF}"/>
              </a:ext>
            </a:extLst>
          </p:cNvPr>
          <p:cNvGrpSpPr/>
          <p:nvPr/>
        </p:nvGrpSpPr>
        <p:grpSpPr>
          <a:xfrm>
            <a:off x="5943600" y="1447800"/>
            <a:ext cx="3086100" cy="2590800"/>
            <a:chOff x="1447800" y="2659380"/>
            <a:chExt cx="3086100" cy="25908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BB125C3-1DEA-428D-82B6-01C1C98F0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3CBF50F-C032-450D-84D5-B39547A33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7278" y="4740691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7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D7F904F-15B5-4D2F-87E2-A8959E875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26593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6</a:t>
              </a:r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2A8F9A09-CFA3-46C3-A743-030E33663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4792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4</a:t>
              </a:r>
            </a:p>
          </p:txBody>
        </p:sp>
        <p:sp>
          <p:nvSpPr>
            <p:cNvPr id="10" name="Oval 10">
              <a:extLst>
                <a:ext uri="{FF2B5EF4-FFF2-40B4-BE49-F238E27FC236}">
                  <a16:creationId xmlns:a16="http://schemas.microsoft.com/office/drawing/2014/main" id="{35B547B5-91E8-47F3-8BCA-9F73FB1E8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8</a:t>
              </a:r>
            </a:p>
          </p:txBody>
        </p:sp>
        <p:sp>
          <p:nvSpPr>
            <p:cNvPr id="11" name="Oval 12">
              <a:extLst>
                <a:ext uri="{FF2B5EF4-FFF2-40B4-BE49-F238E27FC236}">
                  <a16:creationId xmlns:a16="http://schemas.microsoft.com/office/drawing/2014/main" id="{B8E8E53F-6A1E-40DB-B2D7-0FEDC7771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6700" y="47167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9</a:t>
              </a:r>
            </a:p>
          </p:txBody>
        </p:sp>
        <p:sp>
          <p:nvSpPr>
            <p:cNvPr id="12" name="Line 16">
              <a:extLst>
                <a:ext uri="{FF2B5EF4-FFF2-40B4-BE49-F238E27FC236}">
                  <a16:creationId xmlns:a16="http://schemas.microsoft.com/office/drawing/2014/main" id="{C626BCEB-A31F-4A48-A86F-285C71CACE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5000" y="3116580"/>
              <a:ext cx="5334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7">
              <a:extLst>
                <a:ext uri="{FF2B5EF4-FFF2-40B4-BE49-F238E27FC236}">
                  <a16:creationId xmlns:a16="http://schemas.microsoft.com/office/drawing/2014/main" id="{B1600571-7FC6-47CA-939C-A3D7FEF73A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50324" y="4131090"/>
              <a:ext cx="304800" cy="6618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8">
              <a:extLst>
                <a:ext uri="{FF2B5EF4-FFF2-40B4-BE49-F238E27FC236}">
                  <a16:creationId xmlns:a16="http://schemas.microsoft.com/office/drawing/2014/main" id="{23510221-A2C7-412A-8B4F-846038C11B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8800" y="4107180"/>
              <a:ext cx="3048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9">
              <a:extLst>
                <a:ext uri="{FF2B5EF4-FFF2-40B4-BE49-F238E27FC236}">
                  <a16:creationId xmlns:a16="http://schemas.microsoft.com/office/drawing/2014/main" id="{3BB2BEC5-6BFE-4241-A9B9-0D6EAC1D95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800" y="311658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20">
              <a:extLst>
                <a:ext uri="{FF2B5EF4-FFF2-40B4-BE49-F238E27FC236}">
                  <a16:creationId xmlns:a16="http://schemas.microsoft.com/office/drawing/2014/main" id="{38118172-B8E3-4633-8354-34233330BC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0" y="4107180"/>
              <a:ext cx="228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5582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BDD06-AFD3-40CC-BCEC-44E1981C7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Tree-search algorithm, recursive version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C8BCBD-639B-4E0D-981D-40ACA069122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4359429"/>
                <a:ext cx="8229600" cy="1355571"/>
              </a:xfrm>
            </p:spPr>
            <p:txBody>
              <a:bodyPr/>
              <a:lstStyle/>
              <a:p>
                <a:r>
                  <a:rPr lang="en-US" dirty="0"/>
                  <a:t>Time complexity analysis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denote the worst case time complexity of procedure Tree-search() on any tree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nodes 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C8BCBD-639B-4E0D-981D-40ACA06912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4359429"/>
                <a:ext cx="8229600" cy="1355571"/>
              </a:xfrm>
              <a:blipFill>
                <a:blip r:embed="rId2"/>
                <a:stretch>
                  <a:fillRect l="-667" t="-4036" b="-1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4">
            <a:extLst>
              <a:ext uri="{FF2B5EF4-FFF2-40B4-BE49-F238E27FC236}">
                <a16:creationId xmlns:a16="http://schemas.microsoft.com/office/drawing/2014/main" id="{883B86A0-98A6-4EA1-9185-69C03CE9D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371600"/>
            <a:ext cx="5469978" cy="2743200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8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imes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imes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imes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imes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buFont typeface="Wingdings" charset="2"/>
              <a:buNone/>
            </a:pPr>
            <a:r>
              <a:rPr lang="en-US" altLang="en-US" b="0" dirty="0"/>
              <a:t>   Tree-search ( </a:t>
            </a:r>
            <a:r>
              <a:rPr lang="en-US" altLang="en-US" b="0" i="1" dirty="0">
                <a:solidFill>
                  <a:srgbClr val="0B1196"/>
                </a:solidFill>
              </a:rPr>
              <a:t>x, k</a:t>
            </a:r>
            <a:r>
              <a:rPr lang="en-US" altLang="en-US" b="0" dirty="0"/>
              <a:t>)</a:t>
            </a:r>
          </a:p>
          <a:p>
            <a:pPr lvl="1" eaLnBrk="1" hangingPunct="1">
              <a:buFont typeface="Wingdings" charset="2"/>
              <a:buNone/>
            </a:pPr>
            <a:r>
              <a:rPr lang="en-US" altLang="en-US" b="0" dirty="0"/>
              <a:t>	if </a:t>
            </a:r>
            <a:r>
              <a:rPr lang="en-US" altLang="en-US" b="0" i="1" dirty="0">
                <a:solidFill>
                  <a:srgbClr val="0B1196"/>
                </a:solidFill>
              </a:rPr>
              <a:t>x</a:t>
            </a:r>
            <a:r>
              <a:rPr lang="en-US" altLang="en-US" b="0" dirty="0"/>
              <a:t> = Nil or k = </a:t>
            </a:r>
            <a:r>
              <a:rPr lang="en-US" altLang="en-US" b="0" i="1" dirty="0" err="1">
                <a:solidFill>
                  <a:srgbClr val="0B1196"/>
                </a:solidFill>
              </a:rPr>
              <a:t>x</a:t>
            </a:r>
            <a:r>
              <a:rPr lang="en-US" altLang="en-US" b="0" dirty="0" err="1"/>
              <a:t>.key</a:t>
            </a:r>
            <a:endParaRPr lang="en-US" altLang="en-US" b="0" dirty="0"/>
          </a:p>
          <a:p>
            <a:pPr lvl="1" eaLnBrk="1" hangingPunct="1">
              <a:buFont typeface="Wingdings" charset="2"/>
              <a:buNone/>
            </a:pPr>
            <a:r>
              <a:rPr lang="en-US" altLang="en-US" b="0" dirty="0"/>
              <a:t>		then return </a:t>
            </a:r>
            <a:r>
              <a:rPr lang="en-US" altLang="en-US" b="0" i="1" dirty="0">
                <a:solidFill>
                  <a:srgbClr val="0B1196"/>
                </a:solidFill>
              </a:rPr>
              <a:t>x</a:t>
            </a:r>
            <a:endParaRPr lang="en-US" altLang="en-US" b="0" dirty="0"/>
          </a:p>
          <a:p>
            <a:pPr lvl="1" eaLnBrk="1" hangingPunct="1">
              <a:buFont typeface="Wingdings" charset="2"/>
              <a:buNone/>
            </a:pPr>
            <a:r>
              <a:rPr lang="en-US" altLang="en-US" b="0" dirty="0"/>
              <a:t>   if </a:t>
            </a:r>
            <a:r>
              <a:rPr lang="en-US" altLang="en-US" b="0" i="1" dirty="0">
                <a:solidFill>
                  <a:srgbClr val="0B1196"/>
                </a:solidFill>
              </a:rPr>
              <a:t>k</a:t>
            </a:r>
            <a:r>
              <a:rPr lang="en-US" altLang="en-US" b="0" dirty="0"/>
              <a:t> &lt; </a:t>
            </a:r>
            <a:r>
              <a:rPr lang="en-US" altLang="en-US" b="0" i="1" dirty="0" err="1">
                <a:solidFill>
                  <a:srgbClr val="0B1196"/>
                </a:solidFill>
              </a:rPr>
              <a:t>x</a:t>
            </a:r>
            <a:r>
              <a:rPr lang="en-US" altLang="en-US" b="0" dirty="0" err="1"/>
              <a:t>.key</a:t>
            </a:r>
            <a:endParaRPr lang="en-US" altLang="en-US" b="0" dirty="0"/>
          </a:p>
          <a:p>
            <a:pPr lvl="1" eaLnBrk="1" hangingPunct="1">
              <a:buFont typeface="Wingdings" charset="2"/>
              <a:buNone/>
            </a:pPr>
            <a:r>
              <a:rPr lang="en-US" altLang="en-US" b="0" dirty="0"/>
              <a:t>	   then return Tree-search( </a:t>
            </a:r>
            <a:r>
              <a:rPr lang="en-US" altLang="en-US" b="0" i="1" dirty="0" err="1">
                <a:solidFill>
                  <a:srgbClr val="0B1196"/>
                </a:solidFill>
              </a:rPr>
              <a:t>x</a:t>
            </a:r>
            <a:r>
              <a:rPr lang="en-US" altLang="en-US" b="0" dirty="0" err="1"/>
              <a:t>.left</a:t>
            </a:r>
            <a:r>
              <a:rPr lang="en-US" altLang="en-US" b="0" dirty="0"/>
              <a:t>, </a:t>
            </a:r>
            <a:r>
              <a:rPr lang="en-US" altLang="en-US" b="0" i="1" dirty="0">
                <a:solidFill>
                  <a:srgbClr val="0B1196"/>
                </a:solidFill>
              </a:rPr>
              <a:t>k</a:t>
            </a:r>
            <a:r>
              <a:rPr lang="en-US" altLang="en-US" b="0" dirty="0"/>
              <a:t> )</a:t>
            </a:r>
          </a:p>
          <a:p>
            <a:pPr lvl="1" eaLnBrk="1" hangingPunct="1">
              <a:buFont typeface="Wingdings" charset="2"/>
              <a:buNone/>
            </a:pPr>
            <a:r>
              <a:rPr lang="en-US" altLang="en-US" b="0" dirty="0"/>
              <a:t>	   else  return Tree-search( </a:t>
            </a:r>
            <a:r>
              <a:rPr lang="en-US" altLang="en-US" b="0" i="1" dirty="0" err="1">
                <a:solidFill>
                  <a:srgbClr val="0B1196"/>
                </a:solidFill>
              </a:rPr>
              <a:t>x</a:t>
            </a:r>
            <a:r>
              <a:rPr lang="en-US" altLang="en-US" b="0" dirty="0" err="1"/>
              <a:t>.right</a:t>
            </a:r>
            <a:r>
              <a:rPr lang="en-US" altLang="en-US" b="0" dirty="0"/>
              <a:t>, </a:t>
            </a:r>
            <a:r>
              <a:rPr lang="en-US" altLang="en-US" b="0" i="1" dirty="0">
                <a:solidFill>
                  <a:srgbClr val="0B1196"/>
                </a:solidFill>
              </a:rPr>
              <a:t>k</a:t>
            </a:r>
            <a:r>
              <a:rPr lang="en-US" altLang="en-US" b="0" dirty="0"/>
              <a:t> )</a:t>
            </a:r>
          </a:p>
          <a:p>
            <a:pPr lvl="1" eaLnBrk="1" hangingPunct="1">
              <a:buFont typeface="Wingdings" charset="2"/>
              <a:buNone/>
            </a:pPr>
            <a:endParaRPr lang="en-US" altLang="en-US" b="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B3DE699-DCCF-4B8C-925F-657A7D05EBAF}"/>
              </a:ext>
            </a:extLst>
          </p:cNvPr>
          <p:cNvGrpSpPr/>
          <p:nvPr/>
        </p:nvGrpSpPr>
        <p:grpSpPr>
          <a:xfrm>
            <a:off x="5943600" y="1447800"/>
            <a:ext cx="3086100" cy="2590800"/>
            <a:chOff x="1447800" y="2659380"/>
            <a:chExt cx="3086100" cy="25908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BB125C3-1DEA-428D-82B6-01C1C98F0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3CBF50F-C032-450D-84D5-B39547A33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7278" y="4740691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7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D7F904F-15B5-4D2F-87E2-A8959E875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26593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6</a:t>
              </a:r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2A8F9A09-CFA3-46C3-A743-030E33663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4792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4</a:t>
              </a:r>
            </a:p>
          </p:txBody>
        </p:sp>
        <p:sp>
          <p:nvSpPr>
            <p:cNvPr id="10" name="Oval 10">
              <a:extLst>
                <a:ext uri="{FF2B5EF4-FFF2-40B4-BE49-F238E27FC236}">
                  <a16:creationId xmlns:a16="http://schemas.microsoft.com/office/drawing/2014/main" id="{35B547B5-91E8-47F3-8BCA-9F73FB1E8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8</a:t>
              </a:r>
            </a:p>
          </p:txBody>
        </p:sp>
        <p:sp>
          <p:nvSpPr>
            <p:cNvPr id="11" name="Oval 12">
              <a:extLst>
                <a:ext uri="{FF2B5EF4-FFF2-40B4-BE49-F238E27FC236}">
                  <a16:creationId xmlns:a16="http://schemas.microsoft.com/office/drawing/2014/main" id="{B8E8E53F-6A1E-40DB-B2D7-0FEDC7771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6700" y="47167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9</a:t>
              </a:r>
            </a:p>
          </p:txBody>
        </p:sp>
        <p:sp>
          <p:nvSpPr>
            <p:cNvPr id="12" name="Line 16">
              <a:extLst>
                <a:ext uri="{FF2B5EF4-FFF2-40B4-BE49-F238E27FC236}">
                  <a16:creationId xmlns:a16="http://schemas.microsoft.com/office/drawing/2014/main" id="{C626BCEB-A31F-4A48-A86F-285C71CACE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5000" y="3116580"/>
              <a:ext cx="5334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7">
              <a:extLst>
                <a:ext uri="{FF2B5EF4-FFF2-40B4-BE49-F238E27FC236}">
                  <a16:creationId xmlns:a16="http://schemas.microsoft.com/office/drawing/2014/main" id="{B1600571-7FC6-47CA-939C-A3D7FEF73A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50324" y="4131090"/>
              <a:ext cx="304800" cy="6618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8">
              <a:extLst>
                <a:ext uri="{FF2B5EF4-FFF2-40B4-BE49-F238E27FC236}">
                  <a16:creationId xmlns:a16="http://schemas.microsoft.com/office/drawing/2014/main" id="{23510221-A2C7-412A-8B4F-846038C11B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8800" y="4107180"/>
              <a:ext cx="3048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9">
              <a:extLst>
                <a:ext uri="{FF2B5EF4-FFF2-40B4-BE49-F238E27FC236}">
                  <a16:creationId xmlns:a16="http://schemas.microsoft.com/office/drawing/2014/main" id="{3BB2BEC5-6BFE-4241-A9B9-0D6EAC1D95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800" y="311658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20">
              <a:extLst>
                <a:ext uri="{FF2B5EF4-FFF2-40B4-BE49-F238E27FC236}">
                  <a16:creationId xmlns:a16="http://schemas.microsoft.com/office/drawing/2014/main" id="{38118172-B8E3-4633-8354-34233330BC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0" y="4107180"/>
              <a:ext cx="228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1611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BDD06-AFD3-40CC-BCEC-44E1981C7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Tree-search algorithm, recursive version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C8BCBD-639B-4E0D-981D-40ACA069122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4267200"/>
                <a:ext cx="8229600" cy="2057400"/>
              </a:xfrm>
            </p:spPr>
            <p:txBody>
              <a:bodyPr/>
              <a:lstStyle/>
              <a:p>
                <a:r>
                  <a:rPr lang="en-US" dirty="0"/>
                  <a:t>Time complexity analysis</a:t>
                </a:r>
              </a:p>
              <a:p>
                <a:pPr lvl="1"/>
                <a:r>
                  <a:rPr lang="en-US" dirty="0"/>
                  <a:t>other than recursive call,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 within each Tree-search call </a:t>
                </a:r>
              </a:p>
              <a:p>
                <a:pPr lvl="1"/>
                <a:r>
                  <a:rPr lang="en-US" dirty="0"/>
                  <a:t>thus,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is proportional to the number of nodes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we will call Tree-search 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tree-height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C8BCBD-639B-4E0D-981D-40ACA06912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4267200"/>
                <a:ext cx="8229600" cy="2057400"/>
              </a:xfrm>
              <a:blipFill>
                <a:blip r:embed="rId2"/>
                <a:stretch>
                  <a:fillRect l="-667" t="-2663" b="-7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4">
            <a:extLst>
              <a:ext uri="{FF2B5EF4-FFF2-40B4-BE49-F238E27FC236}">
                <a16:creationId xmlns:a16="http://schemas.microsoft.com/office/drawing/2014/main" id="{883B86A0-98A6-4EA1-9185-69C03CE9D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371600"/>
            <a:ext cx="5469978" cy="2743200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28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imes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imes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imes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imes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buFont typeface="Wingdings" charset="2"/>
              <a:buNone/>
            </a:pPr>
            <a:r>
              <a:rPr lang="en-US" altLang="en-US" b="0" dirty="0"/>
              <a:t>   Tree-search ( </a:t>
            </a:r>
            <a:r>
              <a:rPr lang="en-US" altLang="en-US" b="0" i="1" dirty="0">
                <a:solidFill>
                  <a:srgbClr val="0B1196"/>
                </a:solidFill>
              </a:rPr>
              <a:t>x, k</a:t>
            </a:r>
            <a:r>
              <a:rPr lang="en-US" altLang="en-US" b="0" dirty="0"/>
              <a:t>)</a:t>
            </a:r>
          </a:p>
          <a:p>
            <a:pPr lvl="1" eaLnBrk="1" hangingPunct="1">
              <a:buFont typeface="Wingdings" charset="2"/>
              <a:buNone/>
            </a:pPr>
            <a:r>
              <a:rPr lang="en-US" altLang="en-US" b="0" dirty="0"/>
              <a:t>	if </a:t>
            </a:r>
            <a:r>
              <a:rPr lang="en-US" altLang="en-US" b="0" i="1" dirty="0">
                <a:solidFill>
                  <a:srgbClr val="0B1196"/>
                </a:solidFill>
              </a:rPr>
              <a:t>x</a:t>
            </a:r>
            <a:r>
              <a:rPr lang="en-US" altLang="en-US" b="0" dirty="0"/>
              <a:t> = Nil or k = </a:t>
            </a:r>
            <a:r>
              <a:rPr lang="en-US" altLang="en-US" b="0" i="1" dirty="0" err="1">
                <a:solidFill>
                  <a:srgbClr val="0B1196"/>
                </a:solidFill>
              </a:rPr>
              <a:t>x</a:t>
            </a:r>
            <a:r>
              <a:rPr lang="en-US" altLang="en-US" b="0" dirty="0" err="1"/>
              <a:t>.key</a:t>
            </a:r>
            <a:endParaRPr lang="en-US" altLang="en-US" b="0" dirty="0"/>
          </a:p>
          <a:p>
            <a:pPr lvl="1" eaLnBrk="1" hangingPunct="1">
              <a:buFont typeface="Wingdings" charset="2"/>
              <a:buNone/>
            </a:pPr>
            <a:r>
              <a:rPr lang="en-US" altLang="en-US" b="0" dirty="0"/>
              <a:t>		then return </a:t>
            </a:r>
            <a:r>
              <a:rPr lang="en-US" altLang="en-US" b="0" i="1" dirty="0">
                <a:solidFill>
                  <a:srgbClr val="0B1196"/>
                </a:solidFill>
              </a:rPr>
              <a:t>x</a:t>
            </a:r>
            <a:endParaRPr lang="en-US" altLang="en-US" b="0" dirty="0"/>
          </a:p>
          <a:p>
            <a:pPr lvl="1" eaLnBrk="1" hangingPunct="1">
              <a:buFont typeface="Wingdings" charset="2"/>
              <a:buNone/>
            </a:pPr>
            <a:r>
              <a:rPr lang="en-US" altLang="en-US" b="0" dirty="0"/>
              <a:t>   if </a:t>
            </a:r>
            <a:r>
              <a:rPr lang="en-US" altLang="en-US" b="0" i="1" dirty="0">
                <a:solidFill>
                  <a:srgbClr val="0B1196"/>
                </a:solidFill>
              </a:rPr>
              <a:t>k</a:t>
            </a:r>
            <a:r>
              <a:rPr lang="en-US" altLang="en-US" b="0" dirty="0"/>
              <a:t> &lt; </a:t>
            </a:r>
            <a:r>
              <a:rPr lang="en-US" altLang="en-US" b="0" i="1" dirty="0" err="1">
                <a:solidFill>
                  <a:srgbClr val="0B1196"/>
                </a:solidFill>
              </a:rPr>
              <a:t>x</a:t>
            </a:r>
            <a:r>
              <a:rPr lang="en-US" altLang="en-US" b="0" dirty="0" err="1"/>
              <a:t>.key</a:t>
            </a:r>
            <a:endParaRPr lang="en-US" altLang="en-US" b="0" dirty="0"/>
          </a:p>
          <a:p>
            <a:pPr lvl="1" eaLnBrk="1" hangingPunct="1">
              <a:buFont typeface="Wingdings" charset="2"/>
              <a:buNone/>
            </a:pPr>
            <a:r>
              <a:rPr lang="en-US" altLang="en-US" b="0" dirty="0"/>
              <a:t>	   then return Tree-search( </a:t>
            </a:r>
            <a:r>
              <a:rPr lang="en-US" altLang="en-US" b="0" i="1" dirty="0" err="1">
                <a:solidFill>
                  <a:srgbClr val="0B1196"/>
                </a:solidFill>
              </a:rPr>
              <a:t>x</a:t>
            </a:r>
            <a:r>
              <a:rPr lang="en-US" altLang="en-US" b="0" dirty="0" err="1"/>
              <a:t>.left</a:t>
            </a:r>
            <a:r>
              <a:rPr lang="en-US" altLang="en-US" b="0" dirty="0"/>
              <a:t>, </a:t>
            </a:r>
            <a:r>
              <a:rPr lang="en-US" altLang="en-US" b="0" i="1" dirty="0">
                <a:solidFill>
                  <a:srgbClr val="0B1196"/>
                </a:solidFill>
              </a:rPr>
              <a:t>k</a:t>
            </a:r>
            <a:r>
              <a:rPr lang="en-US" altLang="en-US" b="0" dirty="0"/>
              <a:t> )</a:t>
            </a:r>
          </a:p>
          <a:p>
            <a:pPr lvl="1" eaLnBrk="1" hangingPunct="1">
              <a:buFont typeface="Wingdings" charset="2"/>
              <a:buNone/>
            </a:pPr>
            <a:r>
              <a:rPr lang="en-US" altLang="en-US" b="0" dirty="0"/>
              <a:t>	   else  return Tree-search( </a:t>
            </a:r>
            <a:r>
              <a:rPr lang="en-US" altLang="en-US" b="0" i="1" dirty="0" err="1">
                <a:solidFill>
                  <a:srgbClr val="0B1196"/>
                </a:solidFill>
              </a:rPr>
              <a:t>x</a:t>
            </a:r>
            <a:r>
              <a:rPr lang="en-US" altLang="en-US" b="0" dirty="0" err="1"/>
              <a:t>.right</a:t>
            </a:r>
            <a:r>
              <a:rPr lang="en-US" altLang="en-US" b="0" dirty="0"/>
              <a:t>, </a:t>
            </a:r>
            <a:r>
              <a:rPr lang="en-US" altLang="en-US" b="0" i="1" dirty="0">
                <a:solidFill>
                  <a:srgbClr val="0B1196"/>
                </a:solidFill>
              </a:rPr>
              <a:t>k</a:t>
            </a:r>
            <a:r>
              <a:rPr lang="en-US" altLang="en-US" b="0" dirty="0"/>
              <a:t> )</a:t>
            </a:r>
          </a:p>
          <a:p>
            <a:pPr lvl="1" eaLnBrk="1" hangingPunct="1">
              <a:buFont typeface="Wingdings" charset="2"/>
              <a:buNone/>
            </a:pPr>
            <a:endParaRPr lang="en-US" altLang="en-US" b="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B3DE699-DCCF-4B8C-925F-657A7D05EBAF}"/>
              </a:ext>
            </a:extLst>
          </p:cNvPr>
          <p:cNvGrpSpPr/>
          <p:nvPr/>
        </p:nvGrpSpPr>
        <p:grpSpPr>
          <a:xfrm>
            <a:off x="5943600" y="1447800"/>
            <a:ext cx="3086100" cy="2590800"/>
            <a:chOff x="1447800" y="2659380"/>
            <a:chExt cx="3086100" cy="25908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BB125C3-1DEA-428D-82B6-01C1C98F0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3CBF50F-C032-450D-84D5-B39547A33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7278" y="4740691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7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D7F904F-15B5-4D2F-87E2-A8959E875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26593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6</a:t>
              </a:r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2A8F9A09-CFA3-46C3-A743-030E33663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4792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4</a:t>
              </a:r>
            </a:p>
          </p:txBody>
        </p:sp>
        <p:sp>
          <p:nvSpPr>
            <p:cNvPr id="10" name="Oval 10">
              <a:extLst>
                <a:ext uri="{FF2B5EF4-FFF2-40B4-BE49-F238E27FC236}">
                  <a16:creationId xmlns:a16="http://schemas.microsoft.com/office/drawing/2014/main" id="{35B547B5-91E8-47F3-8BCA-9F73FB1E8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8</a:t>
              </a:r>
            </a:p>
          </p:txBody>
        </p:sp>
        <p:sp>
          <p:nvSpPr>
            <p:cNvPr id="11" name="Oval 12">
              <a:extLst>
                <a:ext uri="{FF2B5EF4-FFF2-40B4-BE49-F238E27FC236}">
                  <a16:creationId xmlns:a16="http://schemas.microsoft.com/office/drawing/2014/main" id="{B8E8E53F-6A1E-40DB-B2D7-0FEDC7771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6700" y="47167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9</a:t>
              </a:r>
            </a:p>
          </p:txBody>
        </p:sp>
        <p:sp>
          <p:nvSpPr>
            <p:cNvPr id="12" name="Line 16">
              <a:extLst>
                <a:ext uri="{FF2B5EF4-FFF2-40B4-BE49-F238E27FC236}">
                  <a16:creationId xmlns:a16="http://schemas.microsoft.com/office/drawing/2014/main" id="{C626BCEB-A31F-4A48-A86F-285C71CACE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5000" y="3116580"/>
              <a:ext cx="5334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7">
              <a:extLst>
                <a:ext uri="{FF2B5EF4-FFF2-40B4-BE49-F238E27FC236}">
                  <a16:creationId xmlns:a16="http://schemas.microsoft.com/office/drawing/2014/main" id="{B1600571-7FC6-47CA-939C-A3D7FEF73A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50324" y="4131090"/>
              <a:ext cx="304800" cy="6618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8">
              <a:extLst>
                <a:ext uri="{FF2B5EF4-FFF2-40B4-BE49-F238E27FC236}">
                  <a16:creationId xmlns:a16="http://schemas.microsoft.com/office/drawing/2014/main" id="{23510221-A2C7-412A-8B4F-846038C11B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8800" y="4107180"/>
              <a:ext cx="3048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9">
              <a:extLst>
                <a:ext uri="{FF2B5EF4-FFF2-40B4-BE49-F238E27FC236}">
                  <a16:creationId xmlns:a16="http://schemas.microsoft.com/office/drawing/2014/main" id="{3BB2BEC5-6BFE-4241-A9B9-0D6EAC1D95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800" y="311658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20">
              <a:extLst>
                <a:ext uri="{FF2B5EF4-FFF2-40B4-BE49-F238E27FC236}">
                  <a16:creationId xmlns:a16="http://schemas.microsoft.com/office/drawing/2014/main" id="{38118172-B8E3-4633-8354-34233330BC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0" y="4107180"/>
              <a:ext cx="228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18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A7438-BAF6-4BE8-A235-80CD2A0CB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Tree-search: iterative 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A20E0-98D6-43DA-82FE-46C0659A856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A9AF863-F9DB-48DA-83BC-497935407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543050"/>
            <a:ext cx="5543550" cy="40957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1496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FD133-F023-4075-9204-B77C72EC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/ Maximum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D872AB-2DF6-4638-B014-23513B8FA152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Tree-minimum(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Input</a:t>
                </a:r>
                <a:r>
                  <a:rPr lang="en-US" dirty="0"/>
                  <a:t>: 	a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of a BST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Output</a:t>
                </a:r>
                <a:r>
                  <a:rPr lang="en-US" dirty="0"/>
                  <a:t>: 	return the node containing minimum key in the subtree rooted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D872AB-2DF6-4638-B014-23513B8FA1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B9882EB7-2EBE-4B7D-B06D-8D6966BD8086}"/>
              </a:ext>
            </a:extLst>
          </p:cNvPr>
          <p:cNvGrpSpPr/>
          <p:nvPr/>
        </p:nvGrpSpPr>
        <p:grpSpPr>
          <a:xfrm>
            <a:off x="5603328" y="3563532"/>
            <a:ext cx="3086100" cy="2590800"/>
            <a:chOff x="1447800" y="2659380"/>
            <a:chExt cx="3086100" cy="2590800"/>
          </a:xfrm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2CB44017-2E6F-43C1-AF95-41D5AAB15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3</a:t>
              </a:r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5C1A5990-DFF5-4943-8188-15E7695B5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7278" y="4740691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7</a:t>
              </a: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19EB3650-40AA-4806-97F7-6F8D1DA8C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26593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6</a:t>
              </a:r>
            </a:p>
          </p:txBody>
        </p:sp>
        <p:sp>
          <p:nvSpPr>
            <p:cNvPr id="8" name="Oval 9">
              <a:extLst>
                <a:ext uri="{FF2B5EF4-FFF2-40B4-BE49-F238E27FC236}">
                  <a16:creationId xmlns:a16="http://schemas.microsoft.com/office/drawing/2014/main" id="{C564EC59-51DF-46AF-8AD7-9B253F83F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4792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4</a:t>
              </a:r>
            </a:p>
          </p:txBody>
        </p:sp>
        <p:sp>
          <p:nvSpPr>
            <p:cNvPr id="9" name="Oval 10">
              <a:extLst>
                <a:ext uri="{FF2B5EF4-FFF2-40B4-BE49-F238E27FC236}">
                  <a16:creationId xmlns:a16="http://schemas.microsoft.com/office/drawing/2014/main" id="{400E6068-BBA3-43CA-B2FD-6BE1FDFBB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8</a:t>
              </a:r>
            </a:p>
          </p:txBody>
        </p:sp>
        <p:sp>
          <p:nvSpPr>
            <p:cNvPr id="10" name="Oval 12">
              <a:extLst>
                <a:ext uri="{FF2B5EF4-FFF2-40B4-BE49-F238E27FC236}">
                  <a16:creationId xmlns:a16="http://schemas.microsoft.com/office/drawing/2014/main" id="{EE921D3E-876B-4FC2-8A9E-5D7D453ED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6700" y="47167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9</a:t>
              </a:r>
            </a:p>
          </p:txBody>
        </p:sp>
        <p:sp>
          <p:nvSpPr>
            <p:cNvPr id="11" name="Line 16">
              <a:extLst>
                <a:ext uri="{FF2B5EF4-FFF2-40B4-BE49-F238E27FC236}">
                  <a16:creationId xmlns:a16="http://schemas.microsoft.com/office/drawing/2014/main" id="{6FFEC1FF-076F-4D2F-971B-52186FFD21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5000" y="3116580"/>
              <a:ext cx="5334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7">
              <a:extLst>
                <a:ext uri="{FF2B5EF4-FFF2-40B4-BE49-F238E27FC236}">
                  <a16:creationId xmlns:a16="http://schemas.microsoft.com/office/drawing/2014/main" id="{3BFC9DBE-2B86-4D20-A056-B189DA2890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50324" y="4131090"/>
              <a:ext cx="304800" cy="6618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8">
              <a:extLst>
                <a:ext uri="{FF2B5EF4-FFF2-40B4-BE49-F238E27FC236}">
                  <a16:creationId xmlns:a16="http://schemas.microsoft.com/office/drawing/2014/main" id="{C19E1EE9-3F35-4091-8E56-A23AEDA0E2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8800" y="4107180"/>
              <a:ext cx="3048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9">
              <a:extLst>
                <a:ext uri="{FF2B5EF4-FFF2-40B4-BE49-F238E27FC236}">
                  <a16:creationId xmlns:a16="http://schemas.microsoft.com/office/drawing/2014/main" id="{C027AD78-09BF-471A-9D8C-36F11A331B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800" y="311658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20">
              <a:extLst>
                <a:ext uri="{FF2B5EF4-FFF2-40B4-BE49-F238E27FC236}">
                  <a16:creationId xmlns:a16="http://schemas.microsoft.com/office/drawing/2014/main" id="{698049E4-4258-44AA-A38A-9CC3D327D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0" y="4107180"/>
              <a:ext cx="228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C3C16B-072B-4CCE-9DA8-33A6AD8B5F65}"/>
                  </a:ext>
                </a:extLst>
              </p:cNvPr>
              <p:cNvSpPr txBox="1"/>
              <p:nvPr/>
            </p:nvSpPr>
            <p:spPr>
              <a:xfrm>
                <a:off x="7039304" y="3353591"/>
                <a:ext cx="45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C3C16B-072B-4CCE-9DA8-33A6AD8B5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304" y="3353591"/>
                <a:ext cx="4572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1600080-0DBA-4737-B985-494FDC0C6702}"/>
                  </a:ext>
                </a:extLst>
              </p:cNvPr>
              <p:cNvSpPr txBox="1"/>
              <p:nvPr/>
            </p:nvSpPr>
            <p:spPr>
              <a:xfrm>
                <a:off x="8090996" y="4334730"/>
                <a:ext cx="45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1600080-0DBA-4737-B985-494FDC0C6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0996" y="4334730"/>
                <a:ext cx="457200" cy="461665"/>
              </a:xfrm>
              <a:prstGeom prst="rect">
                <a:avLst/>
              </a:prstGeom>
              <a:blipFill>
                <a:blip r:embed="rId4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0682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FD133-F023-4075-9204-B77C72EC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/ Maximum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D872AB-2DF6-4638-B014-23513B8FA152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753387"/>
              </a:xfrm>
            </p:spPr>
            <p:txBody>
              <a:bodyPr/>
              <a:lstStyle/>
              <a:p>
                <a:r>
                  <a:rPr lang="en-US" dirty="0"/>
                  <a:t>Tree-minimum(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Input</a:t>
                </a:r>
                <a:r>
                  <a:rPr lang="en-US" dirty="0"/>
                  <a:t>: 	a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of a BST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Output</a:t>
                </a:r>
                <a:r>
                  <a:rPr lang="en-US" dirty="0"/>
                  <a:t>: 	return the node containing a minimum key in the subtree rooted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D872AB-2DF6-4638-B014-23513B8FA1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753387"/>
              </a:xfrm>
              <a:blipFill>
                <a:blip r:embed="rId2"/>
                <a:stretch>
                  <a:fillRect l="-667" t="-3125" b="-2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B9882EB7-2EBE-4B7D-B06D-8D6966BD8086}"/>
              </a:ext>
            </a:extLst>
          </p:cNvPr>
          <p:cNvGrpSpPr/>
          <p:nvPr/>
        </p:nvGrpSpPr>
        <p:grpSpPr>
          <a:xfrm>
            <a:off x="5603328" y="3563532"/>
            <a:ext cx="3086100" cy="2590800"/>
            <a:chOff x="1447800" y="2659380"/>
            <a:chExt cx="3086100" cy="2590800"/>
          </a:xfrm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2CB44017-2E6F-43C1-AF95-41D5AAB15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3</a:t>
              </a:r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5C1A5990-DFF5-4943-8188-15E7695B5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7278" y="4740691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7</a:t>
              </a: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19EB3650-40AA-4806-97F7-6F8D1DA8C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26593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6</a:t>
              </a:r>
            </a:p>
          </p:txBody>
        </p:sp>
        <p:sp>
          <p:nvSpPr>
            <p:cNvPr id="8" name="Oval 9">
              <a:extLst>
                <a:ext uri="{FF2B5EF4-FFF2-40B4-BE49-F238E27FC236}">
                  <a16:creationId xmlns:a16="http://schemas.microsoft.com/office/drawing/2014/main" id="{C564EC59-51DF-46AF-8AD7-9B253F83F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4792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4</a:t>
              </a:r>
            </a:p>
          </p:txBody>
        </p:sp>
        <p:sp>
          <p:nvSpPr>
            <p:cNvPr id="9" name="Oval 10">
              <a:extLst>
                <a:ext uri="{FF2B5EF4-FFF2-40B4-BE49-F238E27FC236}">
                  <a16:creationId xmlns:a16="http://schemas.microsoft.com/office/drawing/2014/main" id="{400E6068-BBA3-43CA-B2FD-6BE1FDFBB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8</a:t>
              </a:r>
            </a:p>
          </p:txBody>
        </p:sp>
        <p:sp>
          <p:nvSpPr>
            <p:cNvPr id="10" name="Oval 12">
              <a:extLst>
                <a:ext uri="{FF2B5EF4-FFF2-40B4-BE49-F238E27FC236}">
                  <a16:creationId xmlns:a16="http://schemas.microsoft.com/office/drawing/2014/main" id="{EE921D3E-876B-4FC2-8A9E-5D7D453ED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6700" y="47167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9</a:t>
              </a:r>
            </a:p>
          </p:txBody>
        </p:sp>
        <p:sp>
          <p:nvSpPr>
            <p:cNvPr id="11" name="Line 16">
              <a:extLst>
                <a:ext uri="{FF2B5EF4-FFF2-40B4-BE49-F238E27FC236}">
                  <a16:creationId xmlns:a16="http://schemas.microsoft.com/office/drawing/2014/main" id="{6FFEC1FF-076F-4D2F-971B-52186FFD21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5000" y="3116580"/>
              <a:ext cx="5334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7">
              <a:extLst>
                <a:ext uri="{FF2B5EF4-FFF2-40B4-BE49-F238E27FC236}">
                  <a16:creationId xmlns:a16="http://schemas.microsoft.com/office/drawing/2014/main" id="{3BFC9DBE-2B86-4D20-A056-B189DA2890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50324" y="4131090"/>
              <a:ext cx="304800" cy="6618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8">
              <a:extLst>
                <a:ext uri="{FF2B5EF4-FFF2-40B4-BE49-F238E27FC236}">
                  <a16:creationId xmlns:a16="http://schemas.microsoft.com/office/drawing/2014/main" id="{C19E1EE9-3F35-4091-8E56-A23AEDA0E2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8800" y="4107180"/>
              <a:ext cx="3048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9">
              <a:extLst>
                <a:ext uri="{FF2B5EF4-FFF2-40B4-BE49-F238E27FC236}">
                  <a16:creationId xmlns:a16="http://schemas.microsoft.com/office/drawing/2014/main" id="{C027AD78-09BF-471A-9D8C-36F11A331B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800" y="311658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20">
              <a:extLst>
                <a:ext uri="{FF2B5EF4-FFF2-40B4-BE49-F238E27FC236}">
                  <a16:creationId xmlns:a16="http://schemas.microsoft.com/office/drawing/2014/main" id="{698049E4-4258-44AA-A38A-9CC3D327D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0" y="4107180"/>
              <a:ext cx="228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6BFAE95-F09E-4A92-B1CC-C6F5B7CFA363}"/>
              </a:ext>
            </a:extLst>
          </p:cNvPr>
          <p:cNvSpPr txBox="1">
            <a:spLocks/>
          </p:cNvSpPr>
          <p:nvPr/>
        </p:nvSpPr>
        <p:spPr bwMode="auto">
          <a:xfrm>
            <a:off x="779736" y="3074276"/>
            <a:ext cx="3545928" cy="1700048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en-US" dirty="0"/>
              <a:t>Tree-minimum(</a:t>
            </a:r>
            <a:r>
              <a:rPr lang="en-US" altLang="en-US" i="1" dirty="0">
                <a:solidFill>
                  <a:srgbClr val="0B1196"/>
                </a:solidFill>
              </a:rPr>
              <a:t>x</a:t>
            </a:r>
            <a:r>
              <a:rPr lang="en-US" altLang="en-US" dirty="0"/>
              <a:t>)</a:t>
            </a:r>
          </a:p>
          <a:p>
            <a:pPr lvl="2">
              <a:lnSpc>
                <a:spcPct val="90000"/>
              </a:lnSpc>
              <a:buFont typeface="Wingdings" charset="2"/>
              <a:buNone/>
            </a:pPr>
            <a:r>
              <a:rPr lang="en-US" altLang="en-US" dirty="0"/>
              <a:t>  </a:t>
            </a:r>
            <a:r>
              <a:rPr lang="en-US" altLang="en-US" sz="2400" dirty="0"/>
              <a:t>while ( </a:t>
            </a:r>
            <a:r>
              <a:rPr lang="en-US" altLang="en-US" sz="2400" i="1" dirty="0" err="1">
                <a:solidFill>
                  <a:srgbClr val="0B1196"/>
                </a:solidFill>
              </a:rPr>
              <a:t>x</a:t>
            </a:r>
            <a:r>
              <a:rPr lang="en-US" altLang="en-US" sz="2400" dirty="0" err="1"/>
              <a:t>.left</a:t>
            </a:r>
            <a:r>
              <a:rPr lang="en-US" altLang="en-US" sz="2400" dirty="0"/>
              <a:t> ≠ Nil)</a:t>
            </a:r>
          </a:p>
          <a:p>
            <a:pPr lvl="2">
              <a:lnSpc>
                <a:spcPct val="90000"/>
              </a:lnSpc>
              <a:buFont typeface="Wingdings" charset="2"/>
              <a:buNone/>
            </a:pPr>
            <a:r>
              <a:rPr lang="en-US" altLang="en-US" sz="2400" dirty="0"/>
              <a:t>		do   </a:t>
            </a:r>
            <a:r>
              <a:rPr lang="en-US" altLang="en-US" sz="2400" i="1" dirty="0">
                <a:solidFill>
                  <a:srgbClr val="0B1196"/>
                </a:solidFill>
              </a:rPr>
              <a:t>x</a:t>
            </a:r>
            <a:r>
              <a:rPr lang="en-US" altLang="en-US" sz="2400" dirty="0"/>
              <a:t> = </a:t>
            </a:r>
            <a:r>
              <a:rPr lang="en-US" altLang="en-US" sz="2400" i="1" dirty="0" err="1">
                <a:solidFill>
                  <a:srgbClr val="0B1196"/>
                </a:solidFill>
              </a:rPr>
              <a:t>x</a:t>
            </a:r>
            <a:r>
              <a:rPr lang="en-US" altLang="en-US" sz="2400" dirty="0" err="1"/>
              <a:t>.left</a:t>
            </a:r>
            <a:r>
              <a:rPr lang="en-US" altLang="en-US" sz="2400" dirty="0"/>
              <a:t>;</a:t>
            </a:r>
          </a:p>
          <a:p>
            <a:pPr lvl="2">
              <a:lnSpc>
                <a:spcPct val="90000"/>
              </a:lnSpc>
              <a:buFont typeface="Wingdings" charset="2"/>
              <a:buNone/>
            </a:pPr>
            <a:r>
              <a:rPr lang="en-US" altLang="en-US" sz="2400" dirty="0"/>
              <a:t>  return </a:t>
            </a:r>
            <a:r>
              <a:rPr lang="en-US" altLang="en-US" sz="2400" i="1" dirty="0">
                <a:solidFill>
                  <a:srgbClr val="0B1196"/>
                </a:solidFill>
              </a:rPr>
              <a:t>x</a:t>
            </a:r>
            <a:r>
              <a:rPr lang="en-US" altLang="en-US" sz="2400" dirty="0"/>
              <a:t>; 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271DEC41-655D-4C66-87F4-20F46892185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19429" y="4916347"/>
                <a:ext cx="4410404" cy="13320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Time complexity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is height of input tree </a:t>
                </a:r>
              </a:p>
            </p:txBody>
          </p:sp>
        </mc:Choice>
        <mc:Fallback xmlns="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271DEC41-655D-4C66-87F4-20F468921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429" y="4916347"/>
                <a:ext cx="4410404" cy="1332053"/>
              </a:xfrm>
              <a:prstGeom prst="rect">
                <a:avLst/>
              </a:prstGeom>
              <a:blipFill>
                <a:blip r:embed="rId3"/>
                <a:stretch>
                  <a:fillRect l="-1245" t="-4110" b="-365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407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FD133-F023-4075-9204-B77C72EC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/ Maximum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D872AB-2DF6-4638-B014-23513B8FA152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753387"/>
              </a:xfrm>
            </p:spPr>
            <p:txBody>
              <a:bodyPr/>
              <a:lstStyle/>
              <a:p>
                <a:r>
                  <a:rPr lang="en-US" dirty="0"/>
                  <a:t>Tree-maximum(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Input</a:t>
                </a:r>
                <a:r>
                  <a:rPr lang="en-US" dirty="0"/>
                  <a:t>: 	a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of a BST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Output</a:t>
                </a:r>
                <a:r>
                  <a:rPr lang="en-US" dirty="0"/>
                  <a:t>: 	return the node containing a maximum key in the subtree rooted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D872AB-2DF6-4638-B014-23513B8FA1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753387"/>
              </a:xfrm>
              <a:blipFill>
                <a:blip r:embed="rId2"/>
                <a:stretch>
                  <a:fillRect l="-667" t="-3125" b="-2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B9882EB7-2EBE-4B7D-B06D-8D6966BD8086}"/>
              </a:ext>
            </a:extLst>
          </p:cNvPr>
          <p:cNvGrpSpPr/>
          <p:nvPr/>
        </p:nvGrpSpPr>
        <p:grpSpPr>
          <a:xfrm>
            <a:off x="5603328" y="3563532"/>
            <a:ext cx="3086100" cy="2590800"/>
            <a:chOff x="1447800" y="2659380"/>
            <a:chExt cx="3086100" cy="2590800"/>
          </a:xfrm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2CB44017-2E6F-43C1-AF95-41D5AAB15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3</a:t>
              </a:r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5C1A5990-DFF5-4943-8188-15E7695B5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7278" y="4740691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7</a:t>
              </a: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19EB3650-40AA-4806-97F7-6F8D1DA8C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26593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6</a:t>
              </a:r>
            </a:p>
          </p:txBody>
        </p:sp>
        <p:sp>
          <p:nvSpPr>
            <p:cNvPr id="8" name="Oval 9">
              <a:extLst>
                <a:ext uri="{FF2B5EF4-FFF2-40B4-BE49-F238E27FC236}">
                  <a16:creationId xmlns:a16="http://schemas.microsoft.com/office/drawing/2014/main" id="{C564EC59-51DF-46AF-8AD7-9B253F83F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4792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4</a:t>
              </a:r>
            </a:p>
          </p:txBody>
        </p:sp>
        <p:sp>
          <p:nvSpPr>
            <p:cNvPr id="9" name="Oval 10">
              <a:extLst>
                <a:ext uri="{FF2B5EF4-FFF2-40B4-BE49-F238E27FC236}">
                  <a16:creationId xmlns:a16="http://schemas.microsoft.com/office/drawing/2014/main" id="{400E6068-BBA3-43CA-B2FD-6BE1FDFBB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8</a:t>
              </a:r>
            </a:p>
          </p:txBody>
        </p:sp>
        <p:sp>
          <p:nvSpPr>
            <p:cNvPr id="10" name="Oval 12">
              <a:extLst>
                <a:ext uri="{FF2B5EF4-FFF2-40B4-BE49-F238E27FC236}">
                  <a16:creationId xmlns:a16="http://schemas.microsoft.com/office/drawing/2014/main" id="{EE921D3E-876B-4FC2-8A9E-5D7D453ED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6700" y="47167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9</a:t>
              </a:r>
            </a:p>
          </p:txBody>
        </p:sp>
        <p:sp>
          <p:nvSpPr>
            <p:cNvPr id="11" name="Line 16">
              <a:extLst>
                <a:ext uri="{FF2B5EF4-FFF2-40B4-BE49-F238E27FC236}">
                  <a16:creationId xmlns:a16="http://schemas.microsoft.com/office/drawing/2014/main" id="{6FFEC1FF-076F-4D2F-971B-52186FFD21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5000" y="3116580"/>
              <a:ext cx="5334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7">
              <a:extLst>
                <a:ext uri="{FF2B5EF4-FFF2-40B4-BE49-F238E27FC236}">
                  <a16:creationId xmlns:a16="http://schemas.microsoft.com/office/drawing/2014/main" id="{3BFC9DBE-2B86-4D20-A056-B189DA2890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50324" y="4131090"/>
              <a:ext cx="304800" cy="6618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8">
              <a:extLst>
                <a:ext uri="{FF2B5EF4-FFF2-40B4-BE49-F238E27FC236}">
                  <a16:creationId xmlns:a16="http://schemas.microsoft.com/office/drawing/2014/main" id="{C19E1EE9-3F35-4091-8E56-A23AEDA0E2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8800" y="4107180"/>
              <a:ext cx="3048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9">
              <a:extLst>
                <a:ext uri="{FF2B5EF4-FFF2-40B4-BE49-F238E27FC236}">
                  <a16:creationId xmlns:a16="http://schemas.microsoft.com/office/drawing/2014/main" id="{C027AD78-09BF-471A-9D8C-36F11A331B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800" y="311658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20">
              <a:extLst>
                <a:ext uri="{FF2B5EF4-FFF2-40B4-BE49-F238E27FC236}">
                  <a16:creationId xmlns:a16="http://schemas.microsoft.com/office/drawing/2014/main" id="{698049E4-4258-44AA-A38A-9CC3D327D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0" y="4107180"/>
              <a:ext cx="228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6BFAE95-F09E-4A92-B1CC-C6F5B7CFA363}"/>
              </a:ext>
            </a:extLst>
          </p:cNvPr>
          <p:cNvSpPr txBox="1">
            <a:spLocks/>
          </p:cNvSpPr>
          <p:nvPr/>
        </p:nvSpPr>
        <p:spPr bwMode="auto">
          <a:xfrm>
            <a:off x="779736" y="3074276"/>
            <a:ext cx="3545928" cy="1700048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en-US" dirty="0"/>
              <a:t>Tree-maximum(</a:t>
            </a:r>
            <a:r>
              <a:rPr lang="en-US" altLang="en-US" i="1" dirty="0">
                <a:solidFill>
                  <a:srgbClr val="0B1196"/>
                </a:solidFill>
              </a:rPr>
              <a:t>x</a:t>
            </a:r>
            <a:r>
              <a:rPr lang="en-US" altLang="en-US" dirty="0"/>
              <a:t>)</a:t>
            </a:r>
          </a:p>
          <a:p>
            <a:pPr lvl="2">
              <a:lnSpc>
                <a:spcPct val="90000"/>
              </a:lnSpc>
              <a:buFont typeface="Wingdings" charset="2"/>
              <a:buNone/>
            </a:pPr>
            <a:r>
              <a:rPr lang="en-US" altLang="en-US" dirty="0"/>
              <a:t>  </a:t>
            </a:r>
            <a:r>
              <a:rPr lang="en-US" altLang="en-US" sz="2400" dirty="0"/>
              <a:t>while ( </a:t>
            </a:r>
            <a:r>
              <a:rPr lang="en-US" altLang="en-US" sz="2400" i="1" dirty="0" err="1">
                <a:solidFill>
                  <a:srgbClr val="0B1196"/>
                </a:solidFill>
              </a:rPr>
              <a:t>x</a:t>
            </a:r>
            <a:r>
              <a:rPr lang="en-US" altLang="en-US" sz="2400" dirty="0" err="1"/>
              <a:t>.right</a:t>
            </a:r>
            <a:r>
              <a:rPr lang="en-US" altLang="en-US" sz="2400" dirty="0"/>
              <a:t> ≠ Nil)</a:t>
            </a:r>
          </a:p>
          <a:p>
            <a:pPr lvl="2">
              <a:lnSpc>
                <a:spcPct val="90000"/>
              </a:lnSpc>
              <a:buFont typeface="Wingdings" charset="2"/>
              <a:buNone/>
            </a:pPr>
            <a:r>
              <a:rPr lang="en-US" altLang="en-US" sz="2400" dirty="0"/>
              <a:t>		do   </a:t>
            </a:r>
            <a:r>
              <a:rPr lang="en-US" altLang="en-US" sz="2400" i="1" dirty="0">
                <a:solidFill>
                  <a:srgbClr val="0B1196"/>
                </a:solidFill>
              </a:rPr>
              <a:t>x</a:t>
            </a:r>
            <a:r>
              <a:rPr lang="en-US" altLang="en-US" sz="2400" dirty="0"/>
              <a:t> = </a:t>
            </a:r>
            <a:r>
              <a:rPr lang="en-US" altLang="en-US" sz="2400" i="1" dirty="0" err="1">
                <a:solidFill>
                  <a:srgbClr val="0B1196"/>
                </a:solidFill>
              </a:rPr>
              <a:t>x</a:t>
            </a:r>
            <a:r>
              <a:rPr lang="en-US" altLang="en-US" sz="2400" dirty="0" err="1"/>
              <a:t>.right</a:t>
            </a:r>
            <a:r>
              <a:rPr lang="en-US" altLang="en-US" sz="2400" dirty="0"/>
              <a:t>;</a:t>
            </a:r>
          </a:p>
          <a:p>
            <a:pPr lvl="2">
              <a:lnSpc>
                <a:spcPct val="90000"/>
              </a:lnSpc>
              <a:buFont typeface="Wingdings" charset="2"/>
              <a:buNone/>
            </a:pPr>
            <a:r>
              <a:rPr lang="en-US" altLang="en-US" sz="2400" dirty="0"/>
              <a:t>  return </a:t>
            </a:r>
            <a:r>
              <a:rPr lang="en-US" altLang="en-US" sz="2400" i="1" dirty="0">
                <a:solidFill>
                  <a:srgbClr val="0B1196"/>
                </a:solidFill>
              </a:rPr>
              <a:t>x</a:t>
            </a:r>
            <a:r>
              <a:rPr lang="en-US" altLang="en-US" sz="2400" dirty="0"/>
              <a:t>; 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271DEC41-655D-4C66-87F4-20F46892185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19429" y="4916347"/>
                <a:ext cx="4410404" cy="13320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Time complexity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is height of input tree </a:t>
                </a:r>
              </a:p>
            </p:txBody>
          </p:sp>
        </mc:Choice>
        <mc:Fallback xmlns="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271DEC41-655D-4C66-87F4-20F468921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429" y="4916347"/>
                <a:ext cx="4410404" cy="1332053"/>
              </a:xfrm>
              <a:prstGeom prst="rect">
                <a:avLst/>
              </a:prstGeom>
              <a:blipFill>
                <a:blip r:embed="rId3"/>
                <a:stretch>
                  <a:fillRect l="-1245" t="-4110" b="-365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4893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77DDC-9E62-4B2B-A427-976C99FF7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Tree-insert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E123E8-EBFE-46D4-A3BE-F48E897E473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752600"/>
              </a:xfrm>
            </p:spPr>
            <p:txBody>
              <a:bodyPr/>
              <a:lstStyle/>
              <a:p>
                <a:r>
                  <a:rPr lang="en-US" dirty="0"/>
                  <a:t>Tree-insert(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Input:   a BST tree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a key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 insert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to the tree rooted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such that the resulting tree is still a binary search tree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E123E8-EBFE-46D4-A3BE-F48E897E47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752600"/>
              </a:xfrm>
              <a:blipFill>
                <a:blip r:embed="rId2"/>
                <a:stretch>
                  <a:fillRect l="-667" t="-3125" b="-2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6736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CE769-ADA6-4175-A711-A688CF9A8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BDE04-6924-42B9-80EC-9F3EE2BC87F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914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64913996-E8BF-46A7-8973-048BBE19D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100" y="167640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15</a:t>
            </a:r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AE62EE5D-F21B-4ED3-BE82-5E3DB5C45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300" y="320040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3</a:t>
            </a: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4B4435EF-1DED-44F9-B81F-BA693DFA6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900" y="434340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2</a:t>
            </a: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5ECC7859-606D-41BF-9B33-2BB9A7155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00" y="220980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6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6305DD54-835F-4E7E-B0AF-DC3D3274B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190658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A2181E6A-0A5A-4BE7-A468-AA981D687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434340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4</a:t>
            </a:r>
          </a:p>
        </p:txBody>
      </p:sp>
      <p:sp>
        <p:nvSpPr>
          <p:cNvPr id="12" name="Oval 12">
            <a:extLst>
              <a:ext uri="{FF2B5EF4-FFF2-40B4-BE49-F238E27FC236}">
                <a16:creationId xmlns:a16="http://schemas.microsoft.com/office/drawing/2014/main" id="{2E34F3F9-FAA8-49AA-B139-5EB466D34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5700" y="320040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7</a:t>
            </a:r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1B67FB85-E71A-40CA-9D38-F2C09B514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300" y="426720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13</a:t>
            </a:r>
          </a:p>
        </p:txBody>
      </p:sp>
      <p:sp>
        <p:nvSpPr>
          <p:cNvPr id="14" name="Oval 14">
            <a:extLst>
              <a:ext uri="{FF2B5EF4-FFF2-40B4-BE49-F238E27FC236}">
                <a16:creationId xmlns:a16="http://schemas.microsoft.com/office/drawing/2014/main" id="{4102AC15-D16B-4C7A-BFC6-0EF62D8D1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8100" y="525780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/>
              <a:t>9</a:t>
            </a:r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6079DB6D-E50A-4A52-9EFB-1D2A8D5DAF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62300" y="1905000"/>
            <a:ext cx="1371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55846139-4A71-4899-9937-E5DE470746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95500" y="26670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19">
            <a:extLst>
              <a:ext uri="{FF2B5EF4-FFF2-40B4-BE49-F238E27FC236}">
                <a16:creationId xmlns:a16="http://schemas.microsoft.com/office/drawing/2014/main" id="{86614E64-0BE6-420F-B834-0C35126B72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85900" y="37338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AF48FCA7-08F3-4437-8351-1145B21AEC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19300" y="36576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88C555A7-EC1A-492D-845E-673337F89E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2300" y="26670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8BFAF6FB-8633-47DF-9834-A6ACC1FEE4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2900" y="36576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A5D1ED3E-3E44-4D1A-8806-5D133CCE48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29100" y="48006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27">
            <a:extLst>
              <a:ext uri="{FF2B5EF4-FFF2-40B4-BE49-F238E27FC236}">
                <a16:creationId xmlns:a16="http://schemas.microsoft.com/office/drawing/2014/main" id="{D81AA9D3-AAD5-4C66-AE6F-476C06952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0" y="2590800"/>
            <a:ext cx="3276600" cy="838200"/>
          </a:xfrm>
          <a:prstGeom prst="rect">
            <a:avLst/>
          </a:prstGeom>
          <a:solidFill>
            <a:srgbClr val="6E7792">
              <a:alpha val="55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b="0" dirty="0"/>
              <a:t>Tree-Insert(</a:t>
            </a:r>
            <a:r>
              <a:rPr lang="en-US" altLang="en-US" b="0" dirty="0" err="1"/>
              <a:t>T.root</a:t>
            </a:r>
            <a:r>
              <a:rPr lang="en-US" altLang="en-US" b="0" dirty="0"/>
              <a:t>, 8)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BA7A24-6DB2-4E79-B5ED-AF19C65BCF45}"/>
              </a:ext>
            </a:extLst>
          </p:cNvPr>
          <p:cNvSpPr txBox="1"/>
          <p:nvPr/>
        </p:nvSpPr>
        <p:spPr>
          <a:xfrm>
            <a:off x="3986048" y="1417724"/>
            <a:ext cx="144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T.root</a:t>
            </a:r>
            <a:endParaRPr lang="en-US" sz="2000" dirty="0"/>
          </a:p>
        </p:txBody>
      </p:sp>
      <p:sp>
        <p:nvSpPr>
          <p:cNvPr id="30" name="Rectangle 27">
            <a:extLst>
              <a:ext uri="{FF2B5EF4-FFF2-40B4-BE49-F238E27FC236}">
                <a16:creationId xmlns:a16="http://schemas.microsoft.com/office/drawing/2014/main" id="{D6D88959-E84A-4A2C-8774-7BFB828F5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148" y="3848100"/>
            <a:ext cx="3276600" cy="838200"/>
          </a:xfrm>
          <a:prstGeom prst="rect">
            <a:avLst/>
          </a:prstGeom>
          <a:solidFill>
            <a:schemeClr val="accent1">
              <a:alpha val="5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b="0" dirty="0"/>
              <a:t>Tree-Insert(</a:t>
            </a:r>
            <a:r>
              <a:rPr lang="en-US" altLang="en-US" b="0" dirty="0" err="1"/>
              <a:t>T.root</a:t>
            </a:r>
            <a:r>
              <a:rPr lang="en-US" altLang="en-US" b="0" dirty="0"/>
              <a:t>, 6.5)</a:t>
            </a:r>
          </a:p>
        </p:txBody>
      </p:sp>
      <p:sp>
        <p:nvSpPr>
          <p:cNvPr id="31" name="Rectangle 27">
            <a:extLst>
              <a:ext uri="{FF2B5EF4-FFF2-40B4-BE49-F238E27FC236}">
                <a16:creationId xmlns:a16="http://schemas.microsoft.com/office/drawing/2014/main" id="{BC8793F3-987B-47FE-8FBC-366D9F27A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148" y="5181600"/>
            <a:ext cx="3276600" cy="838200"/>
          </a:xfrm>
          <a:prstGeom prst="rect">
            <a:avLst/>
          </a:prstGeom>
          <a:solidFill>
            <a:srgbClr val="FF5751">
              <a:alpha val="55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b="0" dirty="0"/>
              <a:t>Use tree-search ! </a:t>
            </a:r>
          </a:p>
        </p:txBody>
      </p:sp>
    </p:spTree>
    <p:extLst>
      <p:ext uri="{BB962C8B-B14F-4D97-AF65-F5344CB8AC3E}">
        <p14:creationId xmlns:p14="http://schemas.microsoft.com/office/powerpoint/2010/main" val="631348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utoUpdateAnimBg="0"/>
      <p:bldP spid="30" grpId="0" animBg="1" autoUpdateAnimBg="0"/>
      <p:bldP spid="31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77DDC-9E62-4B2B-A427-976C99FF7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Tree-insert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E123E8-EBFE-46D4-A3BE-F48E897E473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4343400" cy="5029200"/>
              </a:xfrm>
              <a:ln w="22225">
                <a:solidFill>
                  <a:schemeClr val="tx1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Tree-insert(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B0E8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0" smtClean="0">
                        <a:solidFill>
                          <a:srgbClr val="0B0E8F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B0E8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altLang="en-US" sz="2200" i="1" dirty="0">
                    <a:solidFill>
                      <a:srgbClr val="0B1196"/>
                    </a:solidFill>
                  </a:rPr>
                  <a:t>    y</a:t>
                </a:r>
                <a:r>
                  <a:rPr lang="en-US" altLang="en-US" sz="2200" dirty="0"/>
                  <a:t> = Nil;   </a:t>
                </a:r>
                <a:r>
                  <a:rPr lang="en-US" altLang="en-US" sz="2200" i="1" dirty="0">
                    <a:solidFill>
                      <a:srgbClr val="0B0E8F"/>
                    </a:solidFill>
                  </a:rPr>
                  <a:t>x</a:t>
                </a:r>
                <a:r>
                  <a:rPr lang="en-US" altLang="en-US" sz="2200" dirty="0"/>
                  <a:t> = </a:t>
                </a:r>
                <a:r>
                  <a:rPr lang="en-US" altLang="en-US" sz="2200" i="1" dirty="0" err="1">
                    <a:solidFill>
                      <a:srgbClr val="0B0E8F"/>
                    </a:solidFill>
                  </a:rPr>
                  <a:t>T.root</a:t>
                </a:r>
                <a:r>
                  <a:rPr lang="en-US" altLang="en-US" sz="2200" dirty="0"/>
                  <a:t> </a:t>
                </a:r>
              </a:p>
              <a:p>
                <a:pPr marL="0" indent="0">
                  <a:buNone/>
                </a:pPr>
                <a:r>
                  <a:rPr lang="en-US" altLang="en-US" sz="2200" i="1" dirty="0">
                    <a:solidFill>
                      <a:srgbClr val="0B1196"/>
                    </a:solidFill>
                  </a:rPr>
                  <a:t>    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z</a:t>
                </a:r>
                <a:r>
                  <a:rPr lang="en-US" altLang="en-US" sz="2200" dirty="0" err="1"/>
                  <a:t>.key</a:t>
                </a:r>
                <a:r>
                  <a:rPr lang="en-US" altLang="en-US" sz="2200" dirty="0"/>
                  <a:t> =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B0E8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b="0" i="1" smtClean="0">
                        <a:solidFill>
                          <a:srgbClr val="0B0E8F"/>
                        </a:solidFill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z</a:t>
                </a:r>
                <a:r>
                  <a:rPr lang="en-US" altLang="en-US" sz="2200" dirty="0" err="1"/>
                  <a:t>.left</a:t>
                </a:r>
                <a:r>
                  <a:rPr lang="en-US" altLang="en-US" sz="2200" dirty="0"/>
                  <a:t> = Nil; 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z</a:t>
                </a:r>
                <a:r>
                  <a:rPr lang="en-US" altLang="en-US" sz="2200" dirty="0" err="1"/>
                  <a:t>.right</a:t>
                </a:r>
                <a:r>
                  <a:rPr lang="en-US" altLang="en-US" sz="2200" dirty="0"/>
                  <a:t>=Nil </a:t>
                </a:r>
              </a:p>
              <a:p>
                <a:pPr marL="0" indent="0">
                  <a:buNone/>
                </a:pPr>
                <a:r>
                  <a:rPr lang="en-US" altLang="en-US" sz="2200" dirty="0"/>
                  <a:t>    while (</a:t>
                </a:r>
                <a:r>
                  <a:rPr lang="en-US" altLang="en-US" sz="2200" i="1" dirty="0">
                    <a:solidFill>
                      <a:srgbClr val="0B1196"/>
                    </a:solidFill>
                  </a:rPr>
                  <a:t>x</a:t>
                </a:r>
                <a:r>
                  <a:rPr lang="en-US" altLang="en-US" sz="2200" dirty="0"/>
                  <a:t>  ≠  Nil)  do</a:t>
                </a:r>
              </a:p>
              <a:p>
                <a:pPr lvl="1">
                  <a:lnSpc>
                    <a:spcPct val="90000"/>
                  </a:lnSpc>
                  <a:buFont typeface="Wingdings" charset="2"/>
                  <a:buNone/>
                </a:pPr>
                <a:r>
                  <a:rPr lang="en-US" altLang="en-US" sz="2200" i="1" dirty="0">
                    <a:solidFill>
                      <a:srgbClr val="0B1196"/>
                    </a:solidFill>
                  </a:rPr>
                  <a:t>		y</a:t>
                </a:r>
                <a:r>
                  <a:rPr lang="en-US" altLang="en-US" sz="2200" dirty="0"/>
                  <a:t> = </a:t>
                </a:r>
                <a:r>
                  <a:rPr lang="en-US" altLang="en-US" sz="2200" i="1" dirty="0">
                    <a:solidFill>
                      <a:srgbClr val="0B1196"/>
                    </a:solidFill>
                  </a:rPr>
                  <a:t>x</a:t>
                </a:r>
              </a:p>
              <a:p>
                <a:pPr lvl="1">
                  <a:lnSpc>
                    <a:spcPct val="90000"/>
                  </a:lnSpc>
                  <a:buFont typeface="Wingdings" charset="2"/>
                  <a:buNone/>
                </a:pPr>
                <a:r>
                  <a:rPr lang="en-US" altLang="en-US" sz="2200" i="1" dirty="0">
                    <a:solidFill>
                      <a:srgbClr val="0B1196"/>
                    </a:solidFill>
                  </a:rPr>
                  <a:t>		</a:t>
                </a:r>
                <a:r>
                  <a:rPr lang="en-US" altLang="en-US" sz="2200" dirty="0"/>
                  <a:t>if  ( 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z</a:t>
                </a:r>
                <a:r>
                  <a:rPr lang="en-US" altLang="en-US" sz="2200" dirty="0" err="1"/>
                  <a:t>.key</a:t>
                </a:r>
                <a:r>
                  <a:rPr lang="en-US" altLang="en-US" sz="2200" dirty="0"/>
                  <a:t> &lt; 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x</a:t>
                </a:r>
                <a:r>
                  <a:rPr lang="en-US" altLang="en-US" sz="2200" dirty="0" err="1"/>
                  <a:t>.key</a:t>
                </a:r>
                <a:r>
                  <a:rPr lang="en-US" altLang="en-US" sz="2200" dirty="0"/>
                  <a:t> )</a:t>
                </a:r>
              </a:p>
              <a:p>
                <a:pPr lvl="1">
                  <a:lnSpc>
                    <a:spcPct val="90000"/>
                  </a:lnSpc>
                  <a:buFont typeface="Wingdings" charset="2"/>
                  <a:buNone/>
                </a:pPr>
                <a:r>
                  <a:rPr lang="en-US" altLang="en-US" sz="2200" dirty="0"/>
                  <a:t>		    then  </a:t>
                </a:r>
                <a:r>
                  <a:rPr lang="en-US" altLang="en-US" sz="2200" i="1" dirty="0">
                    <a:solidFill>
                      <a:srgbClr val="0B1196"/>
                    </a:solidFill>
                  </a:rPr>
                  <a:t>x</a:t>
                </a:r>
                <a:r>
                  <a:rPr lang="en-US" altLang="en-US" sz="2200" dirty="0"/>
                  <a:t> = 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x</a:t>
                </a:r>
                <a:r>
                  <a:rPr lang="en-US" altLang="en-US" sz="2200" dirty="0" err="1"/>
                  <a:t>.left</a:t>
                </a:r>
                <a:endParaRPr lang="en-US" altLang="en-US" sz="2200" dirty="0"/>
              </a:p>
              <a:p>
                <a:pPr lvl="1">
                  <a:lnSpc>
                    <a:spcPct val="90000"/>
                  </a:lnSpc>
                  <a:buFont typeface="Wingdings" charset="2"/>
                  <a:buNone/>
                </a:pPr>
                <a:r>
                  <a:rPr lang="en-US" altLang="en-US" sz="2200" dirty="0"/>
                  <a:t>		    else  </a:t>
                </a:r>
                <a:r>
                  <a:rPr lang="en-US" altLang="en-US" sz="2200" i="1" dirty="0">
                    <a:solidFill>
                      <a:srgbClr val="0B1196"/>
                    </a:solidFill>
                  </a:rPr>
                  <a:t>x</a:t>
                </a:r>
                <a:r>
                  <a:rPr lang="en-US" altLang="en-US" sz="2200" dirty="0"/>
                  <a:t> = 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x</a:t>
                </a:r>
                <a:r>
                  <a:rPr lang="en-US" altLang="en-US" sz="2200" dirty="0" err="1"/>
                  <a:t>.right</a:t>
                </a:r>
                <a:endParaRPr lang="en-US" altLang="en-US" sz="2200" dirty="0"/>
              </a:p>
              <a:p>
                <a:pPr lvl="1">
                  <a:lnSpc>
                    <a:spcPct val="90000"/>
                  </a:lnSpc>
                  <a:buFont typeface="Wingdings" charset="2"/>
                  <a:buNone/>
                </a:pPr>
                <a:r>
                  <a:rPr lang="en-US" altLang="en-US" sz="2200" dirty="0"/>
                  <a:t> 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z</a:t>
                </a:r>
                <a:r>
                  <a:rPr lang="en-US" altLang="en-US" sz="2200" dirty="0" err="1"/>
                  <a:t>.parent</a:t>
                </a:r>
                <a:r>
                  <a:rPr lang="en-US" altLang="en-US" sz="2200" dirty="0"/>
                  <a:t> = </a:t>
                </a:r>
                <a:r>
                  <a:rPr lang="en-US" altLang="en-US" sz="2200" i="1" dirty="0">
                    <a:solidFill>
                      <a:srgbClr val="0B1196"/>
                    </a:solidFill>
                  </a:rPr>
                  <a:t>y</a:t>
                </a:r>
              </a:p>
              <a:p>
                <a:pPr lvl="1">
                  <a:lnSpc>
                    <a:spcPct val="90000"/>
                  </a:lnSpc>
                  <a:buFont typeface="Wingdings" charset="2"/>
                  <a:buNone/>
                </a:pPr>
                <a:r>
                  <a:rPr lang="en-US" altLang="en-US" sz="2200" i="1" dirty="0">
                    <a:solidFill>
                      <a:srgbClr val="0B1196"/>
                    </a:solidFill>
                  </a:rPr>
                  <a:t> </a:t>
                </a:r>
                <a:r>
                  <a:rPr lang="en-US" altLang="en-US" sz="2200" dirty="0"/>
                  <a:t>if  (</a:t>
                </a:r>
                <a:r>
                  <a:rPr lang="en-US" altLang="en-US" sz="2200" i="1" dirty="0">
                    <a:solidFill>
                      <a:srgbClr val="0B1196"/>
                    </a:solidFill>
                  </a:rPr>
                  <a:t>y</a:t>
                </a:r>
                <a:r>
                  <a:rPr lang="en-US" altLang="en-US" sz="2200" dirty="0"/>
                  <a:t> = Nil)  then 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T.root</a:t>
                </a:r>
                <a:r>
                  <a:rPr lang="en-US" altLang="en-US" sz="2200" dirty="0"/>
                  <a:t> = </a:t>
                </a:r>
                <a:r>
                  <a:rPr lang="en-US" altLang="en-US" sz="2200" i="1" dirty="0">
                    <a:solidFill>
                      <a:srgbClr val="0B1196"/>
                    </a:solidFill>
                  </a:rPr>
                  <a:t>z</a:t>
                </a:r>
                <a:endParaRPr lang="en-US" altLang="en-US" sz="2200" dirty="0"/>
              </a:p>
              <a:p>
                <a:pPr lvl="1">
                  <a:lnSpc>
                    <a:spcPct val="90000"/>
                  </a:lnSpc>
                  <a:buFont typeface="Wingdings" charset="2"/>
                  <a:buNone/>
                </a:pPr>
                <a:r>
                  <a:rPr lang="en-US" altLang="en-US" sz="2200" dirty="0"/>
                  <a:t> else  if   (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z</a:t>
                </a:r>
                <a:r>
                  <a:rPr lang="en-US" altLang="en-US" sz="2200" dirty="0" err="1"/>
                  <a:t>.key</a:t>
                </a:r>
                <a:r>
                  <a:rPr lang="en-US" altLang="en-US" sz="2200" dirty="0"/>
                  <a:t> &lt; 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y</a:t>
                </a:r>
                <a:r>
                  <a:rPr lang="en-US" altLang="en-US" sz="2200" dirty="0" err="1"/>
                  <a:t>.key</a:t>
                </a:r>
                <a:r>
                  <a:rPr lang="en-US" altLang="en-US" sz="2200" dirty="0"/>
                  <a:t>)</a:t>
                </a:r>
              </a:p>
              <a:p>
                <a:pPr lvl="1">
                  <a:lnSpc>
                    <a:spcPct val="90000"/>
                  </a:lnSpc>
                  <a:buFont typeface="Wingdings" charset="2"/>
                  <a:buNone/>
                </a:pPr>
                <a:r>
                  <a:rPr lang="en-US" altLang="en-US" sz="2200" dirty="0"/>
                  <a:t>		then	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y</a:t>
                </a:r>
                <a:r>
                  <a:rPr lang="en-US" altLang="en-US" sz="2200" dirty="0" err="1"/>
                  <a:t>.left</a:t>
                </a:r>
                <a:r>
                  <a:rPr lang="en-US" altLang="en-US" sz="2200" dirty="0"/>
                  <a:t> = </a:t>
                </a:r>
                <a:r>
                  <a:rPr lang="en-US" altLang="en-US" sz="2200" i="1" dirty="0">
                    <a:solidFill>
                      <a:srgbClr val="0B1196"/>
                    </a:solidFill>
                  </a:rPr>
                  <a:t>z</a:t>
                </a:r>
                <a:endParaRPr lang="en-US" altLang="en-US" sz="2200" dirty="0"/>
              </a:p>
              <a:p>
                <a:pPr lvl="1">
                  <a:lnSpc>
                    <a:spcPct val="90000"/>
                  </a:lnSpc>
                  <a:buFont typeface="Wingdings" charset="2"/>
                  <a:buNone/>
                </a:pPr>
                <a:r>
                  <a:rPr lang="en-US" altLang="en-US" sz="2200" dirty="0"/>
                  <a:t>	    	else     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y</a:t>
                </a:r>
                <a:r>
                  <a:rPr lang="en-US" altLang="en-US" sz="2200" dirty="0" err="1"/>
                  <a:t>.right</a:t>
                </a:r>
                <a:r>
                  <a:rPr lang="en-US" altLang="en-US" sz="2200" dirty="0"/>
                  <a:t> = </a:t>
                </a:r>
                <a:r>
                  <a:rPr lang="en-US" altLang="en-US" sz="2200" i="1" dirty="0">
                    <a:solidFill>
                      <a:srgbClr val="0B1196"/>
                    </a:solidFill>
                  </a:rPr>
                  <a:t>z</a:t>
                </a:r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E123E8-EBFE-46D4-A3BE-F48E897E47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4343400" cy="5029200"/>
              </a:xfrm>
              <a:blipFill>
                <a:blip r:embed="rId3"/>
                <a:stretch>
                  <a:fillRect l="-2232" t="-844" r="-418" b="-1809"/>
                </a:stretch>
              </a:blipFill>
              <a:ln w="222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33EBEDFA-936D-4C21-9BE1-4FC42C2A37A6}"/>
              </a:ext>
            </a:extLst>
          </p:cNvPr>
          <p:cNvGrpSpPr/>
          <p:nvPr/>
        </p:nvGrpSpPr>
        <p:grpSpPr>
          <a:xfrm>
            <a:off x="533400" y="1752600"/>
            <a:ext cx="8305800" cy="2590800"/>
            <a:chOff x="1295400" y="2057400"/>
            <a:chExt cx="8305800" cy="25908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5D7A341-2005-4C51-8E45-320AC11A31A4}"/>
                </a:ext>
              </a:extLst>
            </p:cNvPr>
            <p:cNvSpPr/>
            <p:nvPr/>
          </p:nvSpPr>
          <p:spPr bwMode="auto">
            <a:xfrm>
              <a:off x="1295400" y="2057400"/>
              <a:ext cx="4191000" cy="2590800"/>
            </a:xfrm>
            <a:prstGeom prst="rect">
              <a:avLst/>
            </a:prstGeom>
            <a:solidFill>
              <a:srgbClr val="FF9F93">
                <a:alpha val="21000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0F7C98DF-6E6A-446B-8EAB-6ACDD7157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2743200"/>
              <a:ext cx="3886200" cy="1219200"/>
            </a:xfrm>
            <a:prstGeom prst="rect">
              <a:avLst/>
            </a:prstGeom>
            <a:solidFill>
              <a:srgbClr val="CCFFCC">
                <a:alpha val="53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en-US" i="1" dirty="0">
                  <a:solidFill>
                    <a:srgbClr val="0B1196"/>
                  </a:solidFill>
                </a:rPr>
                <a:t>z</a:t>
              </a:r>
              <a:r>
                <a:rPr lang="en-US" altLang="en-US" b="0" dirty="0"/>
                <a:t> is the new node to be inserted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en-US" b="0" dirty="0"/>
                <a:t>Locate potential parent </a:t>
              </a:r>
              <a:r>
                <a:rPr lang="en-US" altLang="en-US" b="0" i="1" dirty="0">
                  <a:solidFill>
                    <a:srgbClr val="0B1196"/>
                  </a:solidFill>
                </a:rPr>
                <a:t>y</a:t>
              </a:r>
              <a:r>
                <a:rPr lang="en-US" altLang="en-US" b="0" dirty="0"/>
                <a:t> of </a:t>
              </a:r>
              <a:r>
                <a:rPr lang="en-US" altLang="en-US" i="1" dirty="0">
                  <a:solidFill>
                    <a:srgbClr val="0B1196"/>
                  </a:solidFill>
                </a:rPr>
                <a:t>z</a:t>
              </a:r>
              <a:r>
                <a:rPr lang="en-US" altLang="en-US" b="0" dirty="0"/>
                <a:t>. 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81138A2-3B9F-47B3-8B2B-F86E4BA5314A}"/>
              </a:ext>
            </a:extLst>
          </p:cNvPr>
          <p:cNvGrpSpPr/>
          <p:nvPr/>
        </p:nvGrpSpPr>
        <p:grpSpPr>
          <a:xfrm>
            <a:off x="533400" y="5181599"/>
            <a:ext cx="8305800" cy="1035269"/>
            <a:chOff x="1295400" y="3612930"/>
            <a:chExt cx="8305800" cy="103526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78F359D-08C8-46FB-AA13-EFC2EE207FAC}"/>
                </a:ext>
              </a:extLst>
            </p:cNvPr>
            <p:cNvSpPr/>
            <p:nvPr/>
          </p:nvSpPr>
          <p:spPr bwMode="auto">
            <a:xfrm>
              <a:off x="1295400" y="3612930"/>
              <a:ext cx="4191000" cy="1035269"/>
            </a:xfrm>
            <a:prstGeom prst="rect">
              <a:avLst/>
            </a:prstGeom>
            <a:solidFill>
              <a:srgbClr val="FF9F93">
                <a:alpha val="21000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CAD8C856-50C5-4B8C-A8EA-B44CA8C62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3841531"/>
              <a:ext cx="3886200" cy="457200"/>
            </a:xfrm>
            <a:prstGeom prst="rect">
              <a:avLst/>
            </a:prstGeom>
            <a:solidFill>
              <a:srgbClr val="CCFFCC">
                <a:alpha val="53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en-US" b="0" dirty="0"/>
                <a:t>Set up </a:t>
              </a:r>
              <a:r>
                <a:rPr lang="en-US" altLang="en-US" i="1" dirty="0">
                  <a:solidFill>
                    <a:srgbClr val="0B1196"/>
                  </a:solidFill>
                </a:rPr>
                <a:t>z </a:t>
              </a:r>
              <a:r>
                <a:rPr lang="en-US" altLang="en-US" dirty="0"/>
                <a:t>as appropriate child of </a:t>
              </a:r>
              <a:r>
                <a:rPr lang="en-US" altLang="en-US" b="0" i="1" dirty="0">
                  <a:solidFill>
                    <a:srgbClr val="0B1196"/>
                  </a:solidFill>
                </a:rPr>
                <a:t>y</a:t>
              </a:r>
              <a:r>
                <a:rPr lang="en-US" altLang="en-US" b="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812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77DDC-9E62-4B2B-A427-976C99FF7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Tree-insert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E123E8-EBFE-46D4-A3BE-F48E897E473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4343400" cy="5029200"/>
              </a:xfrm>
              <a:ln w="22225">
                <a:solidFill>
                  <a:schemeClr val="tx1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Tree-insert(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B0E8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0" smtClean="0">
                        <a:solidFill>
                          <a:srgbClr val="0B0E8F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B0E8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altLang="en-US" sz="2200" i="1" dirty="0">
                    <a:solidFill>
                      <a:srgbClr val="0B1196"/>
                    </a:solidFill>
                  </a:rPr>
                  <a:t>    y</a:t>
                </a:r>
                <a:r>
                  <a:rPr lang="en-US" altLang="en-US" sz="2200" dirty="0"/>
                  <a:t> = Nil;   </a:t>
                </a:r>
                <a:r>
                  <a:rPr lang="en-US" altLang="en-US" sz="2200" i="1" dirty="0">
                    <a:solidFill>
                      <a:srgbClr val="0B0E8F"/>
                    </a:solidFill>
                  </a:rPr>
                  <a:t>x</a:t>
                </a:r>
                <a:r>
                  <a:rPr lang="en-US" altLang="en-US" sz="2200" dirty="0"/>
                  <a:t> = </a:t>
                </a:r>
                <a:r>
                  <a:rPr lang="en-US" altLang="en-US" sz="2200" i="1" dirty="0" err="1">
                    <a:solidFill>
                      <a:srgbClr val="0B0E8F"/>
                    </a:solidFill>
                  </a:rPr>
                  <a:t>T.root</a:t>
                </a:r>
                <a:r>
                  <a:rPr lang="en-US" altLang="en-US" sz="2200" dirty="0"/>
                  <a:t> </a:t>
                </a:r>
              </a:p>
              <a:p>
                <a:pPr marL="0" indent="0">
                  <a:buNone/>
                </a:pPr>
                <a:r>
                  <a:rPr lang="en-US" altLang="en-US" sz="2200" i="1" dirty="0">
                    <a:solidFill>
                      <a:srgbClr val="0B1196"/>
                    </a:solidFill>
                  </a:rPr>
                  <a:t>    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z</a:t>
                </a:r>
                <a:r>
                  <a:rPr lang="en-US" altLang="en-US" sz="2200" dirty="0" err="1"/>
                  <a:t>.key</a:t>
                </a:r>
                <a:r>
                  <a:rPr lang="en-US" altLang="en-US" sz="2200" dirty="0"/>
                  <a:t> =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B0E8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b="0" i="1" smtClean="0">
                        <a:solidFill>
                          <a:srgbClr val="0B0E8F"/>
                        </a:solidFill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z</a:t>
                </a:r>
                <a:r>
                  <a:rPr lang="en-US" altLang="en-US" sz="2200" dirty="0" err="1"/>
                  <a:t>.left</a:t>
                </a:r>
                <a:r>
                  <a:rPr lang="en-US" altLang="en-US" sz="2200" dirty="0"/>
                  <a:t> = Nil; 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z</a:t>
                </a:r>
                <a:r>
                  <a:rPr lang="en-US" altLang="en-US" sz="2200" dirty="0" err="1"/>
                  <a:t>.right</a:t>
                </a:r>
                <a:r>
                  <a:rPr lang="en-US" altLang="en-US" sz="2200" dirty="0"/>
                  <a:t>=Nil </a:t>
                </a:r>
              </a:p>
              <a:p>
                <a:pPr marL="0" indent="0">
                  <a:buNone/>
                </a:pPr>
                <a:r>
                  <a:rPr lang="en-US" altLang="en-US" sz="2200" dirty="0"/>
                  <a:t>    while (</a:t>
                </a:r>
                <a:r>
                  <a:rPr lang="en-US" altLang="en-US" sz="2200" i="1" dirty="0">
                    <a:solidFill>
                      <a:srgbClr val="0B1196"/>
                    </a:solidFill>
                  </a:rPr>
                  <a:t>x</a:t>
                </a:r>
                <a:r>
                  <a:rPr lang="en-US" altLang="en-US" sz="2200" dirty="0"/>
                  <a:t>  ≠  Nil)  do</a:t>
                </a:r>
              </a:p>
              <a:p>
                <a:pPr lvl="1">
                  <a:lnSpc>
                    <a:spcPct val="90000"/>
                  </a:lnSpc>
                  <a:buFont typeface="Wingdings" charset="2"/>
                  <a:buNone/>
                </a:pPr>
                <a:r>
                  <a:rPr lang="en-US" altLang="en-US" sz="2200" i="1" dirty="0">
                    <a:solidFill>
                      <a:srgbClr val="0B1196"/>
                    </a:solidFill>
                  </a:rPr>
                  <a:t>		y</a:t>
                </a:r>
                <a:r>
                  <a:rPr lang="en-US" altLang="en-US" sz="2200" dirty="0"/>
                  <a:t> = </a:t>
                </a:r>
                <a:r>
                  <a:rPr lang="en-US" altLang="en-US" sz="2200" i="1" dirty="0">
                    <a:solidFill>
                      <a:srgbClr val="0B1196"/>
                    </a:solidFill>
                  </a:rPr>
                  <a:t>x</a:t>
                </a:r>
              </a:p>
              <a:p>
                <a:pPr lvl="1">
                  <a:lnSpc>
                    <a:spcPct val="90000"/>
                  </a:lnSpc>
                  <a:buFont typeface="Wingdings" charset="2"/>
                  <a:buNone/>
                </a:pPr>
                <a:r>
                  <a:rPr lang="en-US" altLang="en-US" sz="2200" i="1" dirty="0">
                    <a:solidFill>
                      <a:srgbClr val="0B1196"/>
                    </a:solidFill>
                  </a:rPr>
                  <a:t>		</a:t>
                </a:r>
                <a:r>
                  <a:rPr lang="en-US" altLang="en-US" sz="2200" dirty="0"/>
                  <a:t>if  ( 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z</a:t>
                </a:r>
                <a:r>
                  <a:rPr lang="en-US" altLang="en-US" sz="2200" dirty="0" err="1"/>
                  <a:t>.key</a:t>
                </a:r>
                <a:r>
                  <a:rPr lang="en-US" altLang="en-US" sz="2200" dirty="0"/>
                  <a:t> &lt; 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x</a:t>
                </a:r>
                <a:r>
                  <a:rPr lang="en-US" altLang="en-US" sz="2200" dirty="0" err="1"/>
                  <a:t>.key</a:t>
                </a:r>
                <a:r>
                  <a:rPr lang="en-US" altLang="en-US" sz="2200" dirty="0"/>
                  <a:t> )</a:t>
                </a:r>
              </a:p>
              <a:p>
                <a:pPr lvl="1">
                  <a:lnSpc>
                    <a:spcPct val="90000"/>
                  </a:lnSpc>
                  <a:buFont typeface="Wingdings" charset="2"/>
                  <a:buNone/>
                </a:pPr>
                <a:r>
                  <a:rPr lang="en-US" altLang="en-US" sz="2200" dirty="0"/>
                  <a:t>		    then  </a:t>
                </a:r>
                <a:r>
                  <a:rPr lang="en-US" altLang="en-US" sz="2200" i="1" dirty="0">
                    <a:solidFill>
                      <a:srgbClr val="0B1196"/>
                    </a:solidFill>
                  </a:rPr>
                  <a:t>x</a:t>
                </a:r>
                <a:r>
                  <a:rPr lang="en-US" altLang="en-US" sz="2200" dirty="0"/>
                  <a:t> = 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x</a:t>
                </a:r>
                <a:r>
                  <a:rPr lang="en-US" altLang="en-US" sz="2200" dirty="0" err="1"/>
                  <a:t>.left</a:t>
                </a:r>
                <a:endParaRPr lang="en-US" altLang="en-US" sz="2200" dirty="0"/>
              </a:p>
              <a:p>
                <a:pPr lvl="1">
                  <a:lnSpc>
                    <a:spcPct val="90000"/>
                  </a:lnSpc>
                  <a:buFont typeface="Wingdings" charset="2"/>
                  <a:buNone/>
                </a:pPr>
                <a:r>
                  <a:rPr lang="en-US" altLang="en-US" sz="2200" dirty="0"/>
                  <a:t>		    else  </a:t>
                </a:r>
                <a:r>
                  <a:rPr lang="en-US" altLang="en-US" sz="2200" i="1" dirty="0">
                    <a:solidFill>
                      <a:srgbClr val="0B1196"/>
                    </a:solidFill>
                  </a:rPr>
                  <a:t>x</a:t>
                </a:r>
                <a:r>
                  <a:rPr lang="en-US" altLang="en-US" sz="2200" dirty="0"/>
                  <a:t> = 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x</a:t>
                </a:r>
                <a:r>
                  <a:rPr lang="en-US" altLang="en-US" sz="2200" dirty="0" err="1"/>
                  <a:t>.right</a:t>
                </a:r>
                <a:endParaRPr lang="en-US" altLang="en-US" sz="2200" dirty="0"/>
              </a:p>
              <a:p>
                <a:pPr lvl="1">
                  <a:lnSpc>
                    <a:spcPct val="90000"/>
                  </a:lnSpc>
                  <a:buFont typeface="Wingdings" charset="2"/>
                  <a:buNone/>
                </a:pPr>
                <a:r>
                  <a:rPr lang="en-US" altLang="en-US" sz="2200" dirty="0"/>
                  <a:t> 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z</a:t>
                </a:r>
                <a:r>
                  <a:rPr lang="en-US" altLang="en-US" sz="2200" dirty="0" err="1"/>
                  <a:t>.parent</a:t>
                </a:r>
                <a:r>
                  <a:rPr lang="en-US" altLang="en-US" sz="2200" dirty="0"/>
                  <a:t> = </a:t>
                </a:r>
                <a:r>
                  <a:rPr lang="en-US" altLang="en-US" sz="2200" i="1" dirty="0">
                    <a:solidFill>
                      <a:srgbClr val="0B1196"/>
                    </a:solidFill>
                  </a:rPr>
                  <a:t>y</a:t>
                </a:r>
              </a:p>
              <a:p>
                <a:pPr lvl="1">
                  <a:lnSpc>
                    <a:spcPct val="90000"/>
                  </a:lnSpc>
                  <a:buFont typeface="Wingdings" charset="2"/>
                  <a:buNone/>
                </a:pPr>
                <a:r>
                  <a:rPr lang="en-US" altLang="en-US" sz="2200" i="1" dirty="0">
                    <a:solidFill>
                      <a:srgbClr val="0B1196"/>
                    </a:solidFill>
                  </a:rPr>
                  <a:t> </a:t>
                </a:r>
                <a:r>
                  <a:rPr lang="en-US" altLang="en-US" sz="2200" dirty="0"/>
                  <a:t>if  (</a:t>
                </a:r>
                <a:r>
                  <a:rPr lang="en-US" altLang="en-US" sz="2200" i="1" dirty="0">
                    <a:solidFill>
                      <a:srgbClr val="0B1196"/>
                    </a:solidFill>
                  </a:rPr>
                  <a:t>y</a:t>
                </a:r>
                <a:r>
                  <a:rPr lang="en-US" altLang="en-US" sz="2200" dirty="0"/>
                  <a:t> = Nil)  then 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T.root</a:t>
                </a:r>
                <a:r>
                  <a:rPr lang="en-US" altLang="en-US" sz="2200" dirty="0"/>
                  <a:t> = </a:t>
                </a:r>
                <a:r>
                  <a:rPr lang="en-US" altLang="en-US" sz="2200" i="1" dirty="0">
                    <a:solidFill>
                      <a:srgbClr val="0B1196"/>
                    </a:solidFill>
                  </a:rPr>
                  <a:t>z</a:t>
                </a:r>
                <a:endParaRPr lang="en-US" altLang="en-US" sz="2200" dirty="0"/>
              </a:p>
              <a:p>
                <a:pPr lvl="1">
                  <a:lnSpc>
                    <a:spcPct val="90000"/>
                  </a:lnSpc>
                  <a:buFont typeface="Wingdings" charset="2"/>
                  <a:buNone/>
                </a:pPr>
                <a:r>
                  <a:rPr lang="en-US" altLang="en-US" sz="2200" dirty="0"/>
                  <a:t> else  if   (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z</a:t>
                </a:r>
                <a:r>
                  <a:rPr lang="en-US" altLang="en-US" sz="2200" dirty="0" err="1"/>
                  <a:t>.key</a:t>
                </a:r>
                <a:r>
                  <a:rPr lang="en-US" altLang="en-US" sz="2200" dirty="0"/>
                  <a:t> &lt; 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y</a:t>
                </a:r>
                <a:r>
                  <a:rPr lang="en-US" altLang="en-US" sz="2200" dirty="0" err="1"/>
                  <a:t>.key</a:t>
                </a:r>
                <a:r>
                  <a:rPr lang="en-US" altLang="en-US" sz="2200" dirty="0"/>
                  <a:t>)</a:t>
                </a:r>
              </a:p>
              <a:p>
                <a:pPr lvl="1">
                  <a:lnSpc>
                    <a:spcPct val="90000"/>
                  </a:lnSpc>
                  <a:buFont typeface="Wingdings" charset="2"/>
                  <a:buNone/>
                </a:pPr>
                <a:r>
                  <a:rPr lang="en-US" altLang="en-US" sz="2200" dirty="0"/>
                  <a:t>		then	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y</a:t>
                </a:r>
                <a:r>
                  <a:rPr lang="en-US" altLang="en-US" sz="2200" dirty="0" err="1"/>
                  <a:t>.left</a:t>
                </a:r>
                <a:r>
                  <a:rPr lang="en-US" altLang="en-US" sz="2200" dirty="0"/>
                  <a:t> = </a:t>
                </a:r>
                <a:r>
                  <a:rPr lang="en-US" altLang="en-US" sz="2200" i="1" dirty="0">
                    <a:solidFill>
                      <a:srgbClr val="0B1196"/>
                    </a:solidFill>
                  </a:rPr>
                  <a:t>z</a:t>
                </a:r>
                <a:endParaRPr lang="en-US" altLang="en-US" sz="2200" dirty="0"/>
              </a:p>
              <a:p>
                <a:pPr lvl="1">
                  <a:lnSpc>
                    <a:spcPct val="90000"/>
                  </a:lnSpc>
                  <a:buFont typeface="Wingdings" charset="2"/>
                  <a:buNone/>
                </a:pPr>
                <a:r>
                  <a:rPr lang="en-US" altLang="en-US" sz="2200" dirty="0"/>
                  <a:t>	    	else     </a:t>
                </a:r>
                <a:r>
                  <a:rPr lang="en-US" altLang="en-US" sz="2200" i="1" dirty="0" err="1">
                    <a:solidFill>
                      <a:srgbClr val="0B1196"/>
                    </a:solidFill>
                  </a:rPr>
                  <a:t>y</a:t>
                </a:r>
                <a:r>
                  <a:rPr lang="en-US" altLang="en-US" sz="2200" dirty="0" err="1"/>
                  <a:t>.right</a:t>
                </a:r>
                <a:r>
                  <a:rPr lang="en-US" altLang="en-US" sz="2200" dirty="0"/>
                  <a:t> = </a:t>
                </a:r>
                <a:r>
                  <a:rPr lang="en-US" altLang="en-US" sz="2200" i="1" dirty="0">
                    <a:solidFill>
                      <a:srgbClr val="0B1196"/>
                    </a:solidFill>
                  </a:rPr>
                  <a:t>z</a:t>
                </a:r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E123E8-EBFE-46D4-A3BE-F48E897E47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4343400" cy="5029200"/>
              </a:xfrm>
              <a:blipFill>
                <a:blip r:embed="rId3"/>
                <a:stretch>
                  <a:fillRect l="-2232" t="-844" r="-418" b="-1809"/>
                </a:stretch>
              </a:blipFill>
              <a:ln w="222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3359C14B-1624-4EC4-B116-FE94E1B73AE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257800" y="1219200"/>
                <a:ext cx="3429000" cy="5029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Time complexity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is height of input tree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3359C14B-1624-4EC4-B116-FE94E1B73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7800" y="1219200"/>
                <a:ext cx="3429000" cy="5029200"/>
              </a:xfrm>
              <a:prstGeom prst="rect">
                <a:avLst/>
              </a:prstGeom>
              <a:blipFill>
                <a:blip r:embed="rId4"/>
                <a:stretch>
                  <a:fillRect l="-1601" t="-109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3243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F6649-5A64-45D6-A6CA-8E8A3A6B0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494781-9569-4BCE-B3A3-2C8EB0F996B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Suppose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input keys are already stored in a BST of height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lvl="8"/>
                <a:endParaRPr lang="en-US" altLang="en-US" sz="800" dirty="0"/>
              </a:p>
              <a:p>
                <a:pPr lvl="8"/>
                <a:endParaRPr lang="en-US" altLang="en-US" sz="800" dirty="0"/>
              </a:p>
              <a:p>
                <a:pPr lvl="1"/>
                <a:r>
                  <a:rPr lang="en-US" altLang="en-US" sz="2200" dirty="0"/>
                  <a:t>Search </a:t>
                </a:r>
              </a:p>
              <a:p>
                <a:pPr lvl="1"/>
                <a:r>
                  <a:rPr lang="en-US" altLang="en-US" sz="2200" dirty="0"/>
                  <a:t>Maximum</a:t>
                </a:r>
              </a:p>
              <a:p>
                <a:pPr lvl="1"/>
                <a:r>
                  <a:rPr lang="en-US" altLang="en-US" sz="2200" dirty="0"/>
                  <a:t>Minimum</a:t>
                </a:r>
              </a:p>
              <a:p>
                <a:pPr lvl="1"/>
                <a:r>
                  <a:rPr lang="en-US" altLang="en-US" sz="2200" dirty="0"/>
                  <a:t>Successor</a:t>
                </a:r>
              </a:p>
              <a:p>
                <a:pPr lvl="1"/>
                <a:r>
                  <a:rPr lang="en-US" altLang="en-US" sz="2200" dirty="0"/>
                  <a:t>Predecessor</a:t>
                </a:r>
              </a:p>
              <a:p>
                <a:pPr lvl="8"/>
                <a:endParaRPr lang="en-US" altLang="en-US" sz="2200" dirty="0"/>
              </a:p>
              <a:p>
                <a:pPr lvl="1"/>
                <a:r>
                  <a:rPr lang="en-US" altLang="en-US" sz="2200" dirty="0"/>
                  <a:t>Insert</a:t>
                </a:r>
              </a:p>
              <a:p>
                <a:pPr lvl="1"/>
                <a:r>
                  <a:rPr lang="en-US" altLang="en-US" sz="2200" dirty="0"/>
                  <a:t>Delete </a:t>
                </a:r>
              </a:p>
              <a:p>
                <a:pPr lvl="1"/>
                <a:r>
                  <a:rPr lang="en-US" altLang="en-US" sz="2200" dirty="0"/>
                  <a:t>Extract-Max</a:t>
                </a:r>
              </a:p>
              <a:p>
                <a:pPr lvl="1"/>
                <a:r>
                  <a:rPr lang="en-US" altLang="en-US" sz="2200" dirty="0"/>
                  <a:t>Increase-key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494781-9569-4BCE-B3A3-2C8EB0F996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19" t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CA5275E-A0D9-4671-9CDD-49341A31EC82}"/>
              </a:ext>
            </a:extLst>
          </p:cNvPr>
          <p:cNvSpPr txBox="1"/>
          <p:nvPr/>
        </p:nvSpPr>
        <p:spPr>
          <a:xfrm>
            <a:off x="3352800" y="1688068"/>
            <a:ext cx="3124200" cy="369332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Time complexity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F4F407C-DDC9-4164-B4A5-230B8EDABB06}"/>
              </a:ext>
            </a:extLst>
          </p:cNvPr>
          <p:cNvGrpSpPr/>
          <p:nvPr/>
        </p:nvGrpSpPr>
        <p:grpSpPr>
          <a:xfrm>
            <a:off x="4074072" y="2032549"/>
            <a:ext cx="1432035" cy="2768163"/>
            <a:chOff x="5219700" y="2032549"/>
            <a:chExt cx="1432035" cy="2768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3640F01-FF2E-48B1-A6BC-63779AD93F49}"/>
                    </a:ext>
                  </a:extLst>
                </p:cNvPr>
                <p:cNvSpPr txBox="1"/>
                <p:nvPr/>
              </p:nvSpPr>
              <p:spPr>
                <a:xfrm>
                  <a:off x="5257800" y="2032549"/>
                  <a:ext cx="138605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187E61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sz="2200" b="0" i="1" smtClean="0">
                            <a:solidFill>
                              <a:srgbClr val="187E6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b="0" i="1" smtClean="0">
                            <a:solidFill>
                              <a:srgbClr val="187E6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200" b="0" i="1" smtClean="0">
                            <a:solidFill>
                              <a:srgbClr val="187E6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187E6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3640F01-FF2E-48B1-A6BC-63779AD93F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7800" y="2032549"/>
                  <a:ext cx="1386052" cy="430887"/>
                </a:xfrm>
                <a:prstGeom prst="rect">
                  <a:avLst/>
                </a:prstGeom>
                <a:blipFill>
                  <a:blip r:embed="rId4"/>
                  <a:stretch>
                    <a:fillRect b="-183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EEC27F7-DD78-4266-8225-746274E4EA8C}"/>
                    </a:ext>
                  </a:extLst>
                </p:cNvPr>
                <p:cNvSpPr txBox="1"/>
                <p:nvPr/>
              </p:nvSpPr>
              <p:spPr>
                <a:xfrm>
                  <a:off x="5249917" y="2386733"/>
                  <a:ext cx="138605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187E61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sz="2200" b="0" i="1" smtClean="0">
                            <a:solidFill>
                              <a:srgbClr val="187E6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b="0" i="1" smtClean="0">
                            <a:solidFill>
                              <a:srgbClr val="187E6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200" b="0" i="1" smtClean="0">
                            <a:solidFill>
                              <a:srgbClr val="187E6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187E6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EEC27F7-DD78-4266-8225-746274E4EA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9917" y="2386733"/>
                  <a:ext cx="1386052" cy="430887"/>
                </a:xfrm>
                <a:prstGeom prst="rect">
                  <a:avLst/>
                </a:prstGeom>
                <a:blipFill>
                  <a:blip r:embed="rId5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801D9B3-F1AB-4189-B770-54A75684C13F}"/>
                    </a:ext>
                  </a:extLst>
                </p:cNvPr>
                <p:cNvSpPr txBox="1"/>
                <p:nvPr/>
              </p:nvSpPr>
              <p:spPr>
                <a:xfrm>
                  <a:off x="5265683" y="2740917"/>
                  <a:ext cx="138605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187E61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sz="2200" b="0" i="1" smtClean="0">
                            <a:solidFill>
                              <a:srgbClr val="187E6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b="0" i="1" smtClean="0">
                            <a:solidFill>
                              <a:srgbClr val="187E6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200" b="0" i="1" smtClean="0">
                            <a:solidFill>
                              <a:srgbClr val="187E6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187E6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801D9B3-F1AB-4189-B770-54A75684C1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5683" y="2740917"/>
                  <a:ext cx="1386052" cy="430887"/>
                </a:xfrm>
                <a:prstGeom prst="rect">
                  <a:avLst/>
                </a:prstGeom>
                <a:blipFill>
                  <a:blip r:embed="rId6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878C378-DFA6-4F9C-967B-8CB4B94F4A85}"/>
                    </a:ext>
                  </a:extLst>
                </p:cNvPr>
                <p:cNvSpPr txBox="1"/>
                <p:nvPr/>
              </p:nvSpPr>
              <p:spPr>
                <a:xfrm>
                  <a:off x="5219700" y="4369825"/>
                  <a:ext cx="138605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187E61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sz="2200" b="0" i="1" smtClean="0">
                            <a:solidFill>
                              <a:srgbClr val="187E6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b="0" i="1" smtClean="0">
                            <a:solidFill>
                              <a:srgbClr val="187E6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200" b="0" i="1" smtClean="0">
                            <a:solidFill>
                              <a:srgbClr val="187E6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187E6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878C378-DFA6-4F9C-967B-8CB4B94F4A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9700" y="4369825"/>
                  <a:ext cx="1386052" cy="430887"/>
                </a:xfrm>
                <a:prstGeom prst="rect">
                  <a:avLst/>
                </a:prstGeom>
                <a:blipFill>
                  <a:blip r:embed="rId7"/>
                  <a:stretch>
                    <a:fillRect b="-183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31F854A-7D23-4AED-BA6D-A1F5DCDA0D51}"/>
              </a:ext>
            </a:extLst>
          </p:cNvPr>
          <p:cNvGrpSpPr/>
          <p:nvPr/>
        </p:nvGrpSpPr>
        <p:grpSpPr>
          <a:xfrm>
            <a:off x="4095093" y="3171804"/>
            <a:ext cx="1411014" cy="2724501"/>
            <a:chOff x="5221014" y="3142899"/>
            <a:chExt cx="1411014" cy="27245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C8BE8D0-D162-4774-AFE1-EEA924C492EA}"/>
                    </a:ext>
                  </a:extLst>
                </p:cNvPr>
                <p:cNvSpPr txBox="1"/>
                <p:nvPr/>
              </p:nvSpPr>
              <p:spPr>
                <a:xfrm>
                  <a:off x="5221014" y="4724400"/>
                  <a:ext cx="138605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sz="22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2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70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C8BE8D0-D162-4774-AFE1-EEA924C492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1014" y="4724400"/>
                  <a:ext cx="1386052" cy="430887"/>
                </a:xfrm>
                <a:prstGeom prst="rect">
                  <a:avLst/>
                </a:prstGeom>
                <a:blipFill>
                  <a:blip r:embed="rId8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B91EDEC-804A-4D9B-B87E-F10BF6EC2BA7}"/>
                    </a:ext>
                  </a:extLst>
                </p:cNvPr>
                <p:cNvSpPr txBox="1"/>
                <p:nvPr/>
              </p:nvSpPr>
              <p:spPr>
                <a:xfrm>
                  <a:off x="5243348" y="5055513"/>
                  <a:ext cx="138605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sz="22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2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70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B91EDEC-804A-4D9B-B87E-F10BF6EC2B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3348" y="5055513"/>
                  <a:ext cx="1386052" cy="430887"/>
                </a:xfrm>
                <a:prstGeom prst="rect">
                  <a:avLst/>
                </a:prstGeom>
                <a:blipFill>
                  <a:blip r:embed="rId9"/>
                  <a:stretch>
                    <a:fillRect b="-183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4C8FBB1-FC33-42B7-9D38-2B7A8B9889BE}"/>
                    </a:ext>
                  </a:extLst>
                </p:cNvPr>
                <p:cNvSpPr txBox="1"/>
                <p:nvPr/>
              </p:nvSpPr>
              <p:spPr>
                <a:xfrm>
                  <a:off x="5243348" y="5436513"/>
                  <a:ext cx="138605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sz="22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2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70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4C8FBB1-FC33-42B7-9D38-2B7A8B9889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3348" y="5436513"/>
                  <a:ext cx="1386052" cy="430887"/>
                </a:xfrm>
                <a:prstGeom prst="rect">
                  <a:avLst/>
                </a:prstGeom>
                <a:blipFill>
                  <a:blip r:embed="rId10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790A21C-3DF7-4FE1-842E-2F43B36C1B19}"/>
                    </a:ext>
                  </a:extLst>
                </p:cNvPr>
                <p:cNvSpPr txBox="1"/>
                <p:nvPr/>
              </p:nvSpPr>
              <p:spPr>
                <a:xfrm>
                  <a:off x="5245976" y="3142899"/>
                  <a:ext cx="138605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sz="22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2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70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790A21C-3DF7-4FE1-842E-2F43B36C1B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5976" y="3142899"/>
                  <a:ext cx="1386052" cy="430887"/>
                </a:xfrm>
                <a:prstGeom prst="rect">
                  <a:avLst/>
                </a:prstGeom>
                <a:blipFill>
                  <a:blip r:embed="rId11"/>
                  <a:stretch>
                    <a:fillRect b="-183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724BAC0-2D09-413F-81F5-5C794FD92692}"/>
                    </a:ext>
                  </a:extLst>
                </p:cNvPr>
                <p:cNvSpPr txBox="1"/>
                <p:nvPr/>
              </p:nvSpPr>
              <p:spPr>
                <a:xfrm>
                  <a:off x="5243348" y="3531513"/>
                  <a:ext cx="138605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sz="22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2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70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724BAC0-2D09-413F-81F5-5C794FD926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3348" y="3531513"/>
                  <a:ext cx="1386052" cy="430887"/>
                </a:xfrm>
                <a:prstGeom prst="rect">
                  <a:avLst/>
                </a:prstGeom>
                <a:blipFill>
                  <a:blip r:embed="rId9"/>
                  <a:stretch>
                    <a:fillRect b="-183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B0492B-41D3-492E-80BE-CE1ABC193FB0}"/>
                  </a:ext>
                </a:extLst>
              </p:cNvPr>
              <p:cNvSpPr txBox="1"/>
              <p:nvPr/>
            </p:nvSpPr>
            <p:spPr>
              <a:xfrm>
                <a:off x="5570484" y="2386733"/>
                <a:ext cx="3124199" cy="1323439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However, performance depending on height!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0" dirty="0"/>
                  <a:t>Height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B0492B-41D3-492E-80BE-CE1ABC193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484" y="2386733"/>
                <a:ext cx="3124199" cy="1323439"/>
              </a:xfrm>
              <a:prstGeom prst="rect">
                <a:avLst/>
              </a:prstGeom>
              <a:blipFill>
                <a:blip r:embed="rId12"/>
                <a:stretch>
                  <a:fillRect l="-1553" t="-1818" r="-583" b="-3636"/>
                </a:stretch>
              </a:blipFill>
              <a:ln w="1905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FB1787EF-CABD-4586-A3C4-81ACAF631A46}"/>
              </a:ext>
            </a:extLst>
          </p:cNvPr>
          <p:cNvSpPr txBox="1"/>
          <p:nvPr/>
        </p:nvSpPr>
        <p:spPr>
          <a:xfrm>
            <a:off x="5562600" y="4162961"/>
            <a:ext cx="3145221" cy="1323439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 have good performance, we want to keep the tree height low! </a:t>
            </a:r>
          </a:p>
        </p:txBody>
      </p:sp>
    </p:spTree>
    <p:extLst>
      <p:ext uri="{BB962C8B-B14F-4D97-AF65-F5344CB8AC3E}">
        <p14:creationId xmlns:p14="http://schemas.microsoft.com/office/powerpoint/2010/main" val="384351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224D8-06EE-4945-BFBF-76AB65AAB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Balanced binary search tree</a:t>
            </a:r>
          </a:p>
        </p:txBody>
      </p:sp>
    </p:spTree>
    <p:extLst>
      <p:ext uri="{BB962C8B-B14F-4D97-AF65-F5344CB8AC3E}">
        <p14:creationId xmlns:p14="http://schemas.microsoft.com/office/powerpoint/2010/main" val="36985195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47441-225C-490D-A434-ABABC6BA0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tree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4DF3D-F03D-4528-BC4D-382ED05BE08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A390526-3532-4641-85EB-DF3F7ABF205B}"/>
              </a:ext>
            </a:extLst>
          </p:cNvPr>
          <p:cNvGrpSpPr/>
          <p:nvPr/>
        </p:nvGrpSpPr>
        <p:grpSpPr>
          <a:xfrm>
            <a:off x="914400" y="2125980"/>
            <a:ext cx="6781800" cy="3124200"/>
            <a:chOff x="914400" y="2125980"/>
            <a:chExt cx="6781800" cy="3124200"/>
          </a:xfrm>
        </p:grpSpPr>
        <p:sp>
          <p:nvSpPr>
            <p:cNvPr id="6" name="Oval 3">
              <a:extLst>
                <a:ext uri="{FF2B5EF4-FFF2-40B4-BE49-F238E27FC236}">
                  <a16:creationId xmlns:a16="http://schemas.microsoft.com/office/drawing/2014/main" id="{A5ED7DB0-D4EB-4B04-B431-A0FB21ECB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2125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13</a:t>
              </a:r>
            </a:p>
          </p:txBody>
        </p:sp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2875B74D-2A19-4C49-B571-78D9909ED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27355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18</a:t>
              </a:r>
            </a:p>
          </p:txBody>
        </p:sp>
        <p:sp>
          <p:nvSpPr>
            <p:cNvPr id="8" name="Oval 5">
              <a:extLst>
                <a:ext uri="{FF2B5EF4-FFF2-40B4-BE49-F238E27FC236}">
                  <a16:creationId xmlns:a16="http://schemas.microsoft.com/office/drawing/2014/main" id="{0EAA13B5-E433-4D1B-BA25-B90978187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3</a:t>
              </a:r>
            </a:p>
          </p:txBody>
        </p:sp>
        <p:sp>
          <p:nvSpPr>
            <p:cNvPr id="9" name="Oval 6">
              <a:extLst>
                <a:ext uri="{FF2B5EF4-FFF2-40B4-BE49-F238E27FC236}">
                  <a16:creationId xmlns:a16="http://schemas.microsoft.com/office/drawing/2014/main" id="{37A36150-D64A-40BC-B374-4AD58AD6D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792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2</a:t>
              </a:r>
            </a:p>
          </p:txBody>
        </p:sp>
        <p:sp>
          <p:nvSpPr>
            <p:cNvPr id="10" name="Oval 7">
              <a:extLst>
                <a:ext uri="{FF2B5EF4-FFF2-40B4-BE49-F238E27FC236}">
                  <a16:creationId xmlns:a16="http://schemas.microsoft.com/office/drawing/2014/main" id="{688DBCDA-EE26-4BD3-A07F-AED7D5D6A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26593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6</a:t>
              </a:r>
            </a:p>
          </p:txBody>
        </p:sp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179B2ABE-9F26-4148-9009-906ACF547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4250" y="2354580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 altLang="en-US"/>
            </a:p>
          </p:txBody>
        </p:sp>
        <p:sp>
          <p:nvSpPr>
            <p:cNvPr id="12" name="Oval 9">
              <a:extLst>
                <a:ext uri="{FF2B5EF4-FFF2-40B4-BE49-F238E27FC236}">
                  <a16:creationId xmlns:a16="http://schemas.microsoft.com/office/drawing/2014/main" id="{ABD579B3-885A-4660-90DF-BEE7AACF9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4792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4</a:t>
              </a:r>
            </a:p>
          </p:txBody>
        </p:sp>
        <p:sp>
          <p:nvSpPr>
            <p:cNvPr id="13" name="Oval 10">
              <a:extLst>
                <a:ext uri="{FF2B5EF4-FFF2-40B4-BE49-F238E27FC236}">
                  <a16:creationId xmlns:a16="http://schemas.microsoft.com/office/drawing/2014/main" id="{A8876194-D75B-4A76-988B-472BC1D99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7</a:t>
              </a:r>
            </a:p>
          </p:txBody>
        </p:sp>
        <p:sp>
          <p:nvSpPr>
            <p:cNvPr id="14" name="Oval 11">
              <a:extLst>
                <a:ext uri="{FF2B5EF4-FFF2-40B4-BE49-F238E27FC236}">
                  <a16:creationId xmlns:a16="http://schemas.microsoft.com/office/drawing/2014/main" id="{F4E247E4-32FC-404C-B149-12E7A36F5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0000" y="45643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13</a:t>
              </a:r>
            </a:p>
          </p:txBody>
        </p:sp>
        <p:sp>
          <p:nvSpPr>
            <p:cNvPr id="15" name="Oval 12">
              <a:extLst>
                <a:ext uri="{FF2B5EF4-FFF2-40B4-BE49-F238E27FC236}">
                  <a16:creationId xmlns:a16="http://schemas.microsoft.com/office/drawing/2014/main" id="{2B579FC6-64FC-482D-B4B0-91D8BE176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6700" y="47167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9</a:t>
              </a:r>
            </a:p>
          </p:txBody>
        </p:sp>
        <p:sp>
          <p:nvSpPr>
            <p:cNvPr id="16" name="Oval 13">
              <a:extLst>
                <a:ext uri="{FF2B5EF4-FFF2-40B4-BE49-F238E27FC236}">
                  <a16:creationId xmlns:a16="http://schemas.microsoft.com/office/drawing/2014/main" id="{5202BCD7-1C1F-4592-9D4E-2618E8211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17</a:t>
              </a:r>
            </a:p>
          </p:txBody>
        </p:sp>
        <p:sp>
          <p:nvSpPr>
            <p:cNvPr id="17" name="Oval 14">
              <a:extLst>
                <a:ext uri="{FF2B5EF4-FFF2-40B4-BE49-F238E27FC236}">
                  <a16:creationId xmlns:a16="http://schemas.microsoft.com/office/drawing/2014/main" id="{BA68B59A-BB2C-47A4-87DC-2413278C8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0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20</a:t>
              </a:r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54B6EDBB-8B0F-4E08-8401-0BADF452EB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1800" y="2354580"/>
              <a:ext cx="1371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F184F718-B5B9-4FA1-8883-A8A5D4C9F0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5000" y="3116580"/>
              <a:ext cx="5334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A7F44D97-CC73-4FA8-BDE7-E744D16BF2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5400" y="4183380"/>
              <a:ext cx="228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07D09E0E-CB84-4EBE-9017-FD68CFEFD8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8800" y="4107180"/>
              <a:ext cx="3048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CE723CF7-2B17-49CF-AEEA-402C2DABB9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800" y="311658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F537DF73-499C-4FAD-8FA6-64E610FB45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0" y="4107180"/>
              <a:ext cx="228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B60BAA5A-7DE9-4C75-B90E-8C963279E7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61000" y="4119880"/>
              <a:ext cx="1524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6A9047B1-220C-4F00-B260-885BF2044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200" y="2354580"/>
              <a:ext cx="1295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9644D47B-1679-4929-BE52-DAE83922B1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43600" y="3192780"/>
              <a:ext cx="457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3FA9ECC7-D1D7-4E7B-A4EB-1F796B9A01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4200" y="3192780"/>
              <a:ext cx="457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" name="Oval 5">
            <a:extLst>
              <a:ext uri="{FF2B5EF4-FFF2-40B4-BE49-F238E27FC236}">
                <a16:creationId xmlns:a16="http://schemas.microsoft.com/office/drawing/2014/main" id="{B3205274-2413-456B-95B0-63DCE6380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950" y="47167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 dirty="0"/>
              <a:t>6</a:t>
            </a:r>
          </a:p>
        </p:txBody>
      </p:sp>
      <p:sp>
        <p:nvSpPr>
          <p:cNvPr id="29" name="Line 17">
            <a:extLst>
              <a:ext uri="{FF2B5EF4-FFF2-40B4-BE49-F238E27FC236}">
                <a16:creationId xmlns:a16="http://schemas.microsoft.com/office/drawing/2014/main" id="{1D22EF39-5BBC-404C-BC6C-E2B31EA46A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78200" y="4154301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Oval 11">
            <a:extLst>
              <a:ext uri="{FF2B5EF4-FFF2-40B4-BE49-F238E27FC236}">
                <a16:creationId xmlns:a16="http://schemas.microsoft.com/office/drawing/2014/main" id="{B3FE4C26-DDC3-4AB5-A4BE-E16C2C8FD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56438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 dirty="0"/>
              <a:t>19</a:t>
            </a:r>
          </a:p>
        </p:txBody>
      </p:sp>
      <p:sp>
        <p:nvSpPr>
          <p:cNvPr id="31" name="Line 21">
            <a:extLst>
              <a:ext uri="{FF2B5EF4-FFF2-40B4-BE49-F238E27FC236}">
                <a16:creationId xmlns:a16="http://schemas.microsoft.com/office/drawing/2014/main" id="{FE27A7A0-2371-4C30-AE62-97C3D431E4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08783" y="4131967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125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B2E91-6B64-46A2-9B07-64436C2B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Tree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5598C83-1EFA-43CA-9408-5C3C84D69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37160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b="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CB92576-2610-4DE5-9EB3-9DFC3310F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13360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b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CA70C2D-5CD5-43AB-BE83-F49A90F11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011214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b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3F874F-8FF0-4DF6-970C-47ED86635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662" y="457200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b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838A69B-AE91-428C-9AD2-826CBA08E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7931" y="5334000"/>
            <a:ext cx="457200" cy="4572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b="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BB0070-0C9A-4E3A-84BE-A1B6EB72CC17}"/>
              </a:ext>
            </a:extLst>
          </p:cNvPr>
          <p:cNvCxnSpPr>
            <a:cxnSpLocks/>
          </p:cNvCxnSpPr>
          <p:nvPr/>
        </p:nvCxnSpPr>
        <p:spPr>
          <a:xfrm flipH="1">
            <a:off x="4235669" y="1817339"/>
            <a:ext cx="320565" cy="383263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13377F4-2E50-44DE-B5D3-4E0C8482F958}"/>
              </a:ext>
            </a:extLst>
          </p:cNvPr>
          <p:cNvCxnSpPr>
            <a:cxnSpLocks/>
            <a:endCxn id="6" idx="7"/>
          </p:cNvCxnSpPr>
          <p:nvPr/>
        </p:nvCxnSpPr>
        <p:spPr>
          <a:xfrm flipH="1">
            <a:off x="3666845" y="2590800"/>
            <a:ext cx="327088" cy="48736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E4C540B7-750C-4D5E-8B82-5E1D7C766076}"/>
              </a:ext>
            </a:extLst>
          </p:cNvPr>
          <p:cNvSpPr/>
          <p:nvPr/>
        </p:nvSpPr>
        <p:spPr>
          <a:xfrm>
            <a:off x="3124200" y="36576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913AA65-5DB4-4798-9611-AAE9AD8EC22F}"/>
              </a:ext>
            </a:extLst>
          </p:cNvPr>
          <p:cNvSpPr/>
          <p:nvPr/>
        </p:nvSpPr>
        <p:spPr>
          <a:xfrm>
            <a:off x="2971800" y="38862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CAE5D13-3A13-49B7-9E5A-B9F8EA9627CB}"/>
              </a:ext>
            </a:extLst>
          </p:cNvPr>
          <p:cNvSpPr/>
          <p:nvPr/>
        </p:nvSpPr>
        <p:spPr>
          <a:xfrm>
            <a:off x="2819400" y="41148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EF1C7BF-E980-4B37-9A20-29490108B40A}"/>
              </a:ext>
            </a:extLst>
          </p:cNvPr>
          <p:cNvSpPr/>
          <p:nvPr/>
        </p:nvSpPr>
        <p:spPr>
          <a:xfrm>
            <a:off x="2667000" y="43434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5E0EF41-DFD7-4DC9-AE6A-7E060194E9F0}"/>
              </a:ext>
            </a:extLst>
          </p:cNvPr>
          <p:cNvCxnSpPr>
            <a:cxnSpLocks/>
            <a:endCxn id="9" idx="7"/>
          </p:cNvCxnSpPr>
          <p:nvPr/>
        </p:nvCxnSpPr>
        <p:spPr>
          <a:xfrm flipH="1">
            <a:off x="2098176" y="5029200"/>
            <a:ext cx="230500" cy="37175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3042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6BD29-4F46-4B5C-A84B-451B8CD0B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Balanced binary search tree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F7F71C-00F3-4EE1-9F44-A20C6F1055A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It turns out that there are ways to add extra conditions to binary search trees, so that their height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 err="1"/>
                  <a:t>E.g</a:t>
                </a:r>
                <a:r>
                  <a:rPr lang="en-US" dirty="0"/>
                  <a:t>,  red-black tree,  AVL tree, </a:t>
                </a:r>
                <a:r>
                  <a:rPr lang="en-US" dirty="0" err="1"/>
                  <a:t>etc</a:t>
                </a:r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Once such a tree is created, </a:t>
                </a:r>
              </a:p>
              <a:p>
                <a:pPr lvl="1"/>
                <a:r>
                  <a:rPr lang="en-US" dirty="0"/>
                  <a:t>it can support search, minimum, maximum </a:t>
                </a:r>
                <a:r>
                  <a:rPr lang="en-US" dirty="0" err="1"/>
                  <a:t>etc</a:t>
                </a:r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time using the same algorithms described before</a:t>
                </a:r>
              </a:p>
              <a:p>
                <a:pPr lvl="1"/>
                <a:r>
                  <a:rPr lang="en-US" dirty="0"/>
                  <a:t>the extra work comes at handling dynamic operations: insertion, deletion, and so on.  Re-balancing is needed </a:t>
                </a:r>
              </a:p>
              <a:p>
                <a:pPr lvl="1"/>
                <a:r>
                  <a:rPr lang="en-US" dirty="0"/>
                  <a:t>however, for standard balanced BSTs, all these operations can be handled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func>
                  </m:oMath>
                </a14:m>
                <a:r>
                  <a:rPr lang="en-US" dirty="0"/>
                  <a:t>time.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F7F71C-00F3-4EE1-9F44-A20C6F1055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832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0D347-4E45-43A7-8A6C-57D2C2C56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AD90C-B550-41C9-88B0-BFD5B5A6B4B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Left rotation or Right rotation to keep tree height low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3BDA25E-430C-4E20-8275-25B7F2049A49}"/>
              </a:ext>
            </a:extLst>
          </p:cNvPr>
          <p:cNvGrpSpPr>
            <a:grpSpLocks/>
          </p:cNvGrpSpPr>
          <p:nvPr/>
        </p:nvGrpSpPr>
        <p:grpSpPr bwMode="auto">
          <a:xfrm>
            <a:off x="1409700" y="2438400"/>
            <a:ext cx="2133600" cy="2743200"/>
            <a:chOff x="960" y="1824"/>
            <a:chExt cx="1344" cy="1728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83A7A2B-81E1-410F-B7C3-1303A184D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064"/>
              <a:ext cx="288" cy="288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0"/>
                <a:t>x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23526E7-03E1-4EC7-8499-263737B1E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544"/>
              <a:ext cx="288" cy="288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0"/>
                <a:t>y</a:t>
              </a:r>
            </a:p>
          </p:txBody>
        </p:sp>
        <p:sp>
          <p:nvSpPr>
            <p:cNvPr id="25" name="Line 6">
              <a:extLst>
                <a:ext uri="{FF2B5EF4-FFF2-40B4-BE49-F238E27FC236}">
                  <a16:creationId xmlns:a16="http://schemas.microsoft.com/office/drawing/2014/main" id="{DE989599-8232-4936-A3A5-FB8D565709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824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6" name="Line 7">
              <a:extLst>
                <a:ext uri="{FF2B5EF4-FFF2-40B4-BE49-F238E27FC236}">
                  <a16:creationId xmlns:a16="http://schemas.microsoft.com/office/drawing/2014/main" id="{7989B6B0-F223-4813-B004-DA3210BEC3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2352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" name="Line 8">
              <a:extLst>
                <a:ext uri="{FF2B5EF4-FFF2-40B4-BE49-F238E27FC236}">
                  <a16:creationId xmlns:a16="http://schemas.microsoft.com/office/drawing/2014/main" id="{CB275188-3F9A-4085-A0A8-E6807A51B7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2" y="2832"/>
              <a:ext cx="19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" name="Line 9">
              <a:extLst>
                <a:ext uri="{FF2B5EF4-FFF2-40B4-BE49-F238E27FC236}">
                  <a16:creationId xmlns:a16="http://schemas.microsoft.com/office/drawing/2014/main" id="{0790F176-01AC-4782-87A8-C817080EB7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832"/>
              <a:ext cx="19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9" name="Line 10">
              <a:extLst>
                <a:ext uri="{FF2B5EF4-FFF2-40B4-BE49-F238E27FC236}">
                  <a16:creationId xmlns:a16="http://schemas.microsoft.com/office/drawing/2014/main" id="{27CADD57-F2B2-4E44-B474-51C008D026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352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0" name="Text Box 11">
              <a:extLst>
                <a:ext uri="{FF2B5EF4-FFF2-40B4-BE49-F238E27FC236}">
                  <a16:creationId xmlns:a16="http://schemas.microsoft.com/office/drawing/2014/main" id="{E014040B-4E9A-4306-9D4D-03C8B2F6A3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264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b="0" i="1">
                  <a:solidFill>
                    <a:srgbClr val="0B1196"/>
                  </a:solidFill>
                </a:rPr>
                <a:t>A</a:t>
              </a:r>
            </a:p>
          </p:txBody>
        </p:sp>
        <p:sp>
          <p:nvSpPr>
            <p:cNvPr id="31" name="Text Box 12">
              <a:extLst>
                <a:ext uri="{FF2B5EF4-FFF2-40B4-BE49-F238E27FC236}">
                  <a16:creationId xmlns:a16="http://schemas.microsoft.com/office/drawing/2014/main" id="{61E55438-E8EC-4382-8AC6-CA45027D6B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264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b="0" i="1">
                  <a:solidFill>
                    <a:srgbClr val="0B1196"/>
                  </a:solidFill>
                </a:rPr>
                <a:t>B</a:t>
              </a:r>
            </a:p>
          </p:txBody>
        </p:sp>
        <p:sp>
          <p:nvSpPr>
            <p:cNvPr id="32" name="Text Box 13">
              <a:extLst>
                <a:ext uri="{FF2B5EF4-FFF2-40B4-BE49-F238E27FC236}">
                  <a16:creationId xmlns:a16="http://schemas.microsoft.com/office/drawing/2014/main" id="{7E68C14E-9602-4006-9712-E4299BCEDC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2784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b="0" i="1">
                  <a:solidFill>
                    <a:srgbClr val="0B1196"/>
                  </a:solidFill>
                </a:rPr>
                <a:t>C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24C16B7-6C6F-4BC4-9155-D0FB68EA03D9}"/>
              </a:ext>
            </a:extLst>
          </p:cNvPr>
          <p:cNvGrpSpPr>
            <a:grpSpLocks/>
          </p:cNvGrpSpPr>
          <p:nvPr/>
        </p:nvGrpSpPr>
        <p:grpSpPr bwMode="auto">
          <a:xfrm>
            <a:off x="5829300" y="2438400"/>
            <a:ext cx="1295400" cy="1676400"/>
            <a:chOff x="3168" y="1824"/>
            <a:chExt cx="816" cy="1056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0AF3B10-4E21-44B2-9FE5-EAFDA1757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064"/>
              <a:ext cx="288" cy="288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0"/>
                <a:t>y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E6F9D69-5375-4EBD-A104-BCF0492ED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592"/>
              <a:ext cx="288" cy="288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0"/>
                <a:t>x</a:t>
              </a:r>
            </a:p>
          </p:txBody>
        </p:sp>
        <p:sp>
          <p:nvSpPr>
            <p:cNvPr id="21" name="Line 16">
              <a:extLst>
                <a:ext uri="{FF2B5EF4-FFF2-40B4-BE49-F238E27FC236}">
                  <a16:creationId xmlns:a16="http://schemas.microsoft.com/office/drawing/2014/main" id="{BE679421-8A1D-45D8-8264-0AFBC3EC6B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824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08A7B5B1-A3AF-4E73-9787-1590292792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35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10D3C92-35F9-43F3-87D1-3FF811C8E168}"/>
              </a:ext>
            </a:extLst>
          </p:cNvPr>
          <p:cNvGrpSpPr>
            <a:grpSpLocks/>
          </p:cNvGrpSpPr>
          <p:nvPr/>
        </p:nvGrpSpPr>
        <p:grpSpPr bwMode="auto">
          <a:xfrm>
            <a:off x="5600700" y="3352800"/>
            <a:ext cx="2133600" cy="2057400"/>
            <a:chOff x="3024" y="2400"/>
            <a:chExt cx="1344" cy="1296"/>
          </a:xfrm>
        </p:grpSpPr>
        <p:sp>
          <p:nvSpPr>
            <p:cNvPr id="13" name="Line 18">
              <a:extLst>
                <a:ext uri="{FF2B5EF4-FFF2-40B4-BE49-F238E27FC236}">
                  <a16:creationId xmlns:a16="http://schemas.microsoft.com/office/drawing/2014/main" id="{B190EB47-04F4-4679-B6CA-7D97BFB8FA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6" y="2400"/>
              <a:ext cx="19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" name="Line 19">
              <a:extLst>
                <a:ext uri="{FF2B5EF4-FFF2-40B4-BE49-F238E27FC236}">
                  <a16:creationId xmlns:a16="http://schemas.microsoft.com/office/drawing/2014/main" id="{D165626A-60B4-4E19-AFF3-D5736D2D77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928"/>
              <a:ext cx="192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" name="Text Box 21">
              <a:extLst>
                <a:ext uri="{FF2B5EF4-FFF2-40B4-BE49-F238E27FC236}">
                  <a16:creationId xmlns:a16="http://schemas.microsoft.com/office/drawing/2014/main" id="{C3BDC658-6533-4E88-86CF-32C9780BA3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288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b="0" i="1">
                  <a:solidFill>
                    <a:srgbClr val="0B1196"/>
                  </a:solidFill>
                </a:rPr>
                <a:t>A</a:t>
              </a:r>
            </a:p>
          </p:txBody>
        </p:sp>
        <p:sp>
          <p:nvSpPr>
            <p:cNvPr id="16" name="Text Box 22">
              <a:extLst>
                <a:ext uri="{FF2B5EF4-FFF2-40B4-BE49-F238E27FC236}">
                  <a16:creationId xmlns:a16="http://schemas.microsoft.com/office/drawing/2014/main" id="{22DB303F-8FEB-40D9-A4AD-9E4A6A22DB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34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b="0" i="1">
                  <a:solidFill>
                    <a:srgbClr val="0B1196"/>
                  </a:solidFill>
                </a:rPr>
                <a:t>B</a:t>
              </a:r>
            </a:p>
          </p:txBody>
        </p:sp>
        <p:sp>
          <p:nvSpPr>
            <p:cNvPr id="17" name="Text Box 23">
              <a:extLst>
                <a:ext uri="{FF2B5EF4-FFF2-40B4-BE49-F238E27FC236}">
                  <a16:creationId xmlns:a16="http://schemas.microsoft.com/office/drawing/2014/main" id="{540226F4-C8A0-45FC-A1F1-F9EE86FE20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4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b="0" i="1">
                  <a:solidFill>
                    <a:srgbClr val="0B1196"/>
                  </a:solidFill>
                </a:rPr>
                <a:t>C</a:t>
              </a:r>
            </a:p>
          </p:txBody>
        </p:sp>
        <p:sp>
          <p:nvSpPr>
            <p:cNvPr id="18" name="Line 24">
              <a:extLst>
                <a:ext uri="{FF2B5EF4-FFF2-40B4-BE49-F238E27FC236}">
                  <a16:creationId xmlns:a16="http://schemas.microsoft.com/office/drawing/2014/main" id="{BCDFD107-2822-4575-B8BE-4123AA961C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2928"/>
              <a:ext cx="19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4516AB3-40D6-452F-956D-C567EA9901D2}"/>
              </a:ext>
            </a:extLst>
          </p:cNvPr>
          <p:cNvGrpSpPr>
            <a:grpSpLocks/>
          </p:cNvGrpSpPr>
          <p:nvPr/>
        </p:nvGrpSpPr>
        <p:grpSpPr bwMode="auto">
          <a:xfrm>
            <a:off x="3684588" y="3581150"/>
            <a:ext cx="1752600" cy="349587"/>
            <a:chOff x="2249" y="4038350"/>
            <a:chExt cx="1104" cy="349587"/>
          </a:xfrm>
        </p:grpSpPr>
        <p:sp>
          <p:nvSpPr>
            <p:cNvPr id="11" name="Line 28">
              <a:extLst>
                <a:ext uri="{FF2B5EF4-FFF2-40B4-BE49-F238E27FC236}">
                  <a16:creationId xmlns:a16="http://schemas.microsoft.com/office/drawing/2014/main" id="{96C759B1-9577-498C-ABB9-6B45D6520B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3" y="4387937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Text Box 30">
              <a:extLst>
                <a:ext uri="{FF2B5EF4-FFF2-40B4-BE49-F238E27FC236}">
                  <a16:creationId xmlns:a16="http://schemas.microsoft.com/office/drawing/2014/main" id="{A8AF1127-98F4-47D0-8BE5-2CC016F459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9" y="4038350"/>
              <a:ext cx="11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2000" b="0" dirty="0"/>
                <a:t>right rotation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46EE0A5-50EE-44B4-ADD1-D0AACB812AA3}"/>
              </a:ext>
            </a:extLst>
          </p:cNvPr>
          <p:cNvGrpSpPr>
            <a:grpSpLocks/>
          </p:cNvGrpSpPr>
          <p:nvPr/>
        </p:nvGrpSpPr>
        <p:grpSpPr bwMode="auto">
          <a:xfrm>
            <a:off x="3631324" y="4419600"/>
            <a:ext cx="1752600" cy="298"/>
            <a:chOff x="2256" y="2736"/>
            <a:chExt cx="1104" cy="298"/>
          </a:xfrm>
        </p:grpSpPr>
        <p:sp>
          <p:nvSpPr>
            <p:cNvPr id="9" name="Line 29">
              <a:extLst>
                <a:ext uri="{FF2B5EF4-FFF2-40B4-BE49-F238E27FC236}">
                  <a16:creationId xmlns:a16="http://schemas.microsoft.com/office/drawing/2014/main" id="{F6F297A9-3C81-4769-897F-845B2BACF3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73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stealth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" name="Text Box 31">
              <a:extLst>
                <a:ext uri="{FF2B5EF4-FFF2-40B4-BE49-F238E27FC236}">
                  <a16:creationId xmlns:a16="http://schemas.microsoft.com/office/drawing/2014/main" id="{88AA1120-AADD-49DC-8D77-21F70EFDB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784"/>
              <a:ext cx="11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2000" b="0"/>
                <a:t>left rotation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79670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F6649-5A64-45D6-A6CA-8E8A3A6B0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balanced BST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494781-9569-4BCE-B3A3-2C8EB0F996B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Suppose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input keys are already stored in a balanced BST</a:t>
                </a:r>
              </a:p>
              <a:p>
                <a:pPr lvl="8"/>
                <a:endParaRPr lang="en-US" altLang="en-US" sz="800" dirty="0"/>
              </a:p>
              <a:p>
                <a:pPr lvl="8"/>
                <a:endParaRPr lang="en-US" altLang="en-US" sz="800" dirty="0"/>
              </a:p>
              <a:p>
                <a:pPr lvl="1"/>
                <a:r>
                  <a:rPr lang="en-US" altLang="en-US" sz="2200" dirty="0"/>
                  <a:t>Search </a:t>
                </a:r>
              </a:p>
              <a:p>
                <a:pPr lvl="1"/>
                <a:r>
                  <a:rPr lang="en-US" altLang="en-US" sz="2200" dirty="0"/>
                  <a:t>Maximum</a:t>
                </a:r>
              </a:p>
              <a:p>
                <a:pPr lvl="1"/>
                <a:r>
                  <a:rPr lang="en-US" altLang="en-US" sz="2200" dirty="0"/>
                  <a:t>Minimum</a:t>
                </a:r>
              </a:p>
              <a:p>
                <a:pPr lvl="1"/>
                <a:r>
                  <a:rPr lang="en-US" altLang="en-US" sz="2200" dirty="0"/>
                  <a:t>Successor</a:t>
                </a:r>
              </a:p>
              <a:p>
                <a:pPr lvl="1"/>
                <a:r>
                  <a:rPr lang="en-US" altLang="en-US" sz="2200" dirty="0"/>
                  <a:t>Predecessor</a:t>
                </a:r>
              </a:p>
              <a:p>
                <a:pPr lvl="8"/>
                <a:endParaRPr lang="en-US" altLang="en-US" sz="2200" dirty="0"/>
              </a:p>
              <a:p>
                <a:pPr lvl="1"/>
                <a:r>
                  <a:rPr lang="en-US" altLang="en-US" sz="2200" dirty="0"/>
                  <a:t>Insert</a:t>
                </a:r>
              </a:p>
              <a:p>
                <a:pPr lvl="1"/>
                <a:r>
                  <a:rPr lang="en-US" altLang="en-US" sz="2200" dirty="0"/>
                  <a:t>Delete </a:t>
                </a:r>
              </a:p>
              <a:p>
                <a:pPr lvl="1"/>
                <a:r>
                  <a:rPr lang="en-US" altLang="en-US" sz="2200" dirty="0"/>
                  <a:t>Extract-Max</a:t>
                </a:r>
              </a:p>
              <a:p>
                <a:pPr lvl="1"/>
                <a:r>
                  <a:rPr lang="en-US" altLang="en-US" sz="2200" dirty="0"/>
                  <a:t>Increase-key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494781-9569-4BCE-B3A3-2C8EB0F996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19" t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CA5275E-A0D9-4671-9CDD-49341A31EC82}"/>
              </a:ext>
            </a:extLst>
          </p:cNvPr>
          <p:cNvSpPr txBox="1"/>
          <p:nvPr/>
        </p:nvSpPr>
        <p:spPr>
          <a:xfrm>
            <a:off x="3352800" y="1688068"/>
            <a:ext cx="3124200" cy="369332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Time complexity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F4F407C-DDC9-4164-B4A5-230B8EDABB06}"/>
              </a:ext>
            </a:extLst>
          </p:cNvPr>
          <p:cNvGrpSpPr/>
          <p:nvPr/>
        </p:nvGrpSpPr>
        <p:grpSpPr>
          <a:xfrm>
            <a:off x="4074072" y="2032549"/>
            <a:ext cx="1432035" cy="2768163"/>
            <a:chOff x="5219700" y="2032549"/>
            <a:chExt cx="1432035" cy="2768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3640F01-FF2E-48B1-A6BC-63779AD93F49}"/>
                    </a:ext>
                  </a:extLst>
                </p:cNvPr>
                <p:cNvSpPr txBox="1"/>
                <p:nvPr/>
              </p:nvSpPr>
              <p:spPr>
                <a:xfrm>
                  <a:off x="5257800" y="2032549"/>
                  <a:ext cx="138605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3640F01-FF2E-48B1-A6BC-63779AD93F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7800" y="2032549"/>
                  <a:ext cx="1386052" cy="430887"/>
                </a:xfrm>
                <a:prstGeom prst="rect">
                  <a:avLst/>
                </a:prstGeom>
                <a:blipFill>
                  <a:blip r:embed="rId4"/>
                  <a:stretch>
                    <a:fillRect b="-183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EEC27F7-DD78-4266-8225-746274E4EA8C}"/>
                    </a:ext>
                  </a:extLst>
                </p:cNvPr>
                <p:cNvSpPr txBox="1"/>
                <p:nvPr/>
              </p:nvSpPr>
              <p:spPr>
                <a:xfrm>
                  <a:off x="5249917" y="2386733"/>
                  <a:ext cx="138605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EEC27F7-DD78-4266-8225-746274E4EA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9917" y="2386733"/>
                  <a:ext cx="1386052" cy="430887"/>
                </a:xfrm>
                <a:prstGeom prst="rect">
                  <a:avLst/>
                </a:prstGeom>
                <a:blipFill>
                  <a:blip r:embed="rId5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801D9B3-F1AB-4189-B770-54A75684C13F}"/>
                    </a:ext>
                  </a:extLst>
                </p:cNvPr>
                <p:cNvSpPr txBox="1"/>
                <p:nvPr/>
              </p:nvSpPr>
              <p:spPr>
                <a:xfrm>
                  <a:off x="5265683" y="2740917"/>
                  <a:ext cx="138605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801D9B3-F1AB-4189-B770-54A75684C1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5683" y="2740917"/>
                  <a:ext cx="1386052" cy="430887"/>
                </a:xfrm>
                <a:prstGeom prst="rect">
                  <a:avLst/>
                </a:prstGeom>
                <a:blipFill>
                  <a:blip r:embed="rId6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878C378-DFA6-4F9C-967B-8CB4B94F4A85}"/>
                    </a:ext>
                  </a:extLst>
                </p:cNvPr>
                <p:cNvSpPr txBox="1"/>
                <p:nvPr/>
              </p:nvSpPr>
              <p:spPr>
                <a:xfrm>
                  <a:off x="5219700" y="4369825"/>
                  <a:ext cx="138605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878C378-DFA6-4F9C-967B-8CB4B94F4A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9700" y="4369825"/>
                  <a:ext cx="1386052" cy="430887"/>
                </a:xfrm>
                <a:prstGeom prst="rect">
                  <a:avLst/>
                </a:prstGeom>
                <a:blipFill>
                  <a:blip r:embed="rId7"/>
                  <a:stretch>
                    <a:fillRect b="-183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31F854A-7D23-4AED-BA6D-A1F5DCDA0D51}"/>
              </a:ext>
            </a:extLst>
          </p:cNvPr>
          <p:cNvGrpSpPr/>
          <p:nvPr/>
        </p:nvGrpSpPr>
        <p:grpSpPr>
          <a:xfrm>
            <a:off x="4095093" y="3171804"/>
            <a:ext cx="1411014" cy="2724501"/>
            <a:chOff x="5221014" y="3142899"/>
            <a:chExt cx="1411014" cy="27245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C8BE8D0-D162-4774-AFE1-EEA924C492EA}"/>
                    </a:ext>
                  </a:extLst>
                </p:cNvPr>
                <p:cNvSpPr txBox="1"/>
                <p:nvPr/>
              </p:nvSpPr>
              <p:spPr>
                <a:xfrm>
                  <a:off x="5221014" y="4724400"/>
                  <a:ext cx="138605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C8BE8D0-D162-4774-AFE1-EEA924C492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1014" y="4724400"/>
                  <a:ext cx="1386052" cy="430887"/>
                </a:xfrm>
                <a:prstGeom prst="rect">
                  <a:avLst/>
                </a:prstGeom>
                <a:blipFill>
                  <a:blip r:embed="rId8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B91EDEC-804A-4D9B-B87E-F10BF6EC2BA7}"/>
                    </a:ext>
                  </a:extLst>
                </p:cNvPr>
                <p:cNvSpPr txBox="1"/>
                <p:nvPr/>
              </p:nvSpPr>
              <p:spPr>
                <a:xfrm>
                  <a:off x="5243348" y="5055513"/>
                  <a:ext cx="138605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B91EDEC-804A-4D9B-B87E-F10BF6EC2B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3348" y="5055513"/>
                  <a:ext cx="1386052" cy="430887"/>
                </a:xfrm>
                <a:prstGeom prst="rect">
                  <a:avLst/>
                </a:prstGeom>
                <a:blipFill>
                  <a:blip r:embed="rId9"/>
                  <a:stretch>
                    <a:fillRect b="-183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4C8FBB1-FC33-42B7-9D38-2B7A8B9889BE}"/>
                    </a:ext>
                  </a:extLst>
                </p:cNvPr>
                <p:cNvSpPr txBox="1"/>
                <p:nvPr/>
              </p:nvSpPr>
              <p:spPr>
                <a:xfrm>
                  <a:off x="5243348" y="5436513"/>
                  <a:ext cx="138605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4C8FBB1-FC33-42B7-9D38-2B7A8B9889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3348" y="5436513"/>
                  <a:ext cx="1386052" cy="430887"/>
                </a:xfrm>
                <a:prstGeom prst="rect">
                  <a:avLst/>
                </a:prstGeom>
                <a:blipFill>
                  <a:blip r:embed="rId10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790A21C-3DF7-4FE1-842E-2F43B36C1B19}"/>
                    </a:ext>
                  </a:extLst>
                </p:cNvPr>
                <p:cNvSpPr txBox="1"/>
                <p:nvPr/>
              </p:nvSpPr>
              <p:spPr>
                <a:xfrm>
                  <a:off x="5245976" y="3142899"/>
                  <a:ext cx="138605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790A21C-3DF7-4FE1-842E-2F43B36C1B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5976" y="3142899"/>
                  <a:ext cx="1386052" cy="430887"/>
                </a:xfrm>
                <a:prstGeom prst="rect">
                  <a:avLst/>
                </a:prstGeom>
                <a:blipFill>
                  <a:blip r:embed="rId11"/>
                  <a:stretch>
                    <a:fillRect b="-183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724BAC0-2D09-413F-81F5-5C794FD92692}"/>
                    </a:ext>
                  </a:extLst>
                </p:cNvPr>
                <p:cNvSpPr txBox="1"/>
                <p:nvPr/>
              </p:nvSpPr>
              <p:spPr>
                <a:xfrm>
                  <a:off x="5243348" y="3531513"/>
                  <a:ext cx="138605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724BAC0-2D09-413F-81F5-5C794FD926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3348" y="3531513"/>
                  <a:ext cx="1386052" cy="430887"/>
                </a:xfrm>
                <a:prstGeom prst="rect">
                  <a:avLst/>
                </a:prstGeom>
                <a:blipFill>
                  <a:blip r:embed="rId9"/>
                  <a:stretch>
                    <a:fillRect b="-183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B1787EF-CABD-4586-A3C4-81ACAF631A46}"/>
                  </a:ext>
                </a:extLst>
              </p:cNvPr>
              <p:cNvSpPr txBox="1"/>
              <p:nvPr/>
            </p:nvSpPr>
            <p:spPr>
              <a:xfrm>
                <a:off x="5519245" y="3118082"/>
                <a:ext cx="3424402" cy="1323439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Height of tree will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is number of nodes in the tree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B1787EF-CABD-4586-A3C4-81ACAF631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245" y="3118082"/>
                <a:ext cx="3424402" cy="1323439"/>
              </a:xfrm>
              <a:prstGeom prst="rect">
                <a:avLst/>
              </a:prstGeom>
              <a:blipFill>
                <a:blip r:embed="rId12"/>
                <a:stretch>
                  <a:fillRect l="-1416" t="-1357" b="-6335"/>
                </a:stretch>
              </a:blipFill>
              <a:ln w="1905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503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224D8-06EE-4945-BFBF-76AB65AAB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90800"/>
            <a:ext cx="8229600" cy="990600"/>
          </a:xfrm>
        </p:spPr>
        <p:txBody>
          <a:bodyPr/>
          <a:lstStyle/>
          <a:p>
            <a:pPr algn="ctr"/>
            <a:r>
              <a:rPr lang="en-US" i="1" dirty="0"/>
              <a:t>Select</a:t>
            </a:r>
            <a:r>
              <a:rPr lang="en-US" dirty="0"/>
              <a:t> queries</a:t>
            </a:r>
            <a:br>
              <a:rPr lang="en-US" dirty="0"/>
            </a:br>
            <a:r>
              <a:rPr lang="en-US" dirty="0"/>
              <a:t>augmenting data structure </a:t>
            </a:r>
          </a:p>
        </p:txBody>
      </p:sp>
    </p:spTree>
    <p:extLst>
      <p:ext uri="{BB962C8B-B14F-4D97-AF65-F5344CB8AC3E}">
        <p14:creationId xmlns:p14="http://schemas.microsoft.com/office/powerpoint/2010/main" val="9528393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3D06B-EC14-43EE-A674-A44D48FC4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C5681-43FC-4DE4-ABA6-46931833A45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What if we also want to perform Select operation</a:t>
            </a:r>
          </a:p>
          <a:p>
            <a:endParaRPr lang="en-US" dirty="0"/>
          </a:p>
          <a:p>
            <a:r>
              <a:rPr lang="en-US" sz="2600" dirty="0"/>
              <a:t>Select ( </a:t>
            </a:r>
            <a:r>
              <a:rPr lang="en-US" sz="2600" i="1" dirty="0"/>
              <a:t>T, k</a:t>
            </a:r>
            <a:r>
              <a:rPr lang="en-US" sz="2600" dirty="0"/>
              <a:t> ):   </a:t>
            </a:r>
          </a:p>
          <a:p>
            <a:pPr lvl="1"/>
            <a:r>
              <a:rPr lang="en-US" dirty="0"/>
              <a:t>Given a list of records whose keys are stored in </a:t>
            </a:r>
            <a:r>
              <a:rPr lang="en-US" i="1" dirty="0"/>
              <a:t>T</a:t>
            </a:r>
            <a:r>
              <a:rPr lang="en-US" dirty="0"/>
              <a:t>, return the node whose key has rank </a:t>
            </a:r>
            <a:r>
              <a:rPr lang="en-US" i="1" dirty="0"/>
              <a:t>k</a:t>
            </a:r>
            <a:r>
              <a:rPr lang="en-US" dirty="0"/>
              <a:t>. </a:t>
            </a:r>
          </a:p>
          <a:p>
            <a:pPr lvl="1"/>
            <a:endParaRPr lang="en-US" dirty="0"/>
          </a:p>
          <a:p>
            <a:r>
              <a:rPr lang="en-US" dirty="0"/>
              <a:t>We can do linear search to find it. But can we do better? </a:t>
            </a:r>
          </a:p>
          <a:p>
            <a:endParaRPr lang="en-US" dirty="0"/>
          </a:p>
          <a:p>
            <a:r>
              <a:rPr lang="en-US" sz="2600" dirty="0"/>
              <a:t>Goal: </a:t>
            </a:r>
          </a:p>
          <a:p>
            <a:pPr lvl="1"/>
            <a:r>
              <a:rPr lang="en-US" dirty="0">
                <a:solidFill>
                  <a:srgbClr val="700000"/>
                </a:solidFill>
              </a:rPr>
              <a:t>Augment</a:t>
            </a:r>
            <a:r>
              <a:rPr lang="en-US" dirty="0"/>
              <a:t> the binary search tree data structure so as to support Select ( </a:t>
            </a:r>
            <a:r>
              <a:rPr lang="en-US" i="1" dirty="0"/>
              <a:t>T, k</a:t>
            </a:r>
            <a:r>
              <a:rPr lang="en-US" dirty="0"/>
              <a:t> ) efficiently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2241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EF83B-E94D-4E2A-ADB2-7BD647CFD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particular,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1FC0E-95D3-4BC2-9390-BD4F581F0AA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600" dirty="0"/>
              <a:t>Select ( </a:t>
            </a:r>
            <a:r>
              <a:rPr lang="en-US" sz="2600" i="1" dirty="0"/>
              <a:t>T, k</a:t>
            </a:r>
            <a:r>
              <a:rPr lang="en-US" sz="2600" dirty="0"/>
              <a:t> ) </a:t>
            </a:r>
          </a:p>
          <a:p>
            <a:r>
              <a:rPr lang="en-US" sz="2600" dirty="0"/>
              <a:t>Goal: </a:t>
            </a:r>
          </a:p>
          <a:p>
            <a:pPr lvl="1"/>
            <a:r>
              <a:rPr lang="en-US" dirty="0"/>
              <a:t>Augment the binary search tree data structure so as to support Select ( </a:t>
            </a:r>
            <a:r>
              <a:rPr lang="en-US" i="1" dirty="0"/>
              <a:t>T, k</a:t>
            </a:r>
            <a:r>
              <a:rPr lang="en-US" dirty="0"/>
              <a:t> ) efficiently</a:t>
            </a:r>
          </a:p>
          <a:p>
            <a:pPr lvl="1"/>
            <a:endParaRPr lang="en-US" dirty="0"/>
          </a:p>
          <a:p>
            <a:r>
              <a:rPr lang="en-US" dirty="0"/>
              <a:t>Ordinary binary search tree</a:t>
            </a:r>
          </a:p>
          <a:p>
            <a:pPr lvl="1"/>
            <a:r>
              <a:rPr lang="en-US" i="1" dirty="0"/>
              <a:t>O(h)</a:t>
            </a:r>
            <a:r>
              <a:rPr lang="en-US" dirty="0"/>
              <a:t> time for Select(</a:t>
            </a:r>
            <a:r>
              <a:rPr lang="en-US" i="1" dirty="0"/>
              <a:t>T, k</a:t>
            </a:r>
            <a:r>
              <a:rPr lang="en-US" dirty="0"/>
              <a:t>)</a:t>
            </a:r>
          </a:p>
          <a:p>
            <a:r>
              <a:rPr lang="en-US" dirty="0"/>
              <a:t>Using balanced search tree)</a:t>
            </a:r>
          </a:p>
          <a:p>
            <a:pPr lvl="1"/>
            <a:r>
              <a:rPr lang="en-US" i="1" dirty="0"/>
              <a:t>O(lg n)</a:t>
            </a:r>
            <a:r>
              <a:rPr lang="en-US" dirty="0"/>
              <a:t> time for Select(</a:t>
            </a:r>
            <a:r>
              <a:rPr lang="en-US" i="1" dirty="0"/>
              <a:t>T, k</a:t>
            </a:r>
            <a:r>
              <a:rPr lang="en-US" dirty="0"/>
              <a:t>)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48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88FFB-1A4C-4375-B87F-D139E0D4C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augment a BST T?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7D4790-0DFD-43BE-9A8D-028A2317C68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At each node </a:t>
                </a:r>
                <a:r>
                  <a:rPr lang="en-US" i="1" dirty="0"/>
                  <a:t>x</a:t>
                </a:r>
                <a:r>
                  <a:rPr lang="en-US" dirty="0"/>
                  <a:t> of the tree </a:t>
                </a:r>
                <a:r>
                  <a:rPr lang="en-US" i="1" dirty="0"/>
                  <a:t>T</a:t>
                </a:r>
              </a:p>
              <a:p>
                <a:pPr lvl="1"/>
                <a:r>
                  <a:rPr lang="en-US" dirty="0"/>
                  <a:t>store </a:t>
                </a:r>
                <a:r>
                  <a:rPr lang="en-US" i="1" dirty="0" err="1"/>
                  <a:t>x.size</a:t>
                </a:r>
                <a:r>
                  <a:rPr lang="en-US" dirty="0"/>
                  <a:t> = # nodes in the </a:t>
                </a:r>
                <a:r>
                  <a:rPr lang="en-US" dirty="0" err="1"/>
                  <a:t>subtree</a:t>
                </a:r>
                <a:r>
                  <a:rPr lang="en-US" dirty="0"/>
                  <a:t> rooted at </a:t>
                </a:r>
                <a:r>
                  <a:rPr lang="en-US" i="1" dirty="0"/>
                  <a:t>x</a:t>
                </a:r>
              </a:p>
              <a:p>
                <a:pPr lvl="2"/>
                <a:r>
                  <a:rPr lang="en-US" dirty="0"/>
                  <a:t>Include x itself</a:t>
                </a:r>
              </a:p>
              <a:p>
                <a:pPr lvl="2"/>
                <a:r>
                  <a:rPr lang="en-US" dirty="0"/>
                  <a:t>If a node (leaf) is NIL, its size is 0. </a:t>
                </a:r>
              </a:p>
              <a:p>
                <a:pPr lvl="2"/>
                <a:endParaRPr lang="en-US" dirty="0"/>
              </a:p>
              <a:p>
                <a:r>
                  <a:rPr lang="en-US" dirty="0"/>
                  <a:t>Space of an augmented tree: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Basic property: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/>
                      </a:rPr>
                      <m:t>𝑠𝑖𝑧𝑒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/>
                      </a:rPr>
                      <m:t>𝑙𝑒𝑓𝑡</m:t>
                    </m:r>
                    <m:r>
                      <a:rPr lang="en-US" b="0" i="1" smtClean="0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/>
                      </a:rPr>
                      <m:t>𝑠𝑖𝑧𝑒</m:t>
                    </m:r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/>
                      </a:rPr>
                      <m:t>𝑟𝑖𝑔h𝑡</m:t>
                    </m:r>
                    <m:r>
                      <a:rPr lang="en-US" b="0" i="1" smtClean="0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/>
                      </a:rPr>
                      <m:t>𝑠𝑖𝑧𝑒</m:t>
                    </m:r>
                    <m:r>
                      <a:rPr lang="en-US" b="0" i="1" smtClean="0">
                        <a:latin typeface="Cambria Math"/>
                      </a:rPr>
                      <m:t>+1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7D4790-0DFD-43BE-9A8D-028A2317C6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95149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CCB03-3F23-4D8B-A09A-EDAC687B1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99450-6D61-460E-A593-59508B44287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9B837B2-AE1F-46AD-96A1-8A7020792585}"/>
              </a:ext>
            </a:extLst>
          </p:cNvPr>
          <p:cNvGrpSpPr/>
          <p:nvPr/>
        </p:nvGrpSpPr>
        <p:grpSpPr>
          <a:xfrm>
            <a:off x="3962400" y="1524000"/>
            <a:ext cx="838200" cy="914400"/>
            <a:chOff x="4419600" y="1905000"/>
            <a:chExt cx="838200" cy="9144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C83CAE9-B4F3-4613-ABC4-8B1355A8580E}"/>
                </a:ext>
              </a:extLst>
            </p:cNvPr>
            <p:cNvSpPr/>
            <p:nvPr/>
          </p:nvSpPr>
          <p:spPr bwMode="auto">
            <a:xfrm>
              <a:off x="4419600" y="1905000"/>
              <a:ext cx="838200" cy="914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M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chemeClr val="tx1"/>
                  </a:solidFill>
                  <a:latin typeface="Times" charset="0"/>
                </a:rPr>
                <a:t>9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045D853-BBCD-4B03-9CA6-8E4433F67C3B}"/>
                </a:ext>
              </a:extLst>
            </p:cNvPr>
            <p:cNvCxnSpPr>
              <a:stCxn id="5" idx="1"/>
              <a:endCxn id="5" idx="3"/>
            </p:cNvCxnSpPr>
            <p:nvPr/>
          </p:nvCxnSpPr>
          <p:spPr bwMode="auto">
            <a:xfrm>
              <a:off x="4419600" y="2362200"/>
              <a:ext cx="8382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C15CB0B-0C0F-442F-9015-1E808E9ED960}"/>
              </a:ext>
            </a:extLst>
          </p:cNvPr>
          <p:cNvGrpSpPr/>
          <p:nvPr/>
        </p:nvGrpSpPr>
        <p:grpSpPr>
          <a:xfrm>
            <a:off x="2438400" y="2590800"/>
            <a:ext cx="838200" cy="914400"/>
            <a:chOff x="4419600" y="1905000"/>
            <a:chExt cx="838200" cy="914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B24B702-93CE-42AA-BEAB-B1B3DC45258A}"/>
                </a:ext>
              </a:extLst>
            </p:cNvPr>
            <p:cNvSpPr/>
            <p:nvPr/>
          </p:nvSpPr>
          <p:spPr bwMode="auto">
            <a:xfrm>
              <a:off x="4419600" y="1905000"/>
              <a:ext cx="838200" cy="914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C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chemeClr val="tx1"/>
                  </a:solidFill>
                  <a:latin typeface="Times" charset="0"/>
                </a:rPr>
                <a:t>5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9A9198-CFEA-49B3-8A09-D17E82116E64}"/>
                </a:ext>
              </a:extLst>
            </p:cNvPr>
            <p:cNvCxnSpPr>
              <a:stCxn id="8" idx="1"/>
              <a:endCxn id="8" idx="3"/>
            </p:cNvCxnSpPr>
            <p:nvPr/>
          </p:nvCxnSpPr>
          <p:spPr bwMode="auto">
            <a:xfrm>
              <a:off x="4419600" y="2362200"/>
              <a:ext cx="8382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7CDE96E-52C9-41F7-A35C-F0B15150B4EE}"/>
              </a:ext>
            </a:extLst>
          </p:cNvPr>
          <p:cNvGrpSpPr/>
          <p:nvPr/>
        </p:nvGrpSpPr>
        <p:grpSpPr>
          <a:xfrm>
            <a:off x="1066800" y="4038600"/>
            <a:ext cx="838200" cy="914400"/>
            <a:chOff x="4419600" y="1905000"/>
            <a:chExt cx="838200" cy="9144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EF9D6D8-2593-4FF1-BAD3-B8C04E0340F0}"/>
                </a:ext>
              </a:extLst>
            </p:cNvPr>
            <p:cNvSpPr/>
            <p:nvPr/>
          </p:nvSpPr>
          <p:spPr bwMode="auto">
            <a:xfrm>
              <a:off x="4419600" y="1905000"/>
              <a:ext cx="838200" cy="914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A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chemeClr val="tx1"/>
                  </a:solidFill>
                  <a:latin typeface="Times" charset="0"/>
                </a:rPr>
                <a:t>1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765F75A-CD0A-49B3-9A72-F302512FB362}"/>
                </a:ext>
              </a:extLst>
            </p:cNvPr>
            <p:cNvCxnSpPr>
              <a:stCxn id="11" idx="1"/>
              <a:endCxn id="11" idx="3"/>
            </p:cNvCxnSpPr>
            <p:nvPr/>
          </p:nvCxnSpPr>
          <p:spPr bwMode="auto">
            <a:xfrm>
              <a:off x="4419600" y="2362200"/>
              <a:ext cx="8382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48CCF05-FC2A-40DE-997F-2D8E80C75D98}"/>
              </a:ext>
            </a:extLst>
          </p:cNvPr>
          <p:cNvGrpSpPr/>
          <p:nvPr/>
        </p:nvGrpSpPr>
        <p:grpSpPr>
          <a:xfrm>
            <a:off x="3695700" y="3962400"/>
            <a:ext cx="838200" cy="914400"/>
            <a:chOff x="4419600" y="1905000"/>
            <a:chExt cx="838200" cy="9144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59F440F-CB12-40E6-83C3-101BBDBB4654}"/>
                </a:ext>
              </a:extLst>
            </p:cNvPr>
            <p:cNvSpPr/>
            <p:nvPr/>
          </p:nvSpPr>
          <p:spPr bwMode="auto">
            <a:xfrm>
              <a:off x="4419600" y="1905000"/>
              <a:ext cx="838200" cy="914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F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chemeClr val="tx1"/>
                  </a:solidFill>
                  <a:latin typeface="Times" charset="0"/>
                </a:rPr>
                <a:t>3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54671F2-5E8E-4A63-A732-4F79DFE38D96}"/>
                </a:ext>
              </a:extLst>
            </p:cNvPr>
            <p:cNvCxnSpPr>
              <a:stCxn id="14" idx="1"/>
              <a:endCxn id="14" idx="3"/>
            </p:cNvCxnSpPr>
            <p:nvPr/>
          </p:nvCxnSpPr>
          <p:spPr bwMode="auto">
            <a:xfrm>
              <a:off x="4419600" y="2362200"/>
              <a:ext cx="8382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0AA96B9-FA3F-4E2D-B160-E198DDB942CB}"/>
              </a:ext>
            </a:extLst>
          </p:cNvPr>
          <p:cNvGrpSpPr/>
          <p:nvPr/>
        </p:nvGrpSpPr>
        <p:grpSpPr>
          <a:xfrm>
            <a:off x="2895600" y="5308600"/>
            <a:ext cx="838200" cy="914400"/>
            <a:chOff x="4419600" y="1905000"/>
            <a:chExt cx="838200" cy="9144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F0F4DD3-19BF-4EFD-BF6C-1F9416EEA36B}"/>
                </a:ext>
              </a:extLst>
            </p:cNvPr>
            <p:cNvSpPr/>
            <p:nvPr/>
          </p:nvSpPr>
          <p:spPr bwMode="auto">
            <a:xfrm>
              <a:off x="4419600" y="1905000"/>
              <a:ext cx="838200" cy="914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D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chemeClr val="tx1"/>
                  </a:solidFill>
                  <a:latin typeface="Times" charset="0"/>
                </a:rPr>
                <a:t>1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F073E9B-20F1-4EDE-B9AF-AFC231A71407}"/>
                </a:ext>
              </a:extLst>
            </p:cNvPr>
            <p:cNvCxnSpPr>
              <a:stCxn id="17" idx="1"/>
              <a:endCxn id="17" idx="3"/>
            </p:cNvCxnSpPr>
            <p:nvPr/>
          </p:nvCxnSpPr>
          <p:spPr bwMode="auto">
            <a:xfrm>
              <a:off x="4419600" y="2362200"/>
              <a:ext cx="8382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838A113-64F3-4D7D-B967-CDA8ECA77CB0}"/>
              </a:ext>
            </a:extLst>
          </p:cNvPr>
          <p:cNvGrpSpPr/>
          <p:nvPr/>
        </p:nvGrpSpPr>
        <p:grpSpPr>
          <a:xfrm>
            <a:off x="4648200" y="5308600"/>
            <a:ext cx="838200" cy="914400"/>
            <a:chOff x="4419600" y="1905000"/>
            <a:chExt cx="838200" cy="9144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D2547FA-2C2D-4C4F-B34F-4F883B89ACB3}"/>
                </a:ext>
              </a:extLst>
            </p:cNvPr>
            <p:cNvSpPr/>
            <p:nvPr/>
          </p:nvSpPr>
          <p:spPr bwMode="auto">
            <a:xfrm>
              <a:off x="4419600" y="1905000"/>
              <a:ext cx="838200" cy="914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H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chemeClr val="tx1"/>
                  </a:solidFill>
                  <a:latin typeface="Times" charset="0"/>
                </a:rPr>
                <a:t>1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94C1246-2C6D-4FA5-AD56-9D7F64CCDC7F}"/>
                </a:ext>
              </a:extLst>
            </p:cNvPr>
            <p:cNvCxnSpPr>
              <a:stCxn id="20" idx="1"/>
              <a:endCxn id="20" idx="3"/>
            </p:cNvCxnSpPr>
            <p:nvPr/>
          </p:nvCxnSpPr>
          <p:spPr bwMode="auto">
            <a:xfrm>
              <a:off x="4419600" y="2362200"/>
              <a:ext cx="8382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F6BD7A7-AFBE-4397-BF48-E24A95D8FD7C}"/>
              </a:ext>
            </a:extLst>
          </p:cNvPr>
          <p:cNvGrpSpPr/>
          <p:nvPr/>
        </p:nvGrpSpPr>
        <p:grpSpPr>
          <a:xfrm>
            <a:off x="5638800" y="2590800"/>
            <a:ext cx="838200" cy="914400"/>
            <a:chOff x="4419600" y="1905000"/>
            <a:chExt cx="838200" cy="9144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D6E5329-2FE3-4007-A372-EEA2C1048C11}"/>
                </a:ext>
              </a:extLst>
            </p:cNvPr>
            <p:cNvSpPr/>
            <p:nvPr/>
          </p:nvSpPr>
          <p:spPr bwMode="auto">
            <a:xfrm>
              <a:off x="4419600" y="1905000"/>
              <a:ext cx="838200" cy="914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P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chemeClr val="tx1"/>
                  </a:solidFill>
                  <a:latin typeface="Times" charset="0"/>
                </a:rPr>
                <a:t>3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9528171-04A7-49C4-9448-CF9DCF178D43}"/>
                </a:ext>
              </a:extLst>
            </p:cNvPr>
            <p:cNvCxnSpPr>
              <a:stCxn id="23" idx="1"/>
              <a:endCxn id="23" idx="3"/>
            </p:cNvCxnSpPr>
            <p:nvPr/>
          </p:nvCxnSpPr>
          <p:spPr bwMode="auto">
            <a:xfrm>
              <a:off x="4419600" y="2362200"/>
              <a:ext cx="8382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DAF4365-083C-43BC-A410-AB858CEB0E9F}"/>
              </a:ext>
            </a:extLst>
          </p:cNvPr>
          <p:cNvGrpSpPr/>
          <p:nvPr/>
        </p:nvGrpSpPr>
        <p:grpSpPr>
          <a:xfrm>
            <a:off x="6858000" y="3886200"/>
            <a:ext cx="838200" cy="914400"/>
            <a:chOff x="4419600" y="1905000"/>
            <a:chExt cx="838200" cy="9144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E757031-C6C9-4163-A00F-B5733854688A}"/>
                </a:ext>
              </a:extLst>
            </p:cNvPr>
            <p:cNvSpPr/>
            <p:nvPr/>
          </p:nvSpPr>
          <p:spPr bwMode="auto">
            <a:xfrm>
              <a:off x="4419600" y="1905000"/>
              <a:ext cx="838200" cy="914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T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chemeClr val="tx1"/>
                  </a:solidFill>
                  <a:latin typeface="Times" charset="0"/>
                </a:rPr>
                <a:t>2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C3F569C-5EF7-4316-8D1F-AF9F04F38305}"/>
                </a:ext>
              </a:extLst>
            </p:cNvPr>
            <p:cNvCxnSpPr>
              <a:stCxn id="26" idx="1"/>
              <a:endCxn id="26" idx="3"/>
            </p:cNvCxnSpPr>
            <p:nvPr/>
          </p:nvCxnSpPr>
          <p:spPr bwMode="auto">
            <a:xfrm>
              <a:off x="4419600" y="2362200"/>
              <a:ext cx="8382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18EB95F-6A06-4D03-9CA5-C1A1E2307E9C}"/>
              </a:ext>
            </a:extLst>
          </p:cNvPr>
          <p:cNvGrpSpPr/>
          <p:nvPr/>
        </p:nvGrpSpPr>
        <p:grpSpPr>
          <a:xfrm>
            <a:off x="6045200" y="5295900"/>
            <a:ext cx="838200" cy="914400"/>
            <a:chOff x="4419600" y="1905000"/>
            <a:chExt cx="838200" cy="9144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53553D6-3F53-4083-9C9D-43132E08A190}"/>
                </a:ext>
              </a:extLst>
            </p:cNvPr>
            <p:cNvSpPr/>
            <p:nvPr/>
          </p:nvSpPr>
          <p:spPr bwMode="auto">
            <a:xfrm>
              <a:off x="4419600" y="1905000"/>
              <a:ext cx="838200" cy="914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Q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chemeClr val="tx1"/>
                  </a:solidFill>
                  <a:latin typeface="Times" charset="0"/>
                </a:rPr>
                <a:t>1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D44705F-A67D-43C6-90F6-AE96FE8544DC}"/>
                </a:ext>
              </a:extLst>
            </p:cNvPr>
            <p:cNvCxnSpPr>
              <a:stCxn id="29" idx="1"/>
              <a:endCxn id="29" idx="3"/>
            </p:cNvCxnSpPr>
            <p:nvPr/>
          </p:nvCxnSpPr>
          <p:spPr bwMode="auto">
            <a:xfrm>
              <a:off x="4419600" y="2362200"/>
              <a:ext cx="8382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2265177-3D37-4CA5-BBC5-49406BA9CF8B}"/>
              </a:ext>
            </a:extLst>
          </p:cNvPr>
          <p:cNvCxnSpPr/>
          <p:nvPr/>
        </p:nvCxnSpPr>
        <p:spPr bwMode="auto">
          <a:xfrm flipH="1">
            <a:off x="3276600" y="2286000"/>
            <a:ext cx="685800" cy="4572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9BB2860-566E-4329-A1EA-32AB57AC9286}"/>
              </a:ext>
            </a:extLst>
          </p:cNvPr>
          <p:cNvCxnSpPr/>
          <p:nvPr/>
        </p:nvCxnSpPr>
        <p:spPr bwMode="auto">
          <a:xfrm flipH="1">
            <a:off x="1752600" y="3556000"/>
            <a:ext cx="685800" cy="4572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A92CAC2-B2CE-44D3-8C3A-0C1BF76E293F}"/>
              </a:ext>
            </a:extLst>
          </p:cNvPr>
          <p:cNvCxnSpPr/>
          <p:nvPr/>
        </p:nvCxnSpPr>
        <p:spPr bwMode="auto">
          <a:xfrm flipH="1">
            <a:off x="3086100" y="4876800"/>
            <a:ext cx="685800" cy="4572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30CF1EE-D0B1-4815-9763-DC89B857C004}"/>
              </a:ext>
            </a:extLst>
          </p:cNvPr>
          <p:cNvCxnSpPr/>
          <p:nvPr/>
        </p:nvCxnSpPr>
        <p:spPr bwMode="auto">
          <a:xfrm>
            <a:off x="4838700" y="2286000"/>
            <a:ext cx="762000" cy="4572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833E250-409C-4758-9019-27EE56972CF9}"/>
              </a:ext>
            </a:extLst>
          </p:cNvPr>
          <p:cNvCxnSpPr/>
          <p:nvPr/>
        </p:nvCxnSpPr>
        <p:spPr bwMode="auto">
          <a:xfrm>
            <a:off x="6477000" y="3429000"/>
            <a:ext cx="762000" cy="4572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A83C06C-6467-4898-89E7-D672DDC13CD8}"/>
              </a:ext>
            </a:extLst>
          </p:cNvPr>
          <p:cNvCxnSpPr/>
          <p:nvPr/>
        </p:nvCxnSpPr>
        <p:spPr bwMode="auto">
          <a:xfrm flipH="1">
            <a:off x="6489700" y="4800600"/>
            <a:ext cx="520700" cy="4699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D5165C2-6BAA-435B-9EDC-A97CB0EAA6C5}"/>
              </a:ext>
            </a:extLst>
          </p:cNvPr>
          <p:cNvCxnSpPr/>
          <p:nvPr/>
        </p:nvCxnSpPr>
        <p:spPr bwMode="auto">
          <a:xfrm>
            <a:off x="4572000" y="4851400"/>
            <a:ext cx="762000" cy="4572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F0FFE19-9D7D-4016-AC0F-78A3B275B9A9}"/>
              </a:ext>
            </a:extLst>
          </p:cNvPr>
          <p:cNvCxnSpPr/>
          <p:nvPr/>
        </p:nvCxnSpPr>
        <p:spPr bwMode="auto">
          <a:xfrm>
            <a:off x="3314700" y="3505200"/>
            <a:ext cx="762000" cy="4572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0238539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58E9C-CF8D-4466-8F74-C3C0B4048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setup size information?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AC4635-1EE5-447C-A7A5-2010B77E851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procedure </a:t>
                </a:r>
                <a:r>
                  <a:rPr lang="en-US" sz="2800" i="1" dirty="0" err="1">
                    <a:solidFill>
                      <a:srgbClr val="0B0E8F"/>
                    </a:solidFill>
                  </a:rPr>
                  <a:t>AugmentSize</a:t>
                </a:r>
                <a:r>
                  <a:rPr lang="en-US" sz="2800" dirty="0"/>
                  <a:t>(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𝑡𝑟𝑒𝑒𝑛𝑜𝑑𝑒</m:t>
                    </m:r>
                    <m:r>
                      <a:rPr lang="en-US" sz="2800" b="0" i="1" smtClean="0">
                        <a:latin typeface="Cambria Math"/>
                      </a:rPr>
                      <m:t>  </m:t>
                    </m:r>
                    <m:r>
                      <a:rPr lang="en-US" sz="28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800" dirty="0"/>
                  <a:t> )</a:t>
                </a:r>
              </a:p>
              <a:p>
                <a:pPr marL="457200" lvl="1" indent="0">
                  <a:buNone/>
                </a:pPr>
                <a:r>
                  <a:rPr lang="en-US" sz="2400" dirty="0"/>
                  <a:t>   If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𝑥</m:t>
                    </m:r>
                    <m:r>
                      <a:rPr lang="en-US" sz="2400" b="0" i="1" smtClean="0">
                        <a:latin typeface="Cambria Math"/>
                      </a:rPr>
                      <m:t>≠</m:t>
                    </m:r>
                    <m:r>
                      <a:rPr lang="en-US" sz="2400" b="0" i="1" smtClean="0">
                        <a:latin typeface="Cambria Math"/>
                      </a:rPr>
                      <m:t>𝑁𝐼𝐿</m:t>
                    </m:r>
                    <m:r>
                      <a:rPr lang="en-US" sz="24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) then 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𝐿𝑠𝑖𝑧𝑒</m:t>
                    </m:r>
                  </m:oMath>
                </a14:m>
                <a:r>
                  <a:rPr lang="en-US" sz="2400" dirty="0"/>
                  <a:t> = </a:t>
                </a:r>
                <a:r>
                  <a:rPr lang="en-US" sz="2400" i="1" dirty="0" err="1">
                    <a:solidFill>
                      <a:srgbClr val="0B0E8F"/>
                    </a:solidFill>
                  </a:rPr>
                  <a:t>AugmentSize</a:t>
                </a:r>
                <a:r>
                  <a:rPr lang="en-US" sz="2400" dirty="0"/>
                  <a:t>(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𝑥</m:t>
                    </m:r>
                    <m:r>
                      <a:rPr lang="en-US" sz="2400" b="0" i="1" smtClean="0">
                        <a:latin typeface="Cambria Math"/>
                      </a:rPr>
                      <m:t>.</m:t>
                    </m:r>
                    <m:r>
                      <a:rPr lang="en-US" sz="2400" b="0" i="1" smtClean="0">
                        <a:latin typeface="Cambria Math"/>
                      </a:rPr>
                      <m:t>𝑙𝑒𝑓𝑡</m:t>
                    </m:r>
                    <m:r>
                      <a:rPr lang="en-US" sz="24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);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𝑅𝑠𝑖𝑧𝑒</m:t>
                    </m:r>
                  </m:oMath>
                </a14:m>
                <a:r>
                  <a:rPr lang="en-US" sz="2400" dirty="0"/>
                  <a:t> = </a:t>
                </a:r>
                <a:r>
                  <a:rPr lang="en-US" sz="2400" i="1" dirty="0" err="1">
                    <a:solidFill>
                      <a:srgbClr val="0B0E8F"/>
                    </a:solidFill>
                  </a:rPr>
                  <a:t>AugmentSize</a:t>
                </a:r>
                <a:r>
                  <a:rPr lang="en-US" sz="2400" dirty="0"/>
                  <a:t>(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𝑥</m:t>
                    </m:r>
                    <m:r>
                      <a:rPr lang="en-US" sz="2400" b="0" i="1" smtClean="0">
                        <a:latin typeface="Cambria Math"/>
                      </a:rPr>
                      <m:t>.</m:t>
                    </m:r>
                    <m:r>
                      <a:rPr lang="en-US" sz="2400" b="0" i="1" smtClean="0">
                        <a:latin typeface="Cambria Math"/>
                      </a:rPr>
                      <m:t>𝑟𝑖𝑔h𝑡</m:t>
                    </m:r>
                  </m:oMath>
                </a14:m>
                <a:r>
                  <a:rPr lang="en-US" sz="2400" dirty="0"/>
                  <a:t>);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𝑥</m:t>
                    </m:r>
                    <m:r>
                      <a:rPr lang="en-US" sz="2400" b="0" i="1" smtClean="0">
                        <a:latin typeface="Cambria Math"/>
                      </a:rPr>
                      <m:t>.</m:t>
                    </m:r>
                    <m:r>
                      <a:rPr lang="en-US" sz="2400" b="0" i="1" smtClean="0">
                        <a:latin typeface="Cambria Math"/>
                      </a:rPr>
                      <m:t>𝑠𝑖𝑧𝑒</m:t>
                    </m:r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/>
                      </a:rPr>
                      <m:t>𝐿𝑠𝑖𝑧𝑒</m:t>
                    </m:r>
                    <m:r>
                      <a:rPr lang="en-US" sz="2400" b="0" i="1" smtClean="0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/>
                      </a:rPr>
                      <m:t>𝑅𝑠𝑖𝑧𝑒</m:t>
                    </m:r>
                    <m:r>
                      <a:rPr lang="en-US" sz="2400" b="0" i="1" smtClean="0">
                        <a:latin typeface="Cambria Math"/>
                      </a:rPr>
                      <m:t>+1</m:t>
                    </m:r>
                  </m:oMath>
                </a14:m>
                <a:r>
                  <a:rPr lang="en-US" sz="2400" dirty="0"/>
                  <a:t>; </a:t>
                </a:r>
              </a:p>
              <a:p>
                <a:pPr marL="914400" lvl="2" indent="0">
                  <a:buNone/>
                </a:pPr>
                <a:r>
                  <a:rPr lang="en-US" sz="2400" dirty="0"/>
                  <a:t>Return(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𝑥</m:t>
                    </m:r>
                    <m:r>
                      <a:rPr lang="en-US" sz="2400" b="0" i="1" smtClean="0">
                        <a:latin typeface="Cambria Math"/>
                      </a:rPr>
                      <m:t>.</m:t>
                    </m:r>
                    <m:r>
                      <a:rPr lang="en-US" sz="2400" b="0" i="1" smtClean="0">
                        <a:latin typeface="Cambria Math"/>
                      </a:rPr>
                      <m:t>𝑠𝑖𝑧𝑒</m:t>
                    </m:r>
                  </m:oMath>
                </a14:m>
                <a:r>
                  <a:rPr lang="en-US" sz="2400" dirty="0"/>
                  <a:t> ); </a:t>
                </a:r>
              </a:p>
              <a:p>
                <a:pPr marL="514350" lvl="1" indent="0">
                  <a:buNone/>
                </a:pPr>
                <a:r>
                  <a:rPr lang="en-US" sz="2400" dirty="0"/>
                  <a:t>   end</a:t>
                </a:r>
              </a:p>
              <a:p>
                <a:pPr marL="514350" lvl="1" indent="0">
                  <a:buNone/>
                </a:pPr>
                <a:r>
                  <a:rPr lang="en-US" sz="2400" dirty="0"/>
                  <a:t>   Return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0</m:t>
                    </m:r>
                  </m:oMath>
                </a14:m>
                <a:r>
                  <a:rPr lang="en-US" sz="2400" dirty="0"/>
                  <a:t>);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AC4635-1EE5-447C-A7A5-2010B77E8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741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34">
            <a:extLst>
              <a:ext uri="{FF2B5EF4-FFF2-40B4-BE49-F238E27FC236}">
                <a16:creationId xmlns:a16="http://schemas.microsoft.com/office/drawing/2014/main" id="{14601C99-7C64-491C-8BE3-AC0F79893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029200"/>
            <a:ext cx="3429000" cy="838200"/>
          </a:xfrm>
          <a:prstGeom prst="rect">
            <a:avLst/>
          </a:prstGeom>
          <a:solidFill>
            <a:srgbClr val="CCFFCC">
              <a:alpha val="50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0" dirty="0"/>
              <a:t> </a:t>
            </a:r>
            <a:r>
              <a:rPr lang="en-US" b="0" dirty="0" err="1"/>
              <a:t>Postorder</a:t>
            </a:r>
            <a:r>
              <a:rPr lang="en-US" b="0" dirty="0"/>
              <a:t> traversal</a:t>
            </a:r>
          </a:p>
          <a:p>
            <a:pPr algn="ctr"/>
            <a:r>
              <a:rPr lang="en-US" b="0" dirty="0"/>
              <a:t>of the tree !</a:t>
            </a:r>
          </a:p>
        </p:txBody>
      </p:sp>
    </p:spTree>
    <p:extLst>
      <p:ext uri="{BB962C8B-B14F-4D97-AF65-F5344CB8AC3E}">
        <p14:creationId xmlns:p14="http://schemas.microsoft.com/office/powerpoint/2010/main" val="256666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CCB03-3F23-4D8B-A09A-EDAC687B1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perform select with </a:t>
            </a:r>
            <a:r>
              <a:rPr lang="en-US" dirty="0" err="1"/>
              <a:t>aug</a:t>
            </a:r>
            <a:r>
              <a:rPr lang="en-US" dirty="0"/>
              <a:t>-BST?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99450-6D61-460E-A593-59508B44287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9B837B2-AE1F-46AD-96A1-8A7020792585}"/>
              </a:ext>
            </a:extLst>
          </p:cNvPr>
          <p:cNvGrpSpPr/>
          <p:nvPr/>
        </p:nvGrpSpPr>
        <p:grpSpPr>
          <a:xfrm>
            <a:off x="3352800" y="1524000"/>
            <a:ext cx="838200" cy="914400"/>
            <a:chOff x="4419600" y="1905000"/>
            <a:chExt cx="838200" cy="9144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C83CAE9-B4F3-4613-ABC4-8B1355A8580E}"/>
                </a:ext>
              </a:extLst>
            </p:cNvPr>
            <p:cNvSpPr/>
            <p:nvPr/>
          </p:nvSpPr>
          <p:spPr bwMode="auto">
            <a:xfrm>
              <a:off x="4419600" y="1905000"/>
              <a:ext cx="838200" cy="914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M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chemeClr val="tx1"/>
                  </a:solidFill>
                  <a:latin typeface="Times" charset="0"/>
                </a:rPr>
                <a:t>9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045D853-BBCD-4B03-9CA6-8E4433F67C3B}"/>
                </a:ext>
              </a:extLst>
            </p:cNvPr>
            <p:cNvCxnSpPr>
              <a:stCxn id="5" idx="1"/>
              <a:endCxn id="5" idx="3"/>
            </p:cNvCxnSpPr>
            <p:nvPr/>
          </p:nvCxnSpPr>
          <p:spPr bwMode="auto">
            <a:xfrm>
              <a:off x="4419600" y="2362200"/>
              <a:ext cx="8382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C15CB0B-0C0F-442F-9015-1E808E9ED960}"/>
              </a:ext>
            </a:extLst>
          </p:cNvPr>
          <p:cNvGrpSpPr/>
          <p:nvPr/>
        </p:nvGrpSpPr>
        <p:grpSpPr>
          <a:xfrm>
            <a:off x="1828800" y="2590800"/>
            <a:ext cx="838200" cy="914400"/>
            <a:chOff x="4419600" y="1905000"/>
            <a:chExt cx="838200" cy="914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B24B702-93CE-42AA-BEAB-B1B3DC45258A}"/>
                </a:ext>
              </a:extLst>
            </p:cNvPr>
            <p:cNvSpPr/>
            <p:nvPr/>
          </p:nvSpPr>
          <p:spPr bwMode="auto">
            <a:xfrm>
              <a:off x="4419600" y="1905000"/>
              <a:ext cx="838200" cy="914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C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chemeClr val="tx1"/>
                  </a:solidFill>
                  <a:latin typeface="Times" charset="0"/>
                </a:rPr>
                <a:t>5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9A9198-CFEA-49B3-8A09-D17E82116E64}"/>
                </a:ext>
              </a:extLst>
            </p:cNvPr>
            <p:cNvCxnSpPr>
              <a:stCxn id="8" idx="1"/>
              <a:endCxn id="8" idx="3"/>
            </p:cNvCxnSpPr>
            <p:nvPr/>
          </p:nvCxnSpPr>
          <p:spPr bwMode="auto">
            <a:xfrm>
              <a:off x="4419600" y="2362200"/>
              <a:ext cx="8382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7CDE96E-52C9-41F7-A35C-F0B15150B4EE}"/>
              </a:ext>
            </a:extLst>
          </p:cNvPr>
          <p:cNvGrpSpPr/>
          <p:nvPr/>
        </p:nvGrpSpPr>
        <p:grpSpPr>
          <a:xfrm>
            <a:off x="457200" y="4038600"/>
            <a:ext cx="838200" cy="914400"/>
            <a:chOff x="4419600" y="1905000"/>
            <a:chExt cx="838200" cy="9144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EF9D6D8-2593-4FF1-BAD3-B8C04E0340F0}"/>
                </a:ext>
              </a:extLst>
            </p:cNvPr>
            <p:cNvSpPr/>
            <p:nvPr/>
          </p:nvSpPr>
          <p:spPr bwMode="auto">
            <a:xfrm>
              <a:off x="4419600" y="1905000"/>
              <a:ext cx="838200" cy="914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A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chemeClr val="tx1"/>
                  </a:solidFill>
                  <a:latin typeface="Times" charset="0"/>
                </a:rPr>
                <a:t>1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765F75A-CD0A-49B3-9A72-F302512FB362}"/>
                </a:ext>
              </a:extLst>
            </p:cNvPr>
            <p:cNvCxnSpPr>
              <a:stCxn id="11" idx="1"/>
              <a:endCxn id="11" idx="3"/>
            </p:cNvCxnSpPr>
            <p:nvPr/>
          </p:nvCxnSpPr>
          <p:spPr bwMode="auto">
            <a:xfrm>
              <a:off x="4419600" y="2362200"/>
              <a:ext cx="8382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48CCF05-FC2A-40DE-997F-2D8E80C75D98}"/>
              </a:ext>
            </a:extLst>
          </p:cNvPr>
          <p:cNvGrpSpPr/>
          <p:nvPr/>
        </p:nvGrpSpPr>
        <p:grpSpPr>
          <a:xfrm>
            <a:off x="3086100" y="3962400"/>
            <a:ext cx="838200" cy="914400"/>
            <a:chOff x="4419600" y="1905000"/>
            <a:chExt cx="838200" cy="9144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59F440F-CB12-40E6-83C3-101BBDBB4654}"/>
                </a:ext>
              </a:extLst>
            </p:cNvPr>
            <p:cNvSpPr/>
            <p:nvPr/>
          </p:nvSpPr>
          <p:spPr bwMode="auto">
            <a:xfrm>
              <a:off x="4419600" y="1905000"/>
              <a:ext cx="838200" cy="914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F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chemeClr val="tx1"/>
                  </a:solidFill>
                  <a:latin typeface="Times" charset="0"/>
                </a:rPr>
                <a:t>3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54671F2-5E8E-4A63-A732-4F79DFE38D96}"/>
                </a:ext>
              </a:extLst>
            </p:cNvPr>
            <p:cNvCxnSpPr>
              <a:stCxn id="14" idx="1"/>
              <a:endCxn id="14" idx="3"/>
            </p:cNvCxnSpPr>
            <p:nvPr/>
          </p:nvCxnSpPr>
          <p:spPr bwMode="auto">
            <a:xfrm>
              <a:off x="4419600" y="2362200"/>
              <a:ext cx="8382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0AA96B9-FA3F-4E2D-B160-E198DDB942CB}"/>
              </a:ext>
            </a:extLst>
          </p:cNvPr>
          <p:cNvGrpSpPr/>
          <p:nvPr/>
        </p:nvGrpSpPr>
        <p:grpSpPr>
          <a:xfrm>
            <a:off x="2286000" y="5308600"/>
            <a:ext cx="838200" cy="914400"/>
            <a:chOff x="4419600" y="1905000"/>
            <a:chExt cx="838200" cy="9144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F0F4DD3-19BF-4EFD-BF6C-1F9416EEA36B}"/>
                </a:ext>
              </a:extLst>
            </p:cNvPr>
            <p:cNvSpPr/>
            <p:nvPr/>
          </p:nvSpPr>
          <p:spPr bwMode="auto">
            <a:xfrm>
              <a:off x="4419600" y="1905000"/>
              <a:ext cx="838200" cy="914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D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chemeClr val="tx1"/>
                  </a:solidFill>
                  <a:latin typeface="Times" charset="0"/>
                </a:rPr>
                <a:t>1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F073E9B-20F1-4EDE-B9AF-AFC231A71407}"/>
                </a:ext>
              </a:extLst>
            </p:cNvPr>
            <p:cNvCxnSpPr>
              <a:stCxn id="17" idx="1"/>
              <a:endCxn id="17" idx="3"/>
            </p:cNvCxnSpPr>
            <p:nvPr/>
          </p:nvCxnSpPr>
          <p:spPr bwMode="auto">
            <a:xfrm>
              <a:off x="4419600" y="2362200"/>
              <a:ext cx="8382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838A113-64F3-4D7D-B967-CDA8ECA77CB0}"/>
              </a:ext>
            </a:extLst>
          </p:cNvPr>
          <p:cNvGrpSpPr/>
          <p:nvPr/>
        </p:nvGrpSpPr>
        <p:grpSpPr>
          <a:xfrm>
            <a:off x="4038600" y="5308600"/>
            <a:ext cx="838200" cy="914400"/>
            <a:chOff x="4419600" y="1905000"/>
            <a:chExt cx="838200" cy="9144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D2547FA-2C2D-4C4F-B34F-4F883B89ACB3}"/>
                </a:ext>
              </a:extLst>
            </p:cNvPr>
            <p:cNvSpPr/>
            <p:nvPr/>
          </p:nvSpPr>
          <p:spPr bwMode="auto">
            <a:xfrm>
              <a:off x="4419600" y="1905000"/>
              <a:ext cx="838200" cy="914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H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chemeClr val="tx1"/>
                  </a:solidFill>
                  <a:latin typeface="Times" charset="0"/>
                </a:rPr>
                <a:t>1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94C1246-2C6D-4FA5-AD56-9D7F64CCDC7F}"/>
                </a:ext>
              </a:extLst>
            </p:cNvPr>
            <p:cNvCxnSpPr>
              <a:stCxn id="20" idx="1"/>
              <a:endCxn id="20" idx="3"/>
            </p:cNvCxnSpPr>
            <p:nvPr/>
          </p:nvCxnSpPr>
          <p:spPr bwMode="auto">
            <a:xfrm>
              <a:off x="4419600" y="2362200"/>
              <a:ext cx="8382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F6BD7A7-AFBE-4397-BF48-E24A95D8FD7C}"/>
              </a:ext>
            </a:extLst>
          </p:cNvPr>
          <p:cNvGrpSpPr/>
          <p:nvPr/>
        </p:nvGrpSpPr>
        <p:grpSpPr>
          <a:xfrm>
            <a:off x="5029200" y="2590800"/>
            <a:ext cx="838200" cy="914400"/>
            <a:chOff x="4419600" y="1905000"/>
            <a:chExt cx="838200" cy="9144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D6E5329-2FE3-4007-A372-EEA2C1048C11}"/>
                </a:ext>
              </a:extLst>
            </p:cNvPr>
            <p:cNvSpPr/>
            <p:nvPr/>
          </p:nvSpPr>
          <p:spPr bwMode="auto">
            <a:xfrm>
              <a:off x="4419600" y="1905000"/>
              <a:ext cx="838200" cy="914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P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chemeClr val="tx1"/>
                  </a:solidFill>
                  <a:latin typeface="Times" charset="0"/>
                </a:rPr>
                <a:t>3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9528171-04A7-49C4-9448-CF9DCF178D43}"/>
                </a:ext>
              </a:extLst>
            </p:cNvPr>
            <p:cNvCxnSpPr>
              <a:stCxn id="23" idx="1"/>
              <a:endCxn id="23" idx="3"/>
            </p:cNvCxnSpPr>
            <p:nvPr/>
          </p:nvCxnSpPr>
          <p:spPr bwMode="auto">
            <a:xfrm>
              <a:off x="4419600" y="2362200"/>
              <a:ext cx="8382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DAF4365-083C-43BC-A410-AB858CEB0E9F}"/>
              </a:ext>
            </a:extLst>
          </p:cNvPr>
          <p:cNvGrpSpPr/>
          <p:nvPr/>
        </p:nvGrpSpPr>
        <p:grpSpPr>
          <a:xfrm>
            <a:off x="6248400" y="3886200"/>
            <a:ext cx="838200" cy="914400"/>
            <a:chOff x="4419600" y="1905000"/>
            <a:chExt cx="838200" cy="9144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E757031-C6C9-4163-A00F-B5733854688A}"/>
                </a:ext>
              </a:extLst>
            </p:cNvPr>
            <p:cNvSpPr/>
            <p:nvPr/>
          </p:nvSpPr>
          <p:spPr bwMode="auto">
            <a:xfrm>
              <a:off x="4419600" y="1905000"/>
              <a:ext cx="838200" cy="914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T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chemeClr val="tx1"/>
                  </a:solidFill>
                  <a:latin typeface="Times" charset="0"/>
                </a:rPr>
                <a:t>2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C3F569C-5EF7-4316-8D1F-AF9F04F38305}"/>
                </a:ext>
              </a:extLst>
            </p:cNvPr>
            <p:cNvCxnSpPr>
              <a:stCxn id="26" idx="1"/>
              <a:endCxn id="26" idx="3"/>
            </p:cNvCxnSpPr>
            <p:nvPr/>
          </p:nvCxnSpPr>
          <p:spPr bwMode="auto">
            <a:xfrm>
              <a:off x="4419600" y="2362200"/>
              <a:ext cx="8382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18EB95F-6A06-4D03-9CA5-C1A1E2307E9C}"/>
              </a:ext>
            </a:extLst>
          </p:cNvPr>
          <p:cNvGrpSpPr/>
          <p:nvPr/>
        </p:nvGrpSpPr>
        <p:grpSpPr>
          <a:xfrm>
            <a:off x="5435600" y="5295900"/>
            <a:ext cx="838200" cy="914400"/>
            <a:chOff x="4419600" y="1905000"/>
            <a:chExt cx="838200" cy="9144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53553D6-3F53-4083-9C9D-43132E08A190}"/>
                </a:ext>
              </a:extLst>
            </p:cNvPr>
            <p:cNvSpPr/>
            <p:nvPr/>
          </p:nvSpPr>
          <p:spPr bwMode="auto">
            <a:xfrm>
              <a:off x="4419600" y="1905000"/>
              <a:ext cx="838200" cy="914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Q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chemeClr val="tx1"/>
                  </a:solidFill>
                  <a:latin typeface="Times" charset="0"/>
                </a:rPr>
                <a:t>1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D44705F-A67D-43C6-90F6-AE96FE8544DC}"/>
                </a:ext>
              </a:extLst>
            </p:cNvPr>
            <p:cNvCxnSpPr>
              <a:stCxn id="29" idx="1"/>
              <a:endCxn id="29" idx="3"/>
            </p:cNvCxnSpPr>
            <p:nvPr/>
          </p:nvCxnSpPr>
          <p:spPr bwMode="auto">
            <a:xfrm>
              <a:off x="4419600" y="2362200"/>
              <a:ext cx="8382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2265177-3D37-4CA5-BBC5-49406BA9CF8B}"/>
              </a:ext>
            </a:extLst>
          </p:cNvPr>
          <p:cNvCxnSpPr/>
          <p:nvPr/>
        </p:nvCxnSpPr>
        <p:spPr bwMode="auto">
          <a:xfrm flipH="1">
            <a:off x="2667000" y="2286000"/>
            <a:ext cx="685800" cy="4572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9BB2860-566E-4329-A1EA-32AB57AC9286}"/>
              </a:ext>
            </a:extLst>
          </p:cNvPr>
          <p:cNvCxnSpPr/>
          <p:nvPr/>
        </p:nvCxnSpPr>
        <p:spPr bwMode="auto">
          <a:xfrm flipH="1">
            <a:off x="1143000" y="3556000"/>
            <a:ext cx="685800" cy="4572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A92CAC2-B2CE-44D3-8C3A-0C1BF76E293F}"/>
              </a:ext>
            </a:extLst>
          </p:cNvPr>
          <p:cNvCxnSpPr/>
          <p:nvPr/>
        </p:nvCxnSpPr>
        <p:spPr bwMode="auto">
          <a:xfrm flipH="1">
            <a:off x="2476500" y="4876800"/>
            <a:ext cx="685800" cy="4572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30CF1EE-D0B1-4815-9763-DC89B857C004}"/>
              </a:ext>
            </a:extLst>
          </p:cNvPr>
          <p:cNvCxnSpPr/>
          <p:nvPr/>
        </p:nvCxnSpPr>
        <p:spPr bwMode="auto">
          <a:xfrm>
            <a:off x="4229100" y="2286000"/>
            <a:ext cx="762000" cy="4572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833E250-409C-4758-9019-27EE56972CF9}"/>
              </a:ext>
            </a:extLst>
          </p:cNvPr>
          <p:cNvCxnSpPr/>
          <p:nvPr/>
        </p:nvCxnSpPr>
        <p:spPr bwMode="auto">
          <a:xfrm>
            <a:off x="5867400" y="3429000"/>
            <a:ext cx="762000" cy="4572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A83C06C-6467-4898-89E7-D672DDC13CD8}"/>
              </a:ext>
            </a:extLst>
          </p:cNvPr>
          <p:cNvCxnSpPr/>
          <p:nvPr/>
        </p:nvCxnSpPr>
        <p:spPr bwMode="auto">
          <a:xfrm flipH="1">
            <a:off x="5880100" y="4800600"/>
            <a:ext cx="520700" cy="4699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D5165C2-6BAA-435B-9EDC-A97CB0EAA6C5}"/>
              </a:ext>
            </a:extLst>
          </p:cNvPr>
          <p:cNvCxnSpPr/>
          <p:nvPr/>
        </p:nvCxnSpPr>
        <p:spPr bwMode="auto">
          <a:xfrm>
            <a:off x="3962400" y="4851400"/>
            <a:ext cx="762000" cy="4572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F0FFE19-9D7D-4016-AC0F-78A3B275B9A9}"/>
              </a:ext>
            </a:extLst>
          </p:cNvPr>
          <p:cNvCxnSpPr/>
          <p:nvPr/>
        </p:nvCxnSpPr>
        <p:spPr bwMode="auto">
          <a:xfrm>
            <a:off x="2705100" y="3505200"/>
            <a:ext cx="762000" cy="4572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Rectangle 34">
            <a:extLst>
              <a:ext uri="{FF2B5EF4-FFF2-40B4-BE49-F238E27FC236}">
                <a16:creationId xmlns:a16="http://schemas.microsoft.com/office/drawing/2014/main" id="{28D04F68-B8F9-4789-8A90-9DD7918D6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399" y="1447800"/>
            <a:ext cx="2207829" cy="571486"/>
          </a:xfrm>
          <a:prstGeom prst="rect">
            <a:avLst/>
          </a:prstGeom>
          <a:solidFill>
            <a:srgbClr val="CCFFCC">
              <a:alpha val="50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0" dirty="0"/>
              <a:t> Select element </a:t>
            </a:r>
          </a:p>
          <a:p>
            <a:pPr algn="ctr"/>
            <a:r>
              <a:rPr lang="en-US" b="0" dirty="0"/>
              <a:t>with rank 3? </a:t>
            </a:r>
          </a:p>
        </p:txBody>
      </p:sp>
      <p:sp>
        <p:nvSpPr>
          <p:cNvPr id="40" name="Rectangle 34">
            <a:extLst>
              <a:ext uri="{FF2B5EF4-FFF2-40B4-BE49-F238E27FC236}">
                <a16:creationId xmlns:a16="http://schemas.microsoft.com/office/drawing/2014/main" id="{6FD42C72-0D43-496D-909C-0DA6420B4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171714"/>
            <a:ext cx="2207829" cy="571486"/>
          </a:xfrm>
          <a:prstGeom prst="rect">
            <a:avLst/>
          </a:prstGeom>
          <a:solidFill>
            <a:srgbClr val="CCFFCC">
              <a:alpha val="50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0" dirty="0"/>
              <a:t> Select element </a:t>
            </a:r>
          </a:p>
          <a:p>
            <a:pPr algn="ctr"/>
            <a:r>
              <a:rPr lang="en-US" b="0" dirty="0"/>
              <a:t>with rank 7? </a:t>
            </a:r>
          </a:p>
        </p:txBody>
      </p:sp>
      <p:sp>
        <p:nvSpPr>
          <p:cNvPr id="41" name="Rectangle 34">
            <a:extLst>
              <a:ext uri="{FF2B5EF4-FFF2-40B4-BE49-F238E27FC236}">
                <a16:creationId xmlns:a16="http://schemas.microsoft.com/office/drawing/2014/main" id="{B08C1F9C-B7EA-4184-933C-6919805FB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933714"/>
            <a:ext cx="2207829" cy="571486"/>
          </a:xfrm>
          <a:prstGeom prst="rect">
            <a:avLst/>
          </a:prstGeom>
          <a:solidFill>
            <a:srgbClr val="CCFFCC">
              <a:alpha val="50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0" dirty="0"/>
              <a:t> Select element </a:t>
            </a:r>
          </a:p>
          <a:p>
            <a:pPr algn="ctr"/>
            <a:r>
              <a:rPr lang="en-US" b="0" dirty="0"/>
              <a:t>with rank 6? </a:t>
            </a:r>
          </a:p>
        </p:txBody>
      </p:sp>
    </p:spTree>
    <p:extLst>
      <p:ext uri="{BB962C8B-B14F-4D97-AF65-F5344CB8AC3E}">
        <p14:creationId xmlns:p14="http://schemas.microsoft.com/office/powerpoint/2010/main" val="1645523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 autoUpdateAnimBg="0"/>
      <p:bldP spid="40" grpId="0" animBg="1" autoUpdateAnimBg="0"/>
      <p:bldP spid="41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792CC-DF3A-4E9C-BA93-715539F16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D1F4A-922C-4BF0-AEF9-CD12733DBE4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Let </a:t>
            </a:r>
            <a:r>
              <a:rPr lang="en-US" i="1" dirty="0"/>
              <a:t>T</a:t>
            </a:r>
            <a:r>
              <a:rPr lang="en-US" dirty="0"/>
              <a:t> be an augmented binary search tree</a:t>
            </a:r>
          </a:p>
          <a:p>
            <a:r>
              <a:rPr lang="en-US" i="1" dirty="0"/>
              <a:t>BST-Select(x, k)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Return the </a:t>
            </a:r>
            <a:r>
              <a:rPr lang="en-US" i="1" dirty="0"/>
              <a:t>k</a:t>
            </a:r>
            <a:r>
              <a:rPr lang="en-US" dirty="0"/>
              <a:t>-</a:t>
            </a:r>
            <a:r>
              <a:rPr lang="en-US" dirty="0" err="1"/>
              <a:t>th</a:t>
            </a:r>
            <a:r>
              <a:rPr lang="en-US" dirty="0"/>
              <a:t> smallest element in the subtree rooted at </a:t>
            </a:r>
            <a:r>
              <a:rPr lang="en-US" i="1" dirty="0"/>
              <a:t>x</a:t>
            </a:r>
          </a:p>
          <a:p>
            <a:pPr lvl="1"/>
            <a:r>
              <a:rPr lang="en-US" i="1" dirty="0"/>
              <a:t>BST-Select(</a:t>
            </a:r>
            <a:r>
              <a:rPr lang="en-US" i="1" dirty="0" err="1"/>
              <a:t>T.root</a:t>
            </a:r>
            <a:r>
              <a:rPr lang="en-US" i="1" dirty="0"/>
              <a:t>, k) </a:t>
            </a:r>
            <a:r>
              <a:rPr lang="en-US" dirty="0"/>
              <a:t>returns the </a:t>
            </a:r>
            <a:r>
              <a:rPr lang="en-US" i="1" dirty="0"/>
              <a:t>k</a:t>
            </a:r>
            <a:r>
              <a:rPr lang="en-US" dirty="0"/>
              <a:t>-</a:t>
            </a:r>
            <a:r>
              <a:rPr lang="en-US" dirty="0" err="1"/>
              <a:t>th</a:t>
            </a:r>
            <a:r>
              <a:rPr lang="en-US" dirty="0"/>
              <a:t> smallest elements in the entire tree.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586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40767-E6AB-453D-9A61-9FABE24E0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BEC9D1-0105-42F2-9C33-B8EB71E95B8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6477000" cy="3124200"/>
              </a:xfrm>
              <a:ln w="2222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sz="2800" dirty="0"/>
                  <a:t>procedure </a:t>
                </a:r>
                <a:r>
                  <a:rPr lang="en-US" sz="2800" i="1" dirty="0">
                    <a:solidFill>
                      <a:srgbClr val="0B0E8F"/>
                    </a:solidFill>
                  </a:rPr>
                  <a:t>BST-Select</a:t>
                </a:r>
                <a:r>
                  <a:rPr lang="en-US" sz="2800" dirty="0"/>
                  <a:t>(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𝑡𝑟𝑒𝑒𝑛𝑜𝑑𝑒</m:t>
                    </m:r>
                    <m:r>
                      <a:rPr lang="en-US" sz="2800" b="0" i="1" smtClean="0">
                        <a:latin typeface="Cambria Math"/>
                      </a:rPr>
                      <m:t>  </m:t>
                    </m:r>
                    <m:r>
                      <a:rPr lang="en-US" sz="28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800" dirty="0"/>
                  <a:t>,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 )</a:t>
                </a:r>
              </a:p>
              <a:p>
                <a:pPr marL="457200" lvl="1" indent="0">
                  <a:buNone/>
                </a:pPr>
                <a:r>
                  <a:rPr lang="en-US" sz="2400" dirty="0"/>
                  <a:t>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ℓ=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𝑙𝑒𝑓𝑡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lvl="1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   If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==ℓ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 then </a:t>
                </a:r>
              </a:p>
              <a:p>
                <a:pPr marL="457200" lvl="1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	Return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457200" lvl="1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   elseif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&lt;ℓ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</a:t>
                </a:r>
                <a:endParaRPr lang="en-US" sz="2400" dirty="0"/>
              </a:p>
              <a:p>
                <a:pPr marL="914400" lvl="2" indent="0">
                  <a:buNone/>
                </a:pPr>
                <a:r>
                  <a:rPr lang="en-US" sz="2400" dirty="0"/>
                  <a:t>Return </a:t>
                </a:r>
                <a:r>
                  <a:rPr lang="en-US" sz="2400" i="1" dirty="0">
                    <a:solidFill>
                      <a:srgbClr val="0B0E8F"/>
                    </a:solidFill>
                  </a:rPr>
                  <a:t>BST-Select</a:t>
                </a:r>
                <a:r>
                  <a:rPr lang="en-US" sz="2400" dirty="0"/>
                  <a:t>(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𝑥</m:t>
                    </m:r>
                    <m:r>
                      <a:rPr lang="en-US" sz="2400" b="0" i="1" smtClean="0">
                        <a:latin typeface="Cambria Math"/>
                      </a:rPr>
                      <m:t>.</m:t>
                    </m:r>
                    <m:r>
                      <a:rPr lang="en-US" sz="2400" b="0" i="1" smtClean="0">
                        <a:latin typeface="Cambria Math"/>
                      </a:rPr>
                      <m:t>𝑙𝑒𝑓𝑡</m:t>
                    </m:r>
                    <m:r>
                      <a:rPr lang="en-US" sz="2400" b="0" i="1" smtClean="0">
                        <a:latin typeface="Cambria Math"/>
                      </a:rPr>
                      <m:t> 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 marL="639763" lvl="1" indent="0">
                  <a:buNone/>
                </a:pPr>
                <a:r>
                  <a:rPr lang="en-US" sz="2700" dirty="0"/>
                  <a:t> </a:t>
                </a:r>
                <a:r>
                  <a:rPr lang="en-US" sz="2400" dirty="0"/>
                  <a:t>else Return </a:t>
                </a:r>
                <a:r>
                  <a:rPr lang="en-US" sz="2400" i="1" dirty="0">
                    <a:solidFill>
                      <a:srgbClr val="0B0E8F"/>
                    </a:solidFill>
                  </a:rPr>
                  <a:t>BST-Select</a:t>
                </a:r>
                <a:r>
                  <a:rPr lang="en-US" sz="2400" dirty="0"/>
                  <a:t>(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𝑟𝑖𝑔h𝑡</m:t>
                    </m:r>
                    <m:r>
                      <a:rPr lang="en-US" sz="2400" b="0" i="1" smtClean="0">
                        <a:solidFill>
                          <a:srgbClr val="7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400" b="0" i="1" smtClean="0">
                        <a:solidFill>
                          <a:srgbClr val="7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rgbClr val="700000"/>
                        </a:solidFill>
                        <a:latin typeface="Cambria Math" panose="02040503050406030204" pitchFamily="18" charset="0"/>
                      </a:rPr>
                      <m:t>−ℓ</m:t>
                    </m:r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BEC9D1-0105-42F2-9C33-B8EB71E95B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6477000" cy="3124200"/>
              </a:xfrm>
              <a:blipFill>
                <a:blip r:embed="rId2"/>
                <a:stretch>
                  <a:fillRect l="-750" t="-1547" b="-4255"/>
                </a:stretch>
              </a:blipFill>
              <a:ln w="2222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273AAF2-2408-4EBD-9C2F-7635279CFF1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81000" y="4613516"/>
                <a:ext cx="8229600" cy="18634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Initial call:  </a:t>
                </a:r>
                <a:r>
                  <a:rPr lang="en-US" i="1" dirty="0"/>
                  <a:t> </a:t>
                </a:r>
                <a:r>
                  <a:rPr lang="en-US" i="1" dirty="0">
                    <a:solidFill>
                      <a:srgbClr val="0B0E8F"/>
                    </a:solidFill>
                  </a:rPr>
                  <a:t>BST-Select</a:t>
                </a:r>
                <a:r>
                  <a:rPr lang="en-US" i="1" dirty="0"/>
                  <a:t>(</a:t>
                </a:r>
                <a:r>
                  <a:rPr lang="en-US" i="1" dirty="0" err="1"/>
                  <a:t>T.root</a:t>
                </a:r>
                <a:r>
                  <a:rPr lang="en-US" i="1" dirty="0"/>
                  <a:t>, k) </a:t>
                </a:r>
              </a:p>
              <a:p>
                <a:r>
                  <a:rPr lang="en-US" dirty="0"/>
                  <a:t>Time complexity: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h𝑒𝑖𝑔h𝑡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𝑡𝑟𝑒𝑒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If </a:t>
                </a:r>
                <a:r>
                  <a:rPr lang="en-US" i="1" dirty="0"/>
                  <a:t>T</a:t>
                </a:r>
                <a:r>
                  <a:rPr lang="en-US" dirty="0"/>
                  <a:t> is balanced,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273AAF2-2408-4EBD-9C2F-7635279CF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4613516"/>
                <a:ext cx="8229600" cy="1863484"/>
              </a:xfrm>
              <a:prstGeom prst="rect">
                <a:avLst/>
              </a:prstGeom>
              <a:blipFill>
                <a:blip r:embed="rId3"/>
                <a:stretch>
                  <a:fillRect l="-667" t="-2941" b="-294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622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06212-A0EB-4077-ACE9-BAB10DEA4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we done?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07D530-9B4A-4B0B-AB4C-4C36BEE5E19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Need to maintain the augmented information under dynamic changes of the tree! </a:t>
                </a:r>
              </a:p>
              <a:p>
                <a:pPr lvl="1"/>
                <a:r>
                  <a:rPr lang="en-US" dirty="0" err="1"/>
                  <a:t>i.e</a:t>
                </a:r>
                <a:r>
                  <a:rPr lang="en-US" dirty="0"/>
                  <a:t>, under insertions / deletions </a:t>
                </a:r>
              </a:p>
              <a:p>
                <a:pPr lvl="1"/>
                <a:r>
                  <a:rPr lang="en-US" dirty="0"/>
                  <a:t>in this case, just adjusting this size count as we update nodes, or under rotations, and it does not increase asymptotic time complexity of these operations 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Remark:</a:t>
                </a:r>
              </a:p>
              <a:p>
                <a:pPr lvl="1"/>
                <a:r>
                  <a:rPr lang="en-US" dirty="0"/>
                  <a:t>Select() in an sorted array can be done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 time. </a:t>
                </a:r>
              </a:p>
              <a:p>
                <a:pPr lvl="1"/>
                <a:r>
                  <a:rPr lang="en-US" dirty="0"/>
                  <a:t>However, an array does not support dynamic operations (insert/delete) efficiently.  That’s augmented BST is a better data structure in this case.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07D530-9B4A-4B0B-AB4C-4C36BEE5E1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2000" b="-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276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0779D-F0B9-417D-A6CB-30C9EEDA1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27DC2-6513-4A32-A867-D0729412C0A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Simple example of augmenting data structures</a:t>
            </a:r>
          </a:p>
          <a:p>
            <a:r>
              <a:rPr lang="en-US" dirty="0"/>
              <a:t>In general, the augmented information can be quite complicated</a:t>
            </a:r>
          </a:p>
          <a:p>
            <a:pPr lvl="1"/>
            <a:r>
              <a:rPr lang="en-US" dirty="0"/>
              <a:t>Can be a separate data structure! </a:t>
            </a:r>
          </a:p>
          <a:p>
            <a:r>
              <a:rPr lang="en-US" dirty="0"/>
              <a:t>Need to consider how to maintain such information under dynamic changes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4032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76400"/>
            <a:ext cx="8229600" cy="990600"/>
          </a:xfrm>
        </p:spPr>
        <p:txBody>
          <a:bodyPr/>
          <a:lstStyle/>
          <a:p>
            <a:pPr algn="ctr"/>
            <a:r>
              <a:rPr lang="en-US" sz="3600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5370834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50F9E-5F8E-45DD-86D6-BDCC67BC4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In-order tree walk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6FFB5-8D74-452F-AF6F-5BC4242ECA1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524000"/>
          </a:xfrm>
        </p:spPr>
        <p:txBody>
          <a:bodyPr/>
          <a:lstStyle/>
          <a:p>
            <a:r>
              <a:rPr lang="en-US" dirty="0"/>
              <a:t>Tree walk: </a:t>
            </a:r>
          </a:p>
          <a:p>
            <a:pPr lvl="1"/>
            <a:r>
              <a:rPr lang="en-US" dirty="0"/>
              <a:t>refers to having a tool to visit (traverse) all tree nodes</a:t>
            </a:r>
          </a:p>
          <a:p>
            <a:pPr lvl="1"/>
            <a:endParaRPr lang="en-US" dirty="0"/>
          </a:p>
          <a:p>
            <a:r>
              <a:rPr lang="en-US" dirty="0"/>
              <a:t>Intuitively:	</a:t>
            </a:r>
          </a:p>
          <a:p>
            <a:pPr lvl="1"/>
            <a:r>
              <a:rPr lang="en-US" dirty="0"/>
              <a:t>we can start from the root, and visit all tree nodes by following children pointers</a:t>
            </a:r>
          </a:p>
          <a:p>
            <a:pPr lvl="1"/>
            <a:r>
              <a:rPr lang="en-US" dirty="0"/>
              <a:t>how to do this systematically?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C77E8EB-216D-46FB-AAED-DD5BD00775CA}"/>
              </a:ext>
            </a:extLst>
          </p:cNvPr>
          <p:cNvGrpSpPr/>
          <p:nvPr/>
        </p:nvGrpSpPr>
        <p:grpSpPr>
          <a:xfrm>
            <a:off x="5257800" y="3581400"/>
            <a:ext cx="3086100" cy="2590800"/>
            <a:chOff x="1447800" y="2659380"/>
            <a:chExt cx="3086100" cy="2590800"/>
          </a:xfrm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2E692AC3-00B0-4722-A10F-FEDDE7769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3</a:t>
              </a:r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061D920F-A2FB-47B3-B7B1-222E88A95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7278" y="4740691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7</a:t>
              </a: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E5C26E92-63EF-4980-94C5-E91B9B0B2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26593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6</a:t>
              </a:r>
            </a:p>
          </p:txBody>
        </p:sp>
        <p:sp>
          <p:nvSpPr>
            <p:cNvPr id="8" name="Oval 9">
              <a:extLst>
                <a:ext uri="{FF2B5EF4-FFF2-40B4-BE49-F238E27FC236}">
                  <a16:creationId xmlns:a16="http://schemas.microsoft.com/office/drawing/2014/main" id="{4F53DE14-68EB-44B4-AD92-34A88074C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4792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4</a:t>
              </a:r>
            </a:p>
          </p:txBody>
        </p:sp>
        <p:sp>
          <p:nvSpPr>
            <p:cNvPr id="9" name="Oval 10">
              <a:extLst>
                <a:ext uri="{FF2B5EF4-FFF2-40B4-BE49-F238E27FC236}">
                  <a16:creationId xmlns:a16="http://schemas.microsoft.com/office/drawing/2014/main" id="{8D74ABEA-B311-4BEE-BDD6-05B624558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8</a:t>
              </a:r>
            </a:p>
          </p:txBody>
        </p:sp>
        <p:sp>
          <p:nvSpPr>
            <p:cNvPr id="10" name="Oval 12">
              <a:extLst>
                <a:ext uri="{FF2B5EF4-FFF2-40B4-BE49-F238E27FC236}">
                  <a16:creationId xmlns:a16="http://schemas.microsoft.com/office/drawing/2014/main" id="{DAE51E13-2D8C-43CD-B574-2B02D5DD9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6700" y="47167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9</a:t>
              </a:r>
            </a:p>
          </p:txBody>
        </p:sp>
        <p:sp>
          <p:nvSpPr>
            <p:cNvPr id="11" name="Line 16">
              <a:extLst>
                <a:ext uri="{FF2B5EF4-FFF2-40B4-BE49-F238E27FC236}">
                  <a16:creationId xmlns:a16="http://schemas.microsoft.com/office/drawing/2014/main" id="{D254E65A-8EBE-48DA-87A5-DF301BA93A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5000" y="3116580"/>
              <a:ext cx="5334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7">
              <a:extLst>
                <a:ext uri="{FF2B5EF4-FFF2-40B4-BE49-F238E27FC236}">
                  <a16:creationId xmlns:a16="http://schemas.microsoft.com/office/drawing/2014/main" id="{9921726D-C2C3-4522-8AD5-4E40C0D192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50324" y="4131090"/>
              <a:ext cx="304800" cy="6618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8">
              <a:extLst>
                <a:ext uri="{FF2B5EF4-FFF2-40B4-BE49-F238E27FC236}">
                  <a16:creationId xmlns:a16="http://schemas.microsoft.com/office/drawing/2014/main" id="{55B6FE6E-136C-40D1-BA5A-0025D2531A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8800" y="4107180"/>
              <a:ext cx="3048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9">
              <a:extLst>
                <a:ext uri="{FF2B5EF4-FFF2-40B4-BE49-F238E27FC236}">
                  <a16:creationId xmlns:a16="http://schemas.microsoft.com/office/drawing/2014/main" id="{1DF84BD5-817A-4DC9-93B0-D0BBD65C13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800" y="311658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20">
              <a:extLst>
                <a:ext uri="{FF2B5EF4-FFF2-40B4-BE49-F238E27FC236}">
                  <a16:creationId xmlns:a16="http://schemas.microsoft.com/office/drawing/2014/main" id="{B6E0677D-5AAE-4523-9069-DB84F9A02C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0" y="4107180"/>
              <a:ext cx="228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1125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F185D-B69E-4F9F-A12C-7B97774B5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In-order tree walk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36EAE-23BE-4878-89BB-AC948D8D90B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3793182"/>
            <a:ext cx="8229600" cy="2363777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D3F9154-3D48-47E8-A6E4-833A56D0A7A7}"/>
              </a:ext>
            </a:extLst>
          </p:cNvPr>
          <p:cNvGrpSpPr/>
          <p:nvPr/>
        </p:nvGrpSpPr>
        <p:grpSpPr>
          <a:xfrm>
            <a:off x="5257800" y="3581400"/>
            <a:ext cx="3086100" cy="2590800"/>
            <a:chOff x="1447800" y="2659380"/>
            <a:chExt cx="3086100" cy="2590800"/>
          </a:xfrm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2228F6E6-3FAF-4B44-9808-771E94971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3</a:t>
              </a:r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C3FDF3CD-9733-4F11-AAF4-2FA97BD28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7278" y="4740691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7</a:t>
              </a: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51FC4763-33B0-4662-838F-B5FB0FF0F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26593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6</a:t>
              </a:r>
            </a:p>
          </p:txBody>
        </p:sp>
        <p:sp>
          <p:nvSpPr>
            <p:cNvPr id="8" name="Oval 9">
              <a:extLst>
                <a:ext uri="{FF2B5EF4-FFF2-40B4-BE49-F238E27FC236}">
                  <a16:creationId xmlns:a16="http://schemas.microsoft.com/office/drawing/2014/main" id="{2E9C26CB-5EF4-41DC-9708-276ADEADA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4792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/>
                <a:t>4</a:t>
              </a:r>
            </a:p>
          </p:txBody>
        </p:sp>
        <p:sp>
          <p:nvSpPr>
            <p:cNvPr id="9" name="Oval 10">
              <a:extLst>
                <a:ext uri="{FF2B5EF4-FFF2-40B4-BE49-F238E27FC236}">
                  <a16:creationId xmlns:a16="http://schemas.microsoft.com/office/drawing/2014/main" id="{EF502406-97FB-4229-A555-0DECBB01A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36499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8</a:t>
              </a:r>
            </a:p>
          </p:txBody>
        </p:sp>
        <p:sp>
          <p:nvSpPr>
            <p:cNvPr id="10" name="Oval 12">
              <a:extLst>
                <a:ext uri="{FF2B5EF4-FFF2-40B4-BE49-F238E27FC236}">
                  <a16:creationId xmlns:a16="http://schemas.microsoft.com/office/drawing/2014/main" id="{21E14B7F-F1C6-4BAA-9317-91DE0445C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6700" y="4716780"/>
              <a:ext cx="457200" cy="4572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9</a:t>
              </a:r>
            </a:p>
          </p:txBody>
        </p:sp>
        <p:sp>
          <p:nvSpPr>
            <p:cNvPr id="11" name="Line 16">
              <a:extLst>
                <a:ext uri="{FF2B5EF4-FFF2-40B4-BE49-F238E27FC236}">
                  <a16:creationId xmlns:a16="http://schemas.microsoft.com/office/drawing/2014/main" id="{C3588A64-D247-411D-8D91-E2AE9D017A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5000" y="3116580"/>
              <a:ext cx="5334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7">
              <a:extLst>
                <a:ext uri="{FF2B5EF4-FFF2-40B4-BE49-F238E27FC236}">
                  <a16:creationId xmlns:a16="http://schemas.microsoft.com/office/drawing/2014/main" id="{B4233BC9-170A-4529-B0F6-A028F4F8FF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50324" y="4131090"/>
              <a:ext cx="304800" cy="6618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8">
              <a:extLst>
                <a:ext uri="{FF2B5EF4-FFF2-40B4-BE49-F238E27FC236}">
                  <a16:creationId xmlns:a16="http://schemas.microsoft.com/office/drawing/2014/main" id="{CF60D271-E4F9-4C9F-AB53-676D4AFEA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8800" y="4107180"/>
              <a:ext cx="3048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9">
              <a:extLst>
                <a:ext uri="{FF2B5EF4-FFF2-40B4-BE49-F238E27FC236}">
                  <a16:creationId xmlns:a16="http://schemas.microsoft.com/office/drawing/2014/main" id="{39EB9A45-520D-429D-87D9-34F41F78F2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800" y="311658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20">
              <a:extLst>
                <a:ext uri="{FF2B5EF4-FFF2-40B4-BE49-F238E27FC236}">
                  <a16:creationId xmlns:a16="http://schemas.microsoft.com/office/drawing/2014/main" id="{72A62684-F2A6-4318-9A32-289C94010A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0" y="4107180"/>
              <a:ext cx="228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4937B4A7-7E6D-486F-A59E-AA69A564E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878" y="1259928"/>
            <a:ext cx="4724400" cy="2362200"/>
          </a:xfrm>
          <a:prstGeom prst="rect">
            <a:avLst/>
          </a:prstGeom>
          <a:ln w="222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38540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F185D-B69E-4F9F-A12C-7B97774B5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In-order tree walk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836EAE-23BE-4878-89BB-AC948D8D90B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3793182"/>
                <a:ext cx="8229600" cy="2363777"/>
              </a:xfrm>
            </p:spPr>
            <p:txBody>
              <a:bodyPr/>
              <a:lstStyle/>
              <a:p>
                <a:r>
                  <a:rPr lang="en-US" dirty="0"/>
                  <a:t>Time complexity</a:t>
                </a:r>
              </a:p>
              <a:p>
                <a:pPr lvl="1"/>
                <a:r>
                  <a:rPr lang="en-US" dirty="0"/>
                  <a:t>Other than recursive calls, lines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1−5</m:t>
                    </m:r>
                  </m:oMath>
                </a14:m>
                <a:r>
                  <a:rPr lang="en-US" dirty="0"/>
                  <a:t>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836EAE-23BE-4878-89BB-AC948D8D90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3793182"/>
                <a:ext cx="8229600" cy="2363777"/>
              </a:xfrm>
              <a:blipFill>
                <a:blip r:embed="rId3"/>
                <a:stretch>
                  <a:fillRect l="-667" t="-2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4937B4A7-7E6D-486F-A59E-AA69A564E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878" y="1259928"/>
            <a:ext cx="4724400" cy="2362200"/>
          </a:xfrm>
          <a:prstGeom prst="rect">
            <a:avLst/>
          </a:prstGeom>
          <a:ln w="222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79290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YUSU@WQEIJCNFUVWXY5M7" val="3343"/>
  <p:tag name="FIRSTYUSU@YOW8PJOFUVWXY5L9" val="3347"/>
  <p:tag name="DEFAULTDISPLAYSOURCE" val="\documentclass{article}\pagestyle{empty}&#10;\begin{document}&#10;&#10;\end{document}&#10;"/>
  <p:tag name="EMBEDFONTS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20045</TotalTime>
  <Words>2544</Words>
  <Application>Microsoft Office PowerPoint</Application>
  <PresentationFormat>On-screen Show (4:3)</PresentationFormat>
  <Paragraphs>558</Paragraphs>
  <Slides>47</Slides>
  <Notes>8</Notes>
  <HiddenSlides>3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47</vt:i4>
      </vt:variant>
    </vt:vector>
  </HeadingPairs>
  <TitlesOfParts>
    <vt:vector size="59" baseType="lpstr">
      <vt:lpstr>Bookman Old Style</vt:lpstr>
      <vt:lpstr>Calibri Light</vt:lpstr>
      <vt:lpstr>Times</vt:lpstr>
      <vt:lpstr>Wingdings</vt:lpstr>
      <vt:lpstr>Cambria Math</vt:lpstr>
      <vt:lpstr>Gill Sans MT</vt:lpstr>
      <vt:lpstr>Wingdings 3</vt:lpstr>
      <vt:lpstr>Arial</vt:lpstr>
      <vt:lpstr>Calibri</vt:lpstr>
      <vt:lpstr>Origin</vt:lpstr>
      <vt:lpstr>1_Custom Design</vt:lpstr>
      <vt:lpstr>Custom Design</vt:lpstr>
      <vt:lpstr>DSC40B: Theoretical Foundations of Data Science II </vt:lpstr>
      <vt:lpstr>Set operations</vt:lpstr>
      <vt:lpstr>Today</vt:lpstr>
      <vt:lpstr>What is binary search tree? </vt:lpstr>
      <vt:lpstr>Binary tree  </vt:lpstr>
      <vt:lpstr>Example</vt:lpstr>
      <vt:lpstr>Binary tree </vt:lpstr>
      <vt:lpstr>Binary search tree (BST) </vt:lpstr>
      <vt:lpstr>Example</vt:lpstr>
      <vt:lpstr>Example</vt:lpstr>
      <vt:lpstr>Properties</vt:lpstr>
      <vt:lpstr>Properties</vt:lpstr>
      <vt:lpstr>Operations in BST </vt:lpstr>
      <vt:lpstr>Search operation</vt:lpstr>
      <vt:lpstr>Tree-search algorithm, recursive version</vt:lpstr>
      <vt:lpstr>Tree-search algorithm, recursive version</vt:lpstr>
      <vt:lpstr>Tree-search algorithm, recursive version</vt:lpstr>
      <vt:lpstr>Tree-search: iterative version</vt:lpstr>
      <vt:lpstr>Minimum / Maximum</vt:lpstr>
      <vt:lpstr>Minimum / Maximum</vt:lpstr>
      <vt:lpstr>Minimum / Maximum</vt:lpstr>
      <vt:lpstr>Tree-insert </vt:lpstr>
      <vt:lpstr>Examples</vt:lpstr>
      <vt:lpstr>Tree-insert </vt:lpstr>
      <vt:lpstr>Tree-insert </vt:lpstr>
      <vt:lpstr>Summary</vt:lpstr>
      <vt:lpstr>Balanced binary search tree</vt:lpstr>
      <vt:lpstr>Good tree </vt:lpstr>
      <vt:lpstr>Bad Tree</vt:lpstr>
      <vt:lpstr>Balanced binary search tree</vt:lpstr>
      <vt:lpstr>Rotation operation</vt:lpstr>
      <vt:lpstr>With balanced BST </vt:lpstr>
      <vt:lpstr>Select queries augmenting data structure </vt:lpstr>
      <vt:lpstr>PowerPoint Presentation</vt:lpstr>
      <vt:lpstr>In particular, </vt:lpstr>
      <vt:lpstr>How do we augment a BST T? </vt:lpstr>
      <vt:lpstr>An example </vt:lpstr>
      <vt:lpstr>How to setup size information? </vt:lpstr>
      <vt:lpstr>How to perform select with aug-BST? </vt:lpstr>
      <vt:lpstr>PowerPoint Presentation</vt:lpstr>
      <vt:lpstr>PowerPoint Presentation</vt:lpstr>
      <vt:lpstr>Are we done? </vt:lpstr>
      <vt:lpstr>Summary </vt:lpstr>
      <vt:lpstr>FIN</vt:lpstr>
      <vt:lpstr>In-order tree walk</vt:lpstr>
      <vt:lpstr>In-order tree walk</vt:lpstr>
      <vt:lpstr>In-order tree walk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wang, yusu</dc:creator>
  <cp:lastModifiedBy>enid wang</cp:lastModifiedBy>
  <cp:revision>1295</cp:revision>
  <dcterms:created xsi:type="dcterms:W3CDTF">2006-08-16T00:00:00Z</dcterms:created>
  <dcterms:modified xsi:type="dcterms:W3CDTF">2021-01-25T05:32:22Z</dcterms:modified>
</cp:coreProperties>
</file>