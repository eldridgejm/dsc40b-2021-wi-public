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41"/>
  </p:notesMasterIdLst>
  <p:sldIdLst>
    <p:sldId id="256" r:id="rId4"/>
    <p:sldId id="779" r:id="rId5"/>
    <p:sldId id="785" r:id="rId6"/>
    <p:sldId id="812" r:id="rId7"/>
    <p:sldId id="819" r:id="rId8"/>
    <p:sldId id="813" r:id="rId9"/>
    <p:sldId id="814" r:id="rId10"/>
    <p:sldId id="820" r:id="rId11"/>
    <p:sldId id="815" r:id="rId12"/>
    <p:sldId id="816" r:id="rId13"/>
    <p:sldId id="811" r:id="rId14"/>
    <p:sldId id="821" r:id="rId15"/>
    <p:sldId id="822" r:id="rId16"/>
    <p:sldId id="823" r:id="rId17"/>
    <p:sldId id="824" r:id="rId18"/>
    <p:sldId id="818" r:id="rId19"/>
    <p:sldId id="825" r:id="rId20"/>
    <p:sldId id="827" r:id="rId21"/>
    <p:sldId id="828" r:id="rId22"/>
    <p:sldId id="829" r:id="rId23"/>
    <p:sldId id="830" r:id="rId24"/>
    <p:sldId id="831" r:id="rId25"/>
    <p:sldId id="832" r:id="rId26"/>
    <p:sldId id="896" r:id="rId27"/>
    <p:sldId id="833" r:id="rId28"/>
    <p:sldId id="835" r:id="rId29"/>
    <p:sldId id="836" r:id="rId30"/>
    <p:sldId id="834" r:id="rId31"/>
    <p:sldId id="888" r:id="rId32"/>
    <p:sldId id="889" r:id="rId33"/>
    <p:sldId id="890" r:id="rId34"/>
    <p:sldId id="891" r:id="rId35"/>
    <p:sldId id="893" r:id="rId36"/>
    <p:sldId id="894" r:id="rId37"/>
    <p:sldId id="895" r:id="rId38"/>
    <p:sldId id="892" r:id="rId39"/>
    <p:sldId id="826" r:id="rId40"/>
  </p:sldIdLst>
  <p:sldSz cx="9144000" cy="6858000" type="screen4x3"/>
  <p:notesSz cx="6858000" cy="9144000"/>
  <p:embeddedFontLst>
    <p:embeddedFont>
      <p:font typeface="Arial Nova Cond" panose="020B0506020202020204" pitchFamily="34" charset="0"/>
      <p:regular r:id="rId42"/>
      <p:bold r:id="rId43"/>
      <p:italic r:id="rId44"/>
      <p:boldItalic r:id="rId45"/>
    </p:embeddedFont>
    <p:embeddedFont>
      <p:font typeface="Bookman Old Style" panose="02050604050505020204" pitchFamily="18" charset="0"/>
      <p:regular r:id="rId46"/>
      <p:bold r:id="rId47"/>
      <p:italic r:id="rId48"/>
      <p:boldItalic r:id="rId49"/>
    </p:embeddedFont>
    <p:embeddedFont>
      <p:font typeface="Calibri" panose="020F0502020204030204" pitchFamily="34" charset="0"/>
      <p:regular r:id="rId50"/>
      <p:bold r:id="rId51"/>
      <p:italic r:id="rId52"/>
      <p:boldItalic r:id="rId53"/>
    </p:embeddedFont>
    <p:embeddedFont>
      <p:font typeface="Calibri Light" panose="020F0302020204030204" pitchFamily="34" charset="0"/>
      <p:regular r:id="rId54"/>
      <p:italic r:id="rId55"/>
    </p:embeddedFont>
    <p:embeddedFont>
      <p:font typeface="Cambria Math" panose="02040503050406030204" pitchFamily="18" charset="0"/>
      <p:regular r:id="rId56"/>
    </p:embeddedFont>
    <p:embeddedFont>
      <p:font typeface="Gill Sans MT" panose="020B0502020104020203" pitchFamily="34" charset="0"/>
      <p:regular r:id="rId57"/>
      <p:bold r:id="rId58"/>
      <p:italic r:id="rId59"/>
      <p:boldItalic r:id="rId60"/>
    </p:embeddedFont>
    <p:embeddedFont>
      <p:font typeface="Segoe UI Semibold" panose="020B0702040204020203" pitchFamily="34" charset="0"/>
      <p:bold r:id="rId61"/>
      <p:boldItalic r:id="rId62"/>
    </p:embeddedFont>
    <p:embeddedFont>
      <p:font typeface="Wingdings 3" panose="05040102010807070707" pitchFamily="18" charset="2"/>
      <p:regular r:id="rId63"/>
    </p:embeddedFont>
  </p:embeddedFontLst>
  <p:custDataLst>
    <p:tags r:id="rId64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0B0E8F"/>
    <a:srgbClr val="FF9900"/>
    <a:srgbClr val="FFFFCC"/>
    <a:srgbClr val="46464C"/>
    <a:srgbClr val="6E7792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3792" autoAdjust="0"/>
  </p:normalViewPr>
  <p:slideViewPr>
    <p:cSldViewPr>
      <p:cViewPr varScale="1">
        <p:scale>
          <a:sx n="62" d="100"/>
          <a:sy n="62" d="100"/>
        </p:scale>
        <p:origin x="656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0" Type="http://schemas.openxmlformats.org/officeDocument/2006/relationships/font" Target="fonts/font9.fntdata"/><Relationship Id="rId55" Type="http://schemas.openxmlformats.org/officeDocument/2006/relationships/font" Target="fonts/font14.fntdata"/><Relationship Id="rId63" Type="http://schemas.openxmlformats.org/officeDocument/2006/relationships/font" Target="fonts/font22.fntdata"/><Relationship Id="rId68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font" Target="fonts/font4.fntdata"/><Relationship Id="rId53" Type="http://schemas.openxmlformats.org/officeDocument/2006/relationships/font" Target="fonts/font12.fntdata"/><Relationship Id="rId58" Type="http://schemas.openxmlformats.org/officeDocument/2006/relationships/font" Target="fonts/font17.fntdata"/><Relationship Id="rId66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font" Target="fonts/font20.fntdata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56" Type="http://schemas.openxmlformats.org/officeDocument/2006/relationships/font" Target="fonts/font15.fntdata"/><Relationship Id="rId64" Type="http://schemas.openxmlformats.org/officeDocument/2006/relationships/tags" Target="tags/tag1.xml"/><Relationship Id="rId8" Type="http://schemas.openxmlformats.org/officeDocument/2006/relationships/slide" Target="slides/slide5.xml"/><Relationship Id="rId51" Type="http://schemas.openxmlformats.org/officeDocument/2006/relationships/font" Target="fonts/font10.fntdata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font" Target="fonts/font5.fntdata"/><Relationship Id="rId59" Type="http://schemas.openxmlformats.org/officeDocument/2006/relationships/font" Target="fonts/font18.fntdata"/><Relationship Id="rId67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notesMaster" Target="notesMasters/notesMaster1.xml"/><Relationship Id="rId54" Type="http://schemas.openxmlformats.org/officeDocument/2006/relationships/font" Target="fonts/font13.fntdata"/><Relationship Id="rId62" Type="http://schemas.openxmlformats.org/officeDocument/2006/relationships/font" Target="fonts/font2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font" Target="fonts/font8.fntdata"/><Relationship Id="rId57" Type="http://schemas.openxmlformats.org/officeDocument/2006/relationships/font" Target="fonts/font16.fntdata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font" Target="fonts/font3.fntdata"/><Relationship Id="rId52" Type="http://schemas.openxmlformats.org/officeDocument/2006/relationships/font" Target="fonts/font11.fntdata"/><Relationship Id="rId60" Type="http://schemas.openxmlformats.org/officeDocument/2006/relationships/font" Target="fonts/font19.fntdata"/><Relationship Id="rId65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3/1/2021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3/1/2021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3/1/2021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3/1/2021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3/1/2021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3/1/2021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3/1/2021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3/1/2021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3/1/2021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246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38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1219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62400"/>
            <a:ext cx="6858000" cy="1885950"/>
          </a:xfrm>
        </p:spPr>
        <p:txBody>
          <a:bodyPr>
            <a:normAutofit fontScale="92500"/>
          </a:bodyPr>
          <a:lstStyle/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Lecture 16:   </a:t>
            </a:r>
            <a:r>
              <a:rPr lang="en-US" sz="2800" i="1" dirty="0"/>
              <a:t>Minimum Spanning Tree, properties, and general greedy algorithms</a:t>
            </a:r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Previously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94781-9569-4BCE-B3A3-2C8EB0F996B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Given directed or undirected graphs</a:t>
            </a:r>
          </a:p>
          <a:p>
            <a:pPr lvl="1"/>
            <a:r>
              <a:rPr lang="en-US" dirty="0"/>
              <a:t>Graph search / traversal strategies (DFS / BFS)</a:t>
            </a:r>
          </a:p>
          <a:p>
            <a:pPr lvl="1"/>
            <a:r>
              <a:rPr lang="en-US" dirty="0"/>
              <a:t>Single source shortest paths in weighted graphs </a:t>
            </a:r>
          </a:p>
          <a:p>
            <a:pPr lvl="2"/>
            <a:r>
              <a:rPr lang="en-US" dirty="0"/>
              <a:t>Bellman-Ford algorithm for general graphs </a:t>
            </a:r>
          </a:p>
          <a:p>
            <a:pPr lvl="2"/>
            <a:r>
              <a:rPr lang="en-US" dirty="0"/>
              <a:t>Dijkstra algorithm for graphs with positive edge weights 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r>
              <a:rPr lang="en-US" dirty="0"/>
              <a:t>Today: </a:t>
            </a:r>
          </a:p>
          <a:p>
            <a:pPr lvl="1"/>
            <a:r>
              <a:rPr lang="en-US" dirty="0"/>
              <a:t>Computing a </a:t>
            </a:r>
            <a:r>
              <a:rPr lang="en-US" dirty="0">
                <a:solidFill>
                  <a:srgbClr val="0070C0"/>
                </a:solidFill>
              </a:rPr>
              <a:t>minimum spanning tree</a:t>
            </a:r>
            <a:r>
              <a:rPr lang="en-US" dirty="0"/>
              <a:t> (</a:t>
            </a:r>
            <a:r>
              <a:rPr lang="en-US" dirty="0">
                <a:solidFill>
                  <a:srgbClr val="0070C0"/>
                </a:solidFill>
              </a:rPr>
              <a:t>MST</a:t>
            </a:r>
            <a:r>
              <a:rPr lang="en-US" dirty="0"/>
              <a:t>) of </a:t>
            </a:r>
            <a:r>
              <a:rPr lang="en-US" dirty="0">
                <a:solidFill>
                  <a:srgbClr val="C00000"/>
                </a:solidFill>
              </a:rPr>
              <a:t>an undirected graph </a:t>
            </a:r>
          </a:p>
        </p:txBody>
      </p:sp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Trees, spanning trees, and minimum spanning tree 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CFEB4-B1BE-49D2-B3AD-40D59C066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CDD15A-FAD1-4CF4-9358-32E9357B9CD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447800"/>
              </a:xfrm>
            </p:spPr>
            <p:txBody>
              <a:bodyPr/>
              <a:lstStyle/>
              <a:p>
                <a:r>
                  <a:rPr lang="en-US" dirty="0"/>
                  <a:t>An undirected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b="0" dirty="0"/>
                  <a:t> is a </a:t>
                </a:r>
                <a:r>
                  <a:rPr lang="en-US" dirty="0">
                    <a:solidFill>
                      <a:srgbClr val="0070C0"/>
                    </a:solidFill>
                  </a:rPr>
                  <a:t>tree </a:t>
                </a:r>
                <a:r>
                  <a:rPr lang="en-US" dirty="0"/>
                  <a:t>if and only if</a:t>
                </a:r>
                <a:endParaRPr lang="en-US" b="0" dirty="0"/>
              </a:p>
              <a:p>
                <a:pPr lvl="1"/>
                <a:r>
                  <a:rPr lang="en-US" dirty="0"/>
                  <a:t>(</a:t>
                </a:r>
                <a:r>
                  <a:rPr lang="en-US" dirty="0" err="1"/>
                  <a:t>i</a:t>
                </a:r>
                <a:r>
                  <a:rPr lang="en-US" dirty="0"/>
                  <a:t>) it is connected; and </a:t>
                </a:r>
              </a:p>
              <a:p>
                <a:pPr lvl="1"/>
                <a:r>
                  <a:rPr lang="en-US" dirty="0"/>
                  <a:t>(ii) i</a:t>
                </a:r>
                <a:r>
                  <a:rPr lang="en-US" b="0" dirty="0"/>
                  <a:t>t is acyclic (i.e</a:t>
                </a:r>
                <a:r>
                  <a:rPr lang="en-US" dirty="0"/>
                  <a:t>., </a:t>
                </a:r>
                <a:r>
                  <a:rPr lang="en-US" b="0" dirty="0"/>
                  <a:t>does not contain any cycle) </a:t>
                </a:r>
              </a:p>
              <a:p>
                <a:pPr lvl="1"/>
                <a:endParaRPr lang="en-US" dirty="0"/>
              </a:p>
              <a:p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CDD15A-FAD1-4CF4-9358-32E9357B9C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447800"/>
              </a:xfrm>
              <a:blipFill>
                <a:blip r:embed="rId2"/>
                <a:stretch>
                  <a:fillRect l="-667" t="-3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87AED86-A139-4A1D-B011-CBD1518E674C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4572" y="2895600"/>
                <a:ext cx="8229600" cy="10668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latin typeface="Arial Nova Cond" panose="020B0506020202020204" pitchFamily="34" charset="0"/>
                    <a:cs typeface="Arial" panose="020B0604020202020204" pitchFamily="34" charset="0"/>
                  </a:rPr>
                  <a:t>Claim [Tree Edges]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b="0" dirty="0"/>
                  <a:t> </a:t>
                </a:r>
                <a:r>
                  <a:rPr lang="en-US" dirty="0"/>
                  <a:t>is a tree, then we have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87AED86-A139-4A1D-B011-CBD1518E67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572" y="2895600"/>
                <a:ext cx="8229600" cy="1066800"/>
              </a:xfrm>
              <a:prstGeom prst="rect">
                <a:avLst/>
              </a:prstGeom>
              <a:blipFill>
                <a:blip r:embed="rId3"/>
                <a:stretch>
                  <a:fillRect l="-592" t="-5085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B4B030-19E0-430B-8349-91F09EDCCB15}"/>
              </a:ext>
            </a:extLst>
          </p:cNvPr>
          <p:cNvSpPr txBox="1">
            <a:spLocks/>
          </p:cNvSpPr>
          <p:nvPr/>
        </p:nvSpPr>
        <p:spPr bwMode="auto">
          <a:xfrm>
            <a:off x="488731" y="4267200"/>
            <a:ext cx="8229600" cy="236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sz="1000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192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DC03E-FC7A-474F-8072-9E60B9D51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244FAB-C61D-4CB3-B264-DA32F990D26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520658"/>
              </a:xfrm>
            </p:spPr>
            <p:txBody>
              <a:bodyPr/>
              <a:lstStyle/>
              <a:p>
                <a:r>
                  <a:rPr lang="en-US" dirty="0"/>
                  <a:t>Alternative definition: </a:t>
                </a:r>
              </a:p>
              <a:p>
                <a:pPr lvl="1"/>
                <a:r>
                  <a:rPr lang="en-US" dirty="0"/>
                  <a:t>An undirected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is a </a:t>
                </a:r>
                <a:r>
                  <a:rPr lang="en-US" dirty="0">
                    <a:solidFill>
                      <a:srgbClr val="0070C0"/>
                    </a:solidFill>
                  </a:rPr>
                  <a:t>tree</a:t>
                </a:r>
                <a:r>
                  <a:rPr lang="en-US" dirty="0"/>
                  <a:t> if and only if that (</a:t>
                </a:r>
                <a:r>
                  <a:rPr lang="en-US" dirty="0" err="1"/>
                  <a:t>i</a:t>
                </a:r>
                <a:r>
                  <a:rPr lang="en-US" dirty="0"/>
                  <a:t>) it is connected; and (ii)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244FAB-C61D-4CB3-B264-DA32F990D2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520658"/>
              </a:xfrm>
              <a:blipFill>
                <a:blip r:embed="rId2"/>
                <a:stretch>
                  <a:fillRect l="-667" t="-3614" r="-1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A047D2FF-B07E-48A5-9E4F-5E5F85C453F2}"/>
              </a:ext>
            </a:extLst>
          </p:cNvPr>
          <p:cNvGrpSpPr/>
          <p:nvPr/>
        </p:nvGrpSpPr>
        <p:grpSpPr>
          <a:xfrm>
            <a:off x="347249" y="3048000"/>
            <a:ext cx="2014554" cy="2119601"/>
            <a:chOff x="347249" y="3287970"/>
            <a:chExt cx="2014554" cy="21196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D3518D7-3767-4F0C-A0CF-D92E692E8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7249" y="3878316"/>
              <a:ext cx="2014554" cy="1529255"/>
            </a:xfrm>
            <a:prstGeom prst="rect">
              <a:avLst/>
            </a:prstGeom>
            <a:ln>
              <a:solidFill>
                <a:schemeClr val="accent1">
                  <a:shade val="50000"/>
                </a:schemeClr>
              </a:solidFill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29D5BC6-C701-4F8E-AD6E-F4CF5A90E9EF}"/>
                </a:ext>
              </a:extLst>
            </p:cNvPr>
            <p:cNvSpPr txBox="1"/>
            <p:nvPr/>
          </p:nvSpPr>
          <p:spPr>
            <a:xfrm>
              <a:off x="554426" y="3287970"/>
              <a:ext cx="16002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0B050"/>
                  </a:solidFill>
                </a:rPr>
                <a:t>A tree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8024FA7-A1F6-4088-9AD7-248AF603590B}"/>
              </a:ext>
            </a:extLst>
          </p:cNvPr>
          <p:cNvGrpSpPr/>
          <p:nvPr/>
        </p:nvGrpSpPr>
        <p:grpSpPr>
          <a:xfrm>
            <a:off x="2667001" y="3090846"/>
            <a:ext cx="1905000" cy="2068158"/>
            <a:chOff x="2667001" y="3330816"/>
            <a:chExt cx="1905000" cy="20681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32638-70BB-47F9-88E9-EAD5F1B91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67001" y="3878316"/>
              <a:ext cx="1905000" cy="1520658"/>
            </a:xfrm>
            <a:prstGeom prst="rect">
              <a:avLst/>
            </a:prstGeom>
            <a:ln>
              <a:solidFill>
                <a:schemeClr val="accent1">
                  <a:shade val="50000"/>
                </a:schemeClr>
              </a:solidFill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29A126A-C893-4CC0-8330-46E5136317B1}"/>
                </a:ext>
              </a:extLst>
            </p:cNvPr>
            <p:cNvSpPr txBox="1"/>
            <p:nvPr/>
          </p:nvSpPr>
          <p:spPr>
            <a:xfrm>
              <a:off x="2667001" y="3330816"/>
              <a:ext cx="16002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0B050"/>
                  </a:solidFill>
                </a:rPr>
                <a:t>A tree</a:t>
              </a: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2B19DA4C-EE43-4640-A5F0-C37A529FF8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958" y="3638346"/>
            <a:ext cx="1856549" cy="1529255"/>
          </a:xfrm>
          <a:prstGeom prst="rect">
            <a:avLst/>
          </a:prstGeom>
          <a:ln>
            <a:solidFill>
              <a:schemeClr val="accent1">
                <a:shade val="50000"/>
              </a:schemeClr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B97CA31-1502-4D2E-87A4-E69339E299CA}"/>
              </a:ext>
            </a:extLst>
          </p:cNvPr>
          <p:cNvSpPr txBox="1"/>
          <p:nvPr/>
        </p:nvSpPr>
        <p:spPr>
          <a:xfrm>
            <a:off x="4876800" y="3090846"/>
            <a:ext cx="1600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700000"/>
                </a:solidFill>
              </a:rPr>
              <a:t>NOT a tree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22E6EF9-F89A-4622-8F1B-B1D5E185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7481" y="3638345"/>
            <a:ext cx="1920064" cy="1529255"/>
          </a:xfrm>
          <a:prstGeom prst="rect">
            <a:avLst/>
          </a:prstGeom>
          <a:ln>
            <a:solidFill>
              <a:schemeClr val="accent1">
                <a:shade val="50000"/>
              </a:schemeClr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E03511-C5A8-4F0D-8F66-D93A20933547}"/>
              </a:ext>
            </a:extLst>
          </p:cNvPr>
          <p:cNvSpPr txBox="1"/>
          <p:nvPr/>
        </p:nvSpPr>
        <p:spPr>
          <a:xfrm>
            <a:off x="6989374" y="3090846"/>
            <a:ext cx="1600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700000"/>
                </a:solidFill>
              </a:rPr>
              <a:t>NOT a tree</a:t>
            </a:r>
          </a:p>
        </p:txBody>
      </p:sp>
    </p:spTree>
    <p:extLst>
      <p:ext uri="{BB962C8B-B14F-4D97-AF65-F5344CB8AC3E}">
        <p14:creationId xmlns:p14="http://schemas.microsoft.com/office/powerpoint/2010/main" val="728338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997A-361C-4379-AB24-CBF7AF1BC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608A8-AC78-40A6-84BC-94649C9F31E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0581"/>
            <a:ext cx="8229600" cy="4937760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BB54A900-FA4B-4CE1-93FF-91F8027EC8B6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33400" y="1219199"/>
                <a:ext cx="8229600" cy="266416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>
                    <a:cs typeface="Arial" panose="020B0604020202020204" pitchFamily="34" charset="0"/>
                  </a:rPr>
                  <a:t>Key properties:  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sz="2000" dirty="0"/>
                  <a:t> is a tree, </a:t>
                </a:r>
              </a:p>
              <a:p>
                <a:pPr lvl="1"/>
                <a:r>
                  <a:rPr lang="en-US" sz="2000" dirty="0"/>
                  <a:t>there is a unique path between any two nodes in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adding any other edge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dirty="0"/>
                  <a:t> will create a unique cycle  containing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sz="2000" dirty="0"/>
              </a:p>
              <a:p>
                <a:pPr lvl="2"/>
                <a:r>
                  <a:rPr lang="en-US" sz="1800" dirty="0"/>
                  <a:t>i.e.,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∪{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/>
                  <a:t> contains a cycle for any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2000" dirty="0"/>
                  <a:t>removing an edge from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dirty="0"/>
                  <a:t> will disconnect it</a:t>
                </a:r>
              </a:p>
              <a:p>
                <a:r>
                  <a:rPr lang="en-US" sz="2300" dirty="0"/>
                  <a:t>Out of all connected graphs on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300" dirty="0"/>
                  <a:t> nodes, a tree has least number (i.e.,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300" dirty="0"/>
                  <a:t>) of edges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BB54A900-FA4B-4CE1-93FF-91F8027EC8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" y="1219199"/>
                <a:ext cx="8229600" cy="2664161"/>
              </a:xfrm>
              <a:prstGeom prst="rect">
                <a:avLst/>
              </a:prstGeom>
              <a:blipFill>
                <a:blip r:embed="rId2"/>
                <a:stretch>
                  <a:fillRect l="-444" t="-1595" r="-74" b="-5239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F4003CCC-B721-478C-8345-2E52032331FE}"/>
              </a:ext>
            </a:extLst>
          </p:cNvPr>
          <p:cNvGrpSpPr/>
          <p:nvPr/>
        </p:nvGrpSpPr>
        <p:grpSpPr>
          <a:xfrm>
            <a:off x="755511" y="4191000"/>
            <a:ext cx="3206889" cy="2133600"/>
            <a:chOff x="755511" y="4267200"/>
            <a:chExt cx="3206889" cy="213360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17DC7AF-7B30-4815-8F66-0C60C30EDE1F}"/>
                </a:ext>
              </a:extLst>
            </p:cNvPr>
            <p:cNvGrpSpPr/>
            <p:nvPr/>
          </p:nvGrpSpPr>
          <p:grpSpPr>
            <a:xfrm>
              <a:off x="1143000" y="4314496"/>
              <a:ext cx="2764221" cy="2039007"/>
              <a:chOff x="2837793" y="4267200"/>
              <a:chExt cx="2764221" cy="203900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0CD826-51A9-4DD9-A0E2-0E009465A110}"/>
                  </a:ext>
                </a:extLst>
              </p:cNvPr>
              <p:cNvSpPr/>
              <p:nvPr/>
            </p:nvSpPr>
            <p:spPr>
              <a:xfrm>
                <a:off x="3216166" y="5822731"/>
                <a:ext cx="73572" cy="483476"/>
              </a:xfrm>
              <a:custGeom>
                <a:avLst/>
                <a:gdLst>
                  <a:gd name="connsiteX0" fmla="*/ 0 w 73572"/>
                  <a:gd name="connsiteY0" fmla="*/ 0 h 483476"/>
                  <a:gd name="connsiteX1" fmla="*/ 73572 w 73572"/>
                  <a:gd name="connsiteY1" fmla="*/ 472966 h 483476"/>
                  <a:gd name="connsiteX2" fmla="*/ 73572 w 73572"/>
                  <a:gd name="connsiteY2" fmla="*/ 472966 h 483476"/>
                  <a:gd name="connsiteX3" fmla="*/ 63062 w 73572"/>
                  <a:gd name="connsiteY3" fmla="*/ 483476 h 483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572" h="483476">
                    <a:moveTo>
                      <a:pt x="0" y="0"/>
                    </a:moveTo>
                    <a:lnTo>
                      <a:pt x="73572" y="472966"/>
                    </a:lnTo>
                    <a:lnTo>
                      <a:pt x="73572" y="472966"/>
                    </a:lnTo>
                    <a:lnTo>
                      <a:pt x="63062" y="48347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89187D93-CFDC-47D7-B829-30A4CE18CA30}"/>
                  </a:ext>
                </a:extLst>
              </p:cNvPr>
              <p:cNvSpPr/>
              <p:nvPr/>
            </p:nvSpPr>
            <p:spPr>
              <a:xfrm>
                <a:off x="3195145" y="5843752"/>
                <a:ext cx="483476" cy="294289"/>
              </a:xfrm>
              <a:custGeom>
                <a:avLst/>
                <a:gdLst>
                  <a:gd name="connsiteX0" fmla="*/ 0 w 483476"/>
                  <a:gd name="connsiteY0" fmla="*/ 0 h 294289"/>
                  <a:gd name="connsiteX1" fmla="*/ 483476 w 483476"/>
                  <a:gd name="connsiteY1" fmla="*/ 294289 h 294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83476" h="294289">
                    <a:moveTo>
                      <a:pt x="0" y="0"/>
                    </a:moveTo>
                    <a:lnTo>
                      <a:pt x="483476" y="294289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52CF8F3B-2D7A-437D-B8EA-F24C12678518}"/>
                  </a:ext>
                </a:extLst>
              </p:cNvPr>
              <p:cNvSpPr/>
              <p:nvPr/>
            </p:nvSpPr>
            <p:spPr>
              <a:xfrm>
                <a:off x="3594538" y="5297214"/>
                <a:ext cx="241738" cy="346841"/>
              </a:xfrm>
              <a:custGeom>
                <a:avLst/>
                <a:gdLst>
                  <a:gd name="connsiteX0" fmla="*/ 0 w 241738"/>
                  <a:gd name="connsiteY0" fmla="*/ 0 h 346841"/>
                  <a:gd name="connsiteX1" fmla="*/ 241738 w 241738"/>
                  <a:gd name="connsiteY1" fmla="*/ 346841 h 3468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1738" h="346841">
                    <a:moveTo>
                      <a:pt x="0" y="0"/>
                    </a:moveTo>
                    <a:lnTo>
                      <a:pt x="241738" y="34684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FB03474-F1E8-40B5-9888-4D88144D6861}"/>
                  </a:ext>
                </a:extLst>
              </p:cNvPr>
              <p:cNvSpPr/>
              <p:nvPr/>
            </p:nvSpPr>
            <p:spPr>
              <a:xfrm>
                <a:off x="4162097" y="5076497"/>
                <a:ext cx="515006" cy="1187669"/>
              </a:xfrm>
              <a:custGeom>
                <a:avLst/>
                <a:gdLst>
                  <a:gd name="connsiteX0" fmla="*/ 0 w 515006"/>
                  <a:gd name="connsiteY0" fmla="*/ 0 h 1187669"/>
                  <a:gd name="connsiteX1" fmla="*/ 420413 w 515006"/>
                  <a:gd name="connsiteY1" fmla="*/ 399393 h 1187669"/>
                  <a:gd name="connsiteX2" fmla="*/ 515006 w 515006"/>
                  <a:gd name="connsiteY2" fmla="*/ 851337 h 1187669"/>
                  <a:gd name="connsiteX3" fmla="*/ 63062 w 515006"/>
                  <a:gd name="connsiteY3" fmla="*/ 1187669 h 1187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15006" h="1187669">
                    <a:moveTo>
                      <a:pt x="0" y="0"/>
                    </a:moveTo>
                    <a:lnTo>
                      <a:pt x="420413" y="399393"/>
                    </a:lnTo>
                    <a:lnTo>
                      <a:pt x="515006" y="851337"/>
                    </a:lnTo>
                    <a:lnTo>
                      <a:pt x="63062" y="1187669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7ABAAFD-5972-4859-8B57-B8BD6DF5C7AA}"/>
                  </a:ext>
                </a:extLst>
              </p:cNvPr>
              <p:cNvSpPr/>
              <p:nvPr/>
            </p:nvSpPr>
            <p:spPr>
              <a:xfrm>
                <a:off x="4603531" y="5465379"/>
                <a:ext cx="998483" cy="472966"/>
              </a:xfrm>
              <a:custGeom>
                <a:avLst/>
                <a:gdLst>
                  <a:gd name="connsiteX0" fmla="*/ 0 w 998483"/>
                  <a:gd name="connsiteY0" fmla="*/ 0 h 472966"/>
                  <a:gd name="connsiteX1" fmla="*/ 599090 w 998483"/>
                  <a:gd name="connsiteY1" fmla="*/ 21021 h 472966"/>
                  <a:gd name="connsiteX2" fmla="*/ 998483 w 998483"/>
                  <a:gd name="connsiteY2" fmla="*/ 472966 h 4729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98483" h="472966">
                    <a:moveTo>
                      <a:pt x="0" y="0"/>
                    </a:moveTo>
                    <a:lnTo>
                      <a:pt x="599090" y="21021"/>
                    </a:lnTo>
                    <a:lnTo>
                      <a:pt x="998483" y="47296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C4CA2F2-510A-4196-9927-3EC3F0167DC0}"/>
                  </a:ext>
                </a:extLst>
              </p:cNvPr>
              <p:cNvSpPr/>
              <p:nvPr/>
            </p:nvSpPr>
            <p:spPr>
              <a:xfrm>
                <a:off x="4687615" y="5938345"/>
                <a:ext cx="441434" cy="304800"/>
              </a:xfrm>
              <a:custGeom>
                <a:avLst/>
                <a:gdLst>
                  <a:gd name="connsiteX0" fmla="*/ 0 w 441434"/>
                  <a:gd name="connsiteY0" fmla="*/ 0 h 304800"/>
                  <a:gd name="connsiteX1" fmla="*/ 441434 w 441434"/>
                  <a:gd name="connsiteY1" fmla="*/ 304800 h 304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41434" h="304800">
                    <a:moveTo>
                      <a:pt x="0" y="0"/>
                    </a:moveTo>
                    <a:lnTo>
                      <a:pt x="441434" y="30480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78A7F887-922E-4554-8FBB-047A1E7C1740}"/>
                  </a:ext>
                </a:extLst>
              </p:cNvPr>
              <p:cNvSpPr/>
              <p:nvPr/>
            </p:nvSpPr>
            <p:spPr>
              <a:xfrm>
                <a:off x="3205655" y="5087007"/>
                <a:ext cx="956442" cy="777765"/>
              </a:xfrm>
              <a:custGeom>
                <a:avLst/>
                <a:gdLst>
                  <a:gd name="connsiteX0" fmla="*/ 956442 w 956442"/>
                  <a:gd name="connsiteY0" fmla="*/ 0 h 777765"/>
                  <a:gd name="connsiteX1" fmla="*/ 409904 w 956442"/>
                  <a:gd name="connsiteY1" fmla="*/ 199696 h 777765"/>
                  <a:gd name="connsiteX2" fmla="*/ 0 w 956442"/>
                  <a:gd name="connsiteY2" fmla="*/ 777765 h 777765"/>
                  <a:gd name="connsiteX3" fmla="*/ 0 w 956442"/>
                  <a:gd name="connsiteY3" fmla="*/ 777765 h 777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6442" h="777765">
                    <a:moveTo>
                      <a:pt x="956442" y="0"/>
                    </a:moveTo>
                    <a:lnTo>
                      <a:pt x="409904" y="199696"/>
                    </a:lnTo>
                    <a:lnTo>
                      <a:pt x="0" y="777765"/>
                    </a:lnTo>
                    <a:lnTo>
                      <a:pt x="0" y="777765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70C48A7-BF71-4325-A78E-CB9D736B883B}"/>
                  </a:ext>
                </a:extLst>
              </p:cNvPr>
              <p:cNvSpPr/>
              <p:nvPr/>
            </p:nvSpPr>
            <p:spPr>
              <a:xfrm>
                <a:off x="2837793" y="5854262"/>
                <a:ext cx="388883" cy="315310"/>
              </a:xfrm>
              <a:custGeom>
                <a:avLst/>
                <a:gdLst>
                  <a:gd name="connsiteX0" fmla="*/ 0 w 388883"/>
                  <a:gd name="connsiteY0" fmla="*/ 315310 h 315310"/>
                  <a:gd name="connsiteX1" fmla="*/ 388883 w 388883"/>
                  <a:gd name="connsiteY1" fmla="*/ 0 h 315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88883" h="315310">
                    <a:moveTo>
                      <a:pt x="0" y="315310"/>
                    </a:moveTo>
                    <a:lnTo>
                      <a:pt x="388883" y="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28415019-B8D1-44B5-94BE-B7C429391087}"/>
                  </a:ext>
                </a:extLst>
              </p:cNvPr>
              <p:cNvSpPr/>
              <p:nvPr/>
            </p:nvSpPr>
            <p:spPr>
              <a:xfrm>
                <a:off x="3647090" y="4550979"/>
                <a:ext cx="536027" cy="546538"/>
              </a:xfrm>
              <a:custGeom>
                <a:avLst/>
                <a:gdLst>
                  <a:gd name="connsiteX0" fmla="*/ 536027 w 536027"/>
                  <a:gd name="connsiteY0" fmla="*/ 546538 h 546538"/>
                  <a:gd name="connsiteX1" fmla="*/ 378372 w 536027"/>
                  <a:gd name="connsiteY1" fmla="*/ 115614 h 546538"/>
                  <a:gd name="connsiteX2" fmla="*/ 0 w 536027"/>
                  <a:gd name="connsiteY2" fmla="*/ 0 h 5465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36027" h="546538">
                    <a:moveTo>
                      <a:pt x="536027" y="546538"/>
                    </a:moveTo>
                    <a:lnTo>
                      <a:pt x="378372" y="115614"/>
                    </a:lnTo>
                    <a:lnTo>
                      <a:pt x="0" y="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7AA87A6F-857E-4099-9D83-CBAD6F0F47B1}"/>
                  </a:ext>
                </a:extLst>
              </p:cNvPr>
              <p:cNvSpPr/>
              <p:nvPr/>
            </p:nvSpPr>
            <p:spPr>
              <a:xfrm>
                <a:off x="4041227" y="4267200"/>
                <a:ext cx="283779" cy="409903"/>
              </a:xfrm>
              <a:custGeom>
                <a:avLst/>
                <a:gdLst>
                  <a:gd name="connsiteX0" fmla="*/ 0 w 283779"/>
                  <a:gd name="connsiteY0" fmla="*/ 409903 h 409903"/>
                  <a:gd name="connsiteX1" fmla="*/ 283779 w 283779"/>
                  <a:gd name="connsiteY1" fmla="*/ 0 h 4099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3779" h="409903">
                    <a:moveTo>
                      <a:pt x="0" y="409903"/>
                    </a:moveTo>
                    <a:lnTo>
                      <a:pt x="283779" y="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84872911-E97D-49A2-9DD4-6B17AC215856}"/>
                  </a:ext>
                </a:extLst>
              </p:cNvPr>
              <p:cNvSpPr/>
              <p:nvPr/>
            </p:nvSpPr>
            <p:spPr>
              <a:xfrm>
                <a:off x="4025462" y="4582510"/>
                <a:ext cx="620110" cy="94593"/>
              </a:xfrm>
              <a:custGeom>
                <a:avLst/>
                <a:gdLst>
                  <a:gd name="connsiteX0" fmla="*/ 0 w 620110"/>
                  <a:gd name="connsiteY0" fmla="*/ 94593 h 94593"/>
                  <a:gd name="connsiteX1" fmla="*/ 620110 w 620110"/>
                  <a:gd name="connsiteY1" fmla="*/ 0 h 94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20110" h="94593">
                    <a:moveTo>
                      <a:pt x="0" y="94593"/>
                    </a:moveTo>
                    <a:lnTo>
                      <a:pt x="620110" y="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40F1586-7630-4512-A814-84101B03D96D}"/>
                    </a:ext>
                  </a:extLst>
                </p:cNvPr>
                <p:cNvSpPr txBox="1"/>
                <p:nvPr/>
              </p:nvSpPr>
              <p:spPr>
                <a:xfrm>
                  <a:off x="755511" y="4470759"/>
                  <a:ext cx="5334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40F1586-7630-4512-A814-84101B03D9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5511" y="4470759"/>
                  <a:ext cx="5334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94B3069-F6E9-4595-B349-D00F521BFD5A}"/>
                </a:ext>
              </a:extLst>
            </p:cNvPr>
            <p:cNvSpPr/>
            <p:nvPr/>
          </p:nvSpPr>
          <p:spPr>
            <a:xfrm>
              <a:off x="2286000" y="4654296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E2921AB-0633-4488-BBB9-775758B86117}"/>
                </a:ext>
              </a:extLst>
            </p:cNvPr>
            <p:cNvSpPr/>
            <p:nvPr/>
          </p:nvSpPr>
          <p:spPr>
            <a:xfrm>
              <a:off x="2895600" y="4572000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AB30F8A-44D0-4C17-825F-8D70826E7018}"/>
                </a:ext>
              </a:extLst>
            </p:cNvPr>
            <p:cNvSpPr/>
            <p:nvPr/>
          </p:nvSpPr>
          <p:spPr>
            <a:xfrm>
              <a:off x="2590800" y="4267200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564FBEB-9ED7-4E53-A711-142E9DD9E77D}"/>
                </a:ext>
              </a:extLst>
            </p:cNvPr>
            <p:cNvSpPr/>
            <p:nvPr/>
          </p:nvSpPr>
          <p:spPr>
            <a:xfrm>
              <a:off x="1905000" y="4517136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C9EDAF1-0A6C-4C6A-B71B-F740A4DBE35D}"/>
                </a:ext>
              </a:extLst>
            </p:cNvPr>
            <p:cNvSpPr/>
            <p:nvPr/>
          </p:nvSpPr>
          <p:spPr>
            <a:xfrm>
              <a:off x="2862072" y="54680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4CDC5EB1-E14A-49D0-AEFD-2971A188EBB1}"/>
                </a:ext>
              </a:extLst>
            </p:cNvPr>
            <p:cNvSpPr/>
            <p:nvPr/>
          </p:nvSpPr>
          <p:spPr>
            <a:xfrm>
              <a:off x="3497317" y="5504688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B09960A-AEA6-4140-8769-E70F4CACF8E0}"/>
                </a:ext>
              </a:extLst>
            </p:cNvPr>
            <p:cNvSpPr/>
            <p:nvPr/>
          </p:nvSpPr>
          <p:spPr>
            <a:xfrm>
              <a:off x="3878317" y="59252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2159021-C375-4275-AC11-A49362D55156}"/>
                </a:ext>
              </a:extLst>
            </p:cNvPr>
            <p:cNvSpPr/>
            <p:nvPr/>
          </p:nvSpPr>
          <p:spPr>
            <a:xfrm>
              <a:off x="2926080" y="59252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44110A72-1D20-4F9D-BAB1-143641755E24}"/>
                </a:ext>
              </a:extLst>
            </p:cNvPr>
            <p:cNvSpPr/>
            <p:nvPr/>
          </p:nvSpPr>
          <p:spPr>
            <a:xfrm>
              <a:off x="2514600" y="62300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9EDF98FC-9D87-4756-A540-8423B59CE662}"/>
                </a:ext>
              </a:extLst>
            </p:cNvPr>
            <p:cNvSpPr/>
            <p:nvPr/>
          </p:nvSpPr>
          <p:spPr>
            <a:xfrm>
              <a:off x="3344917" y="62300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EF01180-B7B7-4381-BE21-F1632E510AEC}"/>
                </a:ext>
              </a:extLst>
            </p:cNvPr>
            <p:cNvSpPr/>
            <p:nvPr/>
          </p:nvSpPr>
          <p:spPr>
            <a:xfrm>
              <a:off x="2450592" y="50870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D2880170-B117-4B79-878C-97EA558BBA4B}"/>
                </a:ext>
              </a:extLst>
            </p:cNvPr>
            <p:cNvSpPr/>
            <p:nvPr/>
          </p:nvSpPr>
          <p:spPr>
            <a:xfrm>
              <a:off x="1883664" y="5294376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C0AF9DB2-7DE1-42C1-AC49-19C34D1B12CD}"/>
                </a:ext>
              </a:extLst>
            </p:cNvPr>
            <p:cNvSpPr/>
            <p:nvPr/>
          </p:nvSpPr>
          <p:spPr>
            <a:xfrm>
              <a:off x="2057400" y="56204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F737A823-7E9C-4EB1-B253-F251A51C9C3F}"/>
                </a:ext>
              </a:extLst>
            </p:cNvPr>
            <p:cNvSpPr/>
            <p:nvPr/>
          </p:nvSpPr>
          <p:spPr>
            <a:xfrm>
              <a:off x="1490472" y="58490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2AB40DC-1342-41CC-B79E-99792D83102B}"/>
                </a:ext>
              </a:extLst>
            </p:cNvPr>
            <p:cNvSpPr/>
            <p:nvPr/>
          </p:nvSpPr>
          <p:spPr>
            <a:xfrm>
              <a:off x="1572768" y="63062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398CC14F-1AF4-4137-BD2C-4C7561D6BE41}"/>
                </a:ext>
              </a:extLst>
            </p:cNvPr>
            <p:cNvSpPr/>
            <p:nvPr/>
          </p:nvSpPr>
          <p:spPr>
            <a:xfrm>
              <a:off x="1973317" y="61538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A142FE2-0758-4C97-9B51-4E77B0E8FF83}"/>
                </a:ext>
              </a:extLst>
            </p:cNvPr>
            <p:cNvSpPr/>
            <p:nvPr/>
          </p:nvSpPr>
          <p:spPr>
            <a:xfrm>
              <a:off x="1143000" y="6153807"/>
              <a:ext cx="84083" cy="94593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895E73E-B8EC-44CC-8576-474A51B6ADF4}"/>
              </a:ext>
            </a:extLst>
          </p:cNvPr>
          <p:cNvGrpSpPr/>
          <p:nvPr/>
        </p:nvGrpSpPr>
        <p:grpSpPr>
          <a:xfrm>
            <a:off x="4259316" y="4245969"/>
            <a:ext cx="4106917" cy="2133600"/>
            <a:chOff x="4259316" y="4495800"/>
            <a:chExt cx="4106917" cy="2133600"/>
          </a:xfrm>
        </p:grpSpPr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F6BAA3F7-9681-49ED-B1FD-B833AB5B09DE}"/>
                </a:ext>
              </a:extLst>
            </p:cNvPr>
            <p:cNvCxnSpPr>
              <a:cxnSpLocks/>
              <a:stCxn id="59" idx="6"/>
            </p:cNvCxnSpPr>
            <p:nvPr/>
          </p:nvCxnSpPr>
          <p:spPr>
            <a:xfrm>
              <a:off x="6461233" y="6429704"/>
              <a:ext cx="581836" cy="77891"/>
            </a:xfrm>
            <a:prstGeom prst="line">
              <a:avLst/>
            </a:prstGeom>
            <a:ln w="28575">
              <a:solidFill>
                <a:srgbClr val="C0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C1FE077-E59D-4241-A633-AACD8E393CDF}"/>
                </a:ext>
              </a:extLst>
            </p:cNvPr>
            <p:cNvGrpSpPr/>
            <p:nvPr/>
          </p:nvGrpSpPr>
          <p:grpSpPr>
            <a:xfrm>
              <a:off x="4810951" y="4495800"/>
              <a:ext cx="3555282" cy="2133600"/>
              <a:chOff x="407118" y="4267200"/>
              <a:chExt cx="3555282" cy="2133600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4E20B776-D289-4DB6-B7D2-2B4B22D10C5C}"/>
                  </a:ext>
                </a:extLst>
              </p:cNvPr>
              <p:cNvGrpSpPr/>
              <p:nvPr/>
            </p:nvGrpSpPr>
            <p:grpSpPr>
              <a:xfrm>
                <a:off x="1143000" y="4314496"/>
                <a:ext cx="2764221" cy="2039007"/>
                <a:chOff x="2837793" y="4267200"/>
                <a:chExt cx="2764221" cy="2039007"/>
              </a:xfrm>
            </p:grpSpPr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2A7ED40D-E2DD-4BB7-A017-2733A4FA9DB8}"/>
                    </a:ext>
                  </a:extLst>
                </p:cNvPr>
                <p:cNvSpPr/>
                <p:nvPr/>
              </p:nvSpPr>
              <p:spPr>
                <a:xfrm>
                  <a:off x="3216166" y="5822731"/>
                  <a:ext cx="73572" cy="483476"/>
                </a:xfrm>
                <a:custGeom>
                  <a:avLst/>
                  <a:gdLst>
                    <a:gd name="connsiteX0" fmla="*/ 0 w 73572"/>
                    <a:gd name="connsiteY0" fmla="*/ 0 h 483476"/>
                    <a:gd name="connsiteX1" fmla="*/ 73572 w 73572"/>
                    <a:gd name="connsiteY1" fmla="*/ 472966 h 483476"/>
                    <a:gd name="connsiteX2" fmla="*/ 73572 w 73572"/>
                    <a:gd name="connsiteY2" fmla="*/ 472966 h 483476"/>
                    <a:gd name="connsiteX3" fmla="*/ 63062 w 73572"/>
                    <a:gd name="connsiteY3" fmla="*/ 483476 h 483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3572" h="483476">
                      <a:moveTo>
                        <a:pt x="0" y="0"/>
                      </a:moveTo>
                      <a:lnTo>
                        <a:pt x="73572" y="472966"/>
                      </a:lnTo>
                      <a:lnTo>
                        <a:pt x="73572" y="472966"/>
                      </a:lnTo>
                      <a:lnTo>
                        <a:pt x="63062" y="483476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5EEB9B67-5750-41CA-9358-05B092A14E7D}"/>
                    </a:ext>
                  </a:extLst>
                </p:cNvPr>
                <p:cNvSpPr/>
                <p:nvPr/>
              </p:nvSpPr>
              <p:spPr>
                <a:xfrm>
                  <a:off x="3195145" y="5843752"/>
                  <a:ext cx="483476" cy="294289"/>
                </a:xfrm>
                <a:custGeom>
                  <a:avLst/>
                  <a:gdLst>
                    <a:gd name="connsiteX0" fmla="*/ 0 w 483476"/>
                    <a:gd name="connsiteY0" fmla="*/ 0 h 294289"/>
                    <a:gd name="connsiteX1" fmla="*/ 483476 w 483476"/>
                    <a:gd name="connsiteY1" fmla="*/ 294289 h 2942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483476" h="294289">
                      <a:moveTo>
                        <a:pt x="0" y="0"/>
                      </a:moveTo>
                      <a:lnTo>
                        <a:pt x="483476" y="294289"/>
                      </a:lnTo>
                    </a:path>
                  </a:pathLst>
                </a:custGeom>
                <a:no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8ACB81C1-9344-455A-B604-489C96D82D9F}"/>
                    </a:ext>
                  </a:extLst>
                </p:cNvPr>
                <p:cNvSpPr/>
                <p:nvPr/>
              </p:nvSpPr>
              <p:spPr>
                <a:xfrm>
                  <a:off x="3594538" y="5297214"/>
                  <a:ext cx="241738" cy="346841"/>
                </a:xfrm>
                <a:custGeom>
                  <a:avLst/>
                  <a:gdLst>
                    <a:gd name="connsiteX0" fmla="*/ 0 w 241738"/>
                    <a:gd name="connsiteY0" fmla="*/ 0 h 346841"/>
                    <a:gd name="connsiteX1" fmla="*/ 241738 w 241738"/>
                    <a:gd name="connsiteY1" fmla="*/ 346841 h 3468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1738" h="346841">
                      <a:moveTo>
                        <a:pt x="0" y="0"/>
                      </a:moveTo>
                      <a:lnTo>
                        <a:pt x="241738" y="346841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Freeform: Shape 63">
                  <a:extLst>
                    <a:ext uri="{FF2B5EF4-FFF2-40B4-BE49-F238E27FC236}">
                      <a16:creationId xmlns:a16="http://schemas.microsoft.com/office/drawing/2014/main" id="{C4A5BBC4-F542-4ED6-8C08-7A203D46E7AD}"/>
                    </a:ext>
                  </a:extLst>
                </p:cNvPr>
                <p:cNvSpPr/>
                <p:nvPr/>
              </p:nvSpPr>
              <p:spPr>
                <a:xfrm>
                  <a:off x="4162097" y="5076497"/>
                  <a:ext cx="515006" cy="1187669"/>
                </a:xfrm>
                <a:custGeom>
                  <a:avLst/>
                  <a:gdLst>
                    <a:gd name="connsiteX0" fmla="*/ 0 w 515006"/>
                    <a:gd name="connsiteY0" fmla="*/ 0 h 1187669"/>
                    <a:gd name="connsiteX1" fmla="*/ 420413 w 515006"/>
                    <a:gd name="connsiteY1" fmla="*/ 399393 h 1187669"/>
                    <a:gd name="connsiteX2" fmla="*/ 515006 w 515006"/>
                    <a:gd name="connsiteY2" fmla="*/ 851337 h 1187669"/>
                    <a:gd name="connsiteX3" fmla="*/ 63062 w 515006"/>
                    <a:gd name="connsiteY3" fmla="*/ 1187669 h 1187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15006" h="1187669">
                      <a:moveTo>
                        <a:pt x="0" y="0"/>
                      </a:moveTo>
                      <a:lnTo>
                        <a:pt x="420413" y="399393"/>
                      </a:lnTo>
                      <a:lnTo>
                        <a:pt x="515006" y="851337"/>
                      </a:lnTo>
                      <a:lnTo>
                        <a:pt x="63062" y="1187669"/>
                      </a:lnTo>
                    </a:path>
                  </a:pathLst>
                </a:custGeom>
                <a:no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9ADBEA1A-4103-4BB0-869F-0CA9DBEE5515}"/>
                    </a:ext>
                  </a:extLst>
                </p:cNvPr>
                <p:cNvSpPr/>
                <p:nvPr/>
              </p:nvSpPr>
              <p:spPr>
                <a:xfrm>
                  <a:off x="4603531" y="5465379"/>
                  <a:ext cx="998483" cy="472966"/>
                </a:xfrm>
                <a:custGeom>
                  <a:avLst/>
                  <a:gdLst>
                    <a:gd name="connsiteX0" fmla="*/ 0 w 998483"/>
                    <a:gd name="connsiteY0" fmla="*/ 0 h 472966"/>
                    <a:gd name="connsiteX1" fmla="*/ 599090 w 998483"/>
                    <a:gd name="connsiteY1" fmla="*/ 21021 h 472966"/>
                    <a:gd name="connsiteX2" fmla="*/ 998483 w 998483"/>
                    <a:gd name="connsiteY2" fmla="*/ 472966 h 4729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98483" h="472966">
                      <a:moveTo>
                        <a:pt x="0" y="0"/>
                      </a:moveTo>
                      <a:lnTo>
                        <a:pt x="599090" y="21021"/>
                      </a:lnTo>
                      <a:lnTo>
                        <a:pt x="998483" y="472966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Freeform: Shape 65">
                  <a:extLst>
                    <a:ext uri="{FF2B5EF4-FFF2-40B4-BE49-F238E27FC236}">
                      <a16:creationId xmlns:a16="http://schemas.microsoft.com/office/drawing/2014/main" id="{E7309E04-B3A0-4635-B60B-DBC0A0EB3F5F}"/>
                    </a:ext>
                  </a:extLst>
                </p:cNvPr>
                <p:cNvSpPr/>
                <p:nvPr/>
              </p:nvSpPr>
              <p:spPr>
                <a:xfrm>
                  <a:off x="4687615" y="5938345"/>
                  <a:ext cx="441434" cy="304800"/>
                </a:xfrm>
                <a:custGeom>
                  <a:avLst/>
                  <a:gdLst>
                    <a:gd name="connsiteX0" fmla="*/ 0 w 441434"/>
                    <a:gd name="connsiteY0" fmla="*/ 0 h 304800"/>
                    <a:gd name="connsiteX1" fmla="*/ 441434 w 441434"/>
                    <a:gd name="connsiteY1" fmla="*/ 304800 h 304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441434" h="304800">
                      <a:moveTo>
                        <a:pt x="0" y="0"/>
                      </a:moveTo>
                      <a:lnTo>
                        <a:pt x="441434" y="304800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Freeform: Shape 66">
                  <a:extLst>
                    <a:ext uri="{FF2B5EF4-FFF2-40B4-BE49-F238E27FC236}">
                      <a16:creationId xmlns:a16="http://schemas.microsoft.com/office/drawing/2014/main" id="{BACBE3E3-2165-49A2-A495-187783BACD96}"/>
                    </a:ext>
                  </a:extLst>
                </p:cNvPr>
                <p:cNvSpPr/>
                <p:nvPr/>
              </p:nvSpPr>
              <p:spPr>
                <a:xfrm>
                  <a:off x="3205655" y="5087007"/>
                  <a:ext cx="956442" cy="777765"/>
                </a:xfrm>
                <a:custGeom>
                  <a:avLst/>
                  <a:gdLst>
                    <a:gd name="connsiteX0" fmla="*/ 956442 w 956442"/>
                    <a:gd name="connsiteY0" fmla="*/ 0 h 777765"/>
                    <a:gd name="connsiteX1" fmla="*/ 409904 w 956442"/>
                    <a:gd name="connsiteY1" fmla="*/ 199696 h 777765"/>
                    <a:gd name="connsiteX2" fmla="*/ 0 w 956442"/>
                    <a:gd name="connsiteY2" fmla="*/ 777765 h 777765"/>
                    <a:gd name="connsiteX3" fmla="*/ 0 w 956442"/>
                    <a:gd name="connsiteY3" fmla="*/ 777765 h 777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6442" h="777765">
                      <a:moveTo>
                        <a:pt x="956442" y="0"/>
                      </a:moveTo>
                      <a:lnTo>
                        <a:pt x="409904" y="199696"/>
                      </a:lnTo>
                      <a:lnTo>
                        <a:pt x="0" y="777765"/>
                      </a:lnTo>
                      <a:lnTo>
                        <a:pt x="0" y="777765"/>
                      </a:lnTo>
                    </a:path>
                  </a:pathLst>
                </a:custGeom>
                <a:no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Freeform: Shape 67">
                  <a:extLst>
                    <a:ext uri="{FF2B5EF4-FFF2-40B4-BE49-F238E27FC236}">
                      <a16:creationId xmlns:a16="http://schemas.microsoft.com/office/drawing/2014/main" id="{DFE47B19-744F-436A-AC29-98A9675E8F35}"/>
                    </a:ext>
                  </a:extLst>
                </p:cNvPr>
                <p:cNvSpPr/>
                <p:nvPr/>
              </p:nvSpPr>
              <p:spPr>
                <a:xfrm>
                  <a:off x="2837793" y="5854262"/>
                  <a:ext cx="388883" cy="315310"/>
                </a:xfrm>
                <a:custGeom>
                  <a:avLst/>
                  <a:gdLst>
                    <a:gd name="connsiteX0" fmla="*/ 0 w 388883"/>
                    <a:gd name="connsiteY0" fmla="*/ 315310 h 315310"/>
                    <a:gd name="connsiteX1" fmla="*/ 388883 w 388883"/>
                    <a:gd name="connsiteY1" fmla="*/ 0 h 3153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388883" h="315310">
                      <a:moveTo>
                        <a:pt x="0" y="315310"/>
                      </a:moveTo>
                      <a:lnTo>
                        <a:pt x="388883" y="0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766BEA13-16F2-4A77-80D8-D95F7DE2259F}"/>
                    </a:ext>
                  </a:extLst>
                </p:cNvPr>
                <p:cNvSpPr/>
                <p:nvPr/>
              </p:nvSpPr>
              <p:spPr>
                <a:xfrm>
                  <a:off x="3647090" y="4550979"/>
                  <a:ext cx="536027" cy="546538"/>
                </a:xfrm>
                <a:custGeom>
                  <a:avLst/>
                  <a:gdLst>
                    <a:gd name="connsiteX0" fmla="*/ 536027 w 536027"/>
                    <a:gd name="connsiteY0" fmla="*/ 546538 h 546538"/>
                    <a:gd name="connsiteX1" fmla="*/ 378372 w 536027"/>
                    <a:gd name="connsiteY1" fmla="*/ 115614 h 546538"/>
                    <a:gd name="connsiteX2" fmla="*/ 0 w 536027"/>
                    <a:gd name="connsiteY2" fmla="*/ 0 h 5465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36027" h="546538">
                      <a:moveTo>
                        <a:pt x="536027" y="546538"/>
                      </a:moveTo>
                      <a:lnTo>
                        <a:pt x="378372" y="115614"/>
                      </a:lnTo>
                      <a:lnTo>
                        <a:pt x="0" y="0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A7077586-23E3-4AB7-8031-94BEBCFA82AC}"/>
                    </a:ext>
                  </a:extLst>
                </p:cNvPr>
                <p:cNvSpPr/>
                <p:nvPr/>
              </p:nvSpPr>
              <p:spPr>
                <a:xfrm>
                  <a:off x="4041227" y="4267200"/>
                  <a:ext cx="283779" cy="409903"/>
                </a:xfrm>
                <a:custGeom>
                  <a:avLst/>
                  <a:gdLst>
                    <a:gd name="connsiteX0" fmla="*/ 0 w 283779"/>
                    <a:gd name="connsiteY0" fmla="*/ 409903 h 409903"/>
                    <a:gd name="connsiteX1" fmla="*/ 283779 w 283779"/>
                    <a:gd name="connsiteY1" fmla="*/ 0 h 4099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83779" h="409903">
                      <a:moveTo>
                        <a:pt x="0" y="409903"/>
                      </a:moveTo>
                      <a:lnTo>
                        <a:pt x="283779" y="0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Freeform: Shape 70">
                  <a:extLst>
                    <a:ext uri="{FF2B5EF4-FFF2-40B4-BE49-F238E27FC236}">
                      <a16:creationId xmlns:a16="http://schemas.microsoft.com/office/drawing/2014/main" id="{37EA8F0D-F162-41FF-B0A7-D332DE8EE85B}"/>
                    </a:ext>
                  </a:extLst>
                </p:cNvPr>
                <p:cNvSpPr/>
                <p:nvPr/>
              </p:nvSpPr>
              <p:spPr>
                <a:xfrm>
                  <a:off x="4025462" y="4582510"/>
                  <a:ext cx="620110" cy="94593"/>
                </a:xfrm>
                <a:custGeom>
                  <a:avLst/>
                  <a:gdLst>
                    <a:gd name="connsiteX0" fmla="*/ 0 w 620110"/>
                    <a:gd name="connsiteY0" fmla="*/ 94593 h 94593"/>
                    <a:gd name="connsiteX1" fmla="*/ 620110 w 620110"/>
                    <a:gd name="connsiteY1" fmla="*/ 0 h 945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20110" h="94593">
                      <a:moveTo>
                        <a:pt x="0" y="94593"/>
                      </a:moveTo>
                      <a:lnTo>
                        <a:pt x="620110" y="0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2932E3E6-3DE8-47D9-A1A1-3AE42F62B70D}"/>
                      </a:ext>
                    </a:extLst>
                  </p:cNvPr>
                  <p:cNvSpPr txBox="1"/>
                  <p:nvPr/>
                </p:nvSpPr>
                <p:spPr>
                  <a:xfrm>
                    <a:off x="407118" y="4470759"/>
                    <a:ext cx="121394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∪{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2932E3E6-3DE8-47D9-A1A1-3AE42F62B7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118" y="4470759"/>
                    <a:ext cx="1213946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973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8C3DAB86-F4F8-402C-A6EB-D303D6BA3503}"/>
                  </a:ext>
                </a:extLst>
              </p:cNvPr>
              <p:cNvSpPr/>
              <p:nvPr/>
            </p:nvSpPr>
            <p:spPr>
              <a:xfrm>
                <a:off x="2286000" y="4654296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D2D76637-857E-4B33-8519-C3DF817FE5D6}"/>
                  </a:ext>
                </a:extLst>
              </p:cNvPr>
              <p:cNvSpPr/>
              <p:nvPr/>
            </p:nvSpPr>
            <p:spPr>
              <a:xfrm>
                <a:off x="2895600" y="4572000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327E4A09-775E-46D4-99A4-656EB738FC04}"/>
                  </a:ext>
                </a:extLst>
              </p:cNvPr>
              <p:cNvSpPr/>
              <p:nvPr/>
            </p:nvSpPr>
            <p:spPr>
              <a:xfrm>
                <a:off x="2590800" y="4267200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F1B71168-5C93-41A2-977A-951F42CCFFD1}"/>
                  </a:ext>
                </a:extLst>
              </p:cNvPr>
              <p:cNvSpPr/>
              <p:nvPr/>
            </p:nvSpPr>
            <p:spPr>
              <a:xfrm>
                <a:off x="1905000" y="4517136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62A9CC8-6336-4F98-9788-FF0EA43209B4}"/>
                  </a:ext>
                </a:extLst>
              </p:cNvPr>
              <p:cNvSpPr/>
              <p:nvPr/>
            </p:nvSpPr>
            <p:spPr>
              <a:xfrm>
                <a:off x="2862072" y="5468007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BED9974F-F723-449E-85E6-F802C30BE8E3}"/>
                  </a:ext>
                </a:extLst>
              </p:cNvPr>
              <p:cNvSpPr/>
              <p:nvPr/>
            </p:nvSpPr>
            <p:spPr>
              <a:xfrm>
                <a:off x="3497317" y="5504688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22016E94-9505-4C3C-BF4F-ACF738192BAD}"/>
                  </a:ext>
                </a:extLst>
              </p:cNvPr>
              <p:cNvSpPr/>
              <p:nvPr/>
            </p:nvSpPr>
            <p:spPr>
              <a:xfrm>
                <a:off x="3878317" y="5925207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2CE8701A-BF39-4A78-826B-92916EE7E94C}"/>
                  </a:ext>
                </a:extLst>
              </p:cNvPr>
              <p:cNvSpPr/>
              <p:nvPr/>
            </p:nvSpPr>
            <p:spPr>
              <a:xfrm>
                <a:off x="2926080" y="5925207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3264122C-6925-470B-B872-40148A3608EC}"/>
                  </a:ext>
                </a:extLst>
              </p:cNvPr>
              <p:cNvSpPr/>
              <p:nvPr/>
            </p:nvSpPr>
            <p:spPr>
              <a:xfrm>
                <a:off x="2514600" y="6230007"/>
                <a:ext cx="84083" cy="94593"/>
              </a:xfrm>
              <a:prstGeom prst="ellipse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4114104F-4B63-487D-B8AD-95ECABB03B19}"/>
                  </a:ext>
                </a:extLst>
              </p:cNvPr>
              <p:cNvSpPr/>
              <p:nvPr/>
            </p:nvSpPr>
            <p:spPr>
              <a:xfrm>
                <a:off x="3344917" y="6230007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E7C8805-12C9-45F3-8E2A-2F9BA6E10E7B}"/>
                  </a:ext>
                </a:extLst>
              </p:cNvPr>
              <p:cNvSpPr/>
              <p:nvPr/>
            </p:nvSpPr>
            <p:spPr>
              <a:xfrm>
                <a:off x="2450592" y="5087007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0B2ADFF2-F078-4BE6-90AF-31251F68FB14}"/>
                  </a:ext>
                </a:extLst>
              </p:cNvPr>
              <p:cNvSpPr/>
              <p:nvPr/>
            </p:nvSpPr>
            <p:spPr>
              <a:xfrm>
                <a:off x="1883664" y="5294376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0A311166-2277-4AC2-B652-675BD6A502EF}"/>
                  </a:ext>
                </a:extLst>
              </p:cNvPr>
              <p:cNvSpPr/>
              <p:nvPr/>
            </p:nvSpPr>
            <p:spPr>
              <a:xfrm>
                <a:off x="2057400" y="5620407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6405933B-A12D-450B-A890-3051195D01C3}"/>
                  </a:ext>
                </a:extLst>
              </p:cNvPr>
              <p:cNvSpPr/>
              <p:nvPr/>
            </p:nvSpPr>
            <p:spPr>
              <a:xfrm>
                <a:off x="1490472" y="5849007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0A44523-992E-4B67-A750-78E5CC1A19BA}"/>
                  </a:ext>
                </a:extLst>
              </p:cNvPr>
              <p:cNvSpPr/>
              <p:nvPr/>
            </p:nvSpPr>
            <p:spPr>
              <a:xfrm>
                <a:off x="1572768" y="6306207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E8BE616C-C218-43CE-B644-CE3F53CCADF3}"/>
                  </a:ext>
                </a:extLst>
              </p:cNvPr>
              <p:cNvSpPr/>
              <p:nvPr/>
            </p:nvSpPr>
            <p:spPr>
              <a:xfrm>
                <a:off x="1973317" y="6153807"/>
                <a:ext cx="84083" cy="94593"/>
              </a:xfrm>
              <a:prstGeom prst="ellipse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C0AB16D-1AC8-4496-AC23-BDE8B7BF0A7B}"/>
                  </a:ext>
                </a:extLst>
              </p:cNvPr>
              <p:cNvSpPr/>
              <p:nvPr/>
            </p:nvSpPr>
            <p:spPr>
              <a:xfrm>
                <a:off x="1143000" y="6153807"/>
                <a:ext cx="84083" cy="94593"/>
              </a:xfrm>
              <a:prstGeom prst="ellipse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2" name="Arrow: Right 71">
              <a:extLst>
                <a:ext uri="{FF2B5EF4-FFF2-40B4-BE49-F238E27FC236}">
                  <a16:creationId xmlns:a16="http://schemas.microsoft.com/office/drawing/2014/main" id="{6E9EE6F6-7492-4232-B14E-22B0DD7665E4}"/>
                </a:ext>
              </a:extLst>
            </p:cNvPr>
            <p:cNvSpPr/>
            <p:nvPr/>
          </p:nvSpPr>
          <p:spPr>
            <a:xfrm>
              <a:off x="4259316" y="5341042"/>
              <a:ext cx="312684" cy="221558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FCEBB98-643E-4BDE-A94F-41788912D716}"/>
                    </a:ext>
                  </a:extLst>
                </p:cNvPr>
                <p:cNvSpPr txBox="1"/>
                <p:nvPr/>
              </p:nvSpPr>
              <p:spPr>
                <a:xfrm>
                  <a:off x="6446782" y="6057376"/>
                  <a:ext cx="5334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oMath>
                    </m:oMathPara>
                  </a14:m>
                  <a:endParaRPr lang="en-US" sz="2400" b="0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FCEBB98-643E-4BDE-A94F-41788912D7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6782" y="6057376"/>
                  <a:ext cx="53340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27728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49D63-6238-42D1-A567-4950AC8CC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Spanning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E8BEB-DA79-41D6-8DFF-2363CD0984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143000"/>
              </a:xfrm>
            </p:spPr>
            <p:txBody>
              <a:bodyPr/>
              <a:lstStyle/>
              <a:p>
                <a:r>
                  <a:rPr lang="en-US" sz="2400" dirty="0"/>
                  <a:t>Given an undirected graph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400" dirty="0"/>
                  <a:t>a </a:t>
                </a:r>
                <a:r>
                  <a:rPr lang="en-US" sz="2400" dirty="0">
                    <a:solidFill>
                      <a:srgbClr val="0070C0"/>
                    </a:solidFill>
                  </a:rPr>
                  <a:t>spanning tree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/>
                  <a:t>is any graph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that is a tree.   </a:t>
                </a:r>
              </a:p>
              <a:p>
                <a:pPr lvl="1"/>
                <a:endParaRPr lang="en-US" sz="2000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E8BEB-DA79-41D6-8DFF-2363CD0984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143000"/>
              </a:xfrm>
              <a:blipFill>
                <a:blip r:embed="rId2"/>
                <a:stretch>
                  <a:fillRect l="-519" t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5255B67-BB43-46FC-B23A-663F2740D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971800"/>
            <a:ext cx="3886200" cy="2933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8E83C5-4F02-4534-BBF6-35B53425C927}"/>
              </a:ext>
            </a:extLst>
          </p:cNvPr>
          <p:cNvSpPr txBox="1"/>
          <p:nvPr/>
        </p:nvSpPr>
        <p:spPr>
          <a:xfrm>
            <a:off x="5715000" y="3688080"/>
            <a:ext cx="2743200" cy="92333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Example of spanning trees for the graph on the right.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C083E5-4191-4455-BF54-1B0E216B2B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873" y="2990850"/>
            <a:ext cx="3867150" cy="29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041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49D63-6238-42D1-A567-4950AC8CC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Spanning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E8BEB-DA79-41D6-8DFF-2363CD0984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Given an undirected graph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400" dirty="0"/>
                  <a:t>a </a:t>
                </a:r>
                <a:r>
                  <a:rPr lang="en-US" sz="2400" dirty="0">
                    <a:solidFill>
                      <a:srgbClr val="0070C0"/>
                    </a:solidFill>
                  </a:rPr>
                  <a:t>spanning tree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/>
                  <a:t>is any graph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that is a tree.   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Intuitively, a spanning tree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contains smallest number of edges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/>
                  <a:t> to connect all nodes 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Note that if the input graph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is not connected, then there exists no spanning tree. </a:t>
                </a:r>
              </a:p>
              <a:p>
                <a:pPr lvl="1"/>
                <a:r>
                  <a:rPr lang="en-US" sz="2000" dirty="0"/>
                  <a:t>We can talk about spanning forest, consisting a set of spanning trees, one for each connected component 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000" dirty="0"/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E8BEB-DA79-41D6-8DFF-2363CD0984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2392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70C5B-346D-45CA-B66B-C458D94F4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spanning tree (MST)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339A9B-13BF-444A-A85E-74A779CB4C4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>
                    <a:solidFill>
                      <a:srgbClr val="0070C0"/>
                    </a:solidFill>
                  </a:rPr>
                  <a:t>Weight of spanning tree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/>
                  <a:t>of a weighted graph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sz="2400" dirty="0"/>
                  <a:t> is</a:t>
                </a:r>
              </a:p>
              <a:p>
                <a:pPr lvl="1"/>
                <a:r>
                  <a:rPr lang="en-US" sz="2200" dirty="0"/>
                  <a:t>the total weights of all edges in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200" dirty="0"/>
                  <a:t>, i.e.,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/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en-US" sz="2200" b="0" dirty="0"/>
              </a:p>
              <a:p>
                <a:pPr lvl="1"/>
                <a:r>
                  <a:rPr lang="en-US" sz="2200" dirty="0"/>
                  <a:t>where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000" dirty="0"/>
                  <a:t> is the edge weights associated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sz="2200" dirty="0"/>
              </a:p>
              <a:p>
                <a:pPr lvl="1"/>
                <a:endParaRPr lang="en-US" sz="1000" dirty="0"/>
              </a:p>
              <a:p>
                <a:r>
                  <a:rPr lang="en-US" sz="2500" dirty="0"/>
                  <a:t>A </a:t>
                </a:r>
                <a:r>
                  <a:rPr lang="en-US" sz="2500" dirty="0">
                    <a:solidFill>
                      <a:srgbClr val="0070C0"/>
                    </a:solidFill>
                  </a:rPr>
                  <a:t>minimum spanning tree</a:t>
                </a:r>
                <a:r>
                  <a:rPr lang="en-US" sz="2500" dirty="0"/>
                  <a:t> (</a:t>
                </a:r>
                <a:r>
                  <a:rPr lang="en-US" sz="2500" dirty="0">
                    <a:solidFill>
                      <a:srgbClr val="0070C0"/>
                    </a:solidFill>
                  </a:rPr>
                  <a:t>MST</a:t>
                </a:r>
                <a:r>
                  <a:rPr lang="en-US" sz="2500" dirty="0"/>
                  <a:t>) </a:t>
                </a:r>
                <a:r>
                  <a:rPr lang="en-US" sz="2400" dirty="0"/>
                  <a:t>of a weighted graph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sz="2400" dirty="0"/>
                  <a:t> is a spanning tree with smallest possible weight. </a:t>
                </a:r>
              </a:p>
              <a:p>
                <a:pPr lvl="1"/>
                <a:endParaRPr lang="en-US" sz="2200" dirty="0"/>
              </a:p>
              <a:p>
                <a:endParaRPr lang="en-US" sz="2500" dirty="0"/>
              </a:p>
              <a:p>
                <a:endParaRPr lang="en-US" sz="2100" dirty="0"/>
              </a:p>
              <a:p>
                <a:endParaRPr lang="en-US" sz="21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339A9B-13BF-444A-A85E-74A779CB4C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93" t="-2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AEFCEBE-F103-4678-959D-8311653C6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3646011"/>
            <a:ext cx="6203950" cy="2887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E6197E-9A25-411F-8690-F061E475FB0A}"/>
              </a:ext>
            </a:extLst>
          </p:cNvPr>
          <p:cNvSpPr txBox="1"/>
          <p:nvPr/>
        </p:nvSpPr>
        <p:spPr>
          <a:xfrm>
            <a:off x="6511378" y="4038600"/>
            <a:ext cx="2209800" cy="6463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Weight of this spanning tree:  43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0051AE-C1BA-4DDA-A532-3F89D1F3FCAF}"/>
              </a:ext>
            </a:extLst>
          </p:cNvPr>
          <p:cNvSpPr txBox="1"/>
          <p:nvPr/>
        </p:nvSpPr>
        <p:spPr>
          <a:xfrm>
            <a:off x="6511378" y="5131939"/>
            <a:ext cx="2209800" cy="92333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Turns out this is also a minimum spanning tree. </a:t>
            </a:r>
          </a:p>
        </p:txBody>
      </p:sp>
    </p:spTree>
    <p:extLst>
      <p:ext uri="{BB962C8B-B14F-4D97-AF65-F5344CB8AC3E}">
        <p14:creationId xmlns:p14="http://schemas.microsoft.com/office/powerpoint/2010/main" val="2401366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7100F-9C2E-4E04-9F1C-236354D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2A226-5162-4150-9021-0279DDA8C80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MST may not be unique</a:t>
                </a:r>
              </a:p>
              <a:p>
                <a:endParaRPr lang="en-US" sz="1800" dirty="0"/>
              </a:p>
              <a:p>
                <a:r>
                  <a:rPr lang="en-US" dirty="0"/>
                  <a:t>All MSTs of a given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have the same number of edges! </a:t>
                </a:r>
              </a:p>
              <a:p>
                <a:pPr lvl="1"/>
                <a:r>
                  <a:rPr lang="en-US" dirty="0"/>
                  <a:t>They all have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number of edges</a:t>
                </a:r>
              </a:p>
              <a:p>
                <a:pPr lvl="1"/>
                <a:endParaRPr lang="en-US" sz="1800" dirty="0"/>
              </a:p>
              <a:p>
                <a:r>
                  <a:rPr lang="en-US" dirty="0"/>
                  <a:t>If all edges in input graph have the same weight, then how can we find a MST for it? </a:t>
                </a:r>
              </a:p>
              <a:p>
                <a:pPr lvl="1"/>
                <a:r>
                  <a:rPr lang="en-US" dirty="0"/>
                  <a:t>Any spanning tree of it is a minimum spanning tree!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2A226-5162-4150-9021-0279DDA8C8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57A6813-1191-4CAD-9663-C08DB0761805}"/>
                  </a:ext>
                </a:extLst>
              </p:cNvPr>
              <p:cNvSpPr/>
              <p:nvPr/>
            </p:nvSpPr>
            <p:spPr>
              <a:xfrm>
                <a:off x="990600" y="5242560"/>
                <a:ext cx="7162800" cy="9906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Exercise:  </a:t>
                </a:r>
              </a:p>
              <a:p>
                <a:pPr algn="ctr"/>
                <a:r>
                  <a:rPr lang="en-US" sz="2200" dirty="0"/>
                  <a:t>Design an algorithm to compute an MST for a graph where all edges have weight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/>
                  <a:t>  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57A6813-1191-4CAD-9663-C08DB07618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5242560"/>
                <a:ext cx="7162800" cy="990600"/>
              </a:xfrm>
              <a:prstGeom prst="rect">
                <a:avLst/>
              </a:prstGeom>
              <a:blipFill>
                <a:blip r:embed="rId3"/>
                <a:stretch>
                  <a:fillRect t="-10843" b="-17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0748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Motivation and properties of MST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26039-F537-49C0-B8B5-526857097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E4FF5-0A8D-47D6-9353-C2AC3EE0647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267200"/>
            <a:ext cx="8229600" cy="1981200"/>
          </a:xfrm>
        </p:spPr>
        <p:txBody>
          <a:bodyPr/>
          <a:lstStyle/>
          <a:p>
            <a:r>
              <a:rPr lang="en-US" sz="2400" dirty="0"/>
              <a:t>Among all possible road segment choices, build a set of road segments so that all houses are connected and the total cost is minimized </a:t>
            </a:r>
          </a:p>
          <a:p>
            <a:r>
              <a:rPr lang="en-US" sz="2400" dirty="0">
                <a:solidFill>
                  <a:srgbClr val="00B050"/>
                </a:solidFill>
              </a:rPr>
              <a:t>Solution</a:t>
            </a:r>
            <a:r>
              <a:rPr lang="en-US" sz="2400" dirty="0"/>
              <a:t>:   Find the MST of the input weighted graph where edge weight represents the cost of build that road segment.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CD459-046A-4167-B43E-0029EFCE9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1157287"/>
            <a:ext cx="3714750" cy="309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32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2208F-BD82-4C0D-87C3-9DC0D27BB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MST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0EE188-D5F9-43AA-B827-70A716A5C50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Input:  </a:t>
                </a:r>
              </a:p>
              <a:p>
                <a:pPr lvl="1"/>
                <a:r>
                  <a:rPr lang="en-US" dirty="0"/>
                  <a:t>a weighted undirected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Output: </a:t>
                </a:r>
              </a:p>
              <a:p>
                <a:pPr lvl="1"/>
                <a:r>
                  <a:rPr lang="en-US" dirty="0"/>
                  <a:t>the set of edges in a MST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0EE188-D5F9-43AA-B827-70A716A5C5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DFDA01F-4EE6-4124-AADB-277A47283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3124200"/>
            <a:ext cx="6203950" cy="2887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7410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B9901-9F79-45D4-8388-15A69A965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property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504B6-C834-4C96-BB1A-C6CB22F12A5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Key property of MST:</a:t>
                </a:r>
              </a:p>
              <a:p>
                <a:pPr lvl="1"/>
                <a:r>
                  <a:rPr lang="en-US" dirty="0"/>
                  <a:t>Given a MST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𝑇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𝐺</m:t>
                    </m:r>
                    <m:r>
                      <a:rPr lang="en-US" i="1" dirty="0" smtClean="0">
                        <a:latin typeface="Cambria Math"/>
                      </a:rPr>
                      <m:t>=(</m:t>
                    </m:r>
                    <m:r>
                      <a:rPr lang="en-US" i="1" dirty="0" smtClean="0">
                        <a:latin typeface="Cambria Math"/>
                      </a:rPr>
                      <m:t>𝑉</m:t>
                    </m:r>
                    <m:r>
                      <a:rPr lang="en-US" i="1" dirty="0" smtClean="0">
                        <a:latin typeface="Cambria Math"/>
                      </a:rPr>
                      <m:t>,</m:t>
                    </m:r>
                    <m:r>
                      <a:rPr lang="en-US" i="1" dirty="0" smtClean="0">
                        <a:latin typeface="Cambria Math"/>
                      </a:rPr>
                      <m:t>𝐸</m:t>
                    </m:r>
                    <m:r>
                      <a:rPr lang="en-US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, let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𝑒</m:t>
                    </m:r>
                    <m:r>
                      <a:rPr lang="en-US" i="1" dirty="0">
                        <a:latin typeface="Cambria Math"/>
                      </a:rPr>
                      <m:t>∈</m:t>
                    </m:r>
                    <m:r>
                      <a:rPr lang="en-US" i="1" dirty="0">
                        <a:latin typeface="Cambria Math"/>
                      </a:rPr>
                      <m:t>𝐸</m:t>
                    </m:r>
                  </m:oMath>
                </a14:m>
                <a:r>
                  <a:rPr lang="en-US" dirty="0"/>
                  <a:t> be any edge in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𝐸</m:t>
                    </m:r>
                  </m:oMath>
                </a14:m>
                <a:r>
                  <a:rPr lang="en-US" dirty="0"/>
                  <a:t> but not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r>
                      <a:rPr lang="en-US" b="0" i="0" smtClean="0">
                        <a:latin typeface="Cambria Math"/>
                      </a:rPr>
                      <m:t>.</m:t>
                    </m:r>
                  </m:oMath>
                </a14:m>
                <a:r>
                  <a:rPr lang="en-US" dirty="0"/>
                  <a:t> The following then holds:</a:t>
                </a:r>
              </a:p>
              <a:p>
                <a:pPr lvl="2"/>
                <a:r>
                  <a:rPr lang="en-US" dirty="0"/>
                  <a:t>there is a unique cycle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𝐶</m:t>
                    </m:r>
                  </m:oMath>
                </a14:m>
                <a:r>
                  <a:rPr lang="en-US" dirty="0"/>
                  <a:t> containing </a:t>
                </a:r>
                <a:r>
                  <a:rPr lang="en-US" i="1" dirty="0"/>
                  <a:t>e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r>
                      <a:rPr lang="en-US" b="0" i="1" smtClean="0">
                        <a:latin typeface="Cambria Math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𝑒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dirty="0"/>
                  <a:t>has the largest weight among all edges in this cycle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𝐶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504B6-C834-4C96-BB1A-C6CB22F12A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blipFill>
                <a:blip r:embed="rId2"/>
                <a:stretch>
                  <a:fillRect l="-1256" t="-2346" b="-117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FDA875B-BC65-4D23-8257-1BE9C28B9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3384332"/>
            <a:ext cx="6203950" cy="2887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DC3DB0-24BF-41F0-A2AD-1D45A42B030D}"/>
              </a:ext>
            </a:extLst>
          </p:cNvPr>
          <p:cNvCxnSpPr>
            <a:cxnSpLocks/>
          </p:cNvCxnSpPr>
          <p:nvPr/>
        </p:nvCxnSpPr>
        <p:spPr>
          <a:xfrm flipH="1">
            <a:off x="6324600" y="5105400"/>
            <a:ext cx="609600" cy="609600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901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B9901-9F79-45D4-8388-15A69A965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property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504B6-C834-4C96-BB1A-C6CB22F12A5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Key property of MST:</a:t>
                </a:r>
              </a:p>
              <a:p>
                <a:pPr lvl="1"/>
                <a:r>
                  <a:rPr lang="en-US" dirty="0"/>
                  <a:t>Given a MST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𝑇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𝐺</m:t>
                    </m:r>
                    <m:r>
                      <a:rPr lang="en-US" i="1" dirty="0" smtClean="0">
                        <a:latin typeface="Cambria Math"/>
                      </a:rPr>
                      <m:t>=(</m:t>
                    </m:r>
                    <m:r>
                      <a:rPr lang="en-US" i="1" dirty="0" smtClean="0">
                        <a:latin typeface="Cambria Math"/>
                      </a:rPr>
                      <m:t>𝑉</m:t>
                    </m:r>
                    <m:r>
                      <a:rPr lang="en-US" i="1" dirty="0" smtClean="0">
                        <a:latin typeface="Cambria Math"/>
                      </a:rPr>
                      <m:t>,</m:t>
                    </m:r>
                    <m:r>
                      <a:rPr lang="en-US" i="1" dirty="0" smtClean="0">
                        <a:latin typeface="Cambria Math"/>
                      </a:rPr>
                      <m:t>𝐸</m:t>
                    </m:r>
                    <m:r>
                      <a:rPr lang="en-US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, let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𝑒</m:t>
                    </m:r>
                    <m:r>
                      <a:rPr lang="en-US" i="1" dirty="0">
                        <a:latin typeface="Cambria Math"/>
                      </a:rPr>
                      <m:t>∈</m:t>
                    </m:r>
                    <m:r>
                      <a:rPr lang="en-US" i="1" dirty="0">
                        <a:latin typeface="Cambria Math"/>
                      </a:rPr>
                      <m:t>𝐸</m:t>
                    </m:r>
                  </m:oMath>
                </a14:m>
                <a:r>
                  <a:rPr lang="en-US" dirty="0"/>
                  <a:t> be any edge in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𝐸</m:t>
                    </m:r>
                  </m:oMath>
                </a14:m>
                <a:r>
                  <a:rPr lang="en-US" dirty="0"/>
                  <a:t> but not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r>
                      <a:rPr lang="en-US" b="0" i="0" smtClean="0">
                        <a:latin typeface="Cambria Math"/>
                      </a:rPr>
                      <m:t>.</m:t>
                    </m:r>
                  </m:oMath>
                </a14:m>
                <a:r>
                  <a:rPr lang="en-US" dirty="0"/>
                  <a:t> The following then holds:</a:t>
                </a:r>
              </a:p>
              <a:p>
                <a:pPr lvl="2"/>
                <a:r>
                  <a:rPr lang="en-US" dirty="0"/>
                  <a:t>there is a unique cycle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𝐶</m:t>
                    </m:r>
                  </m:oMath>
                </a14:m>
                <a:r>
                  <a:rPr lang="en-US" dirty="0"/>
                  <a:t> containing </a:t>
                </a:r>
                <a:r>
                  <a:rPr lang="en-US" i="1" dirty="0"/>
                  <a:t>e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r>
                      <a:rPr lang="en-US" b="0" i="1" smtClean="0">
                        <a:latin typeface="Cambria Math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𝑒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dirty="0"/>
                  <a:t>is an edge with largest weight in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𝐶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504B6-C834-4C96-BB1A-C6CB22F12A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blipFill>
                <a:blip r:embed="rId2"/>
                <a:stretch>
                  <a:fillRect l="-1256" t="-2346" b="-117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D516355-A381-47AF-BD02-C1193FBE86F9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3728018"/>
                <a:ext cx="8229600" cy="259658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Proof sketch: 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𝑒</m:t>
                    </m:r>
                  </m:oMath>
                </a14:m>
                <a:r>
                  <a:rPr lang="en-US" dirty="0"/>
                  <a:t> does not have largest weight, 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/>
                          </a:rPr>
                          <m:t>𝑒</m:t>
                        </m:r>
                      </m:e>
                      <m:sup>
                        <m:r>
                          <a:rPr lang="en-US" i="1" dirty="0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/>
                      </a:rPr>
                      <m:t>∈</m:t>
                    </m:r>
                    <m:r>
                      <a:rPr lang="en-US" i="1" dirty="0">
                        <a:latin typeface="Cambria Math"/>
                      </a:rPr>
                      <m:t>𝐶</m:t>
                    </m:r>
                  </m:oMath>
                </a14:m>
                <a:r>
                  <a:rPr lang="en-US" dirty="0"/>
                  <a:t> be an edge with largest weight in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𝐶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𝑇</m:t>
                    </m:r>
                    <m:r>
                      <a:rPr lang="en-US" i="1">
                        <a:latin typeface="Cambria Math"/>
                      </a:rPr>
                      <m:t> −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𝑒</m:t>
                        </m:r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e>
                    </m:d>
                    <m:r>
                      <a:rPr lang="en-US" i="1">
                        <a:latin typeface="Cambria Math"/>
                      </a:rPr>
                      <m:t>+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dirty="0"/>
                  <a:t> is also a spanning tree of </a:t>
                </a:r>
                <a:r>
                  <a:rPr lang="en-US" i="1" dirty="0"/>
                  <a:t>G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𝑤𝑒𝑖𝑔h𝑡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𝑇</m:t>
                            </m:r>
                          </m:e>
                          <m:sup>
                            <m:r>
                              <a:rPr lang="en-US" i="1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𝑤𝑒𝑖𝑔h𝑡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𝑇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𝑇</m:t>
                    </m:r>
                  </m:oMath>
                </a14:m>
                <a:r>
                  <a:rPr lang="en-US" dirty="0"/>
                  <a:t> cannot be MST. </a:t>
                </a:r>
              </a:p>
              <a:p>
                <a:pPr lvl="2"/>
                <a:r>
                  <a:rPr lang="en-US" dirty="0"/>
                  <a:t>Contradiction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 must have largest weight in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𝐶</m:t>
                    </m:r>
                  </m:oMath>
                </a14:m>
                <a:r>
                  <a:rPr lang="en-US" dirty="0"/>
                  <a:t>. </a:t>
                </a:r>
                <a:endParaRPr lang="en-US" sz="21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D516355-A381-47AF-BD02-C1193FBE8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3728018"/>
                <a:ext cx="8229600" cy="2596581"/>
              </a:xfrm>
              <a:prstGeom prst="rect">
                <a:avLst/>
              </a:prstGeom>
              <a:blipFill>
                <a:blip r:embed="rId3"/>
                <a:stretch>
                  <a:fillRect l="-519" t="-1882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5945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933700"/>
            <a:ext cx="8229600" cy="1181100"/>
          </a:xfrm>
        </p:spPr>
        <p:txBody>
          <a:bodyPr/>
          <a:lstStyle/>
          <a:p>
            <a:pPr algn="ctr"/>
            <a:r>
              <a:rPr lang="en-US" sz="3600" dirty="0"/>
              <a:t>First greedy algorithm for MST: Prim’s algorithm</a:t>
            </a:r>
          </a:p>
        </p:txBody>
      </p:sp>
    </p:spTree>
    <p:extLst>
      <p:ext uri="{BB962C8B-B14F-4D97-AF65-F5344CB8AC3E}">
        <p14:creationId xmlns:p14="http://schemas.microsoft.com/office/powerpoint/2010/main" val="685518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5E012-94A7-4E1F-A0B2-ADC81811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greedy idea: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B6D40-B41E-439E-95B0-F5C364018BF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</p:spPr>
            <p:txBody>
              <a:bodyPr/>
              <a:lstStyle/>
              <a:p>
                <a:r>
                  <a:rPr lang="en-US" dirty="0"/>
                  <a:t>Input:  </a:t>
                </a:r>
              </a:p>
              <a:p>
                <a:pPr lvl="1"/>
                <a:r>
                  <a:rPr lang="en-US" dirty="0"/>
                  <a:t>a weighted undirected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b="0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Output: </a:t>
                </a:r>
              </a:p>
              <a:p>
                <a:pPr lvl="1"/>
                <a:r>
                  <a:rPr lang="en-US" dirty="0"/>
                  <a:t>the set of edges in a MST </a:t>
                </a:r>
                <a14:m>
                  <m:oMath xmlns:m="http://schemas.openxmlformats.org/officeDocument/2006/math">
                    <m:r>
                      <a:rPr lang="en-US" i="1" kern="0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kern="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B6D40-B41E-439E-95B0-F5C364018B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blipFill>
                <a:blip r:embed="rId2"/>
                <a:stretch>
                  <a:fillRect l="-667" t="-2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DEDA43A5-71D8-4B9C-A021-5134C8C250F0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41434" y="3426372"/>
                <a:ext cx="8229600" cy="27432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0" kern="0" dirty="0"/>
                  <a:t>A MST </a:t>
                </a:r>
                <a14:m>
                  <m:oMath xmlns:m="http://schemas.openxmlformats.org/officeDocument/2006/math">
                    <m:r>
                      <a:rPr lang="en-US" b="0" i="1" kern="0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0" kern="0" dirty="0"/>
                  <a:t> is </a:t>
                </a:r>
                <a14:m>
                  <m:oMath xmlns:m="http://schemas.openxmlformats.org/officeDocument/2006/math">
                    <m:r>
                      <a:rPr lang="en-US" b="0" i="1" kern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kern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b="0" kern="0" dirty="0"/>
                  <a:t> number of edges that connect all nodes, with no cycle. </a:t>
                </a:r>
              </a:p>
              <a:p>
                <a:r>
                  <a:rPr lang="en-US" b="0" kern="0" dirty="0"/>
                  <a:t>Intuitively, we will grow the tree edge-by-edge, and choose “</a:t>
                </a:r>
                <a:r>
                  <a:rPr lang="en-US" b="0" kern="0" dirty="0">
                    <a:solidFill>
                      <a:srgbClr val="00B050"/>
                    </a:solidFill>
                  </a:rPr>
                  <a:t>safe</a:t>
                </a:r>
                <a:r>
                  <a:rPr lang="en-US" b="0" kern="0" dirty="0"/>
                  <a:t>” edges greedily to incrementally build </a:t>
                </a:r>
                <a14:m>
                  <m:oMath xmlns:m="http://schemas.openxmlformats.org/officeDocument/2006/math">
                    <m:r>
                      <a:rPr lang="en-US" b="0" i="1" kern="0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0" kern="0" dirty="0"/>
                  <a:t> </a:t>
                </a:r>
              </a:p>
              <a:p>
                <a:pPr lvl="1"/>
                <a:r>
                  <a:rPr lang="en-US" kern="0" dirty="0"/>
                  <a:t>such that any time, the edges we choose will form a part of some MST </a:t>
                </a:r>
                <a:endParaRPr lang="en-US" b="0" kern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DEDA43A5-71D8-4B9C-A021-5134C8C25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1434" y="3426372"/>
                <a:ext cx="8229600" cy="2743200"/>
              </a:xfrm>
              <a:prstGeom prst="rect">
                <a:avLst/>
              </a:prstGeom>
              <a:blipFill>
                <a:blip r:embed="rId3"/>
                <a:stretch>
                  <a:fillRect l="-667" t="-2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189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71F5-038E-4B3C-B986-9DC12D607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981E7-8C22-4C9F-B5D8-2F0749C1282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5410200"/>
            <a:ext cx="8229600" cy="746760"/>
          </a:xfrm>
        </p:spPr>
        <p:txBody>
          <a:bodyPr/>
          <a:lstStyle/>
          <a:p>
            <a:r>
              <a:rPr lang="en-US" dirty="0"/>
              <a:t>What is a </a:t>
            </a:r>
            <a:r>
              <a:rPr lang="en-US" b="0" kern="0" dirty="0"/>
              <a:t>“</a:t>
            </a:r>
            <a:r>
              <a:rPr lang="en-US" b="0" kern="0" dirty="0">
                <a:solidFill>
                  <a:srgbClr val="00B050"/>
                </a:solidFill>
              </a:rPr>
              <a:t>safe</a:t>
            </a:r>
            <a:r>
              <a:rPr lang="en-US" b="0" kern="0" dirty="0"/>
              <a:t>”</a:t>
            </a:r>
            <a:r>
              <a:rPr lang="en-US" dirty="0"/>
              <a:t> edge to add first?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80FD5A-8F84-4010-BCBB-9515B1AB2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75" y="1447800"/>
            <a:ext cx="7639050" cy="39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410057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D306B-7459-438A-9CAF-C223EA824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greedy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75A97-F71C-43B6-B855-E9A26D7A98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Two greedy algorithms</a:t>
            </a:r>
          </a:p>
          <a:p>
            <a:pPr lvl="1"/>
            <a:r>
              <a:rPr lang="en-US" dirty="0"/>
              <a:t>Today:    </a:t>
            </a:r>
            <a:r>
              <a:rPr lang="en-US" dirty="0">
                <a:solidFill>
                  <a:srgbClr val="C00000"/>
                </a:solidFill>
              </a:rPr>
              <a:t>Prim’s</a:t>
            </a:r>
            <a:r>
              <a:rPr lang="en-US" dirty="0"/>
              <a:t> algorithm </a:t>
            </a:r>
          </a:p>
          <a:p>
            <a:pPr lvl="1"/>
            <a:r>
              <a:rPr lang="en-US" dirty="0"/>
              <a:t>Next class:   </a:t>
            </a:r>
            <a:r>
              <a:rPr lang="en-US" dirty="0">
                <a:solidFill>
                  <a:srgbClr val="C00000"/>
                </a:solidFill>
              </a:rPr>
              <a:t>Kruskal’s</a:t>
            </a:r>
            <a:r>
              <a:rPr lang="en-US" dirty="0"/>
              <a:t> algorithm </a:t>
            </a:r>
          </a:p>
          <a:p>
            <a:pPr lvl="1"/>
            <a:r>
              <a:rPr lang="en-US" dirty="0"/>
              <a:t>They differ in the order of edges they visit and thus ``safe” edges they add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3348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ADFC3-DF86-4093-BD97-AD995475A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 for Prim’s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D4B68-F11C-4025-A0B2-215B4848182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23041" y="2926080"/>
                <a:ext cx="8229600" cy="3322320"/>
              </a:xfrm>
            </p:spPr>
            <p:txBody>
              <a:bodyPr/>
              <a:lstStyle/>
              <a:p>
                <a:r>
                  <a:rPr lang="en-US" sz="2400" dirty="0"/>
                  <a:t>Intuitively, </a:t>
                </a:r>
              </a:p>
              <a:p>
                <a:pPr lvl="1"/>
                <a:r>
                  <a:rPr lang="en-US" sz="2000" dirty="0"/>
                  <a:t>Incrementally grow a partial tree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/>
                          </a:rPr>
                          <m:t>𝑆</m:t>
                        </m:r>
                      </m:e>
                    </m:d>
                    <m:r>
                      <a:rPr lang="en-US" sz="2000" b="0" i="1" smtClean="0">
                        <a:latin typeface="Cambria Math"/>
                      </a:rPr>
                      <m:t>⊆</m:t>
                    </m:r>
                    <m:r>
                      <a:rPr lang="en-US" sz="2000" b="0" i="1" smtClean="0">
                        <a:latin typeface="Cambria Math"/>
                      </a:rPr>
                      <m:t>𝐸</m:t>
                    </m:r>
                  </m:oMath>
                </a14:m>
                <a:r>
                  <a:rPr lang="en-US" sz="2000" dirty="0"/>
                  <a:t> connecting a subset of nodes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/>
                      </a:rPr>
                      <m:t>𝑆</m:t>
                    </m:r>
                    <m:r>
                      <a:rPr lang="en-US" sz="2000" b="0" i="1" smtClean="0">
                        <a:latin typeface="Cambria Math"/>
                      </a:rPr>
                      <m:t>⊂</m:t>
                    </m:r>
                    <m:r>
                      <a:rPr lang="en-US" sz="2000" b="0" i="1" smtClean="0">
                        <a:latin typeface="Cambria Math"/>
                      </a:rPr>
                      <m:t>𝑉</m:t>
                    </m:r>
                    <m:r>
                      <a:rPr lang="en-US" sz="2000" b="0" i="1" smtClean="0">
                        <a:latin typeface="Cambria Math"/>
                      </a:rPr>
                      <m:t> </m:t>
                    </m:r>
                  </m:oMath>
                </a14:m>
                <a:endParaRPr lang="en-US" sz="2000" b="0" dirty="0"/>
              </a:p>
              <a:p>
                <a:pPr lvl="1"/>
                <a:r>
                  <a:rPr lang="en-US" sz="2000" dirty="0"/>
                  <a:t>At the beginning of each iteration,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/>
                          </a:rPr>
                          <m:t>𝑆</m:t>
                        </m:r>
                      </m:e>
                    </m:d>
                    <m:r>
                      <a:rPr lang="en-US" sz="2000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sz="2000" b="0" dirty="0"/>
                  <a:t>is a sub-tree of </a:t>
                </a:r>
                <a:r>
                  <a:rPr lang="en-US" sz="2000" b="0" dirty="0">
                    <a:solidFill>
                      <a:srgbClr val="C00000"/>
                    </a:solidFill>
                  </a:rPr>
                  <a:t>some</a:t>
                </a:r>
                <a:r>
                  <a:rPr lang="en-US" sz="2000" b="0" dirty="0"/>
                  <a:t> MST of </a:t>
                </a:r>
                <a:r>
                  <a:rPr lang="en-US" sz="2000" b="0" i="1" dirty="0"/>
                  <a:t>G</a:t>
                </a:r>
              </a:p>
              <a:p>
                <a:pPr lvl="1"/>
                <a:r>
                  <a:rPr lang="en-US" sz="2000" dirty="0"/>
                  <a:t>At each iteration, grow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/>
                      </a:rPr>
                      <m:t>𝑇</m:t>
                    </m:r>
                    <m:r>
                      <a:rPr lang="en-US" sz="2000" b="0" i="1" smtClean="0">
                        <a:latin typeface="Cambria Math"/>
                      </a:rPr>
                      <m:t> (</m:t>
                    </m:r>
                    <m:r>
                      <a:rPr lang="en-US" sz="2000" b="0" i="1" smtClean="0">
                        <a:latin typeface="Cambria Math"/>
                      </a:rPr>
                      <m:t>𝑆</m:t>
                    </m:r>
                    <m:r>
                      <a:rPr lang="en-US" sz="2000" b="0" i="1" smtClean="0">
                        <a:latin typeface="Cambria Math"/>
                      </a:rPr>
                      <m:t>′)</m:t>
                    </m:r>
                  </m:oMath>
                </a14:m>
                <a:r>
                  <a:rPr lang="en-US" sz="2000" dirty="0"/>
                  <a:t> to include one more vertex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/>
                      </a:rPr>
                      <m:t>𝑆</m:t>
                    </m:r>
                    <m:r>
                      <a:rPr lang="en-US" sz="2000" b="0" i="1" smtClean="0">
                        <a:latin typeface="Cambria Math"/>
                      </a:rPr>
                      <m:t>′=</m:t>
                    </m:r>
                    <m:r>
                      <a:rPr lang="en-US" sz="2000" b="0" i="1" smtClean="0">
                        <a:latin typeface="Cambria Math"/>
                      </a:rPr>
                      <m:t>𝑆</m:t>
                    </m:r>
                    <m:r>
                      <a:rPr lang="en-US" sz="2000" b="0" i="1" smtClean="0">
                        <a:latin typeface="Cambria Math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/>
                          </a:rPr>
                          <m:t>𝑢</m:t>
                        </m:r>
                      </m:e>
                    </m:d>
                    <m:r>
                      <a:rPr lang="en-US" sz="2000" b="0" i="1" smtClean="0">
                        <a:latin typeface="Cambria Math"/>
                      </a:rPr>
                      <m:t> </m:t>
                    </m:r>
                  </m:oMath>
                </a14:m>
                <a:endParaRPr lang="en-US" sz="2000" dirty="0"/>
              </a:p>
              <a:p>
                <a:pPr lvl="2"/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/>
                      </a:rPr>
                      <m:t> </m:t>
                    </m:r>
                  </m:oMath>
                </a14:m>
                <a:r>
                  <a:rPr lang="en-US" dirty="0"/>
                  <a:t>is still a sub-tree of </a:t>
                </a:r>
                <a:r>
                  <a:rPr lang="en-US" dirty="0">
                    <a:solidFill>
                      <a:srgbClr val="C00000"/>
                    </a:solidFill>
                  </a:rPr>
                  <a:t>some</a:t>
                </a:r>
                <a:r>
                  <a:rPr lang="en-US" dirty="0"/>
                  <a:t> MST of </a:t>
                </a:r>
                <a:r>
                  <a:rPr lang="en-US" i="1" dirty="0"/>
                  <a:t>G</a:t>
                </a:r>
              </a:p>
              <a:p>
                <a:pPr lvl="2"/>
                <a:r>
                  <a:rPr lang="en-US" dirty="0"/>
                  <a:t>the new node is reached via a greedy choice of a </a:t>
                </a:r>
                <a:r>
                  <a:rPr lang="en-US" dirty="0">
                    <a:solidFill>
                      <a:srgbClr val="C00000"/>
                    </a:solidFill>
                  </a:rPr>
                  <a:t>crossing-edge</a:t>
                </a:r>
              </a:p>
              <a:p>
                <a:pPr lvl="2"/>
                <a:r>
                  <a:rPr lang="en-US" dirty="0"/>
                  <a:t>in particular,  the greedy choice is the minimum weight edge connect some node 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 to some node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(i.e., outside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D4B68-F11C-4025-A0B2-215B484818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23041" y="2926080"/>
                <a:ext cx="8229600" cy="3322320"/>
              </a:xfrm>
              <a:blipFill>
                <a:blip r:embed="rId2"/>
                <a:stretch>
                  <a:fillRect l="-519" t="-1468" r="-2222" b="-2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60A70DBB-04ED-4415-B153-4DB2D7BA9359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1219200"/>
                <a:ext cx="8229600" cy="16764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Input:  </a:t>
                </a:r>
              </a:p>
              <a:p>
                <a:pPr lvl="1"/>
                <a:r>
                  <a:rPr lang="en-US" sz="2000" dirty="0"/>
                  <a:t>a weighted undirected graph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000" dirty="0"/>
                  <a:t> with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sz="2000" dirty="0"/>
              </a:p>
              <a:p>
                <a:r>
                  <a:rPr lang="en-US" sz="2400" dirty="0"/>
                  <a:t>Output: </a:t>
                </a:r>
              </a:p>
              <a:p>
                <a:pPr lvl="1"/>
                <a:r>
                  <a:rPr lang="en-US" sz="2000" dirty="0"/>
                  <a:t>the set of edges in a MST </a:t>
                </a:r>
                <a14:m>
                  <m:oMath xmlns:m="http://schemas.openxmlformats.org/officeDocument/2006/math">
                    <m:r>
                      <a:rPr lang="en-US" sz="2000" i="1" kern="0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i="1" kern="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of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60A70DBB-04ED-4415-B153-4DB2D7BA9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219200"/>
                <a:ext cx="8229600" cy="1676400"/>
              </a:xfrm>
              <a:prstGeom prst="rect">
                <a:avLst/>
              </a:prstGeom>
              <a:blipFill>
                <a:blip r:embed="rId3"/>
                <a:stretch>
                  <a:fillRect l="-444" t="-2527" b="-3610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56160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ED130-A91E-459F-9F2F-CC155D653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outline (not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7D6C2-F0FA-46A7-97E7-60B995BC0A1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105A33A-8BB7-4726-BC28-47F1AB6DD168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33400" y="5486400"/>
                <a:ext cx="7772400" cy="9144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/>
                      </a:rPr>
                      <m:t>𝑈</m:t>
                    </m:r>
                  </m:oMath>
                </a14:m>
                <a:r>
                  <a:rPr lang="en-US" sz="2400" dirty="0"/>
                  <a:t> : unconnected vertices</a:t>
                </a:r>
              </a:p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/>
                      </a:rPr>
                      <m:t>𝑆</m:t>
                    </m:r>
                    <m:r>
                      <a:rPr lang="en-US" sz="2400" i="1" dirty="0" smtClean="0">
                        <a:latin typeface="Cambria Math"/>
                      </a:rPr>
                      <m:t> = </m:t>
                    </m:r>
                    <m:r>
                      <a:rPr lang="en-US" sz="2400" i="1" dirty="0" smtClean="0">
                        <a:latin typeface="Cambria Math"/>
                      </a:rPr>
                      <m:t>𝑉</m:t>
                    </m:r>
                    <m:r>
                      <a:rPr lang="en-US" sz="2400" i="1" dirty="0" smtClean="0">
                        <a:latin typeface="Cambria Math"/>
                      </a:rPr>
                      <m:t> – </m:t>
                    </m:r>
                    <m:r>
                      <a:rPr lang="en-US" sz="2400" i="1" dirty="0" smtClean="0">
                        <a:latin typeface="Cambria Math"/>
                      </a:rPr>
                      <m:t>𝑈</m:t>
                    </m:r>
                  </m:oMath>
                </a14:m>
                <a:r>
                  <a:rPr lang="en-US" sz="2400" dirty="0"/>
                  <a:t>: vertices connected by current partial tree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105A33A-8BB7-4726-BC28-47F1AB6DD1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" y="5486400"/>
                <a:ext cx="7772400" cy="914400"/>
              </a:xfrm>
              <a:prstGeom prst="rect">
                <a:avLst/>
              </a:prstGeom>
              <a:blipFill>
                <a:blip r:embed="rId2"/>
                <a:stretch>
                  <a:fillRect l="-549" t="-5333" b="-14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14D960D8-B5DB-4EE3-82F7-06D7242288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083" y="1366838"/>
            <a:ext cx="8239125" cy="3971925"/>
          </a:xfrm>
          <a:prstGeom prst="rect">
            <a:avLst/>
          </a:prstGeom>
          <a:ln w="19050" cap="sq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AB459EAE-DEC8-44D4-91AF-9DE715DE0C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3281362"/>
            <a:ext cx="6858000" cy="419100"/>
          </a:xfrm>
          <a:prstGeom prst="rect">
            <a:avLst/>
          </a:prstGeom>
          <a:solidFill>
            <a:srgbClr val="FF9F93">
              <a:alpha val="34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 b="0" dirty="0"/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24A1EC50-92BD-4E35-88F7-99BCC89E52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3815648"/>
            <a:ext cx="1981200" cy="419100"/>
          </a:xfrm>
          <a:prstGeom prst="rect">
            <a:avLst/>
          </a:prstGeom>
          <a:solidFill>
            <a:srgbClr val="92D050">
              <a:alpha val="34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399481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 autoUpdateAnimBg="0"/>
      <p:bldP spid="7" grpId="0" animBg="1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D6056DF4-F195-47DD-A896-9ECB2C341E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143000"/>
            <a:ext cx="8315325" cy="403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0EF683-EC95-4CF6-A7DF-3BCB08944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21DE4B-0F8E-451E-8D12-2F1860D3D0E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5410200"/>
                <a:ext cx="8229600" cy="746760"/>
              </a:xfrm>
            </p:spPr>
            <p:txBody>
              <a:bodyPr/>
              <a:lstStyle/>
              <a:p>
                <a:r>
                  <a:rPr lang="en-US" dirty="0"/>
                  <a:t>Suppose we grow the tree starting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21DE4B-0F8E-451E-8D12-2F1860D3D0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5410200"/>
                <a:ext cx="8229600" cy="746760"/>
              </a:xfrm>
              <a:blipFill>
                <a:blip r:embed="rId3"/>
                <a:stretch>
                  <a:fillRect l="-667" t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14E0AD3E-B433-472E-872E-A98AECFC151F}"/>
              </a:ext>
            </a:extLst>
          </p:cNvPr>
          <p:cNvGrpSpPr/>
          <p:nvPr/>
        </p:nvGrpSpPr>
        <p:grpSpPr>
          <a:xfrm>
            <a:off x="1028700" y="1773936"/>
            <a:ext cx="7086600" cy="2908300"/>
            <a:chOff x="990600" y="2057400"/>
            <a:chExt cx="7086600" cy="29083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13574D4-0318-41FD-B46E-FAA1B366CC2A}"/>
                </a:ext>
              </a:extLst>
            </p:cNvPr>
            <p:cNvCxnSpPr/>
            <p:nvPr/>
          </p:nvCxnSpPr>
          <p:spPr bwMode="auto">
            <a:xfrm flipH="1" flipV="1">
              <a:off x="990600" y="3708400"/>
              <a:ext cx="838200" cy="101600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07C787B-F261-4EA5-A089-6FE98F792BE8}"/>
                </a:ext>
              </a:extLst>
            </p:cNvPr>
            <p:cNvCxnSpPr/>
            <p:nvPr/>
          </p:nvCxnSpPr>
          <p:spPr bwMode="auto">
            <a:xfrm flipH="1">
              <a:off x="990600" y="2286000"/>
              <a:ext cx="838200" cy="92710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7484657-E575-49B0-95A9-FFBD375BE2F0}"/>
                </a:ext>
              </a:extLst>
            </p:cNvPr>
            <p:cNvCxnSpPr/>
            <p:nvPr/>
          </p:nvCxnSpPr>
          <p:spPr bwMode="auto">
            <a:xfrm flipH="1">
              <a:off x="2362200" y="4965700"/>
              <a:ext cx="1905000" cy="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BD6B4C6-3037-4489-A0F4-FD53CF436DCD}"/>
                </a:ext>
              </a:extLst>
            </p:cNvPr>
            <p:cNvCxnSpPr/>
            <p:nvPr/>
          </p:nvCxnSpPr>
          <p:spPr bwMode="auto">
            <a:xfrm flipH="1">
              <a:off x="4876800" y="4965700"/>
              <a:ext cx="1905000" cy="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1D29B7E-32DB-4BE9-82EB-E9F5EC47AB15}"/>
                </a:ext>
              </a:extLst>
            </p:cNvPr>
            <p:cNvCxnSpPr/>
            <p:nvPr/>
          </p:nvCxnSpPr>
          <p:spPr bwMode="auto">
            <a:xfrm flipH="1">
              <a:off x="3619500" y="3505200"/>
              <a:ext cx="1905000" cy="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16D5C39-778C-4A52-B7A8-7DC8E6F849F3}"/>
                </a:ext>
              </a:extLst>
            </p:cNvPr>
            <p:cNvCxnSpPr/>
            <p:nvPr/>
          </p:nvCxnSpPr>
          <p:spPr bwMode="auto">
            <a:xfrm flipH="1" flipV="1">
              <a:off x="3505200" y="3708400"/>
              <a:ext cx="838200" cy="101600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5DCF93-BD03-4C00-B390-27AE10D9526E}"/>
                </a:ext>
              </a:extLst>
            </p:cNvPr>
            <p:cNvCxnSpPr/>
            <p:nvPr/>
          </p:nvCxnSpPr>
          <p:spPr bwMode="auto">
            <a:xfrm flipH="1" flipV="1">
              <a:off x="7239000" y="2247900"/>
              <a:ext cx="838200" cy="101600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949F5CC-4E78-47B0-AB54-8E7EB8150E0C}"/>
                </a:ext>
              </a:extLst>
            </p:cNvPr>
            <p:cNvCxnSpPr/>
            <p:nvPr/>
          </p:nvCxnSpPr>
          <p:spPr bwMode="auto">
            <a:xfrm flipH="1">
              <a:off x="2362200" y="2057400"/>
              <a:ext cx="4419600" cy="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57071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F0871-3946-4E60-965A-74EE0DB3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Correctness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68E8A-ED5D-4D8F-A0DA-C9D01FAAA10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33400" y="3365938"/>
            <a:ext cx="8229600" cy="2727960"/>
          </a:xfrm>
        </p:spPr>
        <p:txBody>
          <a:bodyPr/>
          <a:lstStyle/>
          <a:p>
            <a:r>
              <a:rPr lang="en-US" sz="2400" b="0" kern="0" dirty="0"/>
              <a:t>Key to the correctness of </a:t>
            </a:r>
            <a:r>
              <a:rPr lang="en-US" sz="2400" b="0" kern="0" dirty="0" err="1"/>
              <a:t>PrimMST</a:t>
            </a:r>
            <a:r>
              <a:rPr lang="en-US" sz="2400" b="0" kern="0" dirty="0"/>
              <a:t> algorithm. </a:t>
            </a:r>
          </a:p>
          <a:p>
            <a:pPr lvl="1"/>
            <a:r>
              <a:rPr lang="en-US" sz="2400" b="0" i="1" kern="0" dirty="0"/>
              <a:t>Invariance</a:t>
            </a:r>
            <a:r>
              <a:rPr lang="en-US" sz="2400" b="0" kern="0" dirty="0"/>
              <a:t>: </a:t>
            </a:r>
          </a:p>
          <a:p>
            <a:pPr marL="457200" lvl="1" indent="0">
              <a:buNone/>
            </a:pPr>
            <a:r>
              <a:rPr lang="en-US" sz="2000" b="0" kern="0" dirty="0"/>
              <a:t>  	each time </a:t>
            </a:r>
            <a:r>
              <a:rPr lang="en-US" sz="2000" b="0" kern="0" dirty="0" err="1"/>
              <a:t>PrimMST</a:t>
            </a:r>
            <a:r>
              <a:rPr lang="en-US" sz="2000" b="0" kern="0" dirty="0"/>
              <a:t>() algorithm grows the partial tree (</a:t>
            </a:r>
            <a:r>
              <a:rPr lang="en-US" sz="2000" b="0" kern="0" dirty="0" err="1"/>
              <a:t>i.e</a:t>
            </a:r>
            <a:r>
              <a:rPr lang="en-US" sz="2000" b="0" kern="0" dirty="0"/>
              <a:t>, adds another edge to it), the invariance is that the new tree is still a subtree of </a:t>
            </a:r>
            <a:r>
              <a:rPr lang="en-US" sz="2000" b="0" i="1" kern="0" dirty="0">
                <a:solidFill>
                  <a:srgbClr val="C00000"/>
                </a:solidFill>
              </a:rPr>
              <a:t>some</a:t>
            </a:r>
            <a:r>
              <a:rPr lang="en-US" sz="2000" b="0" kern="0" dirty="0"/>
              <a:t> minimum spanning tree of input graph </a:t>
            </a:r>
            <a:r>
              <a:rPr lang="en-US" sz="2000" b="0" i="1" kern="0" dirty="0"/>
              <a:t>G</a:t>
            </a:r>
            <a:r>
              <a:rPr lang="en-US" sz="2000" b="0" kern="0" dirty="0"/>
              <a:t>. </a:t>
            </a:r>
          </a:p>
          <a:p>
            <a:pPr lvl="1"/>
            <a:r>
              <a:rPr lang="en-US" sz="2400" b="0" i="1" kern="0" dirty="0"/>
              <a:t>Termination</a:t>
            </a:r>
            <a:r>
              <a:rPr lang="en-US" sz="2400" b="0" kern="0" dirty="0"/>
              <a:t>:</a:t>
            </a:r>
          </a:p>
          <a:p>
            <a:pPr marL="457200" lvl="1" indent="0">
              <a:buNone/>
            </a:pPr>
            <a:r>
              <a:rPr lang="en-US" sz="2000" b="0" kern="0" dirty="0"/>
              <a:t>	when all nodes are connected, we obtain a MST of </a:t>
            </a:r>
            <a:r>
              <a:rPr lang="en-US" sz="2000" b="0" i="1" kern="0" dirty="0"/>
              <a:t>G</a:t>
            </a:r>
            <a:r>
              <a:rPr lang="en-US" sz="2000" b="0" kern="0" dirty="0"/>
              <a:t>. </a:t>
            </a:r>
          </a:p>
          <a:p>
            <a:pPr marL="457200" lvl="1" indent="0">
              <a:buNone/>
            </a:pPr>
            <a:r>
              <a:rPr lang="en-US" sz="2000" kern="0" dirty="0"/>
              <a:t>	</a:t>
            </a:r>
            <a:r>
              <a:rPr lang="en-US" sz="1800" i="1" kern="0" dirty="0"/>
              <a:t>(or if we cannot reach all nodes, then the input graph is not connected)</a:t>
            </a:r>
            <a:endParaRPr lang="en-US" sz="1800" b="0" i="1" kern="0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4">
                <a:extLst>
                  <a:ext uri="{FF2B5EF4-FFF2-40B4-BE49-F238E27FC236}">
                    <a16:creationId xmlns:a16="http://schemas.microsoft.com/office/drawing/2014/main" id="{C7E0E4D7-AF54-4A8B-A122-E536EF52B4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3400" y="1295400"/>
                <a:ext cx="8229600" cy="1905000"/>
              </a:xfrm>
              <a:prstGeom prst="rect">
                <a:avLst/>
              </a:prstGeom>
              <a:solidFill>
                <a:srgbClr val="92D050">
                  <a:alpha val="34000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2200" b="0" dirty="0">
                    <a:latin typeface="Segoe UI Semibold" panose="020B0702040204020203" pitchFamily="34" charset="0"/>
                  </a:rPr>
                  <a:t>MST Theorem:</a:t>
                </a:r>
              </a:p>
              <a:p>
                <a:pPr algn="ctr"/>
                <a:r>
                  <a:rPr lang="en-US" sz="2000" b="0" dirty="0"/>
                  <a:t>Let </a:t>
                </a:r>
                <a:r>
                  <a:rPr lang="en-US" sz="2000" b="0" i="1" dirty="0">
                    <a:solidFill>
                      <a:srgbClr val="0B1196"/>
                    </a:solidFill>
                  </a:rPr>
                  <a:t>T</a:t>
                </a:r>
                <a:r>
                  <a:rPr lang="en-US" sz="2000" b="0" dirty="0"/>
                  <a:t> be a sub-tree of a minimum spanning tree. </a:t>
                </a:r>
              </a:p>
              <a:p>
                <a:pPr algn="ctr"/>
                <a:r>
                  <a:rPr lang="en-US" sz="2000" b="0" dirty="0"/>
                  <a:t>If </a:t>
                </a:r>
                <a:r>
                  <a:rPr lang="en-US" sz="2000" b="0" i="1" dirty="0">
                    <a:solidFill>
                      <a:srgbClr val="0B1196"/>
                    </a:solidFill>
                  </a:rPr>
                  <a:t>e</a:t>
                </a:r>
                <a:r>
                  <a:rPr lang="en-US" sz="2000" b="0" dirty="0"/>
                  <a:t> is a minimum weight edge connecting </a:t>
                </a:r>
                <a:r>
                  <a:rPr lang="en-US" sz="2000" b="0" i="1" dirty="0">
                    <a:solidFill>
                      <a:srgbClr val="0B1196"/>
                    </a:solidFill>
                  </a:rPr>
                  <a:t>T</a:t>
                </a:r>
                <a:r>
                  <a:rPr lang="en-US" sz="2000" b="0" dirty="0"/>
                  <a:t> to some vertex </a:t>
                </a:r>
              </a:p>
              <a:p>
                <a:pPr algn="ctr"/>
                <a:r>
                  <a:rPr lang="en-US" sz="2000" b="0" dirty="0"/>
                  <a:t>not in </a:t>
                </a:r>
                <a:r>
                  <a:rPr lang="en-US" sz="2000" b="0" i="1" dirty="0">
                    <a:solidFill>
                      <a:srgbClr val="0B1196"/>
                    </a:solidFill>
                  </a:rPr>
                  <a:t>T</a:t>
                </a:r>
                <a:r>
                  <a:rPr lang="en-US" sz="2000" b="0" dirty="0"/>
                  <a:t>, then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0B1196"/>
                        </a:solidFill>
                        <a:latin typeface="Cambria Math"/>
                      </a:rPr>
                      <m:t>𝑇</m:t>
                    </m:r>
                    <m:r>
                      <a:rPr lang="en-US" sz="2000" b="0" i="1">
                        <a:solidFill>
                          <a:srgbClr val="0B1196"/>
                        </a:solidFill>
                        <a:latin typeface="Cambria Math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sz="2000" b="0" i="1">
                            <a:solidFill>
                              <a:srgbClr val="0B119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>
                            <a:solidFill>
                              <a:srgbClr val="0B1196"/>
                            </a:solidFill>
                            <a:latin typeface="Cambria Math"/>
                          </a:rPr>
                          <m:t>𝑒</m:t>
                        </m:r>
                      </m:e>
                    </m:d>
                    <m:r>
                      <a:rPr lang="en-US" sz="2000" b="0" i="1">
                        <a:solidFill>
                          <a:srgbClr val="0B1196"/>
                        </a:solidFill>
                        <a:latin typeface="Cambria Math"/>
                      </a:rPr>
                      <m:t> </m:t>
                    </m:r>
                  </m:oMath>
                </a14:m>
                <a:r>
                  <a:rPr lang="en-US" sz="2000" b="0" dirty="0"/>
                  <a:t>is a </a:t>
                </a:r>
                <a:r>
                  <a:rPr lang="en-US" sz="2000" b="0" dirty="0" err="1"/>
                  <a:t>subtree</a:t>
                </a:r>
                <a:r>
                  <a:rPr lang="en-US" sz="2000" b="0" dirty="0"/>
                  <a:t> of a  minimum spanning tree.  </a:t>
                </a:r>
                <a:endParaRPr lang="en-US" b="0" dirty="0"/>
              </a:p>
            </p:txBody>
          </p:sp>
        </mc:Choice>
        <mc:Fallback xmlns="">
          <p:sp>
            <p:nvSpPr>
              <p:cNvPr id="5" name="Rectangle 34">
                <a:extLst>
                  <a:ext uri="{FF2B5EF4-FFF2-40B4-BE49-F238E27FC236}">
                    <a16:creationId xmlns:a16="http://schemas.microsoft.com/office/drawing/2014/main" id="{C7E0E4D7-AF54-4A8B-A122-E536EF52B4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" y="1295400"/>
                <a:ext cx="82296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0584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14600"/>
            <a:ext cx="8229600" cy="1181100"/>
          </a:xfrm>
        </p:spPr>
        <p:txBody>
          <a:bodyPr/>
          <a:lstStyle/>
          <a:p>
            <a:pPr algn="ctr"/>
            <a:r>
              <a:rPr lang="en-US" sz="3600" dirty="0"/>
              <a:t>Implementation of Prim’s algorithm</a:t>
            </a:r>
          </a:p>
        </p:txBody>
      </p:sp>
    </p:spTree>
    <p:extLst>
      <p:ext uri="{BB962C8B-B14F-4D97-AF65-F5344CB8AC3E}">
        <p14:creationId xmlns:p14="http://schemas.microsoft.com/office/powerpoint/2010/main" val="1275369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1DF9C7C-13E9-481E-8379-08BA25A10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371600"/>
            <a:ext cx="7372350" cy="3581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99D620-096F-4669-B55F-24E961878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implementation of Prim’s </a:t>
            </a:r>
            <a:r>
              <a:rPr lang="en-US" dirty="0" err="1"/>
              <a:t>Alg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B8E5ACE6-484F-4EB6-A028-9BBC78773B5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33400" y="5029200"/>
                <a:ext cx="7772400" cy="12954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Naïve implementation: linear scan all edges to identify min-weight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smtClean="0">
                                <a:latin typeface="Cambria Math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40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 smtClean="0">
                            <a:latin typeface="Cambria Math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smtClean="0">
                                <a:latin typeface="Cambria Math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400" i="1" smtClean="0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 at each iteration</a:t>
                </a:r>
              </a:p>
              <a:p>
                <a:r>
                  <a:rPr lang="en-US" sz="2400" dirty="0"/>
                  <a:t>Total time complexity: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/>
                          </a:rPr>
                          <m:t>𝑉𝐸</m:t>
                        </m:r>
                      </m:e>
                    </m:d>
                    <m:r>
                      <a:rPr lang="en-US" sz="2400" i="1" smtClean="0">
                        <a:latin typeface="Cambria Math"/>
                      </a:rPr>
                      <m:t> 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B8E5ACE6-484F-4EB6-A028-9BBC78773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" y="5029200"/>
                <a:ext cx="7772400" cy="1295400"/>
              </a:xfrm>
              <a:prstGeom prst="rect">
                <a:avLst/>
              </a:prstGeom>
              <a:blipFill>
                <a:blip r:embed="rId3"/>
                <a:stretch>
                  <a:fillRect l="-549" t="-3756" r="-157" b="-1267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34">
            <a:extLst>
              <a:ext uri="{FF2B5EF4-FFF2-40B4-BE49-F238E27FC236}">
                <a16:creationId xmlns:a16="http://schemas.microsoft.com/office/drawing/2014/main" id="{06689309-25E8-4175-A770-9440CB4A88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3048000"/>
            <a:ext cx="6248400" cy="419100"/>
          </a:xfrm>
          <a:prstGeom prst="rect">
            <a:avLst/>
          </a:prstGeom>
          <a:solidFill>
            <a:srgbClr val="FF9F93">
              <a:alpha val="34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233979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 autoUpdateAnimBg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05F7-DE57-48A3-AD44-40A47C9BC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improvement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13A455-3E7C-42C9-AA33-666F95FAF5C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Storing costs at nodes</a:t>
                </a:r>
              </a:p>
              <a:p>
                <a:pPr lvl="1"/>
                <a:r>
                  <a:rPr lang="en-US" dirty="0"/>
                  <a:t>Each </a:t>
                </a:r>
                <a:r>
                  <a:rPr lang="en-US" dirty="0" err="1"/>
                  <a:t>unvisted</a:t>
                </a:r>
                <a:r>
                  <a:rPr lang="en-US" dirty="0"/>
                  <a:t> nodes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𝑈</m:t>
                    </m:r>
                  </m:oMath>
                </a14:m>
                <a:r>
                  <a:rPr lang="en-US" dirty="0"/>
                  <a:t> maintain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𝑐𝑜𝑠𝑡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which is the smallest weight of any edge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to visited nodes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13A455-3E7C-42C9-AA33-666F95FAF5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2C5665C0-898C-4B2C-96A5-192AE719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476" y="2514600"/>
            <a:ext cx="8001539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833559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07782E-7087-4D72-BCA3-426374409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1257300"/>
            <a:ext cx="7734300" cy="52959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000EE6-DBF0-478D-BFD0-FF287122C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first improvement</a:t>
            </a:r>
          </a:p>
        </p:txBody>
      </p:sp>
      <p:sp>
        <p:nvSpPr>
          <p:cNvPr id="6" name="Rectangle 34">
            <a:extLst>
              <a:ext uri="{FF2B5EF4-FFF2-40B4-BE49-F238E27FC236}">
                <a16:creationId xmlns:a16="http://schemas.microsoft.com/office/drawing/2014/main" id="{5550BE6F-C126-419F-B349-BC5CE841B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2400" y="4323593"/>
            <a:ext cx="6578600" cy="1905000"/>
          </a:xfrm>
          <a:prstGeom prst="rect">
            <a:avLst/>
          </a:prstGeom>
          <a:solidFill>
            <a:srgbClr val="92D050">
              <a:alpha val="34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 b="0" dirty="0"/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FE5BE09-2566-4CF4-B5BD-E1419F2EDF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3256793"/>
            <a:ext cx="6578600" cy="381000"/>
          </a:xfrm>
          <a:prstGeom prst="rect">
            <a:avLst/>
          </a:prstGeom>
          <a:solidFill>
            <a:srgbClr val="FF9F93">
              <a:alpha val="34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75680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 autoUpdateAnimBg="0"/>
      <p:bldP spid="7" grpId="0" animBg="1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77511-4A0F-438C-B44A-FCF5BE121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 implementation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3C3E9-D89D-4D1A-BAFA-565FA893DF8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Similar to </a:t>
            </a:r>
            <a:r>
              <a:rPr lang="en-US" dirty="0">
                <a:solidFill>
                  <a:srgbClr val="700000"/>
                </a:solidFill>
              </a:rPr>
              <a:t>Dijkstra</a:t>
            </a:r>
            <a:r>
              <a:rPr lang="en-US" dirty="0"/>
              <a:t> algorithm, we can use priority-queue to significantly speed up the time complexity! </a:t>
            </a:r>
          </a:p>
          <a:p>
            <a:endParaRPr lang="en-US" dirty="0"/>
          </a:p>
          <a:p>
            <a:r>
              <a:rPr lang="en-US" dirty="0"/>
              <a:t>In particular, we need a data structure to maintain the costs of unvisited nodes, which supports: </a:t>
            </a:r>
          </a:p>
          <a:p>
            <a:pPr lvl="1"/>
            <a:r>
              <a:rPr lang="en-US" dirty="0"/>
              <a:t>deleting the node with minimum cost (</a:t>
            </a:r>
            <a:r>
              <a:rPr lang="en-US" dirty="0">
                <a:solidFill>
                  <a:srgbClr val="0070C0"/>
                </a:solidFill>
                <a:latin typeface="Arial Nova Cond" panose="020B0506020202020204" pitchFamily="34" charset="0"/>
              </a:rPr>
              <a:t>.</a:t>
            </a:r>
            <a:r>
              <a:rPr lang="en-US" dirty="0" err="1">
                <a:solidFill>
                  <a:srgbClr val="0070C0"/>
                </a:solidFill>
                <a:latin typeface="Arial Nova Cond" panose="020B0506020202020204" pitchFamily="34" charset="0"/>
              </a:rPr>
              <a:t>extract_min</a:t>
            </a:r>
            <a:r>
              <a:rPr lang="en-US" dirty="0">
                <a:solidFill>
                  <a:srgbClr val="0070C0"/>
                </a:solidFill>
                <a:latin typeface="Arial Nova Cond" panose="020B0506020202020204" pitchFamily="34" charset="0"/>
              </a:rPr>
              <a:t> !</a:t>
            </a:r>
            <a:r>
              <a:rPr lang="en-US" dirty="0"/>
              <a:t>) </a:t>
            </a:r>
          </a:p>
          <a:p>
            <a:pPr lvl="1"/>
            <a:r>
              <a:rPr lang="en-US" dirty="0"/>
              <a:t>update (decrease) the cost value stored at a node (</a:t>
            </a:r>
            <a:r>
              <a:rPr lang="en-US" dirty="0" err="1">
                <a:solidFill>
                  <a:srgbClr val="0070C0"/>
                </a:solidFill>
                <a:latin typeface="Arial Nova Cond" panose="020B0506020202020204" pitchFamily="34" charset="0"/>
              </a:rPr>
              <a:t>change_priority</a:t>
            </a:r>
            <a:r>
              <a:rPr lang="en-US" dirty="0">
                <a:solidFill>
                  <a:srgbClr val="0070C0"/>
                </a:solidFill>
                <a:latin typeface="Arial Nova Cond" panose="020B0506020202020204" pitchFamily="34" charset="0"/>
              </a:rPr>
              <a:t> !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r>
              <a:rPr lang="en-US" dirty="0"/>
              <a:t>In our case,  a </a:t>
            </a:r>
            <a:r>
              <a:rPr lang="en-US" dirty="0">
                <a:solidFill>
                  <a:srgbClr val="0070C0"/>
                </a:solidFill>
              </a:rPr>
              <a:t>priority queue </a:t>
            </a:r>
            <a:r>
              <a:rPr lang="en-US" dirty="0"/>
              <a:t>stores (key, value) pairs, where key refers to identity of some node, while value is the cost of this node.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44458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63D4F-CC65-435F-ABA7-35C94D24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Heap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7C55AD-5D8F-4036-B49C-2C33A3A078A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 priority queue can be implemented using a (min) heap</a:t>
                </a:r>
              </a:p>
              <a:p>
                <a:r>
                  <a:rPr lang="en-US" dirty="0"/>
                  <a:t>min-heap implementation of priority queue: </a:t>
                </a:r>
              </a:p>
              <a:p>
                <a:pPr lvl="1"/>
                <a:r>
                  <a:rPr lang="en-US" dirty="0" err="1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PriorityQueue</a:t>
                </a:r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(priorities)</a:t>
                </a:r>
                <a:r>
                  <a:rPr lang="en-US" dirty="0"/>
                  <a:t>: 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 </a:t>
                </a:r>
                <a:r>
                  <a:rPr lang="en-US" dirty="0"/>
                  <a:t>time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priorities</a:t>
                </a:r>
                <a:r>
                  <a:rPr lang="en-US" dirty="0"/>
                  <a:t>| 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.</a:t>
                </a:r>
                <a:r>
                  <a:rPr lang="en-US" dirty="0" err="1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extract_min</a:t>
                </a:r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() </a:t>
                </a:r>
                <a:r>
                  <a:rPr lang="en-US" dirty="0"/>
                  <a:t>: 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 </a:t>
                </a:r>
                <a:r>
                  <a:rPr lang="en-US" dirty="0"/>
                  <a:t>time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 </a:t>
                </a:r>
                <a:r>
                  <a:rPr lang="en-US" dirty="0"/>
                  <a:t>is the size of priority queue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.</a:t>
                </a:r>
                <a:r>
                  <a:rPr lang="en-US" dirty="0" err="1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change_priority</a:t>
                </a:r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(key, value) : </a:t>
                </a:r>
                <a:r>
                  <a:rPr lang="en-US" dirty="0"/>
                  <a:t>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 </a:t>
                </a:r>
                <a:r>
                  <a:rPr lang="en-US" dirty="0"/>
                  <a:t>time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  <a:latin typeface="Arial Nova Cond" panose="020B0506020202020204" pitchFamily="34" charset="0"/>
                  </a:rPr>
                  <a:t> </a:t>
                </a:r>
                <a:r>
                  <a:rPr lang="en-US" dirty="0"/>
                  <a:t>is the size of priority queue</a:t>
                </a:r>
                <a:endParaRPr lang="en-US" dirty="0">
                  <a:solidFill>
                    <a:srgbClr val="0070C0"/>
                  </a:solidFill>
                  <a:latin typeface="Arial Nova Cond" panose="020B0506020202020204" pitchFamily="34" charset="0"/>
                </a:endParaRPr>
              </a:p>
              <a:p>
                <a:pPr lvl="1"/>
                <a:endParaRPr lang="en-US" dirty="0">
                  <a:solidFill>
                    <a:srgbClr val="0070C0"/>
                  </a:solidFill>
                  <a:latin typeface="Arial Nova Cond" panose="020B0506020202020204" pitchFamily="34" charset="0"/>
                </a:endParaRP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7C55AD-5D8F-4036-B49C-2C33A3A078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91355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8AD70-4D8C-4152-9204-EFE43FA11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 of Prim’s </a:t>
            </a:r>
            <a:r>
              <a:rPr lang="en-US" dirty="0" err="1"/>
              <a:t>Alg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E12E4-F772-4821-876A-4E73A7A7AB5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6851809-78A4-4554-9EF7-7BE7DD244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44" y="1584304"/>
            <a:ext cx="8229600" cy="420755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304173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7DE71-8364-47F2-98EC-7E1EAAE21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30A7C1-C073-479D-B979-4409E5D71D5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We use min-heap to implement the priority queue </a:t>
                </a:r>
              </a:p>
              <a:p>
                <a:r>
                  <a:rPr lang="en-US" dirty="0"/>
                  <a:t>The maximum size of </a:t>
                </a:r>
                <a:r>
                  <a:rPr lang="en-US" i="1" dirty="0"/>
                  <a:t>Q</a:t>
                </a:r>
                <a:r>
                  <a:rPr lang="en-US" dirty="0"/>
                  <a:t> is </a:t>
                </a:r>
                <a:r>
                  <a:rPr lang="en-US" i="1" dirty="0"/>
                  <a:t>V</a:t>
                </a:r>
              </a:p>
              <a:p>
                <a:r>
                  <a:rPr lang="en-US" dirty="0"/>
                  <a:t># iterations of While-loop? </a:t>
                </a:r>
              </a:p>
              <a:p>
                <a:pPr lvl="1"/>
                <a:r>
                  <a:rPr lang="en-US" i="1" dirty="0"/>
                  <a:t>V</a:t>
                </a:r>
              </a:p>
              <a:p>
                <a:r>
                  <a:rPr lang="en-US" dirty="0"/>
                  <a:t># iterations of each call of the inner for-loop? 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deg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Total #times lines 7—10 are executed:</a:t>
                </a:r>
              </a:p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∈</m:t>
                        </m:r>
                        <m:r>
                          <a:rPr lang="en-US" b="0" i="1" smtClean="0">
                            <a:latin typeface="Cambria Math"/>
                          </a:rPr>
                          <m:t>𝑉</m:t>
                        </m:r>
                      </m:sub>
                      <m:sup/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deg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nary>
                    <m:r>
                      <a:rPr lang="en-US" b="0" i="0" smtClean="0">
                        <a:latin typeface="Cambria Math" panose="02040503050406030204" pitchFamily="18" charset="0"/>
                      </a:rPr>
                      <m:t>=2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30A7C1-C073-479D-B979-4409E5D71D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1669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C3B59-B7BA-4EEB-BFC9-C55D60300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4AEC7D-A1CA-491B-9121-353AC3AD859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4191000" cy="3657600"/>
              </a:xfrm>
            </p:spPr>
            <p:txBody>
              <a:bodyPr/>
              <a:lstStyle/>
              <a:p>
                <a:r>
                  <a:rPr lang="en-US" sz="2400" dirty="0"/>
                  <a:t>Initialize </a:t>
                </a:r>
                <a:r>
                  <a:rPr lang="en-US" sz="2400" dirty="0" err="1"/>
                  <a:t>priority_queue</a:t>
                </a:r>
                <a:endParaRPr lang="en-US" sz="2000" dirty="0"/>
              </a:p>
              <a:p>
                <a:pPr lvl="1"/>
                <a:r>
                  <a:rPr lang="en-US" sz="2000" dirty="0"/>
                  <a:t>Total cost: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0" dirty="0"/>
              </a:p>
              <a:p>
                <a:endParaRPr lang="en-US" sz="2400" dirty="0"/>
              </a:p>
              <a:p>
                <a:r>
                  <a:rPr lang="en-US" sz="2400" dirty="0" err="1"/>
                  <a:t>extract_min</a:t>
                </a:r>
                <a:endParaRPr lang="en-US" sz="2400" dirty="0"/>
              </a:p>
              <a:p>
                <a:pPr lvl="1"/>
                <a:r>
                  <a:rPr lang="en-US" sz="2000" dirty="0"/>
                  <a:t>Total #: V</a:t>
                </a:r>
              </a:p>
              <a:p>
                <a:pPr lvl="1"/>
                <a:r>
                  <a:rPr lang="en-US" sz="2000" dirty="0"/>
                  <a:t>Total cost: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latin typeface="Cambria Math"/>
                      </a:rPr>
                      <m:t>(</m:t>
                    </m:r>
                    <m:r>
                      <a:rPr lang="en-US" sz="2000" i="1">
                        <a:latin typeface="Cambria Math"/>
                      </a:rPr>
                      <m:t>𝑉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/>
                          </a:rPr>
                          <m:t>lg</m:t>
                        </m:r>
                      </m:fName>
                      <m:e>
                        <m:r>
                          <a:rPr lang="en-US" sz="2000" i="1">
                            <a:latin typeface="Cambria Math"/>
                          </a:rPr>
                          <m:t>𝑉</m:t>
                        </m:r>
                        <m:r>
                          <a:rPr lang="en-US" sz="2000" i="1">
                            <a:latin typeface="Cambria Math"/>
                          </a:rPr>
                          <m:t>) </m:t>
                        </m:r>
                      </m:e>
                    </m:func>
                  </m:oMath>
                </a14:m>
                <a:endParaRPr lang="en-US" sz="200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4AEC7D-A1CA-491B-9121-353AC3AD85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4191000" cy="3657600"/>
              </a:xfrm>
              <a:blipFill>
                <a:blip r:embed="rId2"/>
                <a:stretch>
                  <a:fillRect l="-101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1ADF324-F638-4C9A-8005-7F070FCC993C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953000" y="1295400"/>
                <a:ext cx="4191000" cy="36576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b="0" kern="0" dirty="0"/>
                  <a:t>decrease_priority</a:t>
                </a:r>
                <a:endParaRPr lang="en-US" sz="2000" b="0" kern="0" dirty="0"/>
              </a:p>
              <a:p>
                <a:pPr lvl="1"/>
                <a:r>
                  <a:rPr lang="en-US" sz="2000" b="0" kern="0" dirty="0"/>
                  <a:t>Total #: at most 2E</a:t>
                </a:r>
              </a:p>
              <a:p>
                <a:pPr lvl="1"/>
                <a:r>
                  <a:rPr lang="en-US" sz="2000" b="0" kern="0" dirty="0"/>
                  <a:t>Total cost: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kern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2000" b="0" i="1" kern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kern="0" smtClean="0">
                        <a:latin typeface="Cambria Math" panose="02040503050406030204" pitchFamily="18" charset="0"/>
                      </a:rPr>
                      <m:t>𝐸</m:t>
                    </m:r>
                    <m:func>
                      <m:funcPr>
                        <m:ctrlPr>
                          <a:rPr lang="en-US" sz="2000" b="0" i="1" kern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kern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kern="0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kern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1600" b="0" kern="0" dirty="0"/>
              </a:p>
              <a:p>
                <a:pPr lvl="1"/>
                <a:endParaRPr lang="en-US" sz="2000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1ADF324-F638-4C9A-8005-7F070FCC9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3000" y="1295400"/>
                <a:ext cx="4191000" cy="3657600"/>
              </a:xfrm>
              <a:prstGeom prst="rect">
                <a:avLst/>
              </a:prstGeom>
              <a:blipFill>
                <a:blip r:embed="rId3"/>
                <a:stretch>
                  <a:fillRect l="-1019" t="-1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4">
                <a:extLst>
                  <a:ext uri="{FF2B5EF4-FFF2-40B4-BE49-F238E27FC236}">
                    <a16:creationId xmlns:a16="http://schemas.microsoft.com/office/drawing/2014/main" id="{F5BBFBF3-4DE3-454E-BD16-D850D44A86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7400" y="5105400"/>
                <a:ext cx="4800600" cy="895350"/>
              </a:xfrm>
              <a:prstGeom prst="rect">
                <a:avLst/>
              </a:prstGeom>
              <a:solidFill>
                <a:srgbClr val="FF9F93">
                  <a:alpha val="34000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2400" b="0" dirty="0"/>
                  <a:t>Total time complexity: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/>
                                </a:rPr>
                                <m:t>𝑉</m:t>
                              </m:r>
                              <m:r>
                                <a:rPr lang="en-US" sz="2400" b="0" i="1" smtClean="0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/>
                                </a:rPr>
                                <m:t>𝐸</m:t>
                              </m:r>
                            </m:e>
                          </m:d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/>
                                </a:rPr>
                                <m:t>lg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/>
                                </a:rPr>
                                <m:t>𝑉</m:t>
                              </m:r>
                              <m:r>
                                <a:rPr lang="en-US" sz="2400" b="0" i="1" smtClean="0">
                                  <a:latin typeface="Cambria Math"/>
                                </a:rPr>
                                <m:t> 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5" name="Rectangle 34">
                <a:extLst>
                  <a:ext uri="{FF2B5EF4-FFF2-40B4-BE49-F238E27FC236}">
                    <a16:creationId xmlns:a16="http://schemas.microsoft.com/office/drawing/2014/main" id="{F5BBFBF3-4DE3-454E-BD16-D850D44A86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57400" y="5105400"/>
                <a:ext cx="4800600" cy="895350"/>
              </a:xfrm>
              <a:prstGeom prst="rect">
                <a:avLst/>
              </a:prstGeom>
              <a:blipFill>
                <a:blip r:embed="rId4"/>
                <a:stretch>
                  <a:fillRect t="-2703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2485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 autoUpdateAnimBg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D7326-0AF0-467D-9E2B-8C3708EFB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2BD5DB8-B9FC-4B3C-AE6B-70D95F299850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752600"/>
            <a:ext cx="7051431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327B2F57-83A9-4D6F-854B-98CFE262E981}"/>
              </a:ext>
            </a:extLst>
          </p:cNvPr>
          <p:cNvGrpSpPr/>
          <p:nvPr/>
        </p:nvGrpSpPr>
        <p:grpSpPr>
          <a:xfrm>
            <a:off x="1485898" y="2209800"/>
            <a:ext cx="5905501" cy="2540000"/>
            <a:chOff x="1752600" y="3276600"/>
            <a:chExt cx="5715000" cy="24638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E6B4E9F-C9F8-489A-AAC3-952E7BF6AD74}"/>
                </a:ext>
              </a:extLst>
            </p:cNvPr>
            <p:cNvCxnSpPr/>
            <p:nvPr/>
          </p:nvCxnSpPr>
          <p:spPr bwMode="auto">
            <a:xfrm flipV="1">
              <a:off x="2743200" y="3505200"/>
              <a:ext cx="0" cy="213360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5D04214-96E9-444F-800B-6E8B5901CE3F}"/>
                </a:ext>
              </a:extLst>
            </p:cNvPr>
            <p:cNvCxnSpPr/>
            <p:nvPr/>
          </p:nvCxnSpPr>
          <p:spPr bwMode="auto">
            <a:xfrm flipV="1">
              <a:off x="1752600" y="3505200"/>
              <a:ext cx="762000" cy="91440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C707710-947A-4CBB-96DF-47942651314F}"/>
                </a:ext>
              </a:extLst>
            </p:cNvPr>
            <p:cNvCxnSpPr/>
            <p:nvPr/>
          </p:nvCxnSpPr>
          <p:spPr bwMode="auto">
            <a:xfrm>
              <a:off x="2971800" y="3276600"/>
              <a:ext cx="1371600" cy="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2C5E916-5E6C-4261-825E-B5966DD6F09A}"/>
                </a:ext>
              </a:extLst>
            </p:cNvPr>
            <p:cNvCxnSpPr/>
            <p:nvPr/>
          </p:nvCxnSpPr>
          <p:spPr bwMode="auto">
            <a:xfrm>
              <a:off x="4876800" y="3276600"/>
              <a:ext cx="1371600" cy="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1475BD-48A2-4430-8A00-E6647558CAEA}"/>
                </a:ext>
              </a:extLst>
            </p:cNvPr>
            <p:cNvCxnSpPr/>
            <p:nvPr/>
          </p:nvCxnSpPr>
          <p:spPr bwMode="auto">
            <a:xfrm flipV="1">
              <a:off x="4851400" y="3429000"/>
              <a:ext cx="1371600" cy="101600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1DB9B6-ADE6-4F1E-941A-379EBB93EA11}"/>
                </a:ext>
              </a:extLst>
            </p:cNvPr>
            <p:cNvCxnSpPr/>
            <p:nvPr/>
          </p:nvCxnSpPr>
          <p:spPr bwMode="auto">
            <a:xfrm flipH="1" flipV="1">
              <a:off x="4851400" y="4724400"/>
              <a:ext cx="1371600" cy="101600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6270E21-26BE-4242-A4C8-C46C181112CB}"/>
                </a:ext>
              </a:extLst>
            </p:cNvPr>
            <p:cNvCxnSpPr/>
            <p:nvPr/>
          </p:nvCxnSpPr>
          <p:spPr bwMode="auto">
            <a:xfrm flipH="1" flipV="1">
              <a:off x="6591300" y="3454400"/>
              <a:ext cx="876300" cy="965200"/>
            </a:xfrm>
            <a:prstGeom prst="line">
              <a:avLst/>
            </a:prstGeom>
            <a:ln w="4762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4675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A9EDF-C83C-468C-ADF1-99AE66BC0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with Dijkstra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01EF0-7917-4800-B527-33007A0ED62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Dijkstra: </a:t>
            </a:r>
          </a:p>
          <a:p>
            <a:pPr lvl="1"/>
            <a:r>
              <a:rPr lang="en-US" dirty="0"/>
              <a:t>Each node maintains the best distance estimate from source to the current node</a:t>
            </a:r>
          </a:p>
          <a:p>
            <a:r>
              <a:rPr lang="en-US" dirty="0"/>
              <a:t>Prim’s:</a:t>
            </a:r>
          </a:p>
          <a:p>
            <a:pPr lvl="1"/>
            <a:r>
              <a:rPr lang="en-US" dirty="0"/>
              <a:t>Each node (not yet visited) maintains the minimum weight of any edge to reach a visited-node. </a:t>
            </a:r>
          </a:p>
        </p:txBody>
      </p:sp>
    </p:spTree>
    <p:extLst>
      <p:ext uri="{BB962C8B-B14F-4D97-AF65-F5344CB8AC3E}">
        <p14:creationId xmlns:p14="http://schemas.microsoft.com/office/powerpoint/2010/main" val="33094530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2F578-0071-43B9-8E8A-687E48F93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with Dijkstra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34CC5-A33B-4BDD-966B-7F72235BE5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38F528-C3ED-4AD0-8293-F628AD6840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800" y="1447800"/>
            <a:ext cx="5867400" cy="46101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28744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0F309-036E-4903-9768-AB9ED4A04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and remarks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BCCB68-38BB-40EA-8D94-E404F1A67D9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181600"/>
              </a:xfrm>
            </p:spPr>
            <p:txBody>
              <a:bodyPr/>
              <a:lstStyle/>
              <a:p>
                <a:r>
                  <a:rPr lang="en-US" dirty="0"/>
                  <a:t>Prim’s algorithm: </a:t>
                </a:r>
              </a:p>
              <a:p>
                <a:pPr lvl="1"/>
                <a:r>
                  <a:rPr lang="en-US" dirty="0"/>
                  <a:t>A greedy algorithm which repeatedly choose the minimum-weight edge to reach an unvisited node</a:t>
                </a:r>
              </a:p>
              <a:p>
                <a:pPr lvl="1"/>
                <a:r>
                  <a:rPr lang="en-US" dirty="0"/>
                  <a:t>Share similarity to Dijkstra algorithm</a:t>
                </a:r>
              </a:p>
              <a:p>
                <a:pPr lvl="1"/>
                <a:r>
                  <a:rPr lang="en-US" dirty="0"/>
                  <a:t>Runs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func>
                          <m:func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time using min-heap </a:t>
                </a:r>
              </a:p>
              <a:p>
                <a:pPr lvl="1"/>
                <a:endParaRPr lang="en-US" sz="1000" dirty="0"/>
              </a:p>
              <a:p>
                <a:r>
                  <a:rPr lang="en-US" sz="2400" dirty="0"/>
                  <a:t>Similar to Dijkstra algorithm, we can further improve the time complexity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400" dirty="0"/>
                  <a:t> using Fibonacci heap, which is a more efficient implementation of priority queue. </a:t>
                </a:r>
              </a:p>
              <a:p>
                <a:endParaRPr lang="en-US" sz="1000" dirty="0"/>
              </a:p>
              <a:p>
                <a:r>
                  <a:rPr lang="en-US" sz="2400" dirty="0"/>
                  <a:t>Next time, </a:t>
                </a:r>
              </a:p>
              <a:p>
                <a:pPr lvl="1"/>
                <a:r>
                  <a:rPr lang="en-US" sz="2100" dirty="0"/>
                  <a:t>Another greedy algorithm, called Kruskal algorithm, which has other properties too.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BCCB68-38BB-40EA-8D94-E404F1A67D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181600"/>
              </a:xfrm>
              <a:blipFill>
                <a:blip r:embed="rId2"/>
                <a:stretch>
                  <a:fillRect l="-667" t="-1059" r="-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53345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212753721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20003</TotalTime>
  <Words>1747</Words>
  <Application>Microsoft Office PowerPoint</Application>
  <PresentationFormat>On-screen Show (4:3)</PresentationFormat>
  <Paragraphs>208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37</vt:i4>
      </vt:variant>
    </vt:vector>
  </HeadingPairs>
  <TitlesOfParts>
    <vt:vector size="50" baseType="lpstr">
      <vt:lpstr>Gill Sans MT</vt:lpstr>
      <vt:lpstr>Calibri</vt:lpstr>
      <vt:lpstr>Wingdings 3</vt:lpstr>
      <vt:lpstr>Arial Nova Cond</vt:lpstr>
      <vt:lpstr>Wingdings</vt:lpstr>
      <vt:lpstr>Arial</vt:lpstr>
      <vt:lpstr>Bookman Old Style</vt:lpstr>
      <vt:lpstr>Segoe UI Semibold</vt:lpstr>
      <vt:lpstr>Cambria Math</vt:lpstr>
      <vt:lpstr>Calibri Light</vt:lpstr>
      <vt:lpstr>Origin</vt:lpstr>
      <vt:lpstr>1_Custom Design</vt:lpstr>
      <vt:lpstr>Custom Design</vt:lpstr>
      <vt:lpstr>DSC40B: Theoretical Foundations of Data Science II </vt:lpstr>
      <vt:lpstr>Previously </vt:lpstr>
      <vt:lpstr>Trees, spanning trees, and minimum spanning tree </vt:lpstr>
      <vt:lpstr>Trees</vt:lpstr>
      <vt:lpstr>Alternative definition</vt:lpstr>
      <vt:lpstr>Remarks</vt:lpstr>
      <vt:lpstr>Spanning Tree</vt:lpstr>
      <vt:lpstr>Spanning Tree</vt:lpstr>
      <vt:lpstr>Minimum spanning tree (MST)</vt:lpstr>
      <vt:lpstr>MSTs</vt:lpstr>
      <vt:lpstr>Motivation and properties of MST</vt:lpstr>
      <vt:lpstr>Motivation</vt:lpstr>
      <vt:lpstr>MST Problem</vt:lpstr>
      <vt:lpstr>Key property</vt:lpstr>
      <vt:lpstr>Key property</vt:lpstr>
      <vt:lpstr>First greedy algorithm for MST: Prim’s algorithm</vt:lpstr>
      <vt:lpstr>General greedy idea: </vt:lpstr>
      <vt:lpstr>Example</vt:lpstr>
      <vt:lpstr>Two greedy algorithms</vt:lpstr>
      <vt:lpstr>Idea for Prim’s algorithm</vt:lpstr>
      <vt:lpstr>High level outline (not code)</vt:lpstr>
      <vt:lpstr>Example</vt:lpstr>
      <vt:lpstr>Correctness</vt:lpstr>
      <vt:lpstr>Implementation of Prim’s algorithm</vt:lpstr>
      <vt:lpstr>Naïve implementation of Prim’s Alg</vt:lpstr>
      <vt:lpstr>First improvement</vt:lpstr>
      <vt:lpstr>Outline of first improvement</vt:lpstr>
      <vt:lpstr>Better implementation </vt:lpstr>
      <vt:lpstr>Recall Heap implementation</vt:lpstr>
      <vt:lpstr>Final implementation of Prim’s Alg</vt:lpstr>
      <vt:lpstr>Time complexity analysis</vt:lpstr>
      <vt:lpstr>PowerPoint Presentation</vt:lpstr>
      <vt:lpstr>Example</vt:lpstr>
      <vt:lpstr>Comparison with Dijkstra algorithm</vt:lpstr>
      <vt:lpstr>Comparison with Dijkstra</vt:lpstr>
      <vt:lpstr>Summary and remarks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1276</cp:revision>
  <dcterms:created xsi:type="dcterms:W3CDTF">2006-08-16T00:00:00Z</dcterms:created>
  <dcterms:modified xsi:type="dcterms:W3CDTF">2021-03-01T19:37:22Z</dcterms:modified>
</cp:coreProperties>
</file>