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  <p:sldMasterId id="2147483681" r:id="rId2"/>
    <p:sldMasterId id="2147483668" r:id="rId3"/>
  </p:sldMasterIdLst>
  <p:notesMasterIdLst>
    <p:notesMasterId r:id="rId53"/>
  </p:notesMasterIdLst>
  <p:sldIdLst>
    <p:sldId id="256" r:id="rId4"/>
    <p:sldId id="779" r:id="rId5"/>
    <p:sldId id="785" r:id="rId6"/>
    <p:sldId id="812" r:id="rId7"/>
    <p:sldId id="813" r:id="rId8"/>
    <p:sldId id="814" r:id="rId9"/>
    <p:sldId id="848" r:id="rId10"/>
    <p:sldId id="849" r:id="rId11"/>
    <p:sldId id="850" r:id="rId12"/>
    <p:sldId id="851" r:id="rId13"/>
    <p:sldId id="852" r:id="rId14"/>
    <p:sldId id="887" r:id="rId15"/>
    <p:sldId id="888" r:id="rId16"/>
    <p:sldId id="889" r:id="rId17"/>
    <p:sldId id="890" r:id="rId18"/>
    <p:sldId id="891" r:id="rId19"/>
    <p:sldId id="892" r:id="rId20"/>
    <p:sldId id="894" r:id="rId21"/>
    <p:sldId id="895" r:id="rId22"/>
    <p:sldId id="896" r:id="rId23"/>
    <p:sldId id="897" r:id="rId24"/>
    <p:sldId id="898" r:id="rId25"/>
    <p:sldId id="893" r:id="rId26"/>
    <p:sldId id="899" r:id="rId27"/>
    <p:sldId id="853" r:id="rId28"/>
    <p:sldId id="864" r:id="rId29"/>
    <p:sldId id="865" r:id="rId30"/>
    <p:sldId id="866" r:id="rId31"/>
    <p:sldId id="857" r:id="rId32"/>
    <p:sldId id="867" r:id="rId33"/>
    <p:sldId id="859" r:id="rId34"/>
    <p:sldId id="871" r:id="rId35"/>
    <p:sldId id="869" r:id="rId36"/>
    <p:sldId id="872" r:id="rId37"/>
    <p:sldId id="873" r:id="rId38"/>
    <p:sldId id="874" r:id="rId39"/>
    <p:sldId id="875" r:id="rId40"/>
    <p:sldId id="879" r:id="rId41"/>
    <p:sldId id="876" r:id="rId42"/>
    <p:sldId id="900" r:id="rId43"/>
    <p:sldId id="877" r:id="rId44"/>
    <p:sldId id="878" r:id="rId45"/>
    <p:sldId id="880" r:id="rId46"/>
    <p:sldId id="881" r:id="rId47"/>
    <p:sldId id="882" r:id="rId48"/>
    <p:sldId id="883" r:id="rId49"/>
    <p:sldId id="886" r:id="rId50"/>
    <p:sldId id="884" r:id="rId51"/>
    <p:sldId id="811" r:id="rId52"/>
  </p:sldIdLst>
  <p:sldSz cx="9144000" cy="6858000" type="screen4x3"/>
  <p:notesSz cx="6858000" cy="9144000"/>
  <p:embeddedFontLst>
    <p:embeddedFont>
      <p:font typeface="Bookman Old Style" panose="02050604050505020204" pitchFamily="18" charset="0"/>
      <p:regular r:id="rId54"/>
      <p:bold r:id="rId55"/>
      <p:italic r:id="rId56"/>
      <p:boldItalic r:id="rId57"/>
    </p:embeddedFont>
    <p:embeddedFont>
      <p:font typeface="Calibri" panose="020F0502020204030204" pitchFamily="34" charset="0"/>
      <p:regular r:id="rId58"/>
      <p:bold r:id="rId59"/>
      <p:italic r:id="rId60"/>
      <p:boldItalic r:id="rId61"/>
    </p:embeddedFont>
    <p:embeddedFont>
      <p:font typeface="Calibri Light" panose="020F0302020204030204" pitchFamily="34" charset="0"/>
      <p:regular r:id="rId62"/>
      <p:italic r:id="rId63"/>
    </p:embeddedFont>
    <p:embeddedFont>
      <p:font typeface="Cambria Math" panose="02040503050406030204" pitchFamily="18" charset="0"/>
      <p:regular r:id="rId64"/>
    </p:embeddedFont>
    <p:embeddedFont>
      <p:font typeface="Gill Sans MT" panose="020B0502020104020203" pitchFamily="34" charset="0"/>
      <p:regular r:id="rId65"/>
      <p:bold r:id="rId66"/>
      <p:italic r:id="rId67"/>
      <p:boldItalic r:id="rId68"/>
    </p:embeddedFont>
    <p:embeddedFont>
      <p:font typeface="Wingdings 3" panose="05040102010807070707" pitchFamily="18" charset="2"/>
      <p:regular r:id="rId69"/>
    </p:embeddedFont>
  </p:embeddedFontLst>
  <p:custDataLst>
    <p:tags r:id="rId70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0000"/>
    <a:srgbClr val="0B0E8F"/>
    <a:srgbClr val="FF9900"/>
    <a:srgbClr val="FFFFCC"/>
    <a:srgbClr val="46464C"/>
    <a:srgbClr val="6E7792"/>
    <a:srgbClr val="1F0C64"/>
    <a:srgbClr val="9FA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0909" autoAdjust="0"/>
  </p:normalViewPr>
  <p:slideViewPr>
    <p:cSldViewPr>
      <p:cViewPr varScale="1">
        <p:scale>
          <a:sx n="61" d="100"/>
          <a:sy n="61" d="100"/>
        </p:scale>
        <p:origin x="696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font" Target="fonts/font10.fntdata"/><Relationship Id="rId68" Type="http://schemas.openxmlformats.org/officeDocument/2006/relationships/font" Target="fonts/font15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notesMaster" Target="notesMasters/notesMaster1.xml"/><Relationship Id="rId58" Type="http://schemas.openxmlformats.org/officeDocument/2006/relationships/font" Target="fonts/font5.fntdata"/><Relationship Id="rId66" Type="http://schemas.openxmlformats.org/officeDocument/2006/relationships/font" Target="fonts/font13.fntdata"/><Relationship Id="rId74" Type="http://schemas.openxmlformats.org/officeDocument/2006/relationships/tableStyles" Target="tableStyles.xml"/><Relationship Id="rId5" Type="http://schemas.openxmlformats.org/officeDocument/2006/relationships/slide" Target="slides/slide2.xml"/><Relationship Id="rId61" Type="http://schemas.openxmlformats.org/officeDocument/2006/relationships/font" Target="fonts/font8.fntdata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font" Target="fonts/font3.fntdata"/><Relationship Id="rId64" Type="http://schemas.openxmlformats.org/officeDocument/2006/relationships/font" Target="fonts/font11.fntdata"/><Relationship Id="rId69" Type="http://schemas.openxmlformats.org/officeDocument/2006/relationships/font" Target="fonts/font16.fntdata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font" Target="fonts/font6.fntdata"/><Relationship Id="rId67" Type="http://schemas.openxmlformats.org/officeDocument/2006/relationships/font" Target="fonts/font14.fntdata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font" Target="fonts/font1.fntdata"/><Relationship Id="rId62" Type="http://schemas.openxmlformats.org/officeDocument/2006/relationships/font" Target="fonts/font9.fntdata"/><Relationship Id="rId7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font" Target="fonts/font4.fntdata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font" Target="fonts/font7.fntdata"/><Relationship Id="rId65" Type="http://schemas.openxmlformats.org/officeDocument/2006/relationships/font" Target="fonts/font12.fntdata"/><Relationship Id="rId73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font" Target="fonts/font2.fntdata"/><Relationship Id="rId7" Type="http://schemas.openxmlformats.org/officeDocument/2006/relationships/slide" Target="slides/slide4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C45A928-D252-4E73-BA6C-5EBB50EA9974}" type="datetimeFigureOut">
              <a:rPr lang="en-US"/>
              <a:pPr>
                <a:defRPr/>
              </a:pPr>
              <a:t>1/24/2021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E926EA-2410-44E1-B457-BBA54A1622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34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DE926EA-2410-44E1-B457-BBA54A162217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59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0"/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21"/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 sz="1400" smtClean="0"/>
            </a:lvl1pPr>
          </a:lstStyle>
          <a:p>
            <a:pPr>
              <a:defRPr/>
            </a:pPr>
            <a:fld id="{E16C4EF9-5865-4A6A-9380-B94D95EDFBB1}" type="datetime1">
              <a:rPr lang="en-US"/>
              <a:pPr>
                <a:defRPr/>
              </a:pPr>
              <a:t>1/24/2021</a:t>
            </a:fld>
            <a:endParaRPr lang="en-US"/>
          </a:p>
        </p:txBody>
      </p:sp>
      <p:sp>
        <p:nvSpPr>
          <p:cNvPr id="11" name="Slide Number Placeholder 28"/>
          <p:cNvSpPr>
            <a:spLocks noGrp="1"/>
          </p:cNvSpPr>
          <p:nvPr>
            <p:ph type="sldNum" sz="quarter" idx="11"/>
          </p:nvPr>
        </p:nvSpPr>
        <p:spPr>
          <a:xfrm>
            <a:off x="1216025" y="6354763"/>
            <a:ext cx="1219200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DE774B-0244-43AE-81AE-949E2AED0BB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D8D4EC-B919-4B7F-AD2C-08A3936481C2}" type="datetime1">
              <a:rPr lang="en-US"/>
              <a:pPr>
                <a:defRPr/>
              </a:pPr>
              <a:t>1/24/2021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1FFA5E-D537-4A8C-B688-12FAF7CC1F1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78A1A-418A-4889-8466-7277E8543661}" type="datetime1">
              <a:rPr lang="en-US"/>
              <a:pPr>
                <a:defRPr/>
              </a:pPr>
              <a:t>1/24/2021</a:t>
            </a:fld>
            <a:endParaRPr lang="en-US"/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51084-9ADD-481F-8E3A-A4A104A158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D7207B-C772-46C0-AF6B-C696C628ECD6}" type="datetime1">
              <a:rPr lang="en-US"/>
              <a:pPr>
                <a:defRPr/>
              </a:pPr>
              <a:t>1/24/2021</a:t>
            </a:fld>
            <a:endParaRPr lang="en-US"/>
          </a:p>
        </p:txBody>
      </p:sp>
      <p:sp>
        <p:nvSpPr>
          <p:cNvPr id="8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0823A-D158-4554-9F4D-D1401680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890D1A-9AF0-4373-9C19-31BA056F18D0}" type="datetime1">
              <a:rPr lang="en-US"/>
              <a:pPr>
                <a:defRPr/>
              </a:pPr>
              <a:t>1/24/2021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802858-B2E8-4CEF-AB5E-E0718287C1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5CEBB1-9625-48F6-B3A4-11D228BFD397}" type="datetime1">
              <a:rPr lang="en-US"/>
              <a:pPr>
                <a:defRPr/>
              </a:pPr>
              <a:t>1/24/2021</a:t>
            </a:fld>
            <a:endParaRPr lang="en-US"/>
          </a:p>
        </p:txBody>
      </p:sp>
      <p:sp>
        <p:nvSpPr>
          <p:cNvPr id="3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D8101-5309-4DFF-AB2A-546F31B4185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195152B-B4E1-457A-BC5F-3AB91570D542}" type="datetime1">
              <a:rPr lang="en-US" smtClean="0"/>
              <a:pPr>
                <a:defRPr/>
              </a:pPr>
              <a:t>1/24/2021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BDBEE41-09A9-4372-AA29-C508F4A5354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6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16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04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82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71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98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191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677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13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152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82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69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84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092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318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24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069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732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151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690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5250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75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30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/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 smtClean="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D195152B-B4E1-457A-BC5F-3AB91570D542}" type="datetime1">
              <a:rPr lang="en-US"/>
              <a:pPr>
                <a:defRPr/>
              </a:pPr>
              <a:t>1/24/2021</a:t>
            </a:fld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1BDBEE41-09A9-4372-AA29-C508F4A535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246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6" r:id="rId2"/>
    <p:sldLayoutId id="2147483665" r:id="rId3"/>
    <p:sldLayoutId id="2147483664" r:id="rId4"/>
    <p:sldLayoutId id="2147483663" r:id="rId5"/>
    <p:sldLayoutId id="2147483662" r:id="rId6"/>
    <p:sldLayoutId id="2147483680" r:id="rId7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63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F7D500-1223-4445-9EB2-2C72C770F9EB}" type="datetimeFigureOut">
              <a:rPr lang="en-US" smtClean="0"/>
              <a:t>1/24/2021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38200" y="1447800"/>
            <a:ext cx="7467600" cy="2057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218" name="Title 1"/>
          <p:cNvSpPr>
            <a:spLocks noGrp="1"/>
          </p:cNvSpPr>
          <p:nvPr>
            <p:ph type="ctrTitle"/>
          </p:nvPr>
        </p:nvSpPr>
        <p:spPr>
          <a:xfrm>
            <a:off x="1219200" y="1823484"/>
            <a:ext cx="6858000" cy="1295400"/>
          </a:xfrm>
        </p:spPr>
        <p:txBody>
          <a:bodyPr/>
          <a:lstStyle/>
          <a:p>
            <a:pPr algn="ctr" eaLnBrk="1" hangingPunct="1"/>
            <a:r>
              <a:rPr lang="en-US" sz="2800" dirty="0">
                <a:solidFill>
                  <a:schemeClr val="bg1"/>
                </a:solidFill>
              </a:rPr>
              <a:t>DSC40B: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Theoretical Foundations of Data Science II </a:t>
            </a:r>
            <a:endParaRPr lang="en-US" sz="2800" i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962400"/>
            <a:ext cx="6858000" cy="1885950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Lecture 7:   </a:t>
            </a:r>
            <a:r>
              <a:rPr lang="en-US" sz="2800" i="1" dirty="0"/>
              <a:t>The Median, order statistics, and </a:t>
            </a:r>
            <a:r>
              <a:rPr lang="en-US" sz="2800" i="1" dirty="0" err="1"/>
              <a:t>QuickSort</a:t>
            </a:r>
            <a:endParaRPr lang="en-US" sz="2800" i="1" dirty="0"/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endParaRPr lang="en-US" sz="1600" dirty="0"/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Instructor: Yusu Wang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447800"/>
            <a:ext cx="304800" cy="2057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Previously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94781-9569-4BCE-B3A3-2C8EB0F996B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Sorting an array</a:t>
            </a:r>
          </a:p>
          <a:p>
            <a:r>
              <a:rPr lang="en-US" dirty="0"/>
              <a:t>(Binary) search in a sorted array</a:t>
            </a:r>
          </a:p>
          <a:p>
            <a:endParaRPr lang="en-US" dirty="0"/>
          </a:p>
          <a:p>
            <a:r>
              <a:rPr lang="en-US" dirty="0"/>
              <a:t>Today: </a:t>
            </a:r>
          </a:p>
          <a:p>
            <a:pPr lvl="1"/>
            <a:r>
              <a:rPr lang="en-US" dirty="0"/>
              <a:t>What if, without sorting, we would like to select a specific number with a certain rank in the array </a:t>
            </a:r>
          </a:p>
          <a:p>
            <a:pPr lvl="1"/>
            <a:r>
              <a:rPr lang="en-US" dirty="0"/>
              <a:t>For example,  how to find the median of </a:t>
            </a:r>
            <a:r>
              <a:rPr lang="en-US" dirty="0">
                <a:solidFill>
                  <a:srgbClr val="700000"/>
                </a:solidFill>
              </a:rPr>
              <a:t>an unsorted</a:t>
            </a:r>
            <a:r>
              <a:rPr lang="en-US" dirty="0"/>
              <a:t> array of numbers quickly? </a:t>
            </a:r>
          </a:p>
          <a:p>
            <a:pPr marL="274638" lvl="1" indent="0">
              <a:buNone/>
            </a:pPr>
            <a:r>
              <a:rPr lang="en-US" dirty="0"/>
              <a:t> </a:t>
            </a:r>
          </a:p>
          <a:p>
            <a:pPr marL="274638" lvl="1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1A68F15-D88E-4666-B5AE-45513BCDA1C2}"/>
                  </a:ext>
                </a:extLst>
              </p:cNvPr>
              <p:cNvSpPr/>
              <p:nvPr/>
            </p:nvSpPr>
            <p:spPr>
              <a:xfrm>
                <a:off x="1752600" y="4953000"/>
                <a:ext cx="5791200" cy="9906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Before we start: how fast do you think you can find the median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numbers? 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1A68F15-D88E-4666-B5AE-45513BCDA1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2600" y="4953000"/>
                <a:ext cx="5791200" cy="990600"/>
              </a:xfrm>
              <a:prstGeom prst="rect">
                <a:avLst/>
              </a:prstGeom>
              <a:blipFill>
                <a:blip r:embed="rId2"/>
                <a:stretch>
                  <a:fillRect b="-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0505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Order statistics and simple examples</a:t>
            </a:r>
          </a:p>
        </p:txBody>
      </p:sp>
    </p:spTree>
    <p:extLst>
      <p:ext uri="{BB962C8B-B14F-4D97-AF65-F5344CB8AC3E}">
        <p14:creationId xmlns:p14="http://schemas.microsoft.com/office/powerpoint/2010/main" val="1929170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E0E77-2182-4049-A9F0-C9829CB1F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 statistics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337CC1-DF0D-419B-8C3A-AD48FCB7CD30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Given a set of n numbers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dirty="0">
                    <a:solidFill>
                      <a:srgbClr val="700000"/>
                    </a:solidFill>
                  </a:rPr>
                  <a:t>kth order statistics </a:t>
                </a:r>
                <a:r>
                  <a:rPr lang="en-US" dirty="0"/>
                  <a:t>is the kth smallest number in this collection </a:t>
                </a:r>
              </a:p>
              <a:p>
                <a:pPr lvl="2"/>
                <a:r>
                  <a:rPr lang="en-US" dirty="0"/>
                  <a:t>We also say that this number has </a:t>
                </a:r>
                <a:r>
                  <a:rPr lang="en-US" i="1" dirty="0">
                    <a:solidFill>
                      <a:srgbClr val="700000"/>
                    </a:solidFill>
                  </a:rPr>
                  <a:t>rank k</a:t>
                </a:r>
                <a:r>
                  <a:rPr lang="en-US" dirty="0"/>
                  <a:t> in the input.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Examples: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baseline="30000" dirty="0"/>
                  <a:t>st</a:t>
                </a:r>
                <a:r>
                  <a:rPr lang="en-US" dirty="0"/>
                  <a:t> order statistics:      minimum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th order statistics:    maximum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⌈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⌉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order statistics:   median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⌈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⌉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order statistics: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-th percentile 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337CC1-DF0D-419B-8C3A-AD48FCB7CD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6392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8B101-CEEB-4364-A58D-D2C860D09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Select</a:t>
            </a:r>
            <a:r>
              <a:rPr lang="en-US" dirty="0"/>
              <a:t>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8C1C39-6D30-4D1D-897D-6A63CE393EC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Input:   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numbers stored in an array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and an order (rank)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∈[1,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Output:  return the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order statistics of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Special cases: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?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But how about for general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including finding the median of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8C1C39-6D30-4D1D-897D-6A63CE393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8498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ACE5D-F608-44B8-8AB2-4DD20D93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approaches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926764-8F00-423C-BFE9-4BAD99B9130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Approach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Modifying selection sort</a:t>
                </a:r>
              </a:p>
              <a:p>
                <a:pPr lvl="1"/>
                <a:r>
                  <a:rPr lang="en-US" dirty="0"/>
                  <a:t>Stops when find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order statistics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926764-8F00-423C-BFE9-4BAD99B913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4008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9B69E-A507-48CE-AE45-085BC6989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 </a:t>
            </a:r>
            <a:r>
              <a:rPr lang="en-US" dirty="0" err="1"/>
              <a:t>selection_sort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490AE-ED32-48F1-AF53-C601634DB2A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33400" y="1295400"/>
            <a:ext cx="8229600" cy="4876800"/>
          </a:xfrm>
          <a:ln w="25400">
            <a:solidFill>
              <a:schemeClr val="accent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def </a:t>
            </a:r>
            <a:r>
              <a:rPr lang="en-US" sz="2400" dirty="0" err="1">
                <a:solidFill>
                  <a:srgbClr val="0000FF"/>
                </a:solidFill>
                <a:latin typeface="FiraMono-Regular-Identity-H"/>
              </a:rPr>
              <a:t>selection_sort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(A):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     n 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= </a:t>
            </a:r>
            <a:r>
              <a:rPr lang="en-US" sz="2400" dirty="0" err="1">
                <a:solidFill>
                  <a:srgbClr val="008000"/>
                </a:solidFill>
                <a:latin typeface="FiraMono-Regular-Identity-H"/>
              </a:rPr>
              <a:t>len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(A)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      if 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n 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&lt;= 1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: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	return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      for 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barrier_id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</a:t>
            </a:r>
            <a:r>
              <a:rPr lang="en-US" sz="240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(n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-1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):</a:t>
            </a:r>
          </a:p>
          <a:p>
            <a:pPr marL="0" indent="0">
              <a:buNone/>
            </a:pPr>
            <a:r>
              <a:rPr lang="en-US" sz="2400" i="1" dirty="0">
                <a:solidFill>
                  <a:srgbClr val="408080"/>
                </a:solidFill>
                <a:latin typeface="FiraMono-Oblique-Identity-H"/>
              </a:rPr>
              <a:t>	# find index of min in A[start:]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min_id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= 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find_minimum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(A, start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=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barrier_id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)</a:t>
            </a:r>
          </a:p>
          <a:p>
            <a:pPr marL="0" indent="0">
              <a:buNone/>
            </a:pPr>
            <a:r>
              <a:rPr lang="en-US" sz="2400" i="1" dirty="0">
                <a:solidFill>
                  <a:srgbClr val="408080"/>
                </a:solidFill>
                <a:latin typeface="FiraMono-Oblique-Identity-H"/>
              </a:rPr>
              <a:t>	#swap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	A[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barrier_id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], A[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min_id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] 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= 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		A[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min_id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], A[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barrier_id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]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	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323845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9B69E-A507-48CE-AE45-085BC6989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 </a:t>
            </a:r>
            <a:r>
              <a:rPr lang="en-US" dirty="0" err="1"/>
              <a:t>selection_kthOS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490AE-ED32-48F1-AF53-C601634DB2A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33400" y="1295400"/>
            <a:ext cx="8229600" cy="5334000"/>
          </a:xfrm>
          <a:ln w="25400">
            <a:solidFill>
              <a:schemeClr val="accent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def </a:t>
            </a:r>
            <a:r>
              <a:rPr lang="en-US" sz="2400" dirty="0" err="1">
                <a:solidFill>
                  <a:srgbClr val="0000FF"/>
                </a:solidFill>
                <a:latin typeface="FiraMono-Regular-Identity-H"/>
              </a:rPr>
              <a:t>selection_kthOS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(A, k):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     n 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= </a:t>
            </a:r>
            <a:r>
              <a:rPr lang="en-US" sz="2400" dirty="0" err="1">
                <a:solidFill>
                  <a:srgbClr val="008000"/>
                </a:solidFill>
                <a:latin typeface="FiraMono-Regular-Identity-H"/>
              </a:rPr>
              <a:t>len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(A)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      if 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n 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&lt; k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: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	return Error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      for 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barrier_id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</a:t>
            </a:r>
            <a:r>
              <a:rPr lang="en-US" sz="2400" dirty="0">
                <a:solidFill>
                  <a:srgbClr val="AC21FF"/>
                </a:solidFill>
                <a:latin typeface="FiraMono-Medium-Identity-H"/>
              </a:rPr>
              <a:t>in </a:t>
            </a:r>
            <a:r>
              <a:rPr lang="en-US" sz="2400" dirty="0">
                <a:solidFill>
                  <a:srgbClr val="008000"/>
                </a:solidFill>
                <a:latin typeface="FiraMono-Regular-Identity-H"/>
              </a:rPr>
              <a:t>range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</a:t>
            </a:r>
            <a:r>
              <a:rPr lang="en-US" sz="2400" b="1" dirty="0">
                <a:solidFill>
                  <a:srgbClr val="700000"/>
                </a:solidFill>
                <a:latin typeface="FiraMono-Regular-Identity-H"/>
              </a:rPr>
              <a:t>k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):</a:t>
            </a:r>
          </a:p>
          <a:p>
            <a:pPr marL="0" indent="0">
              <a:buNone/>
            </a:pPr>
            <a:r>
              <a:rPr lang="en-US" sz="2400" i="1" dirty="0">
                <a:solidFill>
                  <a:srgbClr val="408080"/>
                </a:solidFill>
                <a:latin typeface="FiraMono-Oblique-Identity-H"/>
              </a:rPr>
              <a:t>	# find index of min in A[start:]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min_id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 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= 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find_minimum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(A, start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=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barrier_id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)</a:t>
            </a:r>
          </a:p>
          <a:p>
            <a:pPr marL="0" indent="0">
              <a:buNone/>
            </a:pPr>
            <a:r>
              <a:rPr lang="en-US" sz="2400" i="1" dirty="0">
                <a:solidFill>
                  <a:srgbClr val="408080"/>
                </a:solidFill>
                <a:latin typeface="FiraMono-Oblique-Identity-H"/>
              </a:rPr>
              <a:t>	#swap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	A[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barrier_id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], A[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min_id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] </a:t>
            </a:r>
            <a:r>
              <a:rPr lang="en-US" sz="2400" dirty="0">
                <a:solidFill>
                  <a:srgbClr val="666666"/>
                </a:solidFill>
                <a:latin typeface="FiraMono-Regular-Identity-H"/>
              </a:rPr>
              <a:t>= 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		A[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min_id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], A[</a:t>
            </a:r>
            <a:r>
              <a:rPr lang="en-US" sz="2400" dirty="0" err="1">
                <a:solidFill>
                  <a:srgbClr val="000000"/>
                </a:solidFill>
                <a:latin typeface="FiraMono-Regular-Identity-H"/>
              </a:rPr>
              <a:t>barrier_id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]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	)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8000"/>
                </a:solidFill>
                <a:latin typeface="FiraMono-Medium-Identity-H"/>
              </a:rPr>
              <a:t>      return 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A[</a:t>
            </a:r>
            <a:r>
              <a:rPr lang="en-US" sz="2400" dirty="0">
                <a:solidFill>
                  <a:srgbClr val="700000"/>
                </a:solidFill>
                <a:latin typeface="FiraMono-Regular-Identity-H"/>
              </a:rPr>
              <a:t>k-1</a:t>
            </a:r>
            <a:r>
              <a:rPr lang="en-US" sz="2400" dirty="0">
                <a:solidFill>
                  <a:srgbClr val="000000"/>
                </a:solidFill>
                <a:latin typeface="FiraMono-Regular-Identity-H"/>
              </a:rPr>
              <a:t>]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45714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ACE5D-F608-44B8-8AB2-4DD20D93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approaches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926764-8F00-423C-BFE9-4BAD99B9130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Approach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Modifying selection sort</a:t>
                </a:r>
              </a:p>
              <a:p>
                <a:pPr lvl="1"/>
                <a:r>
                  <a:rPr lang="en-US" dirty="0"/>
                  <a:t>Stops when find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order statistics </a:t>
                </a:r>
              </a:p>
              <a:p>
                <a:pPr lvl="1"/>
                <a:r>
                  <a:rPr lang="en-US" dirty="0"/>
                  <a:t>Time complexity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r>
                  <a:rPr lang="en-US" dirty="0"/>
                  <a:t>Approach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First sort array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Return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Time complexity</a:t>
                </a:r>
              </a:p>
              <a:p>
                <a:pPr lvl="2"/>
                <a:r>
                  <a:rPr lang="en-US" dirty="0"/>
                  <a:t>Same as sorting, which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926764-8F00-423C-BFE9-4BAD99B913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2D9D910-4FDF-4E59-9E10-149F7D2564B9}"/>
                  </a:ext>
                </a:extLst>
              </p:cNvPr>
              <p:cNvSpPr/>
              <p:nvPr/>
            </p:nvSpPr>
            <p:spPr>
              <a:xfrm>
                <a:off x="4876800" y="3505200"/>
                <a:ext cx="3733800" cy="9906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Can we do better than sorting (namely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time)? 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2D9D910-4FDF-4E59-9E10-149F7D2564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6800" y="3505200"/>
                <a:ext cx="3733800" cy="990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520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Can we do better than sorting? </a:t>
            </a:r>
            <a:br>
              <a:rPr lang="en-US" dirty="0"/>
            </a:br>
            <a:r>
              <a:rPr lang="en-US" dirty="0"/>
              <a:t>First try of </a:t>
            </a:r>
            <a:r>
              <a:rPr lang="en-US" i="1" dirty="0" err="1"/>
              <a:t>QuickSelect</a:t>
            </a:r>
            <a:r>
              <a:rPr lang="en-US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D14486-891E-4222-9F0A-40AAF76F0974}"/>
              </a:ext>
            </a:extLst>
          </p:cNvPr>
          <p:cNvSpPr/>
          <p:nvPr/>
        </p:nvSpPr>
        <p:spPr>
          <a:xfrm>
            <a:off x="1828800" y="4419600"/>
            <a:ext cx="5715000" cy="14478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I will use pseudo-code in what follows. </a:t>
            </a:r>
          </a:p>
          <a:p>
            <a:pPr algn="ctr"/>
            <a:r>
              <a:rPr lang="en-US" sz="2400" dirty="0"/>
              <a:t>As convention: array index starts from 0. </a:t>
            </a:r>
          </a:p>
        </p:txBody>
      </p:sp>
    </p:spTree>
    <p:extLst>
      <p:ext uri="{BB962C8B-B14F-4D97-AF65-F5344CB8AC3E}">
        <p14:creationId xmlns:p14="http://schemas.microsoft.com/office/powerpoint/2010/main" val="2348917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8B101-CEEB-4364-A58D-D2C860D09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Select</a:t>
            </a:r>
            <a:r>
              <a:rPr lang="en-US" dirty="0"/>
              <a:t>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8C1C39-6D30-4D1D-897D-6A63CE393EC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Input:   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numbers stored in an array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and an order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∈[1,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Output:  return the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order statistics of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Intuition: </a:t>
                </a:r>
              </a:p>
              <a:p>
                <a:pPr lvl="1"/>
                <a:r>
                  <a:rPr lang="en-US" dirty="0"/>
                  <a:t>In Sorting, we essentially figure out the relative orders among all elements </a:t>
                </a:r>
              </a:p>
              <a:p>
                <a:pPr lvl="2"/>
                <a:r>
                  <a:rPr lang="en-US" dirty="0"/>
                  <a:t>There is much redundancy; for example, if two numbers both have higher order than the target order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then intuitively, we don’t care about spending time to figure out their relative order. </a:t>
                </a:r>
              </a:p>
              <a:p>
                <a:pPr lvl="2"/>
                <a:r>
                  <a:rPr lang="en-US" dirty="0"/>
                  <a:t>So intuitively, we should be able to do better than sorting. </a:t>
                </a:r>
              </a:p>
              <a:p>
                <a:pPr lvl="1"/>
                <a:r>
                  <a:rPr lang="en-US" dirty="0"/>
                  <a:t>How to leverage this thought?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8C1C39-6D30-4D1D-897D-6A63CE393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b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77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C3038-D05D-4BAD-8D3C-FD2DF747C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00751F-D98A-4050-A297-77CEFA292BA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534400" cy="4937760"/>
              </a:xfrm>
            </p:spPr>
            <p:txBody>
              <a:bodyPr/>
              <a:lstStyle/>
              <a:p>
                <a:r>
                  <a:rPr lang="en-US" sz="2400" dirty="0"/>
                  <a:t>Given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doors, need to find the </a:t>
                </a:r>
                <a:r>
                  <a:rPr lang="en-US" sz="2400" dirty="0">
                    <a:solidFill>
                      <a:srgbClr val="700000"/>
                    </a:solidFill>
                  </a:rPr>
                  <a:t>largest number </a:t>
                </a:r>
                <a:r>
                  <a:rPr lang="en-US" sz="2400" dirty="0"/>
                  <a:t>behind the door</a:t>
                </a:r>
              </a:p>
              <a:p>
                <a:r>
                  <a:rPr lang="en-US" sz="2400" dirty="0"/>
                  <a:t>Each time we open a door, we have an oracle to tell us </a:t>
                </a:r>
              </a:p>
              <a:p>
                <a:pPr lvl="1"/>
                <a:r>
                  <a:rPr lang="en-US" sz="2100" dirty="0"/>
                  <a:t>which doors are smaller, and </a:t>
                </a:r>
              </a:p>
              <a:p>
                <a:pPr lvl="1"/>
                <a:r>
                  <a:rPr lang="en-US" sz="2100" dirty="0"/>
                  <a:t>which doors are bigger </a:t>
                </a:r>
              </a:p>
              <a:p>
                <a:pPr lvl="1"/>
                <a:endParaRPr lang="en-US" sz="2100" dirty="0"/>
              </a:p>
              <a:p>
                <a:endParaRPr lang="en-US" sz="2400" dirty="0"/>
              </a:p>
              <a:p>
                <a:pPr marL="274638" lvl="1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00751F-D98A-4050-A297-77CEFA292B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534400" cy="4937760"/>
              </a:xfrm>
              <a:blipFill>
                <a:blip r:embed="rId2"/>
                <a:stretch>
                  <a:fillRect l="-500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4A059F0-2AC4-427C-B006-20AAB2EB0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4223200"/>
            <a:ext cx="7315200" cy="1635697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F02FC2B-3B53-4AED-9DAA-F2810F6C0D5F}"/>
              </a:ext>
            </a:extLst>
          </p:cNvPr>
          <p:cNvGrpSpPr/>
          <p:nvPr/>
        </p:nvGrpSpPr>
        <p:grpSpPr>
          <a:xfrm>
            <a:off x="685800" y="1676400"/>
            <a:ext cx="7086600" cy="2333656"/>
            <a:chOff x="685800" y="1676400"/>
            <a:chExt cx="7086600" cy="233365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7F8EDA6-2A43-49AE-9EB6-08F55BED3F74}"/>
                </a:ext>
              </a:extLst>
            </p:cNvPr>
            <p:cNvSpPr/>
            <p:nvPr/>
          </p:nvSpPr>
          <p:spPr>
            <a:xfrm>
              <a:off x="685800" y="1676400"/>
              <a:ext cx="7086600" cy="1371600"/>
            </a:xfrm>
            <a:prstGeom prst="rect">
              <a:avLst/>
            </a:prstGeom>
            <a:solidFill>
              <a:schemeClr val="accent4">
                <a:lumMod val="75000"/>
                <a:alpha val="2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Arrow: Down 7">
              <a:extLst>
                <a:ext uri="{FF2B5EF4-FFF2-40B4-BE49-F238E27FC236}">
                  <a16:creationId xmlns:a16="http://schemas.microsoft.com/office/drawing/2014/main" id="{C6D464CC-5BA2-4DE2-8331-C7B27069B2C1}"/>
                </a:ext>
              </a:extLst>
            </p:cNvPr>
            <p:cNvSpPr/>
            <p:nvPr/>
          </p:nvSpPr>
          <p:spPr>
            <a:xfrm>
              <a:off x="4038600" y="3048000"/>
              <a:ext cx="76200" cy="5334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EB23EB-6FF2-4B86-BDD3-19E9B520973B}"/>
                </a:ext>
              </a:extLst>
            </p:cNvPr>
            <p:cNvSpPr txBox="1"/>
            <p:nvPr/>
          </p:nvSpPr>
          <p:spPr>
            <a:xfrm>
              <a:off x="2286000" y="3609946"/>
              <a:ext cx="4038600" cy="400110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Call this a </a:t>
              </a:r>
              <a:r>
                <a:rPr lang="en-US" sz="2000" dirty="0">
                  <a:solidFill>
                    <a:srgbClr val="700000"/>
                  </a:solidFill>
                </a:rPr>
                <a:t>partition</a:t>
              </a:r>
              <a:r>
                <a:rPr lang="en-US" sz="2000" dirty="0"/>
                <a:t> operation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60234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2BBDF-54B6-40E5-8C44-C0A6E054A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FF5096-BA6A-400A-AF73-DD8344E2B4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805735"/>
            <a:ext cx="6977062" cy="16232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B08DDC-B76E-4CF0-AC51-6C077390DD97}"/>
              </a:ext>
            </a:extLst>
          </p:cNvPr>
          <p:cNvSpPr txBox="1"/>
          <p:nvPr/>
        </p:nvSpPr>
        <p:spPr>
          <a:xfrm>
            <a:off x="2871952" y="3907069"/>
            <a:ext cx="3352800" cy="369332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open the last door </a:t>
            </a:r>
          </a:p>
        </p:txBody>
      </p:sp>
    </p:spTree>
    <p:extLst>
      <p:ext uri="{BB962C8B-B14F-4D97-AF65-F5344CB8AC3E}">
        <p14:creationId xmlns:p14="http://schemas.microsoft.com/office/powerpoint/2010/main" val="2084009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2BBDF-54B6-40E5-8C44-C0A6E054A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B08DDC-B76E-4CF0-AC51-6C077390DD97}"/>
              </a:ext>
            </a:extLst>
          </p:cNvPr>
          <p:cNvSpPr txBox="1"/>
          <p:nvPr/>
        </p:nvSpPr>
        <p:spPr>
          <a:xfrm>
            <a:off x="2871952" y="3907069"/>
            <a:ext cx="3352800" cy="369332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after </a:t>
            </a:r>
            <a:r>
              <a:rPr lang="en-US" dirty="0">
                <a:solidFill>
                  <a:srgbClr val="700000"/>
                </a:solidFill>
              </a:rPr>
              <a:t>partition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BC72BA-6B3F-456E-BC8A-3F35DE03F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94" y="1905000"/>
            <a:ext cx="6993468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8412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2BBDF-54B6-40E5-8C44-C0A6E054A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B08DDC-B76E-4CF0-AC51-6C077390DD97}"/>
              </a:ext>
            </a:extLst>
          </p:cNvPr>
          <p:cNvSpPr txBox="1"/>
          <p:nvPr/>
        </p:nvSpPr>
        <p:spPr>
          <a:xfrm>
            <a:off x="2819400" y="3918295"/>
            <a:ext cx="3986048" cy="646331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repeat in the right portion: </a:t>
            </a:r>
          </a:p>
          <a:p>
            <a:pPr algn="ctr"/>
            <a:r>
              <a:rPr lang="en-US" dirty="0"/>
              <a:t>open the last door of this </a:t>
            </a:r>
            <a:r>
              <a:rPr lang="en-US" dirty="0" err="1"/>
              <a:t>subarry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3D52F2-09D1-4E8B-9039-89D236882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93" y="1752600"/>
            <a:ext cx="6993469" cy="1579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587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2BBDF-54B6-40E5-8C44-C0A6E054A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B08DDC-B76E-4CF0-AC51-6C077390DD97}"/>
              </a:ext>
            </a:extLst>
          </p:cNvPr>
          <p:cNvSpPr txBox="1"/>
          <p:nvPr/>
        </p:nvSpPr>
        <p:spPr>
          <a:xfrm>
            <a:off x="2819400" y="3918295"/>
            <a:ext cx="3986048" cy="646331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repeat in the right portion: </a:t>
            </a:r>
          </a:p>
          <a:p>
            <a:pPr algn="ctr"/>
            <a:r>
              <a:rPr lang="en-US" dirty="0"/>
              <a:t>after </a:t>
            </a:r>
            <a:r>
              <a:rPr lang="en-US" dirty="0">
                <a:solidFill>
                  <a:srgbClr val="700000"/>
                </a:solidFill>
              </a:rPr>
              <a:t>partition</a:t>
            </a:r>
            <a:r>
              <a:rPr lang="en-US" dirty="0"/>
              <a:t> in this subarray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B1D17D-1754-4725-9D0A-FC0C44A3B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981200"/>
            <a:ext cx="7327367" cy="170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391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2BBDF-54B6-40E5-8C44-C0A6E054A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B08DDC-B76E-4CF0-AC51-6C077390DD97}"/>
              </a:ext>
            </a:extLst>
          </p:cNvPr>
          <p:cNvSpPr txBox="1"/>
          <p:nvPr/>
        </p:nvSpPr>
        <p:spPr>
          <a:xfrm>
            <a:off x="2819400" y="3918295"/>
            <a:ext cx="3986048" cy="92333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again, go to the right portion: </a:t>
            </a:r>
          </a:p>
          <a:p>
            <a:pPr algn="ctr"/>
            <a:r>
              <a:rPr lang="en-US" dirty="0"/>
              <a:t>only 1 entry left:  must be the largest, and we return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7BF57F-670A-443A-91C0-8550C3F2F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87" y="1928610"/>
            <a:ext cx="7327367" cy="1652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2518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3B4CB-C264-47F5-B9D6-AA32FCE35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Generalizing the idea?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2098D-6CC7-43A8-963C-A83C4E96DFE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Assume that we are given the Partition procedure: </a:t>
            </a:r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D188257-AEB9-4D4B-9C34-6159D4EA553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446690" y="2072640"/>
                <a:ext cx="8229600" cy="3566160"/>
              </a:xfrm>
              <a:prstGeom prst="rect">
                <a:avLst/>
              </a:prstGeom>
              <a:noFill/>
              <a:ln w="952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rgbClr val="0B0E8F"/>
                    </a:solidFill>
                  </a:rPr>
                  <a:t>Partition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solidFill>
                      <a:srgbClr val="0B0E8F"/>
                    </a:solidFill>
                  </a:rPr>
                  <a:t>) </a:t>
                </a:r>
                <a:endParaRPr lang="en-US" dirty="0"/>
              </a:p>
              <a:p>
                <a:pPr lvl="1"/>
                <a:r>
                  <a:rPr lang="en-US" dirty="0"/>
                  <a:t>Input:   </a:t>
                </a:r>
              </a:p>
              <a:p>
                <a:pPr lvl="2"/>
                <a:r>
                  <a:rPr lang="en-US" dirty="0"/>
                  <a:t>Given an array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consider sub-array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…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 will be used as the pivot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Output:</a:t>
                </a:r>
              </a:p>
              <a:p>
                <a:pPr lvl="2"/>
                <a:r>
                  <a:rPr lang="en-US" dirty="0"/>
                  <a:t>Rearrange elements in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is now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such that</a:t>
                </a:r>
              </a:p>
              <a:p>
                <a:pPr lvl="3"/>
                <a:r>
                  <a:rPr lang="en-US" dirty="0"/>
                  <a:t>all elements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are to its left</a:t>
                </a:r>
              </a:p>
              <a:p>
                <a:pPr lvl="3"/>
                <a:r>
                  <a:rPr lang="en-US" dirty="0"/>
                  <a:t>all elements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are to its right </a:t>
                </a:r>
              </a:p>
              <a:p>
                <a:pPr lvl="2"/>
                <a:r>
                  <a:rPr lang="en-US" dirty="0"/>
                  <a:t>Return the new position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7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of the pivot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D188257-AEB9-4D4B-9C34-6159D4EA5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6690" y="2072640"/>
                <a:ext cx="8229600" cy="3566160"/>
              </a:xfrm>
              <a:prstGeom prst="rect">
                <a:avLst/>
              </a:prstGeom>
              <a:blipFill>
                <a:blip r:embed="rId2"/>
                <a:stretch>
                  <a:fillRect l="-592" t="-1363" b="-1022"/>
                </a:stretch>
              </a:blipFill>
              <a:ln w="9525">
                <a:solidFill>
                  <a:schemeClr val="accent1">
                    <a:shade val="50000"/>
                  </a:schemeClr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62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15A20-20B2-4D04-8DE6-0751A7D04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Intuition of </a:t>
            </a:r>
            <a:r>
              <a:rPr lang="en-US" dirty="0" err="1"/>
              <a:t>QuickSelect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D8646B-05EB-4777-AE5B-B92DB09FB7E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Imagine we are given </a:t>
                </a:r>
                <a:r>
                  <a:rPr lang="en-US" dirty="0">
                    <a:solidFill>
                      <a:srgbClr val="0B0E8F"/>
                    </a:solidFill>
                  </a:rPr>
                  <a:t>Partition </a:t>
                </a:r>
                <a:r>
                  <a:rPr lang="en-US" dirty="0"/>
                  <a:t>procedure.  </a:t>
                </a:r>
              </a:p>
              <a:p>
                <a:r>
                  <a:rPr lang="en-US" dirty="0" err="1"/>
                  <a:t>QuickSelect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0,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)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= </a:t>
                </a:r>
                <a:r>
                  <a:rPr lang="en-US" dirty="0">
                    <a:solidFill>
                      <a:srgbClr val="0B0E8F"/>
                    </a:solidFill>
                  </a:rPr>
                  <a:t>Partition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0,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) </a:t>
                </a:r>
              </a:p>
              <a:p>
                <a:pPr lvl="1"/>
                <a:r>
                  <a:rPr lang="en-US" dirty="0"/>
                  <a:t>Note:  the </a:t>
                </a:r>
                <a:r>
                  <a:rPr lang="en-US" dirty="0">
                    <a:solidFill>
                      <a:srgbClr val="700000"/>
                    </a:solidFill>
                  </a:rPr>
                  <a:t>order</a:t>
                </a:r>
                <a:r>
                  <a:rPr lang="en-US" dirty="0"/>
                  <a:t> of the pivot =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D8646B-05EB-4777-AE5B-B92DB09FB7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4">
            <a:extLst>
              <a:ext uri="{FF2B5EF4-FFF2-40B4-BE49-F238E27FC236}">
                <a16:creationId xmlns:a16="http://schemas.microsoft.com/office/drawing/2014/main" id="{C8D1C33D-1F50-487F-AF1B-D4870298C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00" y="3212068"/>
            <a:ext cx="6934200" cy="609600"/>
          </a:xfrm>
          <a:prstGeom prst="rect">
            <a:avLst/>
          </a:prstGeom>
          <a:solidFill>
            <a:srgbClr val="CCFFCC">
              <a:alpha val="56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1AAE4134-EAAA-407F-A1F1-CCE346858F4E}"/>
              </a:ext>
            </a:extLst>
          </p:cNvPr>
          <p:cNvGrpSpPr>
            <a:grpSpLocks/>
          </p:cNvGrpSpPr>
          <p:nvPr/>
        </p:nvGrpSpPr>
        <p:grpSpPr bwMode="auto">
          <a:xfrm>
            <a:off x="990600" y="3212071"/>
            <a:ext cx="6934200" cy="1055688"/>
            <a:chOff x="576" y="3360"/>
            <a:chExt cx="4368" cy="665"/>
          </a:xfrm>
        </p:grpSpPr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12A256EB-CAFE-42B1-8736-DC19F3D7618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6" y="3360"/>
              <a:ext cx="4368" cy="384"/>
              <a:chOff x="576" y="3360"/>
              <a:chExt cx="4368" cy="384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EAD0BD4-97AE-4C73-987F-0FB290EB2F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12" y="3360"/>
                <a:ext cx="384" cy="384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854054-7B21-43A5-B738-896122D570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6" y="3360"/>
                <a:ext cx="1536" cy="384"/>
              </a:xfrm>
              <a:prstGeom prst="rect">
                <a:avLst/>
              </a:prstGeom>
              <a:solidFill>
                <a:srgbClr val="FFCC99">
                  <a:alpha val="49001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15E5B78-7343-47E4-91C5-315F2A7B7B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96" y="3360"/>
                <a:ext cx="2448" cy="384"/>
              </a:xfrm>
              <a:prstGeom prst="rect">
                <a:avLst/>
              </a:prstGeom>
              <a:solidFill>
                <a:srgbClr val="99CC00">
                  <a:alpha val="83000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7" name="Text Box 10">
              <a:extLst>
                <a:ext uri="{FF2B5EF4-FFF2-40B4-BE49-F238E27FC236}">
                  <a16:creationId xmlns:a16="http://schemas.microsoft.com/office/drawing/2014/main" id="{88198F4F-62F1-404C-B539-6BC99C1A37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64" y="3792"/>
              <a:ext cx="163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b="0" i="1" dirty="0">
                  <a:solidFill>
                    <a:srgbClr val="0B1196"/>
                  </a:solidFill>
                </a:rPr>
                <a:t>p = A[m]: </a:t>
              </a:r>
              <a:r>
                <a:rPr lang="en-US" altLang="en-US" b="0" dirty="0"/>
                <a:t>pivot</a:t>
              </a:r>
            </a:p>
          </p:txBody>
        </p:sp>
      </p:grpSp>
      <p:sp>
        <p:nvSpPr>
          <p:cNvPr id="11" name="Text Box 11">
            <a:extLst>
              <a:ext uri="{FF2B5EF4-FFF2-40B4-BE49-F238E27FC236}">
                <a16:creationId xmlns:a16="http://schemas.microsoft.com/office/drawing/2014/main" id="{79648F62-4522-405E-AB16-5FFA448766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4200" y="4659868"/>
            <a:ext cx="2362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b="0" dirty="0"/>
              <a:t>Case 1: </a:t>
            </a:r>
            <a:r>
              <a:rPr lang="en-US" altLang="en-US" i="1" dirty="0">
                <a:solidFill>
                  <a:srgbClr val="0B1196"/>
                </a:solidFill>
              </a:rPr>
              <a:t>k</a:t>
            </a:r>
            <a:r>
              <a:rPr lang="en-US" altLang="en-US" b="0" i="1" dirty="0">
                <a:solidFill>
                  <a:srgbClr val="0B1196"/>
                </a:solidFill>
              </a:rPr>
              <a:t> = m+1</a:t>
            </a:r>
          </a:p>
        </p:txBody>
      </p:sp>
      <p:sp>
        <p:nvSpPr>
          <p:cNvPr id="12" name="Text Box 12">
            <a:extLst>
              <a:ext uri="{FF2B5EF4-FFF2-40B4-BE49-F238E27FC236}">
                <a16:creationId xmlns:a16="http://schemas.microsoft.com/office/drawing/2014/main" id="{38BC68EB-6568-42CE-B52F-2192A429D2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4200" y="5498068"/>
            <a:ext cx="2362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b="0" dirty="0"/>
              <a:t>return  </a:t>
            </a:r>
            <a:r>
              <a:rPr lang="en-US" altLang="en-US" b="0" i="1" dirty="0">
                <a:solidFill>
                  <a:srgbClr val="0B1196"/>
                </a:solidFill>
              </a:rPr>
              <a:t>A[m]</a:t>
            </a:r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940119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utoUpdateAnimBg="0"/>
      <p:bldP spid="12" grpId="0" autoUpdateAnimBg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15A20-20B2-4D04-8DE6-0751A7D04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Intuition of </a:t>
            </a:r>
            <a:r>
              <a:rPr lang="en-US" dirty="0" err="1"/>
              <a:t>QuickSelect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D8646B-05EB-4777-AE5B-B92DB09FB7E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Imagine we are given </a:t>
                </a:r>
                <a:r>
                  <a:rPr lang="en-US" dirty="0">
                    <a:solidFill>
                      <a:srgbClr val="0B0E8F"/>
                    </a:solidFill>
                  </a:rPr>
                  <a:t>Partition </a:t>
                </a:r>
                <a:r>
                  <a:rPr lang="en-US" dirty="0"/>
                  <a:t>procedure.  </a:t>
                </a:r>
              </a:p>
              <a:p>
                <a:r>
                  <a:rPr lang="en-US" dirty="0" err="1"/>
                  <a:t>QuickSelect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1,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)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= </a:t>
                </a:r>
                <a:r>
                  <a:rPr lang="en-US" dirty="0">
                    <a:solidFill>
                      <a:srgbClr val="0B0E8F"/>
                    </a:solidFill>
                  </a:rPr>
                  <a:t>Partition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0,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) </a:t>
                </a:r>
              </a:p>
              <a:p>
                <a:pPr lvl="1"/>
                <a:r>
                  <a:rPr lang="en-US" dirty="0"/>
                  <a:t>Note:  the </a:t>
                </a:r>
                <a:r>
                  <a:rPr lang="en-US" dirty="0">
                    <a:solidFill>
                      <a:srgbClr val="700000"/>
                    </a:solidFill>
                  </a:rPr>
                  <a:t>order</a:t>
                </a:r>
                <a:r>
                  <a:rPr lang="en-US" dirty="0"/>
                  <a:t> of the pivot =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D8646B-05EB-4777-AE5B-B92DB09FB7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Box 10">
            <a:extLst>
              <a:ext uri="{FF2B5EF4-FFF2-40B4-BE49-F238E27FC236}">
                <a16:creationId xmlns:a16="http://schemas.microsoft.com/office/drawing/2014/main" id="{7174E50F-61DB-4E84-850A-1D503AA86A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9400" y="4495800"/>
            <a:ext cx="2362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b="0" dirty="0"/>
              <a:t>Case 2: </a:t>
            </a:r>
            <a:r>
              <a:rPr lang="en-US" altLang="en-US" i="1" dirty="0">
                <a:solidFill>
                  <a:srgbClr val="0B1196"/>
                </a:solidFill>
              </a:rPr>
              <a:t>k</a:t>
            </a:r>
            <a:r>
              <a:rPr lang="en-US" altLang="en-US" b="0" i="1" dirty="0">
                <a:solidFill>
                  <a:srgbClr val="0B1196"/>
                </a:solidFill>
              </a:rPr>
              <a:t> &lt; m+1</a:t>
            </a:r>
          </a:p>
        </p:txBody>
      </p:sp>
      <p:sp>
        <p:nvSpPr>
          <p:cNvPr id="14" name="Text Box 11">
            <a:extLst>
              <a:ext uri="{FF2B5EF4-FFF2-40B4-BE49-F238E27FC236}">
                <a16:creationId xmlns:a16="http://schemas.microsoft.com/office/drawing/2014/main" id="{2553450A-527C-4912-A6CB-F86047EB04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6400" y="5410200"/>
            <a:ext cx="51816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b="0" dirty="0"/>
              <a:t>return  </a:t>
            </a:r>
            <a:r>
              <a:rPr lang="en-US" altLang="en-US" b="0" dirty="0" err="1"/>
              <a:t>QuickSelect</a:t>
            </a:r>
            <a:r>
              <a:rPr lang="en-US" altLang="en-US" b="0" dirty="0"/>
              <a:t> </a:t>
            </a:r>
            <a:r>
              <a:rPr lang="en-US" altLang="en-US" b="0" i="1" dirty="0">
                <a:solidFill>
                  <a:srgbClr val="0B1196"/>
                </a:solidFill>
              </a:rPr>
              <a:t>(</a:t>
            </a:r>
            <a:r>
              <a:rPr lang="en-US" altLang="en-US" b="0" dirty="0"/>
              <a:t> </a:t>
            </a:r>
            <a:r>
              <a:rPr lang="en-US" altLang="en-US" b="0" i="1" dirty="0">
                <a:solidFill>
                  <a:srgbClr val="0B1196"/>
                </a:solidFill>
              </a:rPr>
              <a:t>A, 0, </a:t>
            </a:r>
            <a:r>
              <a:rPr lang="en-US" altLang="en-US" i="1" dirty="0">
                <a:solidFill>
                  <a:srgbClr val="0B1196"/>
                </a:solidFill>
              </a:rPr>
              <a:t>m</a:t>
            </a:r>
            <a:r>
              <a:rPr lang="en-US" altLang="en-US" b="0" dirty="0"/>
              <a:t>,  </a:t>
            </a:r>
            <a:r>
              <a:rPr lang="en-US" altLang="en-US" b="0" i="1" dirty="0">
                <a:solidFill>
                  <a:srgbClr val="0B1196"/>
                </a:solidFill>
              </a:rPr>
              <a:t>k )</a:t>
            </a:r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B65619C4-73D3-4F87-ADC3-5387024024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00" y="3212068"/>
            <a:ext cx="6934200" cy="609600"/>
          </a:xfrm>
          <a:prstGeom prst="rect">
            <a:avLst/>
          </a:prstGeom>
          <a:solidFill>
            <a:srgbClr val="CCFFCC">
              <a:alpha val="56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6" name="Group 5">
            <a:extLst>
              <a:ext uri="{FF2B5EF4-FFF2-40B4-BE49-F238E27FC236}">
                <a16:creationId xmlns:a16="http://schemas.microsoft.com/office/drawing/2014/main" id="{124EF037-33FB-435F-9E28-743205339C76}"/>
              </a:ext>
            </a:extLst>
          </p:cNvPr>
          <p:cNvGrpSpPr>
            <a:grpSpLocks/>
          </p:cNvGrpSpPr>
          <p:nvPr/>
        </p:nvGrpSpPr>
        <p:grpSpPr bwMode="auto">
          <a:xfrm>
            <a:off x="990600" y="3212071"/>
            <a:ext cx="6934200" cy="1055688"/>
            <a:chOff x="576" y="3360"/>
            <a:chExt cx="4368" cy="665"/>
          </a:xfrm>
        </p:grpSpPr>
        <p:grpSp>
          <p:nvGrpSpPr>
            <p:cNvPr id="17" name="Group 6">
              <a:extLst>
                <a:ext uri="{FF2B5EF4-FFF2-40B4-BE49-F238E27FC236}">
                  <a16:creationId xmlns:a16="http://schemas.microsoft.com/office/drawing/2014/main" id="{5BC0D5FC-865C-4A47-A319-6D9E928A6DD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6" y="3360"/>
              <a:ext cx="4368" cy="384"/>
              <a:chOff x="576" y="3360"/>
              <a:chExt cx="4368" cy="384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EEE2A5D-F510-4354-AC65-AB35F2EC26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12" y="3360"/>
                <a:ext cx="384" cy="384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5616795-10A0-4B8D-BCAD-ACD4E5E71F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6" y="3360"/>
                <a:ext cx="1536" cy="384"/>
              </a:xfrm>
              <a:prstGeom prst="rect">
                <a:avLst/>
              </a:prstGeom>
              <a:solidFill>
                <a:srgbClr val="FFCC99">
                  <a:alpha val="49001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B5EFC04-F6E8-4585-8170-BB6124C25C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96" y="3360"/>
                <a:ext cx="2448" cy="384"/>
              </a:xfrm>
              <a:prstGeom prst="rect">
                <a:avLst/>
              </a:prstGeom>
              <a:solidFill>
                <a:srgbClr val="99CC00">
                  <a:alpha val="83000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" name="Text Box 10">
              <a:extLst>
                <a:ext uri="{FF2B5EF4-FFF2-40B4-BE49-F238E27FC236}">
                  <a16:creationId xmlns:a16="http://schemas.microsoft.com/office/drawing/2014/main" id="{3EEAE36F-ECC0-4BCA-986B-2B46987168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64" y="3792"/>
              <a:ext cx="163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b="0" i="1" dirty="0">
                  <a:solidFill>
                    <a:srgbClr val="0B1196"/>
                  </a:solidFill>
                </a:rPr>
                <a:t>p = A[m]: </a:t>
              </a:r>
              <a:r>
                <a:rPr lang="en-US" altLang="en-US" b="0" dirty="0"/>
                <a:t>pivot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9723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utoUpdateAnimBg="0"/>
      <p:bldP spid="14" grpId="0" autoUpdateAnimBg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15A20-20B2-4D04-8DE6-0751A7D04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Intuition of </a:t>
            </a:r>
            <a:r>
              <a:rPr lang="en-US" dirty="0" err="1"/>
              <a:t>QuickSelect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D8646B-05EB-4777-AE5B-B92DB09FB7E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Imagine we are given </a:t>
                </a:r>
                <a:r>
                  <a:rPr lang="en-US" dirty="0">
                    <a:solidFill>
                      <a:srgbClr val="0B0E8F"/>
                    </a:solidFill>
                  </a:rPr>
                  <a:t>Partition </a:t>
                </a:r>
                <a:r>
                  <a:rPr lang="en-US" dirty="0"/>
                  <a:t>procedure.  </a:t>
                </a:r>
              </a:p>
              <a:p>
                <a:r>
                  <a:rPr lang="en-US" dirty="0" err="1"/>
                  <a:t>QuickSelect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1,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)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= </a:t>
                </a:r>
                <a:r>
                  <a:rPr lang="en-US" dirty="0">
                    <a:solidFill>
                      <a:srgbClr val="0B0E8F"/>
                    </a:solidFill>
                  </a:rPr>
                  <a:t>Partition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0,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) </a:t>
                </a:r>
              </a:p>
              <a:p>
                <a:pPr lvl="1"/>
                <a:r>
                  <a:rPr lang="en-US" dirty="0"/>
                  <a:t>Note:  the </a:t>
                </a:r>
                <a:r>
                  <a:rPr lang="en-US" dirty="0">
                    <a:solidFill>
                      <a:srgbClr val="700000"/>
                    </a:solidFill>
                  </a:rPr>
                  <a:t>order</a:t>
                </a:r>
                <a:r>
                  <a:rPr lang="en-US" dirty="0"/>
                  <a:t> of the pivot =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D8646B-05EB-4777-AE5B-B92DB09FB7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4">
            <a:extLst>
              <a:ext uri="{FF2B5EF4-FFF2-40B4-BE49-F238E27FC236}">
                <a16:creationId xmlns:a16="http://schemas.microsoft.com/office/drawing/2014/main" id="{B65619C4-73D3-4F87-ADC3-5387024024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00" y="3212068"/>
            <a:ext cx="6934200" cy="609600"/>
          </a:xfrm>
          <a:prstGeom prst="rect">
            <a:avLst/>
          </a:prstGeom>
          <a:solidFill>
            <a:srgbClr val="CCFFCC">
              <a:alpha val="56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6" name="Group 5">
            <a:extLst>
              <a:ext uri="{FF2B5EF4-FFF2-40B4-BE49-F238E27FC236}">
                <a16:creationId xmlns:a16="http://schemas.microsoft.com/office/drawing/2014/main" id="{124EF037-33FB-435F-9E28-743205339C76}"/>
              </a:ext>
            </a:extLst>
          </p:cNvPr>
          <p:cNvGrpSpPr>
            <a:grpSpLocks/>
          </p:cNvGrpSpPr>
          <p:nvPr/>
        </p:nvGrpSpPr>
        <p:grpSpPr bwMode="auto">
          <a:xfrm>
            <a:off x="990600" y="3212071"/>
            <a:ext cx="6934200" cy="1055688"/>
            <a:chOff x="576" y="3360"/>
            <a:chExt cx="4368" cy="665"/>
          </a:xfrm>
        </p:grpSpPr>
        <p:grpSp>
          <p:nvGrpSpPr>
            <p:cNvPr id="17" name="Group 6">
              <a:extLst>
                <a:ext uri="{FF2B5EF4-FFF2-40B4-BE49-F238E27FC236}">
                  <a16:creationId xmlns:a16="http://schemas.microsoft.com/office/drawing/2014/main" id="{5BC0D5FC-865C-4A47-A319-6D9E928A6DD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6" y="3360"/>
              <a:ext cx="4368" cy="384"/>
              <a:chOff x="576" y="3360"/>
              <a:chExt cx="4368" cy="384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EEE2A5D-F510-4354-AC65-AB35F2EC26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12" y="3360"/>
                <a:ext cx="384" cy="384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5616795-10A0-4B8D-BCAD-ACD4E5E71F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6" y="3360"/>
                <a:ext cx="1536" cy="384"/>
              </a:xfrm>
              <a:prstGeom prst="rect">
                <a:avLst/>
              </a:prstGeom>
              <a:solidFill>
                <a:srgbClr val="FFCC99">
                  <a:alpha val="49001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B5EFC04-F6E8-4585-8170-BB6124C25C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96" y="3360"/>
                <a:ext cx="2448" cy="384"/>
              </a:xfrm>
              <a:prstGeom prst="rect">
                <a:avLst/>
              </a:prstGeom>
              <a:solidFill>
                <a:srgbClr val="99CC00">
                  <a:alpha val="83000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" name="Text Box 10">
              <a:extLst>
                <a:ext uri="{FF2B5EF4-FFF2-40B4-BE49-F238E27FC236}">
                  <a16:creationId xmlns:a16="http://schemas.microsoft.com/office/drawing/2014/main" id="{3EEAE36F-ECC0-4BCA-986B-2B46987168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64" y="3792"/>
              <a:ext cx="163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b="0" i="1" dirty="0">
                  <a:solidFill>
                    <a:srgbClr val="0B1196"/>
                  </a:solidFill>
                </a:rPr>
                <a:t>p = A[m]: </a:t>
              </a:r>
              <a:r>
                <a:rPr lang="en-US" altLang="en-US" b="0" dirty="0"/>
                <a:t>pivot</a:t>
              </a:r>
            </a:p>
          </p:txBody>
        </p:sp>
      </p:grpSp>
      <p:sp>
        <p:nvSpPr>
          <p:cNvPr id="22" name="Text Box 9">
            <a:extLst>
              <a:ext uri="{FF2B5EF4-FFF2-40B4-BE49-F238E27FC236}">
                <a16:creationId xmlns:a16="http://schemas.microsoft.com/office/drawing/2014/main" id="{1A2ABACB-B0C0-48D8-A6E6-0A0DF2579F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4572000"/>
            <a:ext cx="2362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b="0" dirty="0"/>
              <a:t>Case 3: </a:t>
            </a:r>
            <a:r>
              <a:rPr lang="en-US" altLang="en-US" i="1" dirty="0">
                <a:solidFill>
                  <a:srgbClr val="0B1196"/>
                </a:solidFill>
              </a:rPr>
              <a:t>k</a:t>
            </a:r>
            <a:r>
              <a:rPr lang="en-US" altLang="en-US" b="0" i="1" dirty="0">
                <a:solidFill>
                  <a:srgbClr val="0B1196"/>
                </a:solidFill>
              </a:rPr>
              <a:t> &gt; m+1</a:t>
            </a:r>
          </a:p>
        </p:txBody>
      </p:sp>
      <p:sp>
        <p:nvSpPr>
          <p:cNvPr id="23" name="Text Box 10">
            <a:extLst>
              <a:ext uri="{FF2B5EF4-FFF2-40B4-BE49-F238E27FC236}">
                <a16:creationId xmlns:a16="http://schemas.microsoft.com/office/drawing/2014/main" id="{51C622DB-AB13-46C0-AB97-43C6007406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0200" y="5486400"/>
            <a:ext cx="51816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b="0" dirty="0"/>
              <a:t>return  </a:t>
            </a:r>
            <a:r>
              <a:rPr lang="en-US" altLang="en-US" b="0" dirty="0" err="1"/>
              <a:t>QuickSelect</a:t>
            </a:r>
            <a:r>
              <a:rPr lang="en-US" altLang="en-US" b="0" dirty="0"/>
              <a:t> </a:t>
            </a:r>
            <a:r>
              <a:rPr lang="en-US" altLang="en-US" b="0" i="1" dirty="0">
                <a:solidFill>
                  <a:srgbClr val="0B1196"/>
                </a:solidFill>
              </a:rPr>
              <a:t>(</a:t>
            </a:r>
            <a:r>
              <a:rPr lang="en-US" altLang="en-US" b="0" dirty="0"/>
              <a:t> </a:t>
            </a:r>
            <a:r>
              <a:rPr lang="en-US" altLang="en-US" b="0" i="1" dirty="0">
                <a:solidFill>
                  <a:srgbClr val="0B1196"/>
                </a:solidFill>
              </a:rPr>
              <a:t>A, </a:t>
            </a:r>
            <a:r>
              <a:rPr lang="en-US" altLang="en-US" i="1" dirty="0">
                <a:solidFill>
                  <a:srgbClr val="0B1196"/>
                </a:solidFill>
              </a:rPr>
              <a:t>m</a:t>
            </a:r>
            <a:r>
              <a:rPr lang="en-US" altLang="en-US" b="0" i="1" dirty="0">
                <a:solidFill>
                  <a:srgbClr val="0B1196"/>
                </a:solidFill>
              </a:rPr>
              <a:t>+1, n</a:t>
            </a:r>
            <a:r>
              <a:rPr lang="en-US" altLang="en-US" b="0" dirty="0"/>
              <a:t>,</a:t>
            </a:r>
            <a:r>
              <a:rPr lang="en-US" altLang="en-US" b="0" i="1" dirty="0">
                <a:solidFill>
                  <a:srgbClr val="0B0E8F"/>
                </a:solidFill>
              </a:rPr>
              <a:t> k</a:t>
            </a:r>
            <a:r>
              <a:rPr lang="en-US" altLang="en-US" b="0" i="1" dirty="0">
                <a:solidFill>
                  <a:srgbClr val="0B1196"/>
                </a:solidFill>
              </a:rPr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3792683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utoUpdateAnimBg="0"/>
      <p:bldP spid="23" grpId="0" autoUpdateAnimBg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DB5B8-C71E-4D13-9383-F7E7763CE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Pseudo-code for </a:t>
            </a:r>
            <a:r>
              <a:rPr lang="en-US" dirty="0" err="1"/>
              <a:t>QuickSelect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3B951-0CBD-45A3-8E71-58342E29DB4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371600"/>
            <a:ext cx="5867400" cy="4038600"/>
          </a:xfrm>
          <a:ln w="25400">
            <a:solidFill>
              <a:schemeClr val="tx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altLang="en-US" sz="2400" b="0" dirty="0" err="1">
                <a:latin typeface="Chalkboard" charset="0"/>
              </a:rPr>
              <a:t>QuickSelect</a:t>
            </a:r>
            <a:r>
              <a:rPr lang="en-US" altLang="en-US" sz="2400" b="0" dirty="0">
                <a:latin typeface="Chalkboard" charset="0"/>
              </a:rPr>
              <a:t> ( A, s, t, k )</a:t>
            </a:r>
          </a:p>
          <a:p>
            <a:pPr marL="0" indent="0">
              <a:buNone/>
            </a:pPr>
            <a:r>
              <a:rPr lang="en-US" altLang="en-US" sz="2400" b="0" dirty="0">
                <a:latin typeface="Chalkboard" charset="0"/>
              </a:rPr>
              <a:t> </a:t>
            </a:r>
            <a:r>
              <a:rPr lang="en-US" altLang="en-US" sz="1800" b="0" dirty="0">
                <a:solidFill>
                  <a:schemeClr val="tx1">
                    <a:lumMod val="65000"/>
                    <a:lumOff val="35000"/>
                  </a:schemeClr>
                </a:solidFill>
                <a:latin typeface="Chalkboard" charset="0"/>
              </a:rPr>
              <a:t>/* select the order k element in A from subarray A[s,..t-1] */  </a:t>
            </a:r>
            <a:endParaRPr lang="en-US" altLang="en-US" sz="800" b="0" dirty="0">
              <a:solidFill>
                <a:schemeClr val="tx1">
                  <a:lumMod val="65000"/>
                  <a:lumOff val="35000"/>
                </a:schemeClr>
              </a:solidFill>
              <a:latin typeface="Chalkboard" charset="0"/>
            </a:endParaRPr>
          </a:p>
          <a:p>
            <a:pPr marL="0" indent="0">
              <a:buNone/>
            </a:pPr>
            <a:r>
              <a:rPr lang="en-US" altLang="en-US" sz="2400" dirty="0">
                <a:latin typeface="Chalkboard" charset="0"/>
              </a:rPr>
              <a:t>    if (k &lt; s or k ≥ t or s ≥ t) return </a:t>
            </a:r>
            <a:r>
              <a:rPr lang="en-US" altLang="en-US" sz="2400" dirty="0">
                <a:solidFill>
                  <a:srgbClr val="00B050"/>
                </a:solidFill>
                <a:latin typeface="Chalkboard" charset="0"/>
              </a:rPr>
              <a:t>None</a:t>
            </a:r>
            <a:r>
              <a:rPr lang="en-US" altLang="en-US" sz="2400" dirty="0">
                <a:latin typeface="Chalkboard" charset="0"/>
              </a:rPr>
              <a:t>; </a:t>
            </a:r>
            <a:r>
              <a:rPr lang="en-US" altLang="en-US" sz="2400" b="0" dirty="0">
                <a:latin typeface="Chalkboard" charset="0"/>
              </a:rPr>
              <a:t>    </a:t>
            </a:r>
          </a:p>
          <a:p>
            <a:pPr marL="0" indent="0">
              <a:buNone/>
            </a:pPr>
            <a:r>
              <a:rPr lang="en-US" altLang="en-US" sz="2400" b="0" dirty="0">
                <a:latin typeface="Chalkboard" charset="0"/>
              </a:rPr>
              <a:t>    m   = Partition ( A, s, t ); </a:t>
            </a:r>
          </a:p>
          <a:p>
            <a:pPr marL="0" indent="0">
              <a:buNone/>
            </a:pPr>
            <a:r>
              <a:rPr lang="en-US" altLang="en-US" sz="2400" b="0" dirty="0">
                <a:latin typeface="Chalkboard" charset="0"/>
              </a:rPr>
              <a:t>    </a:t>
            </a:r>
            <a:r>
              <a:rPr lang="en-US" altLang="en-US" sz="2400" b="0" dirty="0" err="1">
                <a:latin typeface="Chalkboard" charset="0"/>
              </a:rPr>
              <a:t>pivot_order</a:t>
            </a:r>
            <a:r>
              <a:rPr lang="en-US" altLang="en-US" sz="2400" b="0" dirty="0">
                <a:latin typeface="Chalkboard" charset="0"/>
              </a:rPr>
              <a:t> = m+1 ;  </a:t>
            </a:r>
          </a:p>
          <a:p>
            <a:pPr marL="0" indent="0">
              <a:buNone/>
            </a:pPr>
            <a:r>
              <a:rPr lang="en-US" altLang="en-US" sz="2400" b="0" dirty="0">
                <a:latin typeface="Chalkboard" charset="0"/>
              </a:rPr>
              <a:t>    if ( </a:t>
            </a:r>
            <a:r>
              <a:rPr lang="en-US" altLang="en-US" sz="2400" b="0" dirty="0" err="1">
                <a:latin typeface="Chalkboard" charset="0"/>
              </a:rPr>
              <a:t>pivot_order</a:t>
            </a:r>
            <a:r>
              <a:rPr lang="en-US" altLang="en-US" sz="2400" b="0" dirty="0">
                <a:latin typeface="Chalkboard" charset="0"/>
              </a:rPr>
              <a:t> = k)  return A[m]; </a:t>
            </a:r>
          </a:p>
          <a:p>
            <a:pPr marL="0" indent="0">
              <a:buNone/>
            </a:pPr>
            <a:r>
              <a:rPr lang="en-US" altLang="en-US" sz="2400" b="0" dirty="0">
                <a:latin typeface="Chalkboard" charset="0"/>
              </a:rPr>
              <a:t>    if ( </a:t>
            </a:r>
            <a:r>
              <a:rPr lang="en-US" altLang="en-US" sz="2400" b="0" dirty="0" err="1">
                <a:latin typeface="Chalkboard" charset="0"/>
              </a:rPr>
              <a:t>pivot_order</a:t>
            </a:r>
            <a:r>
              <a:rPr lang="en-US" altLang="en-US" sz="2400" b="0" dirty="0">
                <a:latin typeface="Chalkboard" charset="0"/>
              </a:rPr>
              <a:t> &gt; k )</a:t>
            </a:r>
          </a:p>
          <a:p>
            <a:pPr marL="0" indent="0">
              <a:buNone/>
            </a:pPr>
            <a:r>
              <a:rPr lang="en-US" altLang="en-US" sz="2400" b="0" dirty="0">
                <a:latin typeface="Chalkboard" charset="0"/>
              </a:rPr>
              <a:t>          return </a:t>
            </a:r>
            <a:r>
              <a:rPr lang="en-US" altLang="en-US" sz="2400" b="0" dirty="0" err="1">
                <a:latin typeface="Chalkboard" charset="0"/>
              </a:rPr>
              <a:t>QuickSelect</a:t>
            </a:r>
            <a:r>
              <a:rPr lang="en-US" altLang="en-US" sz="2400" b="0" dirty="0">
                <a:latin typeface="Chalkboard" charset="0"/>
              </a:rPr>
              <a:t> ( A, s, m, k );</a:t>
            </a:r>
          </a:p>
          <a:p>
            <a:pPr marL="0" indent="0">
              <a:buNone/>
            </a:pPr>
            <a:r>
              <a:rPr lang="en-US" altLang="en-US" sz="2400" b="0" dirty="0">
                <a:latin typeface="Chalkboard" charset="0"/>
              </a:rPr>
              <a:t>    else  return </a:t>
            </a:r>
            <a:r>
              <a:rPr lang="en-US" altLang="en-US" sz="2400" b="0" dirty="0" err="1">
                <a:latin typeface="Chalkboard" charset="0"/>
              </a:rPr>
              <a:t>QuickSelect</a:t>
            </a:r>
            <a:r>
              <a:rPr lang="en-US" altLang="en-US" sz="2400" b="0" dirty="0">
                <a:latin typeface="Chalkboard" charset="0"/>
              </a:rPr>
              <a:t> ( A, m+1, t, k ); 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6C6AA4-CAEB-4AA0-907F-A2EC3C184E4A}"/>
              </a:ext>
            </a:extLst>
          </p:cNvPr>
          <p:cNvSpPr txBox="1"/>
          <p:nvPr/>
        </p:nvSpPr>
        <p:spPr>
          <a:xfrm>
            <a:off x="457200" y="5867400"/>
            <a:ext cx="601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 the top level, we call </a:t>
            </a:r>
            <a:r>
              <a:rPr lang="en-US" dirty="0" err="1"/>
              <a:t>QuickSelect</a:t>
            </a:r>
            <a:r>
              <a:rPr lang="en-US" dirty="0"/>
              <a:t>(A, 0, n, k) </a:t>
            </a:r>
          </a:p>
        </p:txBody>
      </p:sp>
    </p:spTree>
    <p:extLst>
      <p:ext uri="{BB962C8B-B14F-4D97-AF65-F5344CB8AC3E}">
        <p14:creationId xmlns:p14="http://schemas.microsoft.com/office/powerpoint/2010/main" val="2456752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CB2C6-2BDD-4F3F-B106-F714763A2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DF31F4-43BC-49B9-9971-05ACBF2CACE2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[13, 2, 5, 9, 4, 6]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Goal: find 2</a:t>
                </a:r>
                <a:r>
                  <a:rPr lang="en-US" baseline="30000" dirty="0"/>
                  <a:t>nd</a:t>
                </a:r>
                <a:r>
                  <a:rPr lang="en-US" dirty="0"/>
                  <a:t> order statistics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; </a:t>
                </a:r>
                <a:r>
                  <a:rPr lang="en-US" dirty="0" err="1"/>
                  <a:t>i.e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 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DF31F4-43BC-49B9-9971-05ACBF2CAC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7140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Partition procedure </a:t>
            </a:r>
          </a:p>
        </p:txBody>
      </p:sp>
    </p:spTree>
    <p:extLst>
      <p:ext uri="{BB962C8B-B14F-4D97-AF65-F5344CB8AC3E}">
        <p14:creationId xmlns:p14="http://schemas.microsoft.com/office/powerpoint/2010/main" val="34313946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40347-AD40-4835-B898-99AF4B35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B0E8F"/>
                </a:solidFill>
              </a:rPr>
              <a:t>Partition</a:t>
            </a:r>
            <a:r>
              <a:rPr lang="en-US" dirty="0"/>
              <a:t> procedure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DA29B-6CCE-476C-ABEC-D3B028B2D17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34440"/>
                <a:ext cx="8229600" cy="3566160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B0E8F"/>
                    </a:solidFill>
                  </a:rPr>
                  <a:t>Partition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solidFill>
                      <a:srgbClr val="0B0E8F"/>
                    </a:solidFill>
                  </a:rPr>
                  <a:t>) </a:t>
                </a:r>
                <a:endParaRPr lang="en-US" dirty="0"/>
              </a:p>
              <a:p>
                <a:pPr lvl="1"/>
                <a:r>
                  <a:rPr lang="en-US" dirty="0"/>
                  <a:t>Input:   </a:t>
                </a:r>
              </a:p>
              <a:p>
                <a:pPr lvl="2"/>
                <a:r>
                  <a:rPr lang="en-US" dirty="0"/>
                  <a:t>Given an array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consider sub-array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…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will be used as the pivot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Output:</a:t>
                </a:r>
              </a:p>
              <a:p>
                <a:pPr lvl="2"/>
                <a:r>
                  <a:rPr lang="en-US" dirty="0"/>
                  <a:t>Rearrange elements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is now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such that</a:t>
                </a:r>
              </a:p>
              <a:p>
                <a:pPr lvl="3"/>
                <a:r>
                  <a:rPr lang="en-US" dirty="0"/>
                  <a:t>all elements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are to its left</a:t>
                </a:r>
              </a:p>
              <a:p>
                <a:pPr lvl="3"/>
                <a:r>
                  <a:rPr lang="en-US" dirty="0"/>
                  <a:t>all elements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are to its right </a:t>
                </a:r>
              </a:p>
              <a:p>
                <a:pPr lvl="2"/>
                <a:r>
                  <a:rPr lang="en-US" dirty="0"/>
                  <a:t>Return the new position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7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of the pivot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DA29B-6CCE-476C-ABEC-D3B028B2D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34440"/>
                <a:ext cx="8229600" cy="3566160"/>
              </a:xfrm>
              <a:blipFill>
                <a:blip r:embed="rId3"/>
                <a:stretch>
                  <a:fillRect l="-667" t="-1709" b="-10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04534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DD85E8-FC76-4D5E-A321-B0A3F3977C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Partition(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DD85E8-FC76-4D5E-A321-B0A3F3977C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2"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56003AC-A589-48C2-A995-6531230495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981200"/>
            <a:ext cx="7010400" cy="609600"/>
          </a:xfrm>
          <a:prstGeom prst="rect">
            <a:avLst/>
          </a:prstGeom>
          <a:solidFill>
            <a:srgbClr val="CCFFCC">
              <a:alpha val="48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C0D47EC-DE00-47C7-9D42-B1C58FFCB588}"/>
              </a:ext>
            </a:extLst>
          </p:cNvPr>
          <p:cNvGrpSpPr>
            <a:grpSpLocks/>
          </p:cNvGrpSpPr>
          <p:nvPr/>
        </p:nvGrpSpPr>
        <p:grpSpPr bwMode="auto">
          <a:xfrm>
            <a:off x="1600200" y="1295400"/>
            <a:ext cx="6553200" cy="1295400"/>
            <a:chOff x="960" y="1152"/>
            <a:chExt cx="4128" cy="86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0512107-EBEE-425E-88C4-855BD83989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52" y="1584"/>
              <a:ext cx="336" cy="432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dirty="0"/>
                <a:t>  p</a:t>
              </a:r>
            </a:p>
          </p:txBody>
        </p:sp>
        <p:sp>
          <p:nvSpPr>
            <p:cNvPr id="7" name="Text Box 6">
              <a:extLst>
                <a:ext uri="{FF2B5EF4-FFF2-40B4-BE49-F238E27FC236}">
                  <a16:creationId xmlns:a16="http://schemas.microsoft.com/office/drawing/2014/main" id="{1D495087-BCC7-48AF-92EF-ACC38E91A9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60" y="1152"/>
              <a:ext cx="3312" cy="2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en-US" b="0" dirty="0"/>
                <a:t>Plan: take </a:t>
              </a:r>
              <a:r>
                <a:rPr lang="en-US" altLang="en-US" b="0" i="1" dirty="0">
                  <a:solidFill>
                    <a:srgbClr val="0B1196"/>
                  </a:solidFill>
                </a:rPr>
                <a:t>A[t-1]</a:t>
              </a:r>
              <a:r>
                <a:rPr lang="en-US" altLang="en-US" b="0" dirty="0"/>
                <a:t> as pivot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11EBFA8-2549-48AE-BA46-49DCCE1AF129}"/>
              </a:ext>
            </a:extLst>
          </p:cNvPr>
          <p:cNvGrpSpPr>
            <a:grpSpLocks/>
          </p:cNvGrpSpPr>
          <p:nvPr/>
        </p:nvGrpSpPr>
        <p:grpSpPr bwMode="auto">
          <a:xfrm>
            <a:off x="1143000" y="1981200"/>
            <a:ext cx="7010400" cy="1143000"/>
            <a:chOff x="672" y="2352"/>
            <a:chExt cx="4368" cy="72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8B3F355-A13D-479D-969C-04D2DCC5837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2" y="2352"/>
              <a:ext cx="4368" cy="384"/>
              <a:chOff x="576" y="3360"/>
              <a:chExt cx="4368" cy="384"/>
            </a:xfrm>
          </p:grpSpPr>
          <p:sp>
            <p:nvSpPr>
              <p:cNvPr id="11" name="Rectangle 9">
                <a:extLst>
                  <a:ext uri="{FF2B5EF4-FFF2-40B4-BE49-F238E27FC236}">
                    <a16:creationId xmlns:a16="http://schemas.microsoft.com/office/drawing/2014/main" id="{A968704D-0FFA-4F67-A07E-AAFF27829B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12" y="3360"/>
                <a:ext cx="384" cy="384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r>
                  <a:rPr lang="en-US" dirty="0"/>
                  <a:t>  p</a:t>
                </a:r>
              </a:p>
            </p:txBody>
          </p:sp>
          <p:sp>
            <p:nvSpPr>
              <p:cNvPr id="12" name="Rectangle 10">
                <a:extLst>
                  <a:ext uri="{FF2B5EF4-FFF2-40B4-BE49-F238E27FC236}">
                    <a16:creationId xmlns:a16="http://schemas.microsoft.com/office/drawing/2014/main" id="{F7F39091-FA89-4FCC-9904-88EC2D3AB9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6" y="3360"/>
                <a:ext cx="1536" cy="384"/>
              </a:xfrm>
              <a:prstGeom prst="rect">
                <a:avLst/>
              </a:prstGeom>
              <a:solidFill>
                <a:srgbClr val="FFCC99">
                  <a:alpha val="49001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" name="Rectangle 11">
                <a:extLst>
                  <a:ext uri="{FF2B5EF4-FFF2-40B4-BE49-F238E27FC236}">
                    <a16:creationId xmlns:a16="http://schemas.microsoft.com/office/drawing/2014/main" id="{77A88035-FDCD-4B18-A1B9-878F2D59AF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96" y="3360"/>
                <a:ext cx="2448" cy="384"/>
              </a:xfrm>
              <a:prstGeom prst="rect">
                <a:avLst/>
              </a:prstGeom>
              <a:solidFill>
                <a:srgbClr val="99CC00">
                  <a:alpha val="83000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0" name="Text Box 12">
              <a:extLst>
                <a:ext uri="{FF2B5EF4-FFF2-40B4-BE49-F238E27FC236}">
                  <a16:creationId xmlns:a16="http://schemas.microsoft.com/office/drawing/2014/main" id="{5B26DDB7-0AA9-4894-983C-2C7DCC90E2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32" y="2784"/>
              <a:ext cx="1632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en-US" b="0" dirty="0"/>
                <a:t>return </a:t>
              </a:r>
              <a:r>
                <a:rPr lang="en-US" altLang="en-US" b="0" i="1" dirty="0">
                  <a:solidFill>
                    <a:srgbClr val="0B1196"/>
                  </a:solidFill>
                </a:rPr>
                <a:t>m</a:t>
              </a:r>
              <a:endParaRPr lang="en-US" altLang="en-US" b="0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28807AC-68F0-4108-8C99-060D4AD51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9786" y="3245069"/>
            <a:ext cx="6973614" cy="10221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1" dirty="0">
                <a:solidFill>
                  <a:srgbClr val="700000"/>
                </a:solidFill>
              </a:rPr>
              <a:t>In-place</a:t>
            </a:r>
            <a:r>
              <a:rPr lang="en-US" altLang="en-US" b="0" dirty="0"/>
              <a:t> partition !</a:t>
            </a:r>
          </a:p>
          <a:p>
            <a:pPr algn="ctr"/>
            <a:r>
              <a:rPr lang="en-US" altLang="en-US" dirty="0" err="1"/>
              <a:t>i.e</a:t>
            </a:r>
            <a:r>
              <a:rPr lang="en-US" altLang="en-US" dirty="0"/>
              <a:t>, </a:t>
            </a:r>
            <a:r>
              <a:rPr lang="en-US" dirty="0"/>
              <a:t>we use the same input array, </a:t>
            </a:r>
          </a:p>
          <a:p>
            <a:pPr algn="ctr"/>
            <a:r>
              <a:rPr lang="en-US" dirty="0"/>
              <a:t>and only need constant number of auxiliary memory </a:t>
            </a:r>
            <a:endParaRPr lang="en-US" altLang="en-US" b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93AB025-EE10-42BA-A965-00BBE47D8B3C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4953000"/>
            <a:ext cx="7010400" cy="609600"/>
            <a:chOff x="672" y="2928"/>
            <a:chExt cx="4416" cy="38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E13A111-EE1B-4CC8-9D8F-7D8FDD6A8B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" y="2928"/>
              <a:ext cx="4416" cy="384"/>
            </a:xfrm>
            <a:prstGeom prst="rect">
              <a:avLst/>
            </a:prstGeom>
            <a:solidFill>
              <a:srgbClr val="CCFFCC">
                <a:alpha val="52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D4B81C9-3E3A-43B3-8F90-BC7720DF13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52" y="2928"/>
              <a:ext cx="336" cy="384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p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117B6BE-6E37-4E1E-8163-7C4017EA8599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4953000"/>
            <a:ext cx="2895600" cy="1219200"/>
            <a:chOff x="672" y="3120"/>
            <a:chExt cx="1824" cy="768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B531FF4-95B0-4F6C-98C7-E8733FD8A1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" y="3120"/>
              <a:ext cx="672" cy="384"/>
            </a:xfrm>
            <a:prstGeom prst="rect">
              <a:avLst/>
            </a:prstGeom>
            <a:solidFill>
              <a:srgbClr val="FFCC99">
                <a:alpha val="55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059E3FA-D9D9-4CB4-91A1-EC2D2FBD44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4" y="3120"/>
              <a:ext cx="1056" cy="384"/>
            </a:xfrm>
            <a:prstGeom prst="rect">
              <a:avLst/>
            </a:prstGeom>
            <a:solidFill>
              <a:srgbClr val="99CC00">
                <a:alpha val="80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21" name="Line 20">
              <a:extLst>
                <a:ext uri="{FF2B5EF4-FFF2-40B4-BE49-F238E27FC236}">
                  <a16:creationId xmlns:a16="http://schemas.microsoft.com/office/drawing/2014/main" id="{933B99C7-3B51-42A1-A490-AA521700B9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552"/>
              <a:ext cx="0" cy="33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Line 21">
              <a:extLst>
                <a:ext uri="{FF2B5EF4-FFF2-40B4-BE49-F238E27FC236}">
                  <a16:creationId xmlns:a16="http://schemas.microsoft.com/office/drawing/2014/main" id="{B8BA759B-691A-4C85-830B-6559A24F45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6" y="3552"/>
              <a:ext cx="0" cy="33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E197337C-7468-4C1D-84D2-65B00F75C3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0" y="4953000"/>
            <a:ext cx="457200" cy="60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487004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4" grpId="0" animBg="1" autoUpdateAnimBg="0"/>
      <p:bldP spid="23" grpId="0" animBg="1" autoUpdateAnimBg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4BC4725-6D91-480F-A0EA-0F540D8E6E1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Partition(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4BC4725-6D91-480F-A0EA-0F540D8E6E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2"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339626-42F8-4611-AC37-D22CC54383B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9C9CB6E-DC75-4CF5-A7DE-D918683ED3DB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2057400"/>
            <a:ext cx="7010400" cy="609600"/>
            <a:chOff x="672" y="2928"/>
            <a:chExt cx="4416" cy="38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2D54973-6FE9-4906-A195-004A182CC8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" y="2928"/>
              <a:ext cx="4416" cy="384"/>
            </a:xfrm>
            <a:prstGeom prst="rect">
              <a:avLst/>
            </a:prstGeom>
            <a:solidFill>
              <a:srgbClr val="CCFFCC">
                <a:alpha val="52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E407EC7-E55E-488A-8A0C-73A31AEBF7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52" y="2928"/>
              <a:ext cx="336" cy="384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b="0" dirty="0"/>
                <a:t>p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E0EEF73-3017-41EF-982F-663A95868608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2057400"/>
            <a:ext cx="2895600" cy="1219200"/>
            <a:chOff x="672" y="3120"/>
            <a:chExt cx="1824" cy="76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5BF1068-C984-423D-A7B2-BEFFFA3781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" y="3120"/>
              <a:ext cx="672" cy="384"/>
            </a:xfrm>
            <a:prstGeom prst="rect">
              <a:avLst/>
            </a:prstGeom>
            <a:solidFill>
              <a:srgbClr val="FFCC99">
                <a:alpha val="55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A05188F-6E15-4B7B-BB0D-AA05D15241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4" y="3120"/>
              <a:ext cx="1056" cy="384"/>
            </a:xfrm>
            <a:prstGeom prst="rect">
              <a:avLst/>
            </a:prstGeom>
            <a:solidFill>
              <a:srgbClr val="99CC00">
                <a:alpha val="80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dirty="0"/>
                <a:t>y</a:t>
              </a:r>
            </a:p>
          </p:txBody>
        </p:sp>
        <p:sp>
          <p:nvSpPr>
            <p:cNvPr id="10" name="Line 9">
              <a:extLst>
                <a:ext uri="{FF2B5EF4-FFF2-40B4-BE49-F238E27FC236}">
                  <a16:creationId xmlns:a16="http://schemas.microsoft.com/office/drawing/2014/main" id="{6F559D32-EA72-4044-A159-79F7FC711D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552"/>
              <a:ext cx="0" cy="33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10">
              <a:extLst>
                <a:ext uri="{FF2B5EF4-FFF2-40B4-BE49-F238E27FC236}">
                  <a16:creationId xmlns:a16="http://schemas.microsoft.com/office/drawing/2014/main" id="{210931FC-5371-4270-90F2-BBFF059F57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6" y="3552"/>
              <a:ext cx="0" cy="33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99BA4012-6544-4C98-9A19-76294E5175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0" y="2057400"/>
            <a:ext cx="457200" cy="60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b="0" dirty="0"/>
              <a:t>x</a:t>
            </a:r>
          </a:p>
        </p:txBody>
      </p:sp>
      <p:sp>
        <p:nvSpPr>
          <p:cNvPr id="13" name="Text Box 12">
            <a:extLst>
              <a:ext uri="{FF2B5EF4-FFF2-40B4-BE49-F238E27FC236}">
                <a16:creationId xmlns:a16="http://schemas.microsoft.com/office/drawing/2014/main" id="{3117A40B-C796-4B1E-9D0A-BDD4426A7E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9400" y="3581400"/>
            <a:ext cx="2362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b="0" dirty="0"/>
              <a:t>Case 1: x &gt; p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C3846FC-8899-4532-92C3-303828F94057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4419600"/>
            <a:ext cx="7010400" cy="1219200"/>
            <a:chOff x="672" y="2784"/>
            <a:chExt cx="4416" cy="768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D93C745-0FC3-4C4D-8B9A-1CC2ACBFB2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2" y="2784"/>
              <a:ext cx="4416" cy="384"/>
              <a:chOff x="672" y="2928"/>
              <a:chExt cx="4416" cy="384"/>
            </a:xfrm>
          </p:grpSpPr>
          <p:sp>
            <p:nvSpPr>
              <p:cNvPr id="20" name="Rectangle 15">
                <a:extLst>
                  <a:ext uri="{FF2B5EF4-FFF2-40B4-BE49-F238E27FC236}">
                    <a16:creationId xmlns:a16="http://schemas.microsoft.com/office/drawing/2014/main" id="{D74024EF-4DCD-494D-8FFB-E3B5320D09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" y="2928"/>
                <a:ext cx="4416" cy="384"/>
              </a:xfrm>
              <a:prstGeom prst="rect">
                <a:avLst/>
              </a:prstGeom>
              <a:solidFill>
                <a:srgbClr val="CCFFCC">
                  <a:alpha val="52000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1" name="Rectangle 16">
                <a:extLst>
                  <a:ext uri="{FF2B5EF4-FFF2-40B4-BE49-F238E27FC236}">
                    <a16:creationId xmlns:a16="http://schemas.microsoft.com/office/drawing/2014/main" id="{A9FAEBF0-C956-4278-BDB4-853F4DD6CE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52" y="2928"/>
                <a:ext cx="336" cy="384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lang="en-US" altLang="en-US" b="0" dirty="0"/>
                  <a:t>p</a:t>
                </a:r>
              </a:p>
            </p:txBody>
          </p:sp>
        </p:grpSp>
        <p:sp>
          <p:nvSpPr>
            <p:cNvPr id="16" name="Rectangle 17">
              <a:extLst>
                <a:ext uri="{FF2B5EF4-FFF2-40B4-BE49-F238E27FC236}">
                  <a16:creationId xmlns:a16="http://schemas.microsoft.com/office/drawing/2014/main" id="{526A0398-CD48-4C5B-9978-25EC00CF32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" y="2784"/>
              <a:ext cx="672" cy="384"/>
            </a:xfrm>
            <a:prstGeom prst="rect">
              <a:avLst/>
            </a:prstGeom>
            <a:solidFill>
              <a:srgbClr val="FFCC99">
                <a:alpha val="55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" name="Rectangle 18">
              <a:extLst>
                <a:ext uri="{FF2B5EF4-FFF2-40B4-BE49-F238E27FC236}">
                  <a16:creationId xmlns:a16="http://schemas.microsoft.com/office/drawing/2014/main" id="{53FD4446-249E-4679-86EB-57583D2FCE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4" y="2784"/>
              <a:ext cx="1344" cy="384"/>
            </a:xfrm>
            <a:prstGeom prst="rect">
              <a:avLst/>
            </a:prstGeom>
            <a:solidFill>
              <a:srgbClr val="99CC00">
                <a:alpha val="80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r"/>
              <a:r>
                <a:rPr lang="en-US" altLang="en-US" b="0" dirty="0"/>
                <a:t>                     y                           x</a:t>
              </a:r>
            </a:p>
          </p:txBody>
        </p:sp>
        <p:sp>
          <p:nvSpPr>
            <p:cNvPr id="18" name="Line 19">
              <a:extLst>
                <a:ext uri="{FF2B5EF4-FFF2-40B4-BE49-F238E27FC236}">
                  <a16:creationId xmlns:a16="http://schemas.microsoft.com/office/drawing/2014/main" id="{2BD9449A-938E-4070-8DAF-7D7CE25A6C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216"/>
              <a:ext cx="0" cy="33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Line 20">
              <a:extLst>
                <a:ext uri="{FF2B5EF4-FFF2-40B4-BE49-F238E27FC236}">
                  <a16:creationId xmlns:a16="http://schemas.microsoft.com/office/drawing/2014/main" id="{B359FB9F-BC72-461D-B784-8F6D787B69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3216"/>
              <a:ext cx="0" cy="33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7970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utoUpdateAnimBg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432C0C3-B206-48DA-B244-978958B10CF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Partition(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432C0C3-B206-48DA-B244-978958B10C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52" b="-19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BFBA0-0363-47BE-BBCF-CAD6F83A267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22">
            <a:extLst>
              <a:ext uri="{FF2B5EF4-FFF2-40B4-BE49-F238E27FC236}">
                <a16:creationId xmlns:a16="http://schemas.microsoft.com/office/drawing/2014/main" id="{DE5C81CE-0CB4-416B-B42F-6DE2364F7FBD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2057400"/>
            <a:ext cx="7010400" cy="609600"/>
            <a:chOff x="672" y="2928"/>
            <a:chExt cx="4416" cy="384"/>
          </a:xfrm>
        </p:grpSpPr>
        <p:sp>
          <p:nvSpPr>
            <p:cNvPr id="5" name="Rectangle 23">
              <a:extLst>
                <a:ext uri="{FF2B5EF4-FFF2-40B4-BE49-F238E27FC236}">
                  <a16:creationId xmlns:a16="http://schemas.microsoft.com/office/drawing/2014/main" id="{B3806770-0DB3-47A5-9FCB-BA6046D321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" y="2928"/>
              <a:ext cx="4416" cy="384"/>
            </a:xfrm>
            <a:prstGeom prst="rect">
              <a:avLst/>
            </a:prstGeom>
            <a:solidFill>
              <a:srgbClr val="CCFFCC">
                <a:alpha val="52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" name="Rectangle 24">
              <a:extLst>
                <a:ext uri="{FF2B5EF4-FFF2-40B4-BE49-F238E27FC236}">
                  <a16:creationId xmlns:a16="http://schemas.microsoft.com/office/drawing/2014/main" id="{0C80107B-D782-4647-B245-DA6C146585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52" y="2928"/>
              <a:ext cx="336" cy="384"/>
            </a:xfrm>
            <a:prstGeom prst="rect">
              <a:avLst/>
            </a:prstGeom>
            <a:solidFill>
              <a:srgbClr val="FFFF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en-US" dirty="0"/>
                <a:t>p</a:t>
              </a:r>
              <a:endParaRPr lang="en-US" altLang="en-US" b="0" dirty="0"/>
            </a:p>
          </p:txBody>
        </p:sp>
      </p:grpSp>
      <p:sp>
        <p:nvSpPr>
          <p:cNvPr id="7" name="Rectangle 25">
            <a:extLst>
              <a:ext uri="{FF2B5EF4-FFF2-40B4-BE49-F238E27FC236}">
                <a16:creationId xmlns:a16="http://schemas.microsoft.com/office/drawing/2014/main" id="{10088884-6F9F-4DBE-A50F-DEC0CF3A40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2057400"/>
            <a:ext cx="1066800" cy="609600"/>
          </a:xfrm>
          <a:prstGeom prst="rect">
            <a:avLst/>
          </a:prstGeom>
          <a:solidFill>
            <a:srgbClr val="FFCC99">
              <a:alpha val="55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" name="Rectangle 26">
            <a:extLst>
              <a:ext uri="{FF2B5EF4-FFF2-40B4-BE49-F238E27FC236}">
                <a16:creationId xmlns:a16="http://schemas.microsoft.com/office/drawing/2014/main" id="{CECC678D-E02F-4009-A49E-5C1735BE27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2057400"/>
            <a:ext cx="1676400" cy="609600"/>
          </a:xfrm>
          <a:prstGeom prst="rect">
            <a:avLst/>
          </a:prstGeom>
          <a:solidFill>
            <a:srgbClr val="99CC00">
              <a:alpha val="80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en-US" dirty="0"/>
              <a:t>y</a:t>
            </a:r>
            <a:endParaRPr lang="en-US" altLang="en-US" b="0" dirty="0"/>
          </a:p>
        </p:txBody>
      </p:sp>
      <p:sp>
        <p:nvSpPr>
          <p:cNvPr id="9" name="Line 27">
            <a:extLst>
              <a:ext uri="{FF2B5EF4-FFF2-40B4-BE49-F238E27FC236}">
                <a16:creationId xmlns:a16="http://schemas.microsoft.com/office/drawing/2014/main" id="{C5E1179B-F97A-4A65-893C-28C33497FE0C}"/>
              </a:ext>
            </a:extLst>
          </p:cNvPr>
          <p:cNvSpPr>
            <a:spLocks noChangeShapeType="1"/>
          </p:cNvSpPr>
          <p:nvPr/>
        </p:nvSpPr>
        <p:spPr bwMode="auto">
          <a:xfrm>
            <a:off x="2286000" y="2743200"/>
            <a:ext cx="0" cy="533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stealth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Line 28">
            <a:extLst>
              <a:ext uri="{FF2B5EF4-FFF2-40B4-BE49-F238E27FC236}">
                <a16:creationId xmlns:a16="http://schemas.microsoft.com/office/drawing/2014/main" id="{5B631A62-EC32-4945-8E09-01A998F45F25}"/>
              </a:ext>
            </a:extLst>
          </p:cNvPr>
          <p:cNvSpPr>
            <a:spLocks noChangeShapeType="1"/>
          </p:cNvSpPr>
          <p:nvPr/>
        </p:nvSpPr>
        <p:spPr bwMode="auto">
          <a:xfrm>
            <a:off x="3962400" y="2743200"/>
            <a:ext cx="0" cy="533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stealth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Rectangle 29">
            <a:extLst>
              <a:ext uri="{FF2B5EF4-FFF2-40B4-BE49-F238E27FC236}">
                <a16:creationId xmlns:a16="http://schemas.microsoft.com/office/drawing/2014/main" id="{27C6D5CA-C5CA-41AD-8664-B20007BBAA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0" y="2057400"/>
            <a:ext cx="457200" cy="6096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altLang="en-US" dirty="0"/>
              <a:t>x</a:t>
            </a:r>
            <a:endParaRPr lang="en-US" altLang="en-US" b="0" dirty="0"/>
          </a:p>
        </p:txBody>
      </p:sp>
      <p:sp>
        <p:nvSpPr>
          <p:cNvPr id="12" name="Text Box 30">
            <a:extLst>
              <a:ext uri="{FF2B5EF4-FFF2-40B4-BE49-F238E27FC236}">
                <a16:creationId xmlns:a16="http://schemas.microsoft.com/office/drawing/2014/main" id="{52A51FED-50AD-4F77-9FD5-A09EAD10E6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9400" y="3581400"/>
            <a:ext cx="2362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en-US" b="0"/>
              <a:t>Case 2: otherwise</a:t>
            </a:r>
          </a:p>
        </p:txBody>
      </p:sp>
      <p:grpSp>
        <p:nvGrpSpPr>
          <p:cNvPr id="13" name="Group 31">
            <a:extLst>
              <a:ext uri="{FF2B5EF4-FFF2-40B4-BE49-F238E27FC236}">
                <a16:creationId xmlns:a16="http://schemas.microsoft.com/office/drawing/2014/main" id="{8ACC80D8-EAC0-44F7-98C8-B0518E4FC948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4419600"/>
            <a:ext cx="7010400" cy="1219200"/>
            <a:chOff x="672" y="2784"/>
            <a:chExt cx="4416" cy="768"/>
          </a:xfrm>
        </p:grpSpPr>
        <p:grpSp>
          <p:nvGrpSpPr>
            <p:cNvPr id="14" name="Group 32">
              <a:extLst>
                <a:ext uri="{FF2B5EF4-FFF2-40B4-BE49-F238E27FC236}">
                  <a16:creationId xmlns:a16="http://schemas.microsoft.com/office/drawing/2014/main" id="{1116DF14-90DA-4C2B-B13D-D076E2F9A1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2" y="2784"/>
              <a:ext cx="4416" cy="384"/>
              <a:chOff x="672" y="2928"/>
              <a:chExt cx="4416" cy="384"/>
            </a:xfrm>
          </p:grpSpPr>
          <p:sp>
            <p:nvSpPr>
              <p:cNvPr id="19" name="Rectangle 33">
                <a:extLst>
                  <a:ext uri="{FF2B5EF4-FFF2-40B4-BE49-F238E27FC236}">
                    <a16:creationId xmlns:a16="http://schemas.microsoft.com/office/drawing/2014/main" id="{EDFC2930-7F8C-420E-ADF8-6FE95E9BFE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" y="2928"/>
                <a:ext cx="4416" cy="384"/>
              </a:xfrm>
              <a:prstGeom prst="rect">
                <a:avLst/>
              </a:prstGeom>
              <a:solidFill>
                <a:srgbClr val="CCFFCC">
                  <a:alpha val="52000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0" name="Rectangle 34">
                <a:extLst>
                  <a:ext uri="{FF2B5EF4-FFF2-40B4-BE49-F238E27FC236}">
                    <a16:creationId xmlns:a16="http://schemas.microsoft.com/office/drawing/2014/main" id="{E74C8630-E122-4944-A6FF-B416A71675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52" y="2928"/>
                <a:ext cx="336" cy="384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lang="en-US" altLang="en-US" dirty="0"/>
                  <a:t>p</a:t>
                </a:r>
                <a:endParaRPr lang="en-US" altLang="en-US" b="0" dirty="0"/>
              </a:p>
            </p:txBody>
          </p:sp>
        </p:grpSp>
        <p:sp>
          <p:nvSpPr>
            <p:cNvPr id="15" name="Rectangle 35">
              <a:extLst>
                <a:ext uri="{FF2B5EF4-FFF2-40B4-BE49-F238E27FC236}">
                  <a16:creationId xmlns:a16="http://schemas.microsoft.com/office/drawing/2014/main" id="{BAC85E4B-CD8D-4626-81BE-999D9EC289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" y="2784"/>
              <a:ext cx="1008" cy="384"/>
            </a:xfrm>
            <a:prstGeom prst="rect">
              <a:avLst/>
            </a:prstGeom>
            <a:solidFill>
              <a:srgbClr val="FFCC99">
                <a:alpha val="55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r"/>
              <a:r>
                <a:rPr lang="en-US" altLang="en-US" dirty="0"/>
                <a:t>x</a:t>
              </a:r>
              <a:endParaRPr lang="en-US" altLang="en-US" b="0" dirty="0"/>
            </a:p>
          </p:txBody>
        </p:sp>
        <p:sp>
          <p:nvSpPr>
            <p:cNvPr id="16" name="Rectangle 36">
              <a:extLst>
                <a:ext uri="{FF2B5EF4-FFF2-40B4-BE49-F238E27FC236}">
                  <a16:creationId xmlns:a16="http://schemas.microsoft.com/office/drawing/2014/main" id="{EA78F805-2D9C-4F5F-92DC-B2E3F68AF7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2784"/>
              <a:ext cx="1056" cy="384"/>
            </a:xfrm>
            <a:prstGeom prst="rect">
              <a:avLst/>
            </a:prstGeom>
            <a:solidFill>
              <a:srgbClr val="99CC00">
                <a:alpha val="80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r"/>
              <a:r>
                <a:rPr lang="en-US" altLang="en-US" dirty="0"/>
                <a:t>y</a:t>
              </a:r>
              <a:endParaRPr lang="en-US" altLang="en-US" b="0" dirty="0"/>
            </a:p>
          </p:txBody>
        </p:sp>
        <p:sp>
          <p:nvSpPr>
            <p:cNvPr id="17" name="Line 37">
              <a:extLst>
                <a:ext uri="{FF2B5EF4-FFF2-40B4-BE49-F238E27FC236}">
                  <a16:creationId xmlns:a16="http://schemas.microsoft.com/office/drawing/2014/main" id="{8257402E-0E70-4900-8093-C65195648A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3216"/>
              <a:ext cx="0" cy="33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Line 38">
              <a:extLst>
                <a:ext uri="{FF2B5EF4-FFF2-40B4-BE49-F238E27FC236}">
                  <a16:creationId xmlns:a16="http://schemas.microsoft.com/office/drawing/2014/main" id="{DC062D27-4DD3-42F0-A74D-30308BC936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3216"/>
              <a:ext cx="0" cy="33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78998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utoUpdateAnimBg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D40D4-8AE3-4036-B7B9-038626995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223072-650A-4E96-B502-D89CE251A4F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066800"/>
              </a:xfrm>
            </p:spPr>
            <p:txBody>
              <a:bodyPr/>
              <a:lstStyle/>
              <a:p>
                <a:r>
                  <a:rPr lang="en-US" dirty="0"/>
                  <a:t>Example: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[12, 5, 3, 9, 7, 8]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Maintain two pointers: </a:t>
                </a:r>
              </a:p>
              <a:p>
                <a:pPr lvl="1"/>
                <a:r>
                  <a:rPr lang="en-US" dirty="0"/>
                  <a:t>“middle” barrier (variable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dirty="0"/>
                  <a:t> in code): </a:t>
                </a:r>
              </a:p>
              <a:p>
                <a:pPr lvl="2"/>
                <a:r>
                  <a:rPr lang="en-US" dirty="0"/>
                  <a:t>separates numbers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 from those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points to the first number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so far </a:t>
                </a:r>
              </a:p>
              <a:p>
                <a:pPr lvl="1"/>
                <a:r>
                  <a:rPr lang="en-US" dirty="0"/>
                  <a:t>“end” barrier (variable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code):  </a:t>
                </a:r>
              </a:p>
              <a:p>
                <a:pPr lvl="2"/>
                <a:r>
                  <a:rPr lang="en-US" dirty="0"/>
                  <a:t>separates what’s already processed from un-processed</a:t>
                </a:r>
              </a:p>
              <a:p>
                <a:pPr lvl="2"/>
                <a:r>
                  <a:rPr lang="en-US" dirty="0"/>
                  <a:t>points to the first unprocessed number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223072-650A-4E96-B502-D89CE251A4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1066800"/>
              </a:xfrm>
              <a:blipFill>
                <a:blip r:embed="rId2"/>
                <a:stretch>
                  <a:fillRect l="-667" t="-5143" b="-349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B34324C-8A06-4659-B9A8-52D1642FA672}"/>
              </a:ext>
            </a:extLst>
          </p:cNvPr>
          <p:cNvSpPr txBox="1"/>
          <p:nvPr/>
        </p:nvSpPr>
        <p:spPr>
          <a:xfrm>
            <a:off x="2133600" y="1939159"/>
            <a:ext cx="335280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[ 12,  5,   3,    9,   7,   8] </a:t>
            </a:r>
          </a:p>
        </p:txBody>
      </p:sp>
    </p:spTree>
    <p:extLst>
      <p:ext uri="{BB962C8B-B14F-4D97-AF65-F5344CB8AC3E}">
        <p14:creationId xmlns:p14="http://schemas.microsoft.com/office/powerpoint/2010/main" val="2254250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E4FA9AB-C41D-4F99-A775-7418D7A27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372" y="1219200"/>
            <a:ext cx="8611255" cy="4419600"/>
          </a:xfrm>
          <a:prstGeom prst="rect">
            <a:avLst/>
          </a:prstGeom>
          <a:ln w="15875"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BA497B8-56FC-465B-8699-ED09A006A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Pseudo-code for Partition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4FB9485-879B-4167-88D2-79B71ADC9EE4}"/>
                  </a:ext>
                </a:extLst>
              </p:cNvPr>
              <p:cNvSpPr/>
              <p:nvPr/>
            </p:nvSpPr>
            <p:spPr>
              <a:xfrm>
                <a:off x="5943600" y="4572000"/>
                <a:ext cx="2514600" cy="14478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Time complexity:</a:t>
                </a:r>
              </a:p>
              <a:p>
                <a:pPr algn="ctr"/>
                <a:endParaRPr lang="en-US" sz="20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4FB9485-879B-4167-88D2-79B71ADC9E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0" y="4572000"/>
                <a:ext cx="2514600" cy="1447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1DC5773B-BC4B-4DF0-803F-73D380B6CD74}"/>
              </a:ext>
            </a:extLst>
          </p:cNvPr>
          <p:cNvSpPr/>
          <p:nvPr/>
        </p:nvSpPr>
        <p:spPr>
          <a:xfrm>
            <a:off x="5943600" y="2693276"/>
            <a:ext cx="2514600" cy="762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In-place!</a:t>
            </a:r>
          </a:p>
        </p:txBody>
      </p:sp>
    </p:spTree>
    <p:extLst>
      <p:ext uri="{BB962C8B-B14F-4D97-AF65-F5344CB8AC3E}">
        <p14:creationId xmlns:p14="http://schemas.microsoft.com/office/powerpoint/2010/main" val="3893340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Time complexity for </a:t>
            </a:r>
            <a:r>
              <a:rPr lang="en-US" dirty="0" err="1"/>
              <a:t>QuickSelect</a:t>
            </a:r>
            <a:br>
              <a:rPr lang="en-US" dirty="0"/>
            </a:br>
            <a:r>
              <a:rPr lang="en-US" dirty="0"/>
              <a:t>and Randomized </a:t>
            </a:r>
            <a:r>
              <a:rPr lang="en-US" dirty="0" err="1"/>
              <a:t>QuickSelect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2007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DB5B8-C71E-4D13-9383-F7E7763CE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 complexity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FB45BB-8DD7-47B9-91F0-D75CFA8D227B}"/>
                  </a:ext>
                </a:extLst>
              </p:cNvPr>
              <p:cNvSpPr txBox="1"/>
              <p:nvPr/>
            </p:nvSpPr>
            <p:spPr>
              <a:xfrm>
                <a:off x="457200" y="5498068"/>
                <a:ext cx="6019800" cy="8156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At the top level, we call </a:t>
                </a:r>
                <a:r>
                  <a:rPr lang="en-US" dirty="0" err="1"/>
                  <a:t>QuickSelect</a:t>
                </a:r>
                <a:r>
                  <a:rPr lang="en-US" dirty="0"/>
                  <a:t>(A, 0, n, k). </a:t>
                </a:r>
              </a:p>
              <a:p>
                <a:r>
                  <a:rPr lang="en-US" sz="110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m:rPr>
                          <m:sty m:val="p"/>
                        </m:rPr>
                        <a:rPr lang="en-US" i="1" dirty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−1),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)) + </m:t>
                      </m:r>
                      <m:r>
                        <a:rPr lang="en-US" i="1" dirty="0" err="1">
                          <a:latin typeface="Cambria Math" panose="02040503050406030204" pitchFamily="18" charset="0"/>
                        </a:rPr>
                        <m:t>𝑐𝑛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FB45BB-8DD7-47B9-91F0-D75CFA8D2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5498068"/>
                <a:ext cx="6019800" cy="815608"/>
              </a:xfrm>
              <a:prstGeom prst="rect">
                <a:avLst/>
              </a:prstGeom>
              <a:blipFill>
                <a:blip r:embed="rId2"/>
                <a:stretch>
                  <a:fillRect l="-810" t="-4478" b="-59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50626A2-9200-447E-B7A6-9D086CC0C878}"/>
              </a:ext>
            </a:extLst>
          </p:cNvPr>
          <p:cNvSpPr txBox="1">
            <a:spLocks/>
          </p:cNvSpPr>
          <p:nvPr/>
        </p:nvSpPr>
        <p:spPr bwMode="auto">
          <a:xfrm>
            <a:off x="457200" y="1295400"/>
            <a:ext cx="5867400" cy="40386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pitchFamily="18" charset="2"/>
              <a:buNone/>
            </a:pPr>
            <a:r>
              <a:rPr lang="en-US" altLang="en-US" sz="2400" dirty="0" err="1">
                <a:latin typeface="Chalkboard" charset="0"/>
              </a:rPr>
              <a:t>QuickSelect</a:t>
            </a:r>
            <a:r>
              <a:rPr lang="en-US" altLang="en-US" sz="2400" dirty="0">
                <a:latin typeface="Chalkboard" charset="0"/>
              </a:rPr>
              <a:t> ( A, s, t, k )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>
                <a:latin typeface="Chalkboard" charset="0"/>
              </a:rPr>
              <a:t> </a:t>
            </a:r>
            <a:r>
              <a:rPr lang="en-US" altLang="en-US" sz="1800" dirty="0">
                <a:solidFill>
                  <a:schemeClr val="tx1">
                    <a:lumMod val="65000"/>
                    <a:lumOff val="35000"/>
                  </a:schemeClr>
                </a:solidFill>
                <a:latin typeface="Chalkboard" charset="0"/>
              </a:rPr>
              <a:t>/* select the order k element in A from subarray A[s,..t-1] */  </a:t>
            </a:r>
            <a:endParaRPr lang="en-US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Chalkboard" charset="0"/>
            </a:endParaRP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>
                <a:latin typeface="Chalkboard" charset="0"/>
              </a:rPr>
              <a:t>    if (k &lt; s or k ≥ t or s ≥ t) return </a:t>
            </a:r>
            <a:r>
              <a:rPr lang="en-US" altLang="en-US" sz="2400" dirty="0">
                <a:solidFill>
                  <a:srgbClr val="00B050"/>
                </a:solidFill>
                <a:latin typeface="Chalkboard" charset="0"/>
              </a:rPr>
              <a:t>None</a:t>
            </a:r>
            <a:r>
              <a:rPr lang="en-US" altLang="en-US" sz="2400" dirty="0">
                <a:latin typeface="Chalkboard" charset="0"/>
              </a:rPr>
              <a:t>;     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>
                <a:latin typeface="Chalkboard" charset="0"/>
              </a:rPr>
              <a:t>    m   = Partition ( A, s, t ); 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>
                <a:latin typeface="Chalkboard" charset="0"/>
              </a:rPr>
              <a:t>    </a:t>
            </a:r>
            <a:r>
              <a:rPr lang="en-US" altLang="en-US" sz="2400" dirty="0" err="1">
                <a:latin typeface="Chalkboard" charset="0"/>
              </a:rPr>
              <a:t>pivot_order</a:t>
            </a:r>
            <a:r>
              <a:rPr lang="en-US" altLang="en-US" sz="2400" dirty="0">
                <a:latin typeface="Chalkboard" charset="0"/>
              </a:rPr>
              <a:t> = m+1 ;  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>
                <a:latin typeface="Chalkboard" charset="0"/>
              </a:rPr>
              <a:t>    if ( </a:t>
            </a:r>
            <a:r>
              <a:rPr lang="en-US" altLang="en-US" sz="2400" dirty="0" err="1">
                <a:latin typeface="Chalkboard" charset="0"/>
              </a:rPr>
              <a:t>pivot_order</a:t>
            </a:r>
            <a:r>
              <a:rPr lang="en-US" altLang="en-US" sz="2400" dirty="0">
                <a:latin typeface="Chalkboard" charset="0"/>
              </a:rPr>
              <a:t> = k)  return A[m]; 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>
                <a:latin typeface="Chalkboard" charset="0"/>
              </a:rPr>
              <a:t>    if ( </a:t>
            </a:r>
            <a:r>
              <a:rPr lang="en-US" altLang="en-US" sz="2400" dirty="0" err="1">
                <a:latin typeface="Chalkboard" charset="0"/>
              </a:rPr>
              <a:t>pivot_order</a:t>
            </a:r>
            <a:r>
              <a:rPr lang="en-US" altLang="en-US" sz="2400" dirty="0">
                <a:latin typeface="Chalkboard" charset="0"/>
              </a:rPr>
              <a:t> &gt; k )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>
                <a:latin typeface="Chalkboard" charset="0"/>
              </a:rPr>
              <a:t>          return </a:t>
            </a:r>
            <a:r>
              <a:rPr lang="en-US" altLang="en-US" sz="2400" dirty="0" err="1">
                <a:latin typeface="Chalkboard" charset="0"/>
              </a:rPr>
              <a:t>QuickSelect</a:t>
            </a:r>
            <a:r>
              <a:rPr lang="en-US" altLang="en-US" sz="2400" dirty="0">
                <a:latin typeface="Chalkboard" charset="0"/>
              </a:rPr>
              <a:t> ( A, s, m, k );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>
                <a:latin typeface="Chalkboard" charset="0"/>
              </a:rPr>
              <a:t>    else  return </a:t>
            </a:r>
            <a:r>
              <a:rPr lang="en-US" altLang="en-US" sz="2400" dirty="0" err="1">
                <a:latin typeface="Chalkboard" charset="0"/>
              </a:rPr>
              <a:t>QuickSelect</a:t>
            </a:r>
            <a:r>
              <a:rPr lang="en-US" altLang="en-US" sz="2400" dirty="0">
                <a:latin typeface="Chalkboard" charset="0"/>
              </a:rPr>
              <a:t> ( A, m+1, t, k );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12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7680A-E823-431C-8899-86B5D59CF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44799-26B1-4570-9017-91FE8F2BAEF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sz="2400" i="1" dirty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Depending on value of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000" dirty="0"/>
                  <a:t>, recursively. </a:t>
                </a:r>
              </a:p>
              <a:p>
                <a:pPr lvl="1"/>
                <a:endParaRPr lang="en-US" sz="2000" dirty="0"/>
              </a:p>
              <a:p>
                <a:r>
                  <a:rPr lang="en-US" sz="2400" dirty="0"/>
                  <a:t>Best case: </a:t>
                </a:r>
              </a:p>
              <a:p>
                <a:pPr lvl="1"/>
                <a:r>
                  <a:rPr lang="en-US" sz="2000" dirty="0"/>
                  <a:t>Each time we remove half of the numbers</a:t>
                </a:r>
              </a:p>
              <a:p>
                <a:pPr lvl="2"/>
                <a:r>
                  <a:rPr lang="en-US" sz="1800" dirty="0"/>
                  <a:t>we cannot do better, why?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dirty="0"/>
              </a:p>
              <a:p>
                <a:pPr marL="274638" lvl="1" indent="0">
                  <a:buNone/>
                </a:pPr>
                <a:r>
                  <a:rPr lang="en-US" sz="2000" b="0" dirty="0"/>
                  <a:t>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sz="2000" b="0" dirty="0"/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44799-26B1-4570-9017-91FE8F2BAE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5482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7680A-E823-431C-8899-86B5D59CF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44799-26B1-4570-9017-91FE8F2BAEF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sz="2400" i="1" dirty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Depending on value of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000" dirty="0"/>
                  <a:t>, recursively. </a:t>
                </a:r>
              </a:p>
              <a:p>
                <a:pPr lvl="1"/>
                <a:endParaRPr lang="en-US" sz="2000" dirty="0"/>
              </a:p>
              <a:p>
                <a:r>
                  <a:rPr lang="en-US" sz="2400" dirty="0"/>
                  <a:t>Worst case: </a:t>
                </a:r>
              </a:p>
              <a:p>
                <a:pPr lvl="1"/>
                <a:r>
                  <a:rPr lang="en-US" sz="2000" dirty="0"/>
                  <a:t>Each time we can only remove one number</a:t>
                </a:r>
              </a:p>
              <a:p>
                <a:pPr lvl="2"/>
                <a:r>
                  <a:rPr lang="en-US" sz="1800" dirty="0"/>
                  <a:t>say,  the target order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, while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1800" dirty="0"/>
                  <a:t> each time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dirty="0"/>
              </a:p>
              <a:p>
                <a:pPr marL="274638" lvl="1" indent="0">
                  <a:buNone/>
                </a:pPr>
                <a:r>
                  <a:rPr lang="en-US" sz="2000" b="0" dirty="0"/>
                  <a:t>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2000" b="0" dirty="0"/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44799-26B1-4570-9017-91FE8F2BAE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7031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BE8D2-912D-4DD5-9D1B-B509718E9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E5F62A8-1AB7-4B3C-8180-6C26D8605EC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How to ensure we mostly have “good cases”? </a:t>
                </a:r>
                <a:endParaRPr lang="en-US" sz="1100" dirty="0"/>
              </a:p>
              <a:p>
                <a:r>
                  <a:rPr lang="en-US" sz="2400" dirty="0">
                    <a:solidFill>
                      <a:srgbClr val="00B050"/>
                    </a:solidFill>
                  </a:rPr>
                  <a:t>Good </a:t>
                </a:r>
                <a:r>
                  <a:rPr lang="en-US" sz="2400" dirty="0"/>
                  <a:t>split: </a:t>
                </a:r>
              </a:p>
              <a:p>
                <a:pPr lvl="1"/>
                <a:r>
                  <a:rPr lang="en-US" sz="2000" dirty="0"/>
                  <a:t>The pivot splits the current subarray in a balanced way (a constant fraction is on each side)</a:t>
                </a:r>
              </a:p>
              <a:p>
                <a:r>
                  <a:rPr lang="en-US" sz="2400" dirty="0">
                    <a:solidFill>
                      <a:srgbClr val="700000"/>
                    </a:solidFill>
                  </a:rPr>
                  <a:t>Bad</a:t>
                </a:r>
                <a:r>
                  <a:rPr lang="en-US" sz="2400" dirty="0"/>
                  <a:t> split: </a:t>
                </a:r>
              </a:p>
              <a:p>
                <a:pPr lvl="1"/>
                <a:r>
                  <a:rPr lang="en-US" sz="2000" dirty="0"/>
                  <a:t>Otherwise </a:t>
                </a:r>
              </a:p>
              <a:p>
                <a:pPr lvl="8"/>
                <a:endParaRPr lang="en-US" sz="1100" dirty="0"/>
              </a:p>
              <a:p>
                <a:r>
                  <a:rPr lang="en-US" sz="2400" dirty="0"/>
                  <a:t>Roughly speaking, if we always have good split, then we have that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sz="2000" dirty="0"/>
              </a:p>
              <a:p>
                <a:r>
                  <a:rPr lang="en-US" sz="2400" dirty="0"/>
                  <a:t>In fact, this can be relaxed to that if we can have one good split every few (constant number of) splits on average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E5F62A8-1AB7-4B3C-8180-6C26D8605E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 r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C8474B1-BAA7-418C-ACEA-918D55CD3CDD}"/>
              </a:ext>
            </a:extLst>
          </p:cNvPr>
          <p:cNvSpPr/>
          <p:nvPr/>
        </p:nvSpPr>
        <p:spPr>
          <a:xfrm>
            <a:off x="1905000" y="5890260"/>
            <a:ext cx="5562600" cy="533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How to ensure that this happens? </a:t>
            </a:r>
          </a:p>
        </p:txBody>
      </p:sp>
    </p:spTree>
    <p:extLst>
      <p:ext uri="{BB962C8B-B14F-4D97-AF65-F5344CB8AC3E}">
        <p14:creationId xmlns:p14="http://schemas.microsoft.com/office/powerpoint/2010/main" val="97702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0644F-F0EC-4E47-9880-14394846C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CDFFDF-70FA-45FB-A579-838E97223592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In other words, when we choose pivot, we hope to choose one whose rank (order) is around the middle </a:t>
                </a:r>
              </a:p>
              <a:p>
                <a:pPr lvl="1"/>
                <a:r>
                  <a:rPr lang="en-US" dirty="0"/>
                  <a:t>say, between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endParaRPr lang="en-US" sz="1000" dirty="0"/>
              </a:p>
              <a:p>
                <a:r>
                  <a:rPr lang="en-US" dirty="0"/>
                  <a:t>To guarantee that, </a:t>
                </a:r>
              </a:p>
              <a:p>
                <a:pPr lvl="1"/>
                <a:r>
                  <a:rPr lang="en-US" dirty="0"/>
                  <a:t>Pick a </a:t>
                </a:r>
                <a:r>
                  <a:rPr lang="en-US" dirty="0">
                    <a:solidFill>
                      <a:srgbClr val="700000"/>
                    </a:solidFill>
                  </a:rPr>
                  <a:t>random number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as the pivot! </a:t>
                </a:r>
              </a:p>
              <a:p>
                <a:r>
                  <a:rPr lang="en-US" dirty="0"/>
                  <a:t>Why?   </a:t>
                </a:r>
              </a:p>
              <a:p>
                <a:pPr lvl="1"/>
                <a:r>
                  <a:rPr lang="en-US" dirty="0"/>
                  <a:t>If we pick a random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 err="1"/>
                  <a:t>i.e</a:t>
                </a:r>
                <a:r>
                  <a:rPr lang="en-US" dirty="0"/>
                  <a:t>, means that the probability of choose any one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numbers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b="0" dirty="0"/>
                  <a:t>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Probability </a:t>
                </a:r>
                <a:r>
                  <a:rPr lang="en-US" dirty="0" err="1"/>
                  <a:t>Pr</a:t>
                </a:r>
                <a:r>
                  <a:rPr lang="en-US" dirty="0"/>
                  <a:t>[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𝑟𝑎𝑛𝑘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 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]=(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)/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=2/4=1/2 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b="0" dirty="0"/>
                  <a:t>Hence in expectation, every two times we will have a good split. </a:t>
                </a:r>
              </a:p>
              <a:p>
                <a:pPr lvl="2"/>
                <a:endParaRPr lang="en-US" b="0" dirty="0"/>
              </a:p>
              <a:p>
                <a:pPr lvl="2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CDFFDF-70FA-45FB-A579-838E972235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b="-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3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81FBF-2A85-4AF5-AD31-0E5A9419F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Rand-Select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A79009E-C5F4-4225-AC4B-543D7532FD4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1"/>
            <a:ext cx="8229600" cy="4114799"/>
          </a:xfrm>
          <a:ln w="25400">
            <a:solidFill>
              <a:schemeClr val="tx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altLang="en-US" sz="2400" b="0" dirty="0">
                <a:solidFill>
                  <a:srgbClr val="700000"/>
                </a:solidFill>
                <a:latin typeface="Chalkboard" charset="0"/>
              </a:rPr>
              <a:t>Rand-Select</a:t>
            </a:r>
            <a:r>
              <a:rPr lang="en-US" altLang="en-US" sz="2400" b="0" dirty="0">
                <a:latin typeface="Chalkboard" charset="0"/>
              </a:rPr>
              <a:t> ( A, s, t, k )</a:t>
            </a:r>
          </a:p>
          <a:p>
            <a:pPr marL="0" indent="0">
              <a:buNone/>
            </a:pPr>
            <a:r>
              <a:rPr lang="en-US" altLang="en-US" sz="2400" b="0" dirty="0">
                <a:latin typeface="Chalkboard" charset="0"/>
              </a:rPr>
              <a:t> </a:t>
            </a:r>
            <a:r>
              <a:rPr lang="en-US" altLang="en-US" sz="1800" b="0" dirty="0">
                <a:solidFill>
                  <a:schemeClr val="tx1">
                    <a:lumMod val="65000"/>
                    <a:lumOff val="35000"/>
                  </a:schemeClr>
                </a:solidFill>
                <a:latin typeface="Chalkboard" charset="0"/>
              </a:rPr>
              <a:t>/* select the order k element in A from subarray A[s,..t-1] */</a:t>
            </a:r>
          </a:p>
          <a:p>
            <a:pPr marL="0" indent="0">
              <a:buNone/>
            </a:pPr>
            <a:r>
              <a:rPr lang="en-US" altLang="en-US" sz="2400" dirty="0">
                <a:latin typeface="Chalkboard" charset="0"/>
              </a:rPr>
              <a:t>    if (k &lt; s or k ≥ t or s ≥ t) return </a:t>
            </a:r>
            <a:r>
              <a:rPr lang="en-US" altLang="en-US" sz="2400" dirty="0">
                <a:solidFill>
                  <a:srgbClr val="00B050"/>
                </a:solidFill>
                <a:latin typeface="Chalkboard" charset="0"/>
              </a:rPr>
              <a:t>None</a:t>
            </a:r>
            <a:r>
              <a:rPr lang="en-US" altLang="en-US" sz="2400" dirty="0">
                <a:latin typeface="Chalkboard" charset="0"/>
              </a:rPr>
              <a:t>; </a:t>
            </a:r>
            <a:endParaRPr lang="en-US" altLang="en-US" sz="2400" b="0" dirty="0">
              <a:latin typeface="Chalkboard" charset="0"/>
            </a:endParaRPr>
          </a:p>
          <a:p>
            <a:pPr marL="0" indent="0">
              <a:buNone/>
            </a:pPr>
            <a:r>
              <a:rPr lang="en-US" altLang="en-US" sz="2400" b="0" dirty="0">
                <a:latin typeface="Chalkboard" charset="0"/>
              </a:rPr>
              <a:t>    m   = </a:t>
            </a:r>
            <a:r>
              <a:rPr lang="en-US" altLang="en-US" sz="2400" b="0" dirty="0">
                <a:solidFill>
                  <a:srgbClr val="700000"/>
                </a:solidFill>
                <a:latin typeface="Chalkboard" charset="0"/>
              </a:rPr>
              <a:t>Rand-Partition</a:t>
            </a:r>
            <a:r>
              <a:rPr lang="en-US" altLang="en-US" sz="2400" b="0" dirty="0">
                <a:latin typeface="Chalkboard" charset="0"/>
              </a:rPr>
              <a:t> ( A, s, t );   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>
                <a:latin typeface="Chalkboard" charset="0"/>
              </a:rPr>
              <a:t>    </a:t>
            </a:r>
            <a:r>
              <a:rPr lang="en-US" altLang="en-US" sz="2400" dirty="0" err="1">
                <a:latin typeface="Chalkboard" charset="0"/>
              </a:rPr>
              <a:t>pivot_order</a:t>
            </a:r>
            <a:r>
              <a:rPr lang="en-US" altLang="en-US" sz="2400" dirty="0">
                <a:latin typeface="Chalkboard" charset="0"/>
              </a:rPr>
              <a:t> = m+1 ;  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>
                <a:latin typeface="Chalkboard" charset="0"/>
              </a:rPr>
              <a:t>    if ( </a:t>
            </a:r>
            <a:r>
              <a:rPr lang="en-US" altLang="en-US" sz="2400" dirty="0" err="1">
                <a:latin typeface="Chalkboard" charset="0"/>
              </a:rPr>
              <a:t>pivot_order</a:t>
            </a:r>
            <a:r>
              <a:rPr lang="en-US" altLang="en-US" sz="2400" dirty="0">
                <a:latin typeface="Chalkboard" charset="0"/>
              </a:rPr>
              <a:t> = k)  return A[m]; 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>
                <a:latin typeface="Chalkboard" charset="0"/>
              </a:rPr>
              <a:t>    if ( </a:t>
            </a:r>
            <a:r>
              <a:rPr lang="en-US" altLang="en-US" sz="2400" dirty="0" err="1">
                <a:latin typeface="Chalkboard" charset="0"/>
              </a:rPr>
              <a:t>pivot_order</a:t>
            </a:r>
            <a:r>
              <a:rPr lang="en-US" altLang="en-US" sz="2400" dirty="0">
                <a:latin typeface="Chalkboard" charset="0"/>
              </a:rPr>
              <a:t> &gt; k )</a:t>
            </a:r>
            <a:endParaRPr lang="en-US" altLang="en-US" sz="2400" b="0" dirty="0">
              <a:latin typeface="Chalkboard" charset="0"/>
            </a:endParaRPr>
          </a:p>
          <a:p>
            <a:pPr marL="0" indent="0">
              <a:buNone/>
            </a:pPr>
            <a:r>
              <a:rPr lang="en-US" altLang="en-US" sz="2400" b="0" dirty="0">
                <a:latin typeface="Chalkboard" charset="0"/>
              </a:rPr>
              <a:t>          return </a:t>
            </a:r>
            <a:r>
              <a:rPr lang="en-US" altLang="en-US" sz="2400" b="0" dirty="0">
                <a:solidFill>
                  <a:srgbClr val="700000"/>
                </a:solidFill>
                <a:latin typeface="Chalkboard" charset="0"/>
              </a:rPr>
              <a:t>Rand-Select</a:t>
            </a:r>
            <a:r>
              <a:rPr lang="en-US" altLang="en-US" sz="2400" b="0" dirty="0">
                <a:latin typeface="Chalkboard" charset="0"/>
              </a:rPr>
              <a:t> ( A, s, m, k );</a:t>
            </a:r>
          </a:p>
          <a:p>
            <a:pPr marL="0" indent="0">
              <a:buNone/>
            </a:pPr>
            <a:r>
              <a:rPr lang="en-US" altLang="en-US" sz="2400" b="0" dirty="0">
                <a:latin typeface="Chalkboard" charset="0"/>
              </a:rPr>
              <a:t>    else  return </a:t>
            </a:r>
            <a:r>
              <a:rPr lang="en-US" altLang="en-US" sz="2400" b="0" dirty="0">
                <a:solidFill>
                  <a:srgbClr val="700000"/>
                </a:solidFill>
                <a:latin typeface="Chalkboard" charset="0"/>
              </a:rPr>
              <a:t>Rand-Select </a:t>
            </a:r>
            <a:r>
              <a:rPr lang="en-US" altLang="en-US" sz="2400" b="0" dirty="0">
                <a:latin typeface="Chalkboard" charset="0"/>
              </a:rPr>
              <a:t>( A, m+1, t, k ); 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117D55-DEB2-4F85-82CB-A3E0074F98CA}"/>
              </a:ext>
            </a:extLst>
          </p:cNvPr>
          <p:cNvSpPr txBox="1"/>
          <p:nvPr/>
        </p:nvSpPr>
        <p:spPr>
          <a:xfrm>
            <a:off x="457200" y="54864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700000"/>
                </a:solidFill>
              </a:rPr>
              <a:t>Rand-Partition</a:t>
            </a:r>
            <a:r>
              <a:rPr lang="en-US" sz="2000" dirty="0"/>
              <a:t>(A, s, t) uses a </a:t>
            </a:r>
            <a:r>
              <a:rPr lang="en-US" sz="2000" dirty="0">
                <a:solidFill>
                  <a:srgbClr val="700000"/>
                </a:solidFill>
              </a:rPr>
              <a:t>random element </a:t>
            </a:r>
            <a:r>
              <a:rPr lang="en-US" sz="2000" dirty="0"/>
              <a:t>from A[s, … t-1] as pivot, instead of using A[t-1] as pivot like in Partition(A, s, t). </a:t>
            </a:r>
          </a:p>
        </p:txBody>
      </p:sp>
    </p:spTree>
    <p:extLst>
      <p:ext uri="{BB962C8B-B14F-4D97-AF65-F5344CB8AC3E}">
        <p14:creationId xmlns:p14="http://schemas.microsoft.com/office/powerpoint/2010/main" val="2669567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62A777-6778-4FB1-A07F-83962B6F75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" y="1295400"/>
            <a:ext cx="11024231" cy="4876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A9FE1A-061B-4293-A069-02CE616E7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Rand-Partition pseudo-code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0E6300-AA97-4EF8-8CC8-88F8E5E72EBB}"/>
              </a:ext>
            </a:extLst>
          </p:cNvPr>
          <p:cNvSpPr/>
          <p:nvPr/>
        </p:nvSpPr>
        <p:spPr>
          <a:xfrm>
            <a:off x="381000" y="2286000"/>
            <a:ext cx="5029200" cy="914400"/>
          </a:xfrm>
          <a:prstGeom prst="rect">
            <a:avLst/>
          </a:prstGeom>
          <a:solidFill>
            <a:srgbClr val="FF9900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85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DFAB5-E24D-4AC5-B17E-66437EF13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time analysis -- intuition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C6A7E5-C994-48E1-B0A8-E5373E49900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5410200"/>
              </a:xfrm>
            </p:spPr>
            <p:txBody>
              <a:bodyPr/>
              <a:lstStyle/>
              <a:p>
                <a:r>
                  <a:rPr lang="en-US" sz="2400" dirty="0"/>
                  <a:t>In expectation, after every constant number of recursive calls, there will be a good split, </a:t>
                </a:r>
              </a:p>
              <a:p>
                <a:pPr lvl="1"/>
                <a:r>
                  <a:rPr lang="en-US" sz="2000" dirty="0">
                    <a:solidFill>
                      <a:srgbClr val="00B050"/>
                    </a:solidFill>
                  </a:rPr>
                  <a:t>Good</a:t>
                </a:r>
                <a:r>
                  <a:rPr lang="en-US" sz="2000" dirty="0"/>
                  <a:t> split:  </a:t>
                </a:r>
              </a:p>
              <a:p>
                <a:pPr lvl="2"/>
                <a:r>
                  <a:rPr lang="en-US" sz="1700" dirty="0"/>
                  <a:t>the pivot has rank in [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700" dirty="0"/>
                  <a:t>  =&gt; probability of a good split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1700" dirty="0"/>
              </a:p>
              <a:p>
                <a:pPr lvl="1"/>
                <a:r>
                  <a:rPr lang="en-US" sz="2000" dirty="0">
                    <a:solidFill>
                      <a:srgbClr val="C00000"/>
                    </a:solidFill>
                  </a:rPr>
                  <a:t>Bad</a:t>
                </a:r>
                <a:r>
                  <a:rPr lang="en-US" sz="2000" dirty="0"/>
                  <a:t> split: </a:t>
                </a:r>
              </a:p>
              <a:p>
                <a:pPr lvl="2"/>
                <a:r>
                  <a:rPr lang="en-US" sz="1700" dirty="0"/>
                  <a:t>Otherwise</a:t>
                </a:r>
              </a:p>
              <a:p>
                <a:r>
                  <a:rPr lang="en-US" sz="2300" dirty="0" err="1"/>
                  <a:t>Everytime</a:t>
                </a:r>
                <a:r>
                  <a:rPr lang="en-US" sz="2300" dirty="0"/>
                  <a:t> a good split happens, </a:t>
                </a:r>
              </a:p>
              <a:p>
                <a:pPr lvl="1"/>
                <a:r>
                  <a:rPr lang="en-US" sz="2000" dirty="0"/>
                  <a:t>the size of the problem will be reduced by at least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endParaRPr lang="en-US" sz="2000" b="0" dirty="0"/>
              </a:p>
              <a:p>
                <a:pPr lvl="1"/>
                <a:r>
                  <a:rPr lang="en-US" sz="2000" dirty="0" err="1"/>
                  <a:t>i.e</a:t>
                </a:r>
                <a:r>
                  <a:rPr lang="en-US" sz="2000" dirty="0"/>
                  <a:t>,  the remainder size is at most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700" dirty="0"/>
                  <a:t> where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700" dirty="0"/>
                  <a:t> is the previous size </a:t>
                </a:r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C6A7E5-C994-48E1-B0A8-E5373E4990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5410200"/>
              </a:xfrm>
              <a:blipFill>
                <a:blip r:embed="rId2"/>
                <a:stretch>
                  <a:fillRect l="-519" t="-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92377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DFAB5-E24D-4AC5-B17E-66437EF13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time analysis -- intuition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C6A7E5-C994-48E1-B0A8-E5373E49900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381000" y="1219200"/>
                <a:ext cx="8382000" cy="5410200"/>
              </a:xfrm>
            </p:spPr>
            <p:txBody>
              <a:bodyPr/>
              <a:lstStyle/>
              <a:p>
                <a:r>
                  <a:rPr lang="en-US" sz="2400" dirty="0"/>
                  <a:t>Recall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sz="2400" i="1" dirty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dirty="0"/>
              </a:p>
              <a:p>
                <a:endParaRPr lang="en-US" sz="1000" dirty="0"/>
              </a:p>
              <a:p>
                <a:r>
                  <a:rPr lang="en-US" sz="2400" dirty="0"/>
                  <a:t>Counting the cost of all good splits, we have that it is at most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𝑔𝑜𝑜𝑑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 …=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 …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sz="2000" b="0" dirty="0"/>
              </a:p>
              <a:p>
                <a:endParaRPr lang="en-US" sz="1000" dirty="0"/>
              </a:p>
              <a:p>
                <a:r>
                  <a:rPr lang="en-US" sz="2400" dirty="0"/>
                  <a:t>In-between good splits there are bad splits, but their costs intuitively can be charged to those of the good splits </a:t>
                </a:r>
              </a:p>
              <a:p>
                <a:pPr lvl="1"/>
                <a:r>
                  <a:rPr lang="en-US" sz="2100" dirty="0"/>
                  <a:t>The good split happens with probability </a:t>
                </a:r>
                <a14:m>
                  <m:oMath xmlns:m="http://schemas.openxmlformats.org/officeDocument/2006/math"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1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100" dirty="0"/>
              </a:p>
              <a:p>
                <a:pPr lvl="1"/>
                <a:r>
                  <a:rPr lang="en-US" sz="2000" dirty="0"/>
                  <a:t>Expected cost of bad splits is bounded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𝑔𝑜𝑜𝑑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𝑔𝑜𝑜𝑑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sz="2000" dirty="0"/>
              </a:p>
              <a:p>
                <a:r>
                  <a:rPr lang="en-US" sz="2300" dirty="0"/>
                  <a:t>Hence the expected total time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𝑔𝑜𝑜𝑑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C6A7E5-C994-48E1-B0A8-E5373E4990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381000" y="1219200"/>
                <a:ext cx="8382000" cy="5410200"/>
              </a:xfrm>
              <a:blipFill>
                <a:blip r:embed="rId2"/>
                <a:stretch>
                  <a:fillRect l="-509" t="-4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CFB2087-2EA5-4107-8D79-30DB87005C35}"/>
              </a:ext>
            </a:extLst>
          </p:cNvPr>
          <p:cNvSpPr/>
          <p:nvPr/>
        </p:nvSpPr>
        <p:spPr>
          <a:xfrm>
            <a:off x="1066800" y="5715000"/>
            <a:ext cx="7010400" cy="6858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This is NOT a precise argument, just intuition. </a:t>
            </a:r>
          </a:p>
          <a:p>
            <a:pPr algn="ctr"/>
            <a:r>
              <a:rPr lang="en-US" dirty="0"/>
              <a:t>This can be made more precise. </a:t>
            </a:r>
          </a:p>
        </p:txBody>
      </p:sp>
    </p:spTree>
    <p:extLst>
      <p:ext uri="{BB962C8B-B14F-4D97-AF65-F5344CB8AC3E}">
        <p14:creationId xmlns:p14="http://schemas.microsoft.com/office/powerpoint/2010/main" val="2663229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BB4B3-82E3-406F-95D4-79240528A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61C6E-3ECC-4290-B700-EBF0AE403C7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Randomized version of </a:t>
                </a:r>
                <a:r>
                  <a:rPr lang="en-US" dirty="0" err="1"/>
                  <a:t>QuickSelect</a:t>
                </a:r>
                <a:r>
                  <a:rPr lang="en-US" dirty="0"/>
                  <a:t> runs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expected time</a:t>
                </a:r>
              </a:p>
              <a:p>
                <a:endParaRPr lang="en-US" dirty="0"/>
              </a:p>
              <a:p>
                <a:r>
                  <a:rPr lang="en-US" dirty="0"/>
                  <a:t>In fact, one can perform Select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worst-case time</a:t>
                </a:r>
              </a:p>
              <a:p>
                <a:pPr lvl="1"/>
                <a:r>
                  <a:rPr lang="en-US" dirty="0"/>
                  <a:t>Not covered in this class.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61C6E-3ECC-4290-B700-EBF0AE403C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7484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1219200"/>
          </a:xfrm>
        </p:spPr>
        <p:txBody>
          <a:bodyPr/>
          <a:lstStyle/>
          <a:p>
            <a:pPr algn="ctr"/>
            <a:r>
              <a:rPr lang="en-US" dirty="0"/>
              <a:t>A related topic:</a:t>
            </a:r>
            <a:br>
              <a:rPr lang="en-US" dirty="0"/>
            </a:br>
            <a:r>
              <a:rPr lang="en-US" dirty="0"/>
              <a:t>Randomized </a:t>
            </a:r>
            <a:r>
              <a:rPr lang="en-US" dirty="0" err="1"/>
              <a:t>QuickSort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266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0D03A-CEA5-405D-B710-CDAB35DE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revisited!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BC4FF4-E3A0-4711-A7F9-A6DCD46C981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Previously,  </a:t>
                </a:r>
                <a:r>
                  <a:rPr lang="en-US" dirty="0" err="1"/>
                  <a:t>MergeSort</a:t>
                </a:r>
                <a:endParaRPr lang="en-US" dirty="0"/>
              </a:p>
              <a:p>
                <a:pPr lvl="1" eaLnBrk="1" hangingPunct="1"/>
                <a:r>
                  <a:rPr lang="en-US" altLang="en-US" dirty="0"/>
                  <a:t>Divide and conquer paradigm</a:t>
                </a:r>
              </a:p>
              <a:p>
                <a:pPr lvl="1" eaLnBrk="1" hangingPunct="1"/>
                <a:r>
                  <a:rPr lang="en-US" altLang="en-US" dirty="0"/>
                  <a:t>But </a:t>
                </a:r>
                <a:r>
                  <a:rPr lang="en-US" altLang="en-US" dirty="0">
                    <a:solidFill>
                      <a:srgbClr val="700000"/>
                    </a:solidFill>
                  </a:rPr>
                  <a:t>NOT</a:t>
                </a:r>
                <a:r>
                  <a:rPr lang="en-US" altLang="en-US" dirty="0"/>
                  <a:t> in-place sorting</a:t>
                </a:r>
              </a:p>
              <a:p>
                <a:pPr lvl="1" eaLnBrk="1" hangingPunct="1"/>
                <a:endParaRPr lang="en-US" altLang="en-US" dirty="0"/>
              </a:p>
              <a:p>
                <a:pPr eaLnBrk="1" hangingPunct="1"/>
                <a:r>
                  <a:rPr lang="en-US" altLang="en-US" dirty="0"/>
                  <a:t>Now:  </a:t>
                </a:r>
                <a:r>
                  <a:rPr lang="en-US" altLang="en-US" dirty="0" err="1"/>
                  <a:t>QuickSort</a:t>
                </a:r>
                <a:endParaRPr lang="en-US" altLang="en-US" dirty="0"/>
              </a:p>
              <a:p>
                <a:pPr lvl="1" eaLnBrk="1" hangingPunct="1"/>
                <a:r>
                  <a:rPr lang="en-US" altLang="en-US" dirty="0"/>
                  <a:t>In-place sorting</a:t>
                </a:r>
              </a:p>
              <a:p>
                <a:pPr lvl="1" eaLnBrk="1" hangingPunct="1"/>
                <a:r>
                  <a:rPr lang="en-US" altLang="en-US" dirty="0"/>
                  <a:t>Randomized quicksort:</a:t>
                </a:r>
              </a:p>
              <a:p>
                <a:pPr lvl="2" eaLnBrk="1" hangingPunct="1"/>
                <a:r>
                  <a:rPr lang="en-US" altLang="en-US" dirty="0"/>
                  <a:t>Worst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b="0" i="0" smtClean="0">
                        <a:latin typeface="Cambria Math"/>
                      </a:rPr>
                      <m:t>Θ</m:t>
                    </m:r>
                    <m:d>
                      <m:dPr>
                        <m:ctrlPr>
                          <a:rPr lang="en-US" alt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alt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altLang="en-US" dirty="0"/>
                  <a:t> </a:t>
                </a:r>
              </a:p>
              <a:p>
                <a:pPr lvl="2" eaLnBrk="1" hangingPunct="1"/>
                <a:r>
                  <a:rPr lang="en-US" altLang="en-US" dirty="0"/>
                  <a:t>Expected running time: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alt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b="0" i="1" smtClean="0">
                            <a:latin typeface="Cambria Math"/>
                          </a:rPr>
                          <m:t>𝑛</m:t>
                        </m:r>
                        <m:func>
                          <m:funcPr>
                            <m:ctrlP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en-US" b="0" i="0" smtClean="0">
                                <a:latin typeface="Cambria Math"/>
                              </a:rPr>
                              <m:t>lg</m:t>
                            </m:r>
                          </m:fName>
                          <m:e>
                            <m:r>
                              <a:rPr lang="en-US" alt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alt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BC4FF4-E3A0-4711-A7F9-A6DCD46C98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0218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B4B98-33F6-4B84-8606-B7779339A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 </a:t>
            </a:r>
            <a:r>
              <a:rPr lang="en-US" dirty="0" err="1"/>
              <a:t>MergeSort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E2686-4E1B-4D4B-863C-F7DA46EA4D27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371600"/>
            <a:ext cx="4572000" cy="3429000"/>
          </a:xfrm>
          <a:ln w="22225">
            <a:solidFill>
              <a:schemeClr val="accent1">
                <a:shade val="50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altLang="en-US" b="0" dirty="0" err="1">
                <a:latin typeface="Chalkboard" charset="0"/>
              </a:rPr>
              <a:t>MergeSort</a:t>
            </a:r>
            <a:r>
              <a:rPr lang="en-US" altLang="en-US" b="0" dirty="0">
                <a:latin typeface="Chalkboard" charset="0"/>
              </a:rPr>
              <a:t> </a:t>
            </a:r>
            <a:r>
              <a:rPr lang="en-US" altLang="en-US" b="0" dirty="0"/>
              <a:t>( </a:t>
            </a:r>
            <a:r>
              <a:rPr lang="en-US" altLang="en-US" b="0" i="1" dirty="0">
                <a:solidFill>
                  <a:srgbClr val="0B1196"/>
                </a:solidFill>
              </a:rPr>
              <a:t>A, r, s </a:t>
            </a:r>
            <a:r>
              <a:rPr lang="en-US" altLang="en-US" b="0" dirty="0"/>
              <a:t>)</a:t>
            </a:r>
          </a:p>
          <a:p>
            <a:pPr marL="0" indent="0">
              <a:buNone/>
            </a:pPr>
            <a:endParaRPr lang="en-US" altLang="en-US" sz="1000" b="0" dirty="0"/>
          </a:p>
          <a:p>
            <a:pPr marL="0" indent="0">
              <a:buNone/>
            </a:pPr>
            <a:r>
              <a:rPr lang="en-US" altLang="en-US" sz="2800" b="0" dirty="0"/>
              <a:t>  if </a:t>
            </a:r>
            <a:r>
              <a:rPr lang="en-US" altLang="en-US" sz="2800" b="0" i="1" dirty="0">
                <a:solidFill>
                  <a:srgbClr val="0B1196"/>
                </a:solidFill>
              </a:rPr>
              <a:t>( r ≥ s)</a:t>
            </a:r>
            <a:r>
              <a:rPr lang="en-US" altLang="en-US" sz="2800" b="0" dirty="0"/>
              <a:t>  return; </a:t>
            </a:r>
          </a:p>
          <a:p>
            <a:pPr marL="0" indent="0">
              <a:buNone/>
            </a:pPr>
            <a:r>
              <a:rPr lang="en-US" altLang="en-US" sz="2400" b="0" dirty="0"/>
              <a:t>   </a:t>
            </a:r>
            <a:r>
              <a:rPr lang="en-US" altLang="en-US" sz="2400" b="0" i="1" dirty="0">
                <a:solidFill>
                  <a:srgbClr val="0B1196"/>
                </a:solidFill>
              </a:rPr>
              <a:t>m  = (</a:t>
            </a:r>
            <a:r>
              <a:rPr lang="en-US" altLang="en-US" sz="2400" b="0" i="1" dirty="0" err="1">
                <a:solidFill>
                  <a:srgbClr val="0B1196"/>
                </a:solidFill>
              </a:rPr>
              <a:t>r+s</a:t>
            </a:r>
            <a:r>
              <a:rPr lang="en-US" altLang="en-US" sz="2400" b="0" i="1" dirty="0">
                <a:solidFill>
                  <a:srgbClr val="0B1196"/>
                </a:solidFill>
              </a:rPr>
              <a:t>) / 2</a:t>
            </a:r>
            <a:r>
              <a:rPr lang="en-US" altLang="en-US" sz="2400" b="0" dirty="0"/>
              <a:t>;</a:t>
            </a:r>
          </a:p>
          <a:p>
            <a:pPr marL="0" indent="0">
              <a:buNone/>
            </a:pPr>
            <a:r>
              <a:rPr lang="en-US" altLang="en-US" sz="2400" b="0" dirty="0"/>
              <a:t>   </a:t>
            </a:r>
            <a:r>
              <a:rPr lang="en-US" altLang="en-US" sz="2400" b="0" i="1" dirty="0">
                <a:solidFill>
                  <a:srgbClr val="0B1196"/>
                </a:solidFill>
              </a:rPr>
              <a:t>A1</a:t>
            </a:r>
            <a:r>
              <a:rPr lang="en-US" altLang="en-US" sz="2400" b="0" dirty="0"/>
              <a:t> = </a:t>
            </a:r>
            <a:r>
              <a:rPr lang="en-US" altLang="en-US" sz="2400" b="0" dirty="0" err="1">
                <a:latin typeface="Chalkboard" charset="0"/>
              </a:rPr>
              <a:t>MergeSort</a:t>
            </a:r>
            <a:r>
              <a:rPr lang="en-US" altLang="en-US" sz="2400" b="0" dirty="0"/>
              <a:t> ( </a:t>
            </a:r>
            <a:r>
              <a:rPr lang="en-US" altLang="en-US" sz="2400" b="0" i="1" dirty="0">
                <a:solidFill>
                  <a:srgbClr val="0B1196"/>
                </a:solidFill>
              </a:rPr>
              <a:t>A, r, m </a:t>
            </a:r>
            <a:r>
              <a:rPr lang="en-US" altLang="en-US" sz="2400" b="0" dirty="0"/>
              <a:t>);</a:t>
            </a:r>
          </a:p>
          <a:p>
            <a:pPr marL="0" indent="0">
              <a:buNone/>
            </a:pPr>
            <a:r>
              <a:rPr lang="en-US" altLang="en-US" sz="2400" b="0" dirty="0"/>
              <a:t>   </a:t>
            </a:r>
            <a:r>
              <a:rPr lang="en-US" altLang="en-US" sz="2400" b="0" i="1" dirty="0">
                <a:solidFill>
                  <a:srgbClr val="0B1196"/>
                </a:solidFill>
              </a:rPr>
              <a:t>A2</a:t>
            </a:r>
            <a:r>
              <a:rPr lang="en-US" altLang="en-US" sz="2400" b="0" dirty="0"/>
              <a:t> = </a:t>
            </a:r>
            <a:r>
              <a:rPr lang="en-US" altLang="en-US" sz="2400" b="0" dirty="0" err="1">
                <a:latin typeface="Chalkboard" charset="0"/>
              </a:rPr>
              <a:t>MergeSort</a:t>
            </a:r>
            <a:r>
              <a:rPr lang="en-US" altLang="en-US" sz="2400" b="0" dirty="0"/>
              <a:t> ( </a:t>
            </a:r>
            <a:r>
              <a:rPr lang="en-US" altLang="en-US" sz="2400" b="0" i="1" dirty="0">
                <a:solidFill>
                  <a:srgbClr val="0B1196"/>
                </a:solidFill>
              </a:rPr>
              <a:t>A, m+1, s </a:t>
            </a:r>
            <a:r>
              <a:rPr lang="en-US" altLang="en-US" sz="2400" b="0" dirty="0"/>
              <a:t>); </a:t>
            </a:r>
          </a:p>
          <a:p>
            <a:pPr marL="0" indent="0">
              <a:buNone/>
            </a:pPr>
            <a:endParaRPr lang="en-US" altLang="en-US" sz="1000" b="0" dirty="0"/>
          </a:p>
          <a:p>
            <a:pPr marL="0" indent="0">
              <a:buNone/>
            </a:pPr>
            <a:r>
              <a:rPr lang="en-US" altLang="en-US" sz="2400" b="0" dirty="0"/>
              <a:t>   </a:t>
            </a:r>
            <a:r>
              <a:rPr lang="en-US" altLang="en-US" sz="2400" b="0" dirty="0">
                <a:latin typeface="Chalkboard" charset="0"/>
              </a:rPr>
              <a:t>Merge </a:t>
            </a:r>
            <a:r>
              <a:rPr lang="en-US" altLang="en-US" sz="2400" b="0" dirty="0"/>
              <a:t>(</a:t>
            </a:r>
            <a:r>
              <a:rPr lang="en-US" altLang="en-US" sz="2400" b="0" i="1" dirty="0">
                <a:solidFill>
                  <a:srgbClr val="0B1196"/>
                </a:solidFill>
              </a:rPr>
              <a:t>A1, A2</a:t>
            </a:r>
            <a:r>
              <a:rPr lang="en-US" altLang="en-US" sz="2400" b="0" dirty="0"/>
              <a:t>);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BC6A58-75A5-41AC-B9B7-F112886602BF}"/>
              </a:ext>
            </a:extLst>
          </p:cNvPr>
          <p:cNvSpPr/>
          <p:nvPr/>
        </p:nvSpPr>
        <p:spPr>
          <a:xfrm>
            <a:off x="762000" y="4191000"/>
            <a:ext cx="2514600" cy="381000"/>
          </a:xfrm>
          <a:prstGeom prst="rect">
            <a:avLst/>
          </a:prstGeom>
          <a:solidFill>
            <a:srgbClr val="FF9900">
              <a:alpha val="38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264C9D-FD4B-4A25-A74D-D86789A44B8A}"/>
              </a:ext>
            </a:extLst>
          </p:cNvPr>
          <p:cNvSpPr txBox="1"/>
          <p:nvPr/>
        </p:nvSpPr>
        <p:spPr>
          <a:xfrm>
            <a:off x="457200" y="5181600"/>
            <a:ext cx="7848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Much work has to be done in Merge(), but the “divide” step is easy (simply split the array into two equal parts).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5676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CC1B1-2EB3-49A4-BDE9-94436D093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QuickSort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9A5EA-3806-4FB0-9518-1F0BE5A0D9A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343400" cy="3276600"/>
          </a:xfrm>
          <a:ln w="22225">
            <a:solidFill>
              <a:schemeClr val="tx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altLang="en-US" b="0" dirty="0" err="1">
                <a:latin typeface="Chalkboard" charset="0"/>
              </a:rPr>
              <a:t>QuickSort</a:t>
            </a:r>
            <a:r>
              <a:rPr lang="en-US" altLang="en-US" b="0" dirty="0">
                <a:latin typeface="Chalkboard" charset="0"/>
              </a:rPr>
              <a:t> </a:t>
            </a:r>
            <a:r>
              <a:rPr lang="en-US" altLang="en-US" b="0" dirty="0"/>
              <a:t>( </a:t>
            </a:r>
            <a:r>
              <a:rPr lang="en-US" altLang="en-US" b="0" i="1" dirty="0">
                <a:solidFill>
                  <a:srgbClr val="0B1196"/>
                </a:solidFill>
              </a:rPr>
              <a:t>A, r, s </a:t>
            </a:r>
            <a:r>
              <a:rPr lang="en-US" altLang="en-US" b="0" dirty="0"/>
              <a:t>)</a:t>
            </a:r>
          </a:p>
          <a:p>
            <a:pPr marL="0" indent="0">
              <a:buNone/>
            </a:pPr>
            <a:endParaRPr lang="en-US" altLang="en-US" sz="1000" b="0" dirty="0"/>
          </a:p>
          <a:p>
            <a:pPr marL="0" indent="0">
              <a:buNone/>
            </a:pPr>
            <a:r>
              <a:rPr lang="en-US" altLang="en-US" sz="2400" b="0" dirty="0"/>
              <a:t>   if </a:t>
            </a:r>
            <a:r>
              <a:rPr lang="en-US" altLang="en-US" sz="2400" b="0" i="1" dirty="0">
                <a:solidFill>
                  <a:srgbClr val="0B1196"/>
                </a:solidFill>
              </a:rPr>
              <a:t>( r ≥ s)</a:t>
            </a:r>
            <a:r>
              <a:rPr lang="en-US" altLang="en-US" sz="2400" b="0" dirty="0"/>
              <a:t>  return;</a:t>
            </a:r>
          </a:p>
          <a:p>
            <a:pPr marL="0" indent="0">
              <a:buNone/>
            </a:pPr>
            <a:r>
              <a:rPr lang="en-US" altLang="en-US" b="0" dirty="0"/>
              <a:t>   </a:t>
            </a:r>
            <a:r>
              <a:rPr lang="en-US" altLang="en-US" b="0" i="1" dirty="0">
                <a:solidFill>
                  <a:srgbClr val="0B1196"/>
                </a:solidFill>
              </a:rPr>
              <a:t>m   = </a:t>
            </a:r>
            <a:r>
              <a:rPr lang="en-US" altLang="en-US" b="0" dirty="0">
                <a:latin typeface="Chalkboard" charset="0"/>
              </a:rPr>
              <a:t>Partition </a:t>
            </a:r>
            <a:r>
              <a:rPr lang="en-US" altLang="en-US" b="0" dirty="0"/>
              <a:t>( </a:t>
            </a:r>
            <a:r>
              <a:rPr lang="en-US" altLang="en-US" b="0" i="1" dirty="0">
                <a:solidFill>
                  <a:srgbClr val="0B1196"/>
                </a:solidFill>
              </a:rPr>
              <a:t>A, r, s </a:t>
            </a:r>
            <a:r>
              <a:rPr lang="en-US" altLang="en-US" b="0" dirty="0"/>
              <a:t>);   </a:t>
            </a:r>
          </a:p>
          <a:p>
            <a:pPr marL="0" indent="0">
              <a:buNone/>
            </a:pPr>
            <a:r>
              <a:rPr lang="en-US" altLang="en-US" sz="2400" b="0" dirty="0"/>
              <a:t>   </a:t>
            </a:r>
            <a:r>
              <a:rPr lang="en-US" altLang="en-US" sz="2400" b="0" i="1" dirty="0">
                <a:solidFill>
                  <a:srgbClr val="0B1196"/>
                </a:solidFill>
              </a:rPr>
              <a:t>A1</a:t>
            </a:r>
            <a:r>
              <a:rPr lang="en-US" altLang="en-US" sz="2400" b="0" dirty="0"/>
              <a:t> = </a:t>
            </a:r>
            <a:r>
              <a:rPr lang="en-US" altLang="en-US" sz="2400" b="0" dirty="0" err="1">
                <a:latin typeface="Chalkboard" charset="0"/>
              </a:rPr>
              <a:t>QuickSort</a:t>
            </a:r>
            <a:r>
              <a:rPr lang="en-US" altLang="en-US" sz="2400" b="0" dirty="0"/>
              <a:t> ( </a:t>
            </a:r>
            <a:r>
              <a:rPr lang="en-US" altLang="en-US" sz="2400" b="0" i="1" dirty="0">
                <a:solidFill>
                  <a:srgbClr val="0B1196"/>
                </a:solidFill>
              </a:rPr>
              <a:t>A, r, m </a:t>
            </a:r>
            <a:r>
              <a:rPr lang="en-US" altLang="en-US" sz="2400" b="0" dirty="0"/>
              <a:t>);</a:t>
            </a:r>
          </a:p>
          <a:p>
            <a:pPr marL="0" indent="0">
              <a:buNone/>
            </a:pPr>
            <a:r>
              <a:rPr lang="en-US" altLang="en-US" sz="2400" b="0" dirty="0"/>
              <a:t>   </a:t>
            </a:r>
            <a:r>
              <a:rPr lang="en-US" altLang="en-US" sz="2400" b="0" i="1" dirty="0">
                <a:solidFill>
                  <a:srgbClr val="0B1196"/>
                </a:solidFill>
              </a:rPr>
              <a:t>A2</a:t>
            </a:r>
            <a:r>
              <a:rPr lang="en-US" altLang="en-US" sz="2400" b="0" dirty="0"/>
              <a:t> = </a:t>
            </a:r>
            <a:r>
              <a:rPr lang="en-US" altLang="en-US" sz="2400" b="0" dirty="0" err="1">
                <a:latin typeface="Chalkboard" charset="0"/>
              </a:rPr>
              <a:t>QuickSort</a:t>
            </a:r>
            <a:r>
              <a:rPr lang="en-US" altLang="en-US" sz="2400" b="0" dirty="0"/>
              <a:t> ( </a:t>
            </a:r>
            <a:r>
              <a:rPr lang="en-US" altLang="en-US" sz="2400" b="0" i="1" dirty="0">
                <a:solidFill>
                  <a:srgbClr val="0B1196"/>
                </a:solidFill>
              </a:rPr>
              <a:t>A, m+1, s </a:t>
            </a:r>
            <a:r>
              <a:rPr lang="en-US" altLang="en-US" sz="2400" b="0" dirty="0"/>
              <a:t>); </a:t>
            </a:r>
          </a:p>
          <a:p>
            <a:pPr marL="0" indent="0">
              <a:buNone/>
            </a:pPr>
            <a:endParaRPr lang="en-US" altLang="en-US" sz="1000" b="0" dirty="0"/>
          </a:p>
          <a:p>
            <a:pPr marL="0" indent="0">
              <a:buNone/>
            </a:pPr>
            <a:r>
              <a:rPr lang="en-US" altLang="en-US" sz="2400" b="0" dirty="0"/>
              <a:t>   </a:t>
            </a:r>
            <a:r>
              <a:rPr lang="en-US" altLang="en-US" sz="2400" b="0" dirty="0">
                <a:latin typeface="Chalkboard" charset="0"/>
              </a:rPr>
              <a:t>Merge </a:t>
            </a:r>
            <a:r>
              <a:rPr lang="en-US" altLang="en-US" sz="2400" b="0" dirty="0"/>
              <a:t>(</a:t>
            </a:r>
            <a:r>
              <a:rPr lang="en-US" altLang="en-US" sz="2400" b="0" i="1" dirty="0">
                <a:solidFill>
                  <a:srgbClr val="0B1196"/>
                </a:solidFill>
              </a:rPr>
              <a:t>A1, A2</a:t>
            </a:r>
            <a:r>
              <a:rPr lang="en-US" altLang="en-US" sz="2400" b="0" dirty="0"/>
              <a:t>);</a:t>
            </a:r>
          </a:p>
          <a:p>
            <a:endParaRPr lang="en-US" altLang="en-US" sz="3200" b="0" dirty="0"/>
          </a:p>
          <a:p>
            <a:endParaRPr lang="en-US" altLang="en-US" sz="3200" b="0" dirty="0"/>
          </a:p>
          <a:p>
            <a:endParaRPr lang="en-US" dirty="0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8AEEF21E-B76A-41C6-9DE5-466AA9AF91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5105400"/>
            <a:ext cx="6934200" cy="609600"/>
          </a:xfrm>
          <a:prstGeom prst="rect">
            <a:avLst/>
          </a:prstGeom>
          <a:solidFill>
            <a:srgbClr val="CCFFCC">
              <a:alpha val="56000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5" name="Group 8">
            <a:extLst>
              <a:ext uri="{FF2B5EF4-FFF2-40B4-BE49-F238E27FC236}">
                <a16:creationId xmlns:a16="http://schemas.microsoft.com/office/drawing/2014/main" id="{E072D171-B992-4800-AEE6-8F9CCB8DB0BB}"/>
              </a:ext>
            </a:extLst>
          </p:cNvPr>
          <p:cNvGrpSpPr>
            <a:grpSpLocks/>
          </p:cNvGrpSpPr>
          <p:nvPr/>
        </p:nvGrpSpPr>
        <p:grpSpPr bwMode="auto">
          <a:xfrm>
            <a:off x="914400" y="5105400"/>
            <a:ext cx="6934200" cy="1143000"/>
            <a:chOff x="576" y="3360"/>
            <a:chExt cx="4368" cy="720"/>
          </a:xfrm>
        </p:grpSpPr>
        <p:grpSp>
          <p:nvGrpSpPr>
            <p:cNvPr id="6" name="Group 9">
              <a:extLst>
                <a:ext uri="{FF2B5EF4-FFF2-40B4-BE49-F238E27FC236}">
                  <a16:creationId xmlns:a16="http://schemas.microsoft.com/office/drawing/2014/main" id="{A45E9085-C256-499F-AAA8-141DF30DD16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6" y="3360"/>
              <a:ext cx="4368" cy="384"/>
              <a:chOff x="576" y="3360"/>
              <a:chExt cx="4368" cy="384"/>
            </a:xfrm>
          </p:grpSpPr>
          <p:sp>
            <p:nvSpPr>
              <p:cNvPr id="8" name="Rectangle 10">
                <a:extLst>
                  <a:ext uri="{FF2B5EF4-FFF2-40B4-BE49-F238E27FC236}">
                    <a16:creationId xmlns:a16="http://schemas.microsoft.com/office/drawing/2014/main" id="{9687636D-B967-46A6-8CAD-CFF18896D9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12" y="3360"/>
                <a:ext cx="384" cy="384"/>
              </a:xfrm>
              <a:prstGeom prst="rect">
                <a:avLst/>
              </a:prstGeom>
              <a:solidFill>
                <a:srgbClr val="FFFF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9" name="Rectangle 11">
                <a:extLst>
                  <a:ext uri="{FF2B5EF4-FFF2-40B4-BE49-F238E27FC236}">
                    <a16:creationId xmlns:a16="http://schemas.microsoft.com/office/drawing/2014/main" id="{D7D93320-6A63-4F96-BF15-02050EB41D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6" y="3360"/>
                <a:ext cx="1536" cy="384"/>
              </a:xfrm>
              <a:prstGeom prst="rect">
                <a:avLst/>
              </a:prstGeom>
              <a:solidFill>
                <a:srgbClr val="FFCC99">
                  <a:alpha val="49001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" name="Rectangle 12">
                <a:extLst>
                  <a:ext uri="{FF2B5EF4-FFF2-40B4-BE49-F238E27FC236}">
                    <a16:creationId xmlns:a16="http://schemas.microsoft.com/office/drawing/2014/main" id="{51CFDB40-256D-4B43-9DC6-133890EA31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96" y="3360"/>
                <a:ext cx="2448" cy="384"/>
              </a:xfrm>
              <a:prstGeom prst="rect">
                <a:avLst/>
              </a:prstGeom>
              <a:solidFill>
                <a:srgbClr val="99CC00">
                  <a:alpha val="83000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7" name="Text Box 13">
              <a:extLst>
                <a:ext uri="{FF2B5EF4-FFF2-40B4-BE49-F238E27FC236}">
                  <a16:creationId xmlns:a16="http://schemas.microsoft.com/office/drawing/2014/main" id="{60C92953-AA0D-4F17-AAE2-FA015BB834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64" y="3792"/>
              <a:ext cx="1632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b="0" i="1">
                  <a:solidFill>
                    <a:srgbClr val="0B1196"/>
                  </a:solidFill>
                </a:rPr>
                <a:t>A[m]: </a:t>
              </a:r>
              <a:r>
                <a:rPr lang="en-US" altLang="en-US" b="0"/>
                <a:t>pivot</a:t>
              </a:r>
            </a:p>
          </p:txBody>
        </p:sp>
      </p:grpSp>
      <p:grpSp>
        <p:nvGrpSpPr>
          <p:cNvPr id="11" name="Group 14">
            <a:extLst>
              <a:ext uri="{FF2B5EF4-FFF2-40B4-BE49-F238E27FC236}">
                <a16:creationId xmlns:a16="http://schemas.microsoft.com/office/drawing/2014/main" id="{6413A422-8B57-4DE1-8F79-76FEEF03366A}"/>
              </a:ext>
            </a:extLst>
          </p:cNvPr>
          <p:cNvGrpSpPr>
            <a:grpSpLocks/>
          </p:cNvGrpSpPr>
          <p:nvPr/>
        </p:nvGrpSpPr>
        <p:grpSpPr bwMode="auto">
          <a:xfrm>
            <a:off x="685800" y="3810000"/>
            <a:ext cx="2514600" cy="609600"/>
            <a:chOff x="480" y="2736"/>
            <a:chExt cx="1776" cy="432"/>
          </a:xfrm>
        </p:grpSpPr>
        <p:sp>
          <p:nvSpPr>
            <p:cNvPr id="12" name="Rectangle 15">
              <a:extLst>
                <a:ext uri="{FF2B5EF4-FFF2-40B4-BE49-F238E27FC236}">
                  <a16:creationId xmlns:a16="http://schemas.microsoft.com/office/drawing/2014/main" id="{5F65AC13-9744-42BA-965B-82C5289B4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" y="2736"/>
              <a:ext cx="1776" cy="432"/>
            </a:xfrm>
            <a:prstGeom prst="rect">
              <a:avLst/>
            </a:prstGeom>
            <a:solidFill>
              <a:srgbClr val="FF9900">
                <a:alpha val="48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6">
              <a:extLst>
                <a:ext uri="{FF2B5EF4-FFF2-40B4-BE49-F238E27FC236}">
                  <a16:creationId xmlns:a16="http://schemas.microsoft.com/office/drawing/2014/main" id="{64551AC8-CE43-4EDD-94CD-9F5269C336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0" y="2736"/>
              <a:ext cx="1728" cy="4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Line 17">
              <a:extLst>
                <a:ext uri="{FF2B5EF4-FFF2-40B4-BE49-F238E27FC236}">
                  <a16:creationId xmlns:a16="http://schemas.microsoft.com/office/drawing/2014/main" id="{87E49218-4909-4EF8-9689-1E3AEAFFDC8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0" y="2784"/>
              <a:ext cx="1776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60350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91842-C5DC-4E94-AF10-3E7D0C001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QuickSort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653F45-78BE-4F3F-8231-B0383D57B8B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4191000"/>
                <a:ext cx="8229600" cy="1965960"/>
              </a:xfrm>
            </p:spPr>
            <p:txBody>
              <a:bodyPr/>
              <a:lstStyle/>
              <a:p>
                <a:r>
                  <a:rPr lang="en-US" dirty="0"/>
                  <a:t>Worst case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Best case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653F45-78BE-4F3F-8231-B0383D57B8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4191000"/>
                <a:ext cx="8229600" cy="1965960"/>
              </a:xfrm>
              <a:blipFill>
                <a:blip r:embed="rId2"/>
                <a:stretch>
                  <a:fillRect l="-667" t="-31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CD5C07E-E90F-4307-BF50-DFE35F1F820D}"/>
              </a:ext>
            </a:extLst>
          </p:cNvPr>
          <p:cNvSpPr txBox="1">
            <a:spLocks/>
          </p:cNvSpPr>
          <p:nvPr/>
        </p:nvSpPr>
        <p:spPr bwMode="auto">
          <a:xfrm>
            <a:off x="457200" y="1219200"/>
            <a:ext cx="4876800" cy="2743200"/>
          </a:xfrm>
          <a:prstGeom prst="rect">
            <a:avLst/>
          </a:prstGeom>
          <a:noFill/>
          <a:ln w="22225">
            <a:solidFill>
              <a:schemeClr val="tx1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pitchFamily="18" charset="2"/>
              <a:buNone/>
            </a:pPr>
            <a:r>
              <a:rPr lang="en-US" altLang="en-US" dirty="0" err="1">
                <a:latin typeface="Chalkboard" charset="0"/>
              </a:rPr>
              <a:t>QuickSort</a:t>
            </a:r>
            <a:r>
              <a:rPr lang="en-US" altLang="en-US" dirty="0">
                <a:latin typeface="Chalkboard" charset="0"/>
              </a:rPr>
              <a:t> </a:t>
            </a:r>
            <a:r>
              <a:rPr lang="en-US" altLang="en-US" dirty="0"/>
              <a:t>( </a:t>
            </a:r>
            <a:r>
              <a:rPr lang="en-US" altLang="en-US" i="1" dirty="0">
                <a:solidFill>
                  <a:srgbClr val="0B1196"/>
                </a:solidFill>
              </a:rPr>
              <a:t>A, r, s </a:t>
            </a:r>
            <a:r>
              <a:rPr lang="en-US" altLang="en-US" dirty="0"/>
              <a:t>)</a:t>
            </a:r>
          </a:p>
          <a:p>
            <a:pPr marL="0" indent="0">
              <a:buFont typeface="Wingdings 3" pitchFamily="18" charset="2"/>
              <a:buNone/>
            </a:pPr>
            <a:endParaRPr lang="en-US" altLang="en-US" sz="1000" dirty="0"/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/>
              <a:t>   if </a:t>
            </a:r>
            <a:r>
              <a:rPr lang="en-US" altLang="en-US" sz="2400" i="1" dirty="0">
                <a:solidFill>
                  <a:srgbClr val="0B1196"/>
                </a:solidFill>
              </a:rPr>
              <a:t>( r ≥ s)</a:t>
            </a:r>
            <a:r>
              <a:rPr lang="en-US" altLang="en-US" sz="2400" dirty="0"/>
              <a:t>  return;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dirty="0"/>
              <a:t>   </a:t>
            </a:r>
            <a:r>
              <a:rPr lang="en-US" altLang="en-US" i="1" dirty="0">
                <a:solidFill>
                  <a:srgbClr val="0B1196"/>
                </a:solidFill>
              </a:rPr>
              <a:t>m   = </a:t>
            </a:r>
            <a:r>
              <a:rPr lang="en-US" altLang="en-US" dirty="0">
                <a:latin typeface="Chalkboard" charset="0"/>
              </a:rPr>
              <a:t>Partition </a:t>
            </a:r>
            <a:r>
              <a:rPr lang="en-US" altLang="en-US" dirty="0"/>
              <a:t>( </a:t>
            </a:r>
            <a:r>
              <a:rPr lang="en-US" altLang="en-US" i="1" dirty="0">
                <a:solidFill>
                  <a:srgbClr val="0B1196"/>
                </a:solidFill>
              </a:rPr>
              <a:t>A, r, s </a:t>
            </a:r>
            <a:r>
              <a:rPr lang="en-US" altLang="en-US" dirty="0"/>
              <a:t>);   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/>
              <a:t>   </a:t>
            </a:r>
            <a:r>
              <a:rPr lang="en-US" altLang="en-US" sz="2400" i="1" dirty="0">
                <a:solidFill>
                  <a:srgbClr val="0B1196"/>
                </a:solidFill>
              </a:rPr>
              <a:t>A1</a:t>
            </a:r>
            <a:r>
              <a:rPr lang="en-US" altLang="en-US" sz="2400" dirty="0"/>
              <a:t> = </a:t>
            </a:r>
            <a:r>
              <a:rPr lang="en-US" altLang="en-US" sz="2400" dirty="0" err="1">
                <a:latin typeface="Chalkboard" charset="0"/>
              </a:rPr>
              <a:t>QuickSort</a:t>
            </a:r>
            <a:r>
              <a:rPr lang="en-US" altLang="en-US" sz="2400" dirty="0"/>
              <a:t> ( </a:t>
            </a:r>
            <a:r>
              <a:rPr lang="en-US" altLang="en-US" sz="2400" i="1" dirty="0">
                <a:solidFill>
                  <a:srgbClr val="0B1196"/>
                </a:solidFill>
              </a:rPr>
              <a:t>A, r, m-1 </a:t>
            </a:r>
            <a:r>
              <a:rPr lang="en-US" altLang="en-US" sz="2400" dirty="0"/>
              <a:t>);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/>
              <a:t>   </a:t>
            </a:r>
            <a:r>
              <a:rPr lang="en-US" altLang="en-US" sz="2400" i="1" dirty="0">
                <a:solidFill>
                  <a:srgbClr val="0B1196"/>
                </a:solidFill>
              </a:rPr>
              <a:t>A2</a:t>
            </a:r>
            <a:r>
              <a:rPr lang="en-US" altLang="en-US" sz="2400" dirty="0"/>
              <a:t> = </a:t>
            </a:r>
            <a:r>
              <a:rPr lang="en-US" altLang="en-US" sz="2400" dirty="0" err="1">
                <a:latin typeface="Chalkboard" charset="0"/>
              </a:rPr>
              <a:t>QuickSort</a:t>
            </a:r>
            <a:r>
              <a:rPr lang="en-US" altLang="en-US" sz="2400" dirty="0"/>
              <a:t> ( </a:t>
            </a:r>
            <a:r>
              <a:rPr lang="en-US" altLang="en-US" sz="2400" i="1" dirty="0">
                <a:solidFill>
                  <a:srgbClr val="0B1196"/>
                </a:solidFill>
              </a:rPr>
              <a:t>A, m+1, s </a:t>
            </a:r>
            <a:r>
              <a:rPr lang="en-US" altLang="en-US" sz="2400" dirty="0"/>
              <a:t>); </a:t>
            </a:r>
          </a:p>
        </p:txBody>
      </p:sp>
    </p:spTree>
    <p:extLst>
      <p:ext uri="{BB962C8B-B14F-4D97-AF65-F5344CB8AC3E}">
        <p14:creationId xmlns:p14="http://schemas.microsoft.com/office/powerpoint/2010/main" val="3136760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91842-C5DC-4E94-AF10-3E7D0C001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rand-</a:t>
            </a:r>
            <a:r>
              <a:rPr lang="en-US" dirty="0" err="1"/>
              <a:t>QuickSort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653F45-78BE-4F3F-8231-B0383D57B8B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4191000"/>
                <a:ext cx="8229600" cy="1965960"/>
              </a:xfrm>
            </p:spPr>
            <p:txBody>
              <a:bodyPr/>
              <a:lstStyle/>
              <a:p>
                <a:r>
                  <a:rPr lang="en-US" dirty="0"/>
                  <a:t>Worst case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Best case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653F45-78BE-4F3F-8231-B0383D57B8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4191000"/>
                <a:ext cx="8229600" cy="1965960"/>
              </a:xfrm>
              <a:blipFill>
                <a:blip r:embed="rId2"/>
                <a:stretch>
                  <a:fillRect l="-667" t="-31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CD5C07E-E90F-4307-BF50-DFE35F1F820D}"/>
              </a:ext>
            </a:extLst>
          </p:cNvPr>
          <p:cNvSpPr txBox="1">
            <a:spLocks/>
          </p:cNvSpPr>
          <p:nvPr/>
        </p:nvSpPr>
        <p:spPr bwMode="auto">
          <a:xfrm>
            <a:off x="457200" y="1219200"/>
            <a:ext cx="4876800" cy="2743200"/>
          </a:xfrm>
          <a:prstGeom prst="rect">
            <a:avLst/>
          </a:prstGeom>
          <a:noFill/>
          <a:ln w="22225">
            <a:solidFill>
              <a:schemeClr val="tx1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pitchFamily="18" charset="2"/>
              <a:buNone/>
            </a:pPr>
            <a:r>
              <a:rPr lang="en-US" altLang="en-US" dirty="0">
                <a:solidFill>
                  <a:srgbClr val="700000"/>
                </a:solidFill>
                <a:latin typeface="Chalkboard" charset="0"/>
              </a:rPr>
              <a:t>rand-</a:t>
            </a:r>
            <a:r>
              <a:rPr lang="en-US" altLang="en-US" dirty="0" err="1">
                <a:solidFill>
                  <a:srgbClr val="700000"/>
                </a:solidFill>
                <a:latin typeface="Chalkboard" charset="0"/>
              </a:rPr>
              <a:t>QuickSort</a:t>
            </a:r>
            <a:r>
              <a:rPr lang="en-US" altLang="en-US" dirty="0">
                <a:latin typeface="Chalkboard" charset="0"/>
              </a:rPr>
              <a:t> </a:t>
            </a:r>
            <a:r>
              <a:rPr lang="en-US" altLang="en-US" dirty="0"/>
              <a:t>( </a:t>
            </a:r>
            <a:r>
              <a:rPr lang="en-US" altLang="en-US" i="1" dirty="0">
                <a:solidFill>
                  <a:srgbClr val="0B1196"/>
                </a:solidFill>
              </a:rPr>
              <a:t>A, r, s </a:t>
            </a:r>
            <a:r>
              <a:rPr lang="en-US" altLang="en-US" dirty="0"/>
              <a:t>)</a:t>
            </a:r>
          </a:p>
          <a:p>
            <a:pPr marL="0" indent="0">
              <a:buFont typeface="Wingdings 3" pitchFamily="18" charset="2"/>
              <a:buNone/>
            </a:pPr>
            <a:endParaRPr lang="en-US" altLang="en-US" sz="1000" dirty="0"/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/>
              <a:t>   if </a:t>
            </a:r>
            <a:r>
              <a:rPr lang="en-US" altLang="en-US" sz="2400" i="1" dirty="0">
                <a:solidFill>
                  <a:srgbClr val="0B1196"/>
                </a:solidFill>
              </a:rPr>
              <a:t>( r ≥ s)</a:t>
            </a:r>
            <a:r>
              <a:rPr lang="en-US" altLang="en-US" sz="2400" dirty="0"/>
              <a:t>  return;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dirty="0"/>
              <a:t>   </a:t>
            </a:r>
            <a:r>
              <a:rPr lang="en-US" altLang="en-US" i="1" dirty="0">
                <a:solidFill>
                  <a:srgbClr val="0B1196"/>
                </a:solidFill>
              </a:rPr>
              <a:t>m   = </a:t>
            </a:r>
            <a:r>
              <a:rPr lang="en-US" altLang="en-US" dirty="0">
                <a:solidFill>
                  <a:srgbClr val="700000"/>
                </a:solidFill>
                <a:latin typeface="Chalkboard" charset="0"/>
              </a:rPr>
              <a:t>rand-Partition</a:t>
            </a:r>
            <a:r>
              <a:rPr lang="en-US" altLang="en-US" dirty="0">
                <a:latin typeface="Chalkboard" charset="0"/>
              </a:rPr>
              <a:t> </a:t>
            </a:r>
            <a:r>
              <a:rPr lang="en-US" altLang="en-US" dirty="0"/>
              <a:t>( </a:t>
            </a:r>
            <a:r>
              <a:rPr lang="en-US" altLang="en-US" i="1" dirty="0">
                <a:solidFill>
                  <a:srgbClr val="0B1196"/>
                </a:solidFill>
              </a:rPr>
              <a:t>A, r, s </a:t>
            </a:r>
            <a:r>
              <a:rPr lang="en-US" altLang="en-US" dirty="0"/>
              <a:t>);   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/>
              <a:t>   </a:t>
            </a:r>
            <a:r>
              <a:rPr lang="en-US" altLang="en-US" sz="2400" i="1" dirty="0">
                <a:solidFill>
                  <a:srgbClr val="0B1196"/>
                </a:solidFill>
              </a:rPr>
              <a:t>A1</a:t>
            </a:r>
            <a:r>
              <a:rPr lang="en-US" altLang="en-US" sz="2400" dirty="0"/>
              <a:t> = </a:t>
            </a:r>
            <a:r>
              <a:rPr lang="en-US" altLang="en-US" sz="2400" dirty="0">
                <a:solidFill>
                  <a:srgbClr val="700000"/>
                </a:solidFill>
              </a:rPr>
              <a:t>rand-</a:t>
            </a:r>
            <a:r>
              <a:rPr lang="en-US" altLang="en-US" sz="2400" dirty="0" err="1">
                <a:solidFill>
                  <a:srgbClr val="700000"/>
                </a:solidFill>
                <a:latin typeface="Chalkboard" charset="0"/>
              </a:rPr>
              <a:t>QuickSort</a:t>
            </a:r>
            <a:r>
              <a:rPr lang="en-US" altLang="en-US" sz="2400" dirty="0"/>
              <a:t> ( </a:t>
            </a:r>
            <a:r>
              <a:rPr lang="en-US" altLang="en-US" sz="2400" i="1" dirty="0">
                <a:solidFill>
                  <a:srgbClr val="0B1196"/>
                </a:solidFill>
              </a:rPr>
              <a:t>A, r, m-1 </a:t>
            </a:r>
            <a:r>
              <a:rPr lang="en-US" altLang="en-US" sz="2400" dirty="0"/>
              <a:t>);</a:t>
            </a:r>
          </a:p>
          <a:p>
            <a:pPr marL="0" indent="0">
              <a:buFont typeface="Wingdings 3" pitchFamily="18" charset="2"/>
              <a:buNone/>
            </a:pPr>
            <a:r>
              <a:rPr lang="en-US" altLang="en-US" sz="2400" dirty="0"/>
              <a:t>   </a:t>
            </a:r>
            <a:r>
              <a:rPr lang="en-US" altLang="en-US" sz="2400" i="1" dirty="0">
                <a:solidFill>
                  <a:srgbClr val="0B1196"/>
                </a:solidFill>
              </a:rPr>
              <a:t>A2</a:t>
            </a:r>
            <a:r>
              <a:rPr lang="en-US" altLang="en-US" sz="2400" dirty="0"/>
              <a:t> = </a:t>
            </a:r>
            <a:r>
              <a:rPr lang="en-US" altLang="en-US" sz="2400" dirty="0">
                <a:solidFill>
                  <a:srgbClr val="700000"/>
                </a:solidFill>
              </a:rPr>
              <a:t>rand-</a:t>
            </a:r>
            <a:r>
              <a:rPr lang="en-US" altLang="en-US" sz="2400" dirty="0" err="1">
                <a:solidFill>
                  <a:srgbClr val="700000"/>
                </a:solidFill>
                <a:latin typeface="Chalkboard" charset="0"/>
              </a:rPr>
              <a:t>QuickSort</a:t>
            </a:r>
            <a:r>
              <a:rPr lang="en-US" altLang="en-US" sz="2400" dirty="0"/>
              <a:t> ( </a:t>
            </a:r>
            <a:r>
              <a:rPr lang="en-US" altLang="en-US" sz="2400" i="1" dirty="0">
                <a:solidFill>
                  <a:srgbClr val="0B1196"/>
                </a:solidFill>
              </a:rPr>
              <a:t>A, m+1, s </a:t>
            </a:r>
            <a:r>
              <a:rPr lang="en-US" altLang="en-US" sz="2400" dirty="0"/>
              <a:t>); </a:t>
            </a:r>
          </a:p>
        </p:txBody>
      </p:sp>
    </p:spTree>
    <p:extLst>
      <p:ext uri="{BB962C8B-B14F-4D97-AF65-F5344CB8AC3E}">
        <p14:creationId xmlns:p14="http://schemas.microsoft.com/office/powerpoint/2010/main" val="259115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AC64E-DB81-4A50-8143-DF7DAFC2F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D38BAC-B1C9-4BB1-8DBB-4970BB4946B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rand-</a:t>
                </a:r>
                <a:r>
                  <a:rPr lang="en-US" dirty="0" err="1"/>
                  <a:t>QuickSelect</a:t>
                </a:r>
                <a:endParaRPr lang="en-US" dirty="0"/>
              </a:p>
              <a:p>
                <a:pPr lvl="1"/>
                <a:r>
                  <a:rPr lang="en-US" dirty="0"/>
                  <a:t>like rand-Select, there are good and bad splits </a:t>
                </a:r>
              </a:p>
              <a:p>
                <a:pPr lvl="1"/>
                <a:r>
                  <a:rPr lang="en-US" dirty="0"/>
                  <a:t>as long as good splits come constant fraction of the time, the time complexity is dominated by good splits </a:t>
                </a:r>
              </a:p>
              <a:p>
                <a:pPr lvl="1"/>
                <a:r>
                  <a:rPr lang="en-US" dirty="0"/>
                  <a:t>expected running time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b="0" dirty="0"/>
              </a:p>
              <a:p>
                <a:pPr lvl="1"/>
                <a:endParaRPr lang="en-US" dirty="0"/>
              </a:p>
              <a:p>
                <a:r>
                  <a:rPr lang="en-US" dirty="0"/>
                  <a:t>Compared to </a:t>
                </a:r>
                <a:r>
                  <a:rPr lang="en-US" dirty="0" err="1"/>
                  <a:t>MergeSort</a:t>
                </a:r>
                <a:endParaRPr lang="en-US" dirty="0"/>
              </a:p>
              <a:p>
                <a:pPr lvl="1"/>
                <a:r>
                  <a:rPr lang="en-US" dirty="0"/>
                  <a:t>In-place sorting</a:t>
                </a:r>
              </a:p>
              <a:p>
                <a:pPr lvl="2"/>
                <a:r>
                  <a:rPr lang="en-US" dirty="0"/>
                  <a:t>while </a:t>
                </a:r>
                <a:r>
                  <a:rPr lang="en-US" dirty="0" err="1"/>
                  <a:t>MergeSort</a:t>
                </a:r>
                <a:r>
                  <a:rPr lang="en-US" dirty="0"/>
                  <a:t> needs to open a new output array of size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 practice often faster, and needs much smaller memory (important!) 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D38BAC-B1C9-4BB1-8DBB-4970BB4946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5781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76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53708342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YUSU@WQEIJCNFUVWXY5M7" val="3343"/>
  <p:tag name="FIRSTYUSU@YOW8PJOFUVWXY5L9" val="3347"/>
  <p:tag name="DEFAULTDISPLAYSOURCE" val="\documentclass{article}\pagestyle{empty}&#10;\begin{document}&#10;&#10;\end{document}&#10;"/>
  <p:tag name="EMBEDFONTS" val="1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21330</TotalTime>
  <Words>2760</Words>
  <Application>Microsoft Office PowerPoint</Application>
  <PresentationFormat>On-screen Show (4:3)</PresentationFormat>
  <Paragraphs>358</Paragraphs>
  <Slides>49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49</vt:i4>
      </vt:variant>
    </vt:vector>
  </HeadingPairs>
  <TitlesOfParts>
    <vt:vector size="64" baseType="lpstr">
      <vt:lpstr>FiraMono-Regular-Identity-H</vt:lpstr>
      <vt:lpstr>Cambria Math</vt:lpstr>
      <vt:lpstr>Calibri Light</vt:lpstr>
      <vt:lpstr>Chalkboard</vt:lpstr>
      <vt:lpstr>Bookman Old Style</vt:lpstr>
      <vt:lpstr>FiraMono-Medium-Identity-H</vt:lpstr>
      <vt:lpstr>Calibri</vt:lpstr>
      <vt:lpstr>FiraMono-Oblique-Identity-H</vt:lpstr>
      <vt:lpstr>Arial</vt:lpstr>
      <vt:lpstr>Wingdings 3</vt:lpstr>
      <vt:lpstr>Wingdings</vt:lpstr>
      <vt:lpstr>Gill Sans MT</vt:lpstr>
      <vt:lpstr>Origin</vt:lpstr>
      <vt:lpstr>1_Custom Design</vt:lpstr>
      <vt:lpstr>Custom Design</vt:lpstr>
      <vt:lpstr>DSC40B: Theoretical Foundations of Data Science II </vt:lpstr>
      <vt:lpstr>Previously</vt:lpstr>
      <vt:lpstr>Order statistics and simple examples</vt:lpstr>
      <vt:lpstr>Order statistics</vt:lpstr>
      <vt:lpstr>Select problem</vt:lpstr>
      <vt:lpstr>Simple approaches</vt:lpstr>
      <vt:lpstr>Algorithm selection_sort</vt:lpstr>
      <vt:lpstr>Algorithm selection_kthOS</vt:lpstr>
      <vt:lpstr>Simple approaches</vt:lpstr>
      <vt:lpstr>Can we do better than sorting?  First try of QuickSelect </vt:lpstr>
      <vt:lpstr>Select problem</vt:lpstr>
      <vt:lpstr>An example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Generalizing the idea? </vt:lpstr>
      <vt:lpstr>Intuition of QuickSelect</vt:lpstr>
      <vt:lpstr>Intuition of QuickSelect</vt:lpstr>
      <vt:lpstr>Intuition of QuickSelect</vt:lpstr>
      <vt:lpstr>Pseudo-code for QuickSelect</vt:lpstr>
      <vt:lpstr>Example</vt:lpstr>
      <vt:lpstr>Partition procedure </vt:lpstr>
      <vt:lpstr>Partition procedure</vt:lpstr>
      <vt:lpstr>Partition(A, s, t)</vt:lpstr>
      <vt:lpstr>Partition(A, s, t)</vt:lpstr>
      <vt:lpstr>Partition(A, s, t)</vt:lpstr>
      <vt:lpstr>PowerPoint Presentation</vt:lpstr>
      <vt:lpstr>Pseudo-code for Partition</vt:lpstr>
      <vt:lpstr>Time complexity for QuickSelect and Randomized QuickSelect</vt:lpstr>
      <vt:lpstr>Worst case complexity</vt:lpstr>
      <vt:lpstr>PowerPoint Presentation</vt:lpstr>
      <vt:lpstr>PowerPoint Presentation</vt:lpstr>
      <vt:lpstr>PowerPoint Presentation</vt:lpstr>
      <vt:lpstr>PowerPoint Presentation</vt:lpstr>
      <vt:lpstr>Rand-Select</vt:lpstr>
      <vt:lpstr>Rand-Partition pseudo-code</vt:lpstr>
      <vt:lpstr>Expected time analysis -- intuition</vt:lpstr>
      <vt:lpstr>Expected time analysis -- intuition</vt:lpstr>
      <vt:lpstr>Summary</vt:lpstr>
      <vt:lpstr>A related topic: Randomized QuickSort</vt:lpstr>
      <vt:lpstr>Sorting revisited! </vt:lpstr>
      <vt:lpstr>Recall MergeSort</vt:lpstr>
      <vt:lpstr>QuickSort</vt:lpstr>
      <vt:lpstr>QuickSort</vt:lpstr>
      <vt:lpstr>rand-QuickSort</vt:lpstr>
      <vt:lpstr>PowerPoint Presentation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wang, yusu</dc:creator>
  <cp:lastModifiedBy>enid wang</cp:lastModifiedBy>
  <cp:revision>1297</cp:revision>
  <dcterms:created xsi:type="dcterms:W3CDTF">2006-08-16T00:00:00Z</dcterms:created>
  <dcterms:modified xsi:type="dcterms:W3CDTF">2021-01-26T00:06:01Z</dcterms:modified>
</cp:coreProperties>
</file>