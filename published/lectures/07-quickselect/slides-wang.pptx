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  <p:sldMasterId id="2147483681" r:id="rId2"/>
    <p:sldMasterId id="2147483668" r:id="rId3"/>
  </p:sldMasterIdLst>
  <p:notesMasterIdLst>
    <p:notesMasterId r:id="rId45"/>
  </p:notesMasterIdLst>
  <p:sldIdLst>
    <p:sldId id="256" r:id="rId4"/>
    <p:sldId id="779" r:id="rId5"/>
    <p:sldId id="785" r:id="rId6"/>
    <p:sldId id="812" r:id="rId7"/>
    <p:sldId id="813" r:id="rId8"/>
    <p:sldId id="814" r:id="rId9"/>
    <p:sldId id="848" r:id="rId10"/>
    <p:sldId id="849" r:id="rId11"/>
    <p:sldId id="850" r:id="rId12"/>
    <p:sldId id="851" r:id="rId13"/>
    <p:sldId id="852" r:id="rId14"/>
    <p:sldId id="853" r:id="rId15"/>
    <p:sldId id="885" r:id="rId16"/>
    <p:sldId id="864" r:id="rId17"/>
    <p:sldId id="865" r:id="rId18"/>
    <p:sldId id="866" r:id="rId19"/>
    <p:sldId id="857" r:id="rId20"/>
    <p:sldId id="867" r:id="rId21"/>
    <p:sldId id="859" r:id="rId22"/>
    <p:sldId id="855" r:id="rId23"/>
    <p:sldId id="861" r:id="rId24"/>
    <p:sldId id="862" r:id="rId25"/>
    <p:sldId id="868" r:id="rId26"/>
    <p:sldId id="870" r:id="rId27"/>
    <p:sldId id="871" r:id="rId28"/>
    <p:sldId id="869" r:id="rId29"/>
    <p:sldId id="872" r:id="rId30"/>
    <p:sldId id="873" r:id="rId31"/>
    <p:sldId id="874" r:id="rId32"/>
    <p:sldId id="875" r:id="rId33"/>
    <p:sldId id="879" r:id="rId34"/>
    <p:sldId id="876" r:id="rId35"/>
    <p:sldId id="877" r:id="rId36"/>
    <p:sldId id="878" r:id="rId37"/>
    <p:sldId id="880" r:id="rId38"/>
    <p:sldId id="881" r:id="rId39"/>
    <p:sldId id="882" r:id="rId40"/>
    <p:sldId id="883" r:id="rId41"/>
    <p:sldId id="886" r:id="rId42"/>
    <p:sldId id="884" r:id="rId43"/>
    <p:sldId id="811" r:id="rId44"/>
  </p:sldIdLst>
  <p:sldSz cx="9144000" cy="6858000" type="screen4x3"/>
  <p:notesSz cx="6858000" cy="9144000"/>
  <p:embeddedFontLst>
    <p:embeddedFont>
      <p:font typeface="Bookman Old Style" panose="02050604050505020204" pitchFamily="18" charset="0"/>
      <p:regular r:id="rId46"/>
      <p:bold r:id="rId47"/>
      <p:italic r:id="rId48"/>
      <p:boldItalic r:id="rId49"/>
    </p:embeddedFont>
    <p:embeddedFont>
      <p:font typeface="Calibri" panose="020F0502020204030204" pitchFamily="34" charset="0"/>
      <p:regular r:id="rId50"/>
      <p:bold r:id="rId51"/>
      <p:italic r:id="rId52"/>
      <p:boldItalic r:id="rId53"/>
    </p:embeddedFont>
    <p:embeddedFont>
      <p:font typeface="Calibri Light" panose="020F0302020204030204" pitchFamily="34" charset="0"/>
      <p:regular r:id="rId54"/>
      <p:italic r:id="rId55"/>
    </p:embeddedFont>
    <p:embeddedFont>
      <p:font typeface="Cambria Math" panose="02040503050406030204" pitchFamily="18" charset="0"/>
      <p:regular r:id="rId56"/>
    </p:embeddedFont>
    <p:embeddedFont>
      <p:font typeface="Gill Sans MT" panose="020B0502020104020203" pitchFamily="34" charset="0"/>
      <p:regular r:id="rId57"/>
      <p:bold r:id="rId58"/>
      <p:italic r:id="rId59"/>
      <p:boldItalic r:id="rId60"/>
    </p:embeddedFont>
    <p:embeddedFont>
      <p:font typeface="Wingdings 3" panose="05040102010807070707" pitchFamily="18" charset="2"/>
      <p:regular r:id="rId61"/>
    </p:embeddedFont>
  </p:embeddedFontLst>
  <p:custDataLst>
    <p:tags r:id="rId62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0000"/>
    <a:srgbClr val="FF9900"/>
    <a:srgbClr val="0B0E8F"/>
    <a:srgbClr val="FFFFCC"/>
    <a:srgbClr val="46464C"/>
    <a:srgbClr val="6E7792"/>
    <a:srgbClr val="1F0C64"/>
    <a:srgbClr val="9FA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0909" autoAdjust="0"/>
  </p:normalViewPr>
  <p:slideViewPr>
    <p:cSldViewPr>
      <p:cViewPr varScale="1">
        <p:scale>
          <a:sx n="61" d="100"/>
          <a:sy n="61" d="100"/>
        </p:scale>
        <p:origin x="69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63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font" Target="fonts/font13.fntdata"/><Relationship Id="rId66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font" Target="fonts/font16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64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1.fntdata"/><Relationship Id="rId59" Type="http://schemas.openxmlformats.org/officeDocument/2006/relationships/font" Target="fonts/font14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9.fntdata"/><Relationship Id="rId6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4.fntdata"/><Relationship Id="rId57" Type="http://schemas.openxmlformats.org/officeDocument/2006/relationships/font" Target="fonts/font12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font" Target="fonts/font7.fntdata"/><Relationship Id="rId60" Type="http://schemas.openxmlformats.org/officeDocument/2006/relationships/font" Target="fonts/font15.fntdata"/><Relationship Id="rId65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C45A928-D252-4E73-BA6C-5EBB50EA9974}" type="datetimeFigureOut">
              <a:rPr lang="en-US"/>
              <a:pPr>
                <a:defRPr/>
              </a:pPr>
              <a:t>1/24/2021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DE926EA-2410-44E1-B457-BBA54A1622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734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E926EA-2410-44E1-B457-BBA54A162217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59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E926EA-2410-44E1-B457-BBA54A162217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496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"/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21"/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 sz="1400" smtClean="0"/>
            </a:lvl1pPr>
          </a:lstStyle>
          <a:p>
            <a:pPr>
              <a:defRPr/>
            </a:pPr>
            <a:fld id="{E16C4EF9-5865-4A6A-9380-B94D95EDFBB1}" type="datetime1">
              <a:rPr lang="en-US"/>
              <a:pPr>
                <a:defRPr/>
              </a:pPr>
              <a:t>1/24/2021</a:t>
            </a:fld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1"/>
          </p:nvPr>
        </p:nvSpPr>
        <p:spPr>
          <a:xfrm>
            <a:off x="1216025" y="6354763"/>
            <a:ext cx="12192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E774B-0244-43AE-81AE-949E2AED0B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D8D4EC-B919-4B7F-AD2C-08A3936481C2}" type="datetime1">
              <a:rPr lang="en-US"/>
              <a:pPr>
                <a:defRPr/>
              </a:pPr>
              <a:t>1/24/2021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1FFA5E-D537-4A8C-B688-12FAF7CC1F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78A1A-418A-4889-8466-7277E8543661}" type="datetime1">
              <a:rPr lang="en-US"/>
              <a:pPr>
                <a:defRPr/>
              </a:pPr>
              <a:t>1/24/2021</a:t>
            </a:fld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51084-9ADD-481F-8E3A-A4A104A15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D7207B-C772-46C0-AF6B-C696C628ECD6}" type="datetime1">
              <a:rPr lang="en-US"/>
              <a:pPr>
                <a:defRPr/>
              </a:pPr>
              <a:t>1/24/2021</a:t>
            </a:fld>
            <a:endParaRPr lang="en-US"/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0823A-D158-4554-9F4D-D1401680E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90D1A-9AF0-4373-9C19-31BA056F18D0}" type="datetime1">
              <a:rPr lang="en-US"/>
              <a:pPr>
                <a:defRPr/>
              </a:pPr>
              <a:t>1/24/2021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02858-B2E8-4CEF-AB5E-E0718287C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5CEBB1-9625-48F6-B3A4-11D228BFD397}" type="datetime1">
              <a:rPr lang="en-US"/>
              <a:pPr>
                <a:defRPr/>
              </a:pPr>
              <a:t>1/24/2021</a:t>
            </a:fld>
            <a:endParaRPr lang="en-US"/>
          </a:p>
        </p:txBody>
      </p:sp>
      <p:sp>
        <p:nvSpPr>
          <p:cNvPr id="3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D8101-5309-4DFF-AB2A-546F31B418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95152B-B4E1-457A-BC5F-3AB91570D542}" type="datetime1">
              <a:rPr lang="en-US" smtClean="0"/>
              <a:pPr>
                <a:defRPr/>
              </a:pPr>
              <a:t>1/24/2021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DBEE41-09A9-4372-AA29-C508F4A5354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1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04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8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71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98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19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67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413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52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82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69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8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092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31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41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69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732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51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690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250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575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30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D195152B-B4E1-457A-BC5F-3AB91570D542}" type="datetime1">
              <a:rPr lang="en-US"/>
              <a:pPr>
                <a:defRPr/>
              </a:pPr>
              <a:t>1/24/2021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1BDBEE41-09A9-4372-AA29-C508F4A535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246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65" r:id="rId3"/>
    <p:sldLayoutId id="2147483664" r:id="rId4"/>
    <p:sldLayoutId id="2147483663" r:id="rId5"/>
    <p:sldLayoutId id="2147483662" r:id="rId6"/>
    <p:sldLayoutId id="2147483680" r:id="rId7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6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7D500-1223-4445-9EB2-2C72C770F9E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4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" y="1447800"/>
            <a:ext cx="74676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1219200" y="1823484"/>
            <a:ext cx="6858000" cy="1295400"/>
          </a:xfrm>
        </p:spPr>
        <p:txBody>
          <a:bodyPr/>
          <a:lstStyle/>
          <a:p>
            <a:pPr algn="ctr" eaLnBrk="1" hangingPunct="1"/>
            <a:r>
              <a:rPr lang="en-US" sz="2800" dirty="0">
                <a:solidFill>
                  <a:schemeClr val="bg1"/>
                </a:solidFill>
              </a:rPr>
              <a:t>DSC40B: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Theoretical Foundations of Data Science II </a:t>
            </a:r>
            <a:endParaRPr lang="en-US" sz="2800" i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62400"/>
            <a:ext cx="6858000" cy="188595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 dirty="0"/>
              <a:t>Lecture 7:   </a:t>
            </a:r>
            <a:r>
              <a:rPr lang="en-US" sz="2800" i="1" dirty="0"/>
              <a:t>The Median, order statistics, and </a:t>
            </a:r>
            <a:r>
              <a:rPr lang="en-US" sz="2800" i="1" dirty="0" err="1"/>
              <a:t>QuickSort</a:t>
            </a:r>
            <a:endParaRPr lang="en-US" sz="2800" i="1" dirty="0"/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sz="1600" dirty="0"/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 dirty="0"/>
              <a:t>Instructor: Yusu Wang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447800"/>
            <a:ext cx="304800" cy="2057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F6649-5A64-45D6-A6CA-8E8A3A6B0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94781-9569-4BCE-B3A3-2C8EB0F996B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Sorting an array</a:t>
            </a:r>
          </a:p>
          <a:p>
            <a:r>
              <a:rPr lang="en-US" dirty="0"/>
              <a:t>(Binary) search in an sorted array</a:t>
            </a:r>
          </a:p>
          <a:p>
            <a:endParaRPr lang="en-US" dirty="0"/>
          </a:p>
          <a:p>
            <a:r>
              <a:rPr lang="en-US" dirty="0"/>
              <a:t>Today: </a:t>
            </a:r>
          </a:p>
          <a:p>
            <a:pPr lvl="1"/>
            <a:r>
              <a:rPr lang="en-US" dirty="0"/>
              <a:t>What if, without sorting, we would like to select a specific number with a certain rank in the array </a:t>
            </a:r>
          </a:p>
          <a:p>
            <a:pPr lvl="1"/>
            <a:r>
              <a:rPr lang="en-US" dirty="0"/>
              <a:t>In particular,  how to find the median of </a:t>
            </a:r>
            <a:r>
              <a:rPr lang="en-US" dirty="0">
                <a:solidFill>
                  <a:srgbClr val="700000"/>
                </a:solidFill>
              </a:rPr>
              <a:t>an unsorted</a:t>
            </a:r>
            <a:r>
              <a:rPr lang="en-US" dirty="0"/>
              <a:t> array of numbers quickly? </a:t>
            </a:r>
          </a:p>
          <a:p>
            <a:pPr marL="274638" lvl="1" indent="0">
              <a:buNone/>
            </a:pPr>
            <a:r>
              <a:rPr lang="en-US" dirty="0"/>
              <a:t> </a:t>
            </a:r>
          </a:p>
          <a:p>
            <a:pPr marL="274638" lvl="1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1A68F15-D88E-4666-B5AE-45513BCDA1C2}"/>
                  </a:ext>
                </a:extLst>
              </p:cNvPr>
              <p:cNvSpPr/>
              <p:nvPr/>
            </p:nvSpPr>
            <p:spPr>
              <a:xfrm>
                <a:off x="1752600" y="4953000"/>
                <a:ext cx="579120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Before we start: how fast do you think you can find the median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numbers?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1A68F15-D88E-4666-B5AE-45513BCDA1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4953000"/>
                <a:ext cx="5791200" cy="990600"/>
              </a:xfrm>
              <a:prstGeom prst="rect">
                <a:avLst/>
              </a:prstGeom>
              <a:blipFill>
                <a:blip r:embed="rId2"/>
                <a:stretch>
                  <a:fillRect b="-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050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Order statistics and simple examples</a:t>
            </a:r>
          </a:p>
        </p:txBody>
      </p:sp>
    </p:spTree>
    <p:extLst>
      <p:ext uri="{BB962C8B-B14F-4D97-AF65-F5344CB8AC3E}">
        <p14:creationId xmlns:p14="http://schemas.microsoft.com/office/powerpoint/2010/main" val="1929170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E0E77-2182-4049-A9F0-C9829CB1F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statistics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337CC1-DF0D-419B-8C3A-AD48FCB7CD3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Given a set of n numbers</a:t>
                </a:r>
              </a:p>
              <a:p>
                <a:pPr lvl="1"/>
                <a:r>
                  <a:rPr lang="en-US" dirty="0"/>
                  <a:t>The </a:t>
                </a:r>
                <a:r>
                  <a:rPr lang="en-US" dirty="0">
                    <a:solidFill>
                      <a:srgbClr val="700000"/>
                    </a:solidFill>
                  </a:rPr>
                  <a:t>kth order statistics </a:t>
                </a:r>
                <a:r>
                  <a:rPr lang="en-US" dirty="0"/>
                  <a:t>is the kth smallest number in this collection </a:t>
                </a:r>
              </a:p>
              <a:p>
                <a:pPr lvl="2"/>
                <a:r>
                  <a:rPr lang="en-US" dirty="0"/>
                  <a:t>We also say that this number has </a:t>
                </a:r>
                <a:r>
                  <a:rPr lang="en-US" i="1" dirty="0">
                    <a:solidFill>
                      <a:srgbClr val="700000"/>
                    </a:solidFill>
                  </a:rPr>
                  <a:t>rank k</a:t>
                </a:r>
                <a:r>
                  <a:rPr lang="en-US" dirty="0"/>
                  <a:t> in the input. 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Examples: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baseline="30000" dirty="0"/>
                  <a:t>st</a:t>
                </a:r>
                <a:r>
                  <a:rPr lang="en-US" dirty="0"/>
                  <a:t> order statistics:      minimum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th order statistics:    maximum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⌈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⌉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order statistics:   median 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337CC1-DF0D-419B-8C3A-AD48FCB7CD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6392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8B101-CEEB-4364-A58D-D2C860D09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Select</a:t>
            </a:r>
            <a:r>
              <a:rPr lang="en-US" dirty="0"/>
              <a:t>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8C1C39-6D30-4D1D-897D-6A63CE393EC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   given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numbers stored in an array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and an order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∈[1,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Output:  return the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order statistics of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Special cases: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?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But how about for general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including finding the median of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8C1C39-6D30-4D1D-897D-6A63CE393E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849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ACE5D-F608-44B8-8AB2-4DD20D938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approaches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926764-8F00-423C-BFE9-4BAD99B9130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Approach 1: </a:t>
                </a:r>
              </a:p>
              <a:p>
                <a:pPr lvl="1"/>
                <a:r>
                  <a:rPr lang="en-US" dirty="0"/>
                  <a:t>Modifying selection sort</a:t>
                </a:r>
              </a:p>
              <a:p>
                <a:pPr lvl="1"/>
                <a:r>
                  <a:rPr lang="en-US" dirty="0"/>
                  <a:t>Stops when find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order statistics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926764-8F00-423C-BFE9-4BAD99B913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4008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9B69E-A507-48CE-AE45-085BC6989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</a:t>
            </a:r>
            <a:r>
              <a:rPr lang="en-US" dirty="0" err="1"/>
              <a:t>selection_sort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490AE-ED32-48F1-AF53-C601634DB2A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33400" y="1295400"/>
            <a:ext cx="8229600" cy="4876800"/>
          </a:xfrm>
          <a:ln w="25400"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8000"/>
                </a:solidFill>
                <a:latin typeface="FiraMono-Medium-Identity-H"/>
              </a:rPr>
              <a:t>def </a:t>
            </a:r>
            <a:r>
              <a:rPr lang="en-US" sz="2400" dirty="0" err="1">
                <a:solidFill>
                  <a:srgbClr val="0000FF"/>
                </a:solidFill>
                <a:latin typeface="FiraMono-Regular-Identity-H"/>
              </a:rPr>
              <a:t>selection_sort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(A):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      n </a:t>
            </a:r>
            <a:r>
              <a:rPr lang="en-US" sz="2400" dirty="0">
                <a:solidFill>
                  <a:srgbClr val="666666"/>
                </a:solidFill>
                <a:latin typeface="FiraMono-Regular-Identity-H"/>
              </a:rPr>
              <a:t>= </a:t>
            </a:r>
            <a:r>
              <a:rPr lang="en-US" sz="2400" dirty="0" err="1">
                <a:solidFill>
                  <a:srgbClr val="008000"/>
                </a:solidFill>
                <a:latin typeface="FiraMono-Regular-Identity-H"/>
              </a:rPr>
              <a:t>len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(A)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8000"/>
                </a:solidFill>
                <a:latin typeface="FiraMono-Medium-Identity-H"/>
              </a:rPr>
              <a:t>      if 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n </a:t>
            </a:r>
            <a:r>
              <a:rPr lang="en-US" sz="2400" dirty="0">
                <a:solidFill>
                  <a:srgbClr val="666666"/>
                </a:solidFill>
                <a:latin typeface="FiraMono-Regular-Identity-H"/>
              </a:rPr>
              <a:t>&lt;= 1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: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8000"/>
                </a:solidFill>
                <a:latin typeface="FiraMono-Medium-Identity-H"/>
              </a:rPr>
              <a:t>	return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8000"/>
                </a:solidFill>
                <a:latin typeface="FiraMono-Medium-Identity-H"/>
              </a:rPr>
              <a:t>      for </a:t>
            </a:r>
            <a:r>
              <a:rPr lang="en-US" sz="2400" dirty="0" err="1">
                <a:solidFill>
                  <a:srgbClr val="000000"/>
                </a:solidFill>
                <a:latin typeface="FiraMono-Regular-Identity-H"/>
              </a:rPr>
              <a:t>barrier_id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 </a:t>
            </a:r>
            <a:r>
              <a:rPr lang="en-US" sz="2400" dirty="0">
                <a:solidFill>
                  <a:srgbClr val="AC21FF"/>
                </a:solidFill>
                <a:latin typeface="FiraMono-Medium-Identity-H"/>
              </a:rPr>
              <a:t>in </a:t>
            </a:r>
            <a:r>
              <a:rPr lang="en-US" sz="2400" dirty="0">
                <a:solidFill>
                  <a:srgbClr val="008000"/>
                </a:solidFill>
                <a:latin typeface="FiraMono-Regular-Identity-H"/>
              </a:rPr>
              <a:t>range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(n</a:t>
            </a:r>
            <a:r>
              <a:rPr lang="en-US" sz="2400" dirty="0">
                <a:solidFill>
                  <a:srgbClr val="666666"/>
                </a:solidFill>
                <a:latin typeface="FiraMono-Regular-Identity-H"/>
              </a:rPr>
              <a:t>-1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):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408080"/>
                </a:solidFill>
                <a:latin typeface="FiraMono-Oblique-Identity-H"/>
              </a:rPr>
              <a:t>	# find index of min in A[start:]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FiraMono-Regular-Identity-H"/>
              </a:rPr>
              <a:t>min_id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 </a:t>
            </a:r>
            <a:r>
              <a:rPr lang="en-US" sz="2400" dirty="0">
                <a:solidFill>
                  <a:srgbClr val="666666"/>
                </a:solidFill>
                <a:latin typeface="FiraMono-Regular-Identity-H"/>
              </a:rPr>
              <a:t>= </a:t>
            </a:r>
            <a:r>
              <a:rPr lang="en-US" sz="2400" dirty="0" err="1">
                <a:solidFill>
                  <a:srgbClr val="000000"/>
                </a:solidFill>
                <a:latin typeface="FiraMono-Regular-Identity-H"/>
              </a:rPr>
              <a:t>find_minimum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(A, start</a:t>
            </a:r>
            <a:r>
              <a:rPr lang="en-US" sz="2400" dirty="0">
                <a:solidFill>
                  <a:srgbClr val="666666"/>
                </a:solidFill>
                <a:latin typeface="FiraMono-Regular-Identity-H"/>
              </a:rPr>
              <a:t>=</a:t>
            </a:r>
            <a:r>
              <a:rPr lang="en-US" sz="2400" dirty="0" err="1">
                <a:solidFill>
                  <a:srgbClr val="000000"/>
                </a:solidFill>
                <a:latin typeface="FiraMono-Regular-Identity-H"/>
              </a:rPr>
              <a:t>barrier_id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)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408080"/>
                </a:solidFill>
                <a:latin typeface="FiraMono-Oblique-Identity-H"/>
              </a:rPr>
              <a:t>	#swap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	A[</a:t>
            </a:r>
            <a:r>
              <a:rPr lang="en-US" sz="2400" dirty="0" err="1">
                <a:solidFill>
                  <a:srgbClr val="000000"/>
                </a:solidFill>
                <a:latin typeface="FiraMono-Regular-Identity-H"/>
              </a:rPr>
              <a:t>barrier_id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], A[</a:t>
            </a:r>
            <a:r>
              <a:rPr lang="en-US" sz="2400" dirty="0" err="1">
                <a:solidFill>
                  <a:srgbClr val="000000"/>
                </a:solidFill>
                <a:latin typeface="FiraMono-Regular-Identity-H"/>
              </a:rPr>
              <a:t>min_id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] </a:t>
            </a:r>
            <a:r>
              <a:rPr lang="en-US" sz="2400" dirty="0">
                <a:solidFill>
                  <a:srgbClr val="666666"/>
                </a:solidFill>
                <a:latin typeface="FiraMono-Regular-Identity-H"/>
              </a:rPr>
              <a:t>= 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(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		A[</a:t>
            </a:r>
            <a:r>
              <a:rPr lang="en-US" sz="2400" dirty="0" err="1">
                <a:solidFill>
                  <a:srgbClr val="000000"/>
                </a:solidFill>
                <a:latin typeface="FiraMono-Regular-Identity-H"/>
              </a:rPr>
              <a:t>min_id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], A[</a:t>
            </a:r>
            <a:r>
              <a:rPr lang="en-US" sz="2400" dirty="0" err="1">
                <a:solidFill>
                  <a:srgbClr val="000000"/>
                </a:solidFill>
                <a:latin typeface="FiraMono-Regular-Identity-H"/>
              </a:rPr>
              <a:t>barrier_id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]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	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32384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9B69E-A507-48CE-AE45-085BC6989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</a:t>
            </a:r>
            <a:r>
              <a:rPr lang="en-US" dirty="0" err="1"/>
              <a:t>selection_kthOS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490AE-ED32-48F1-AF53-C601634DB2A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33400" y="1295400"/>
            <a:ext cx="8229600" cy="5334000"/>
          </a:xfrm>
          <a:ln w="25400"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8000"/>
                </a:solidFill>
                <a:latin typeface="FiraMono-Medium-Identity-H"/>
              </a:rPr>
              <a:t>def </a:t>
            </a:r>
            <a:r>
              <a:rPr lang="en-US" sz="2400" dirty="0" err="1">
                <a:solidFill>
                  <a:srgbClr val="0000FF"/>
                </a:solidFill>
                <a:latin typeface="FiraMono-Regular-Identity-H"/>
              </a:rPr>
              <a:t>selection_kthOS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(A, k):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      n </a:t>
            </a:r>
            <a:r>
              <a:rPr lang="en-US" sz="2400" dirty="0">
                <a:solidFill>
                  <a:srgbClr val="666666"/>
                </a:solidFill>
                <a:latin typeface="FiraMono-Regular-Identity-H"/>
              </a:rPr>
              <a:t>= </a:t>
            </a:r>
            <a:r>
              <a:rPr lang="en-US" sz="2400" dirty="0" err="1">
                <a:solidFill>
                  <a:srgbClr val="008000"/>
                </a:solidFill>
                <a:latin typeface="FiraMono-Regular-Identity-H"/>
              </a:rPr>
              <a:t>len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(A)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8000"/>
                </a:solidFill>
                <a:latin typeface="FiraMono-Medium-Identity-H"/>
              </a:rPr>
              <a:t>      if 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n </a:t>
            </a:r>
            <a:r>
              <a:rPr lang="en-US" sz="2400" dirty="0">
                <a:solidFill>
                  <a:srgbClr val="666666"/>
                </a:solidFill>
                <a:latin typeface="FiraMono-Regular-Identity-H"/>
              </a:rPr>
              <a:t>&lt; k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: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8000"/>
                </a:solidFill>
                <a:latin typeface="FiraMono-Medium-Identity-H"/>
              </a:rPr>
              <a:t>	return Error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8000"/>
                </a:solidFill>
                <a:latin typeface="FiraMono-Medium-Identity-H"/>
              </a:rPr>
              <a:t>      for </a:t>
            </a:r>
            <a:r>
              <a:rPr lang="en-US" sz="2400" dirty="0" err="1">
                <a:solidFill>
                  <a:srgbClr val="000000"/>
                </a:solidFill>
                <a:latin typeface="FiraMono-Regular-Identity-H"/>
              </a:rPr>
              <a:t>barrier_id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 </a:t>
            </a:r>
            <a:r>
              <a:rPr lang="en-US" sz="2400" dirty="0">
                <a:solidFill>
                  <a:srgbClr val="AC21FF"/>
                </a:solidFill>
                <a:latin typeface="FiraMono-Medium-Identity-H"/>
              </a:rPr>
              <a:t>in </a:t>
            </a:r>
            <a:r>
              <a:rPr lang="en-US" sz="2400" dirty="0">
                <a:solidFill>
                  <a:srgbClr val="008000"/>
                </a:solidFill>
                <a:latin typeface="FiraMono-Regular-Identity-H"/>
              </a:rPr>
              <a:t>range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(</a:t>
            </a:r>
            <a:r>
              <a:rPr lang="en-US" sz="2400" b="1" dirty="0">
                <a:solidFill>
                  <a:srgbClr val="700000"/>
                </a:solidFill>
                <a:latin typeface="FiraMono-Regular-Identity-H"/>
              </a:rPr>
              <a:t>k-1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):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408080"/>
                </a:solidFill>
                <a:latin typeface="FiraMono-Oblique-Identity-H"/>
              </a:rPr>
              <a:t>	# find index of min in A[start:]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FiraMono-Regular-Identity-H"/>
              </a:rPr>
              <a:t>min_id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 </a:t>
            </a:r>
            <a:r>
              <a:rPr lang="en-US" sz="2400" dirty="0">
                <a:solidFill>
                  <a:srgbClr val="666666"/>
                </a:solidFill>
                <a:latin typeface="FiraMono-Regular-Identity-H"/>
              </a:rPr>
              <a:t>= </a:t>
            </a:r>
            <a:r>
              <a:rPr lang="en-US" sz="2400" dirty="0" err="1">
                <a:solidFill>
                  <a:srgbClr val="000000"/>
                </a:solidFill>
                <a:latin typeface="FiraMono-Regular-Identity-H"/>
              </a:rPr>
              <a:t>find_minimum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(A, start</a:t>
            </a:r>
            <a:r>
              <a:rPr lang="en-US" sz="2400" dirty="0">
                <a:solidFill>
                  <a:srgbClr val="666666"/>
                </a:solidFill>
                <a:latin typeface="FiraMono-Regular-Identity-H"/>
              </a:rPr>
              <a:t>=</a:t>
            </a:r>
            <a:r>
              <a:rPr lang="en-US" sz="2400" dirty="0" err="1">
                <a:solidFill>
                  <a:srgbClr val="000000"/>
                </a:solidFill>
                <a:latin typeface="FiraMono-Regular-Identity-H"/>
              </a:rPr>
              <a:t>barrier_id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)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408080"/>
                </a:solidFill>
                <a:latin typeface="FiraMono-Oblique-Identity-H"/>
              </a:rPr>
              <a:t>	#swap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	A[</a:t>
            </a:r>
            <a:r>
              <a:rPr lang="en-US" sz="2400" dirty="0" err="1">
                <a:solidFill>
                  <a:srgbClr val="000000"/>
                </a:solidFill>
                <a:latin typeface="FiraMono-Regular-Identity-H"/>
              </a:rPr>
              <a:t>barrier_id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], A[</a:t>
            </a:r>
            <a:r>
              <a:rPr lang="en-US" sz="2400" dirty="0" err="1">
                <a:solidFill>
                  <a:srgbClr val="000000"/>
                </a:solidFill>
                <a:latin typeface="FiraMono-Regular-Identity-H"/>
              </a:rPr>
              <a:t>min_id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] </a:t>
            </a:r>
            <a:r>
              <a:rPr lang="en-US" sz="2400" dirty="0">
                <a:solidFill>
                  <a:srgbClr val="666666"/>
                </a:solidFill>
                <a:latin typeface="FiraMono-Regular-Identity-H"/>
              </a:rPr>
              <a:t>= 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(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		A[</a:t>
            </a:r>
            <a:r>
              <a:rPr lang="en-US" sz="2400" dirty="0" err="1">
                <a:solidFill>
                  <a:srgbClr val="000000"/>
                </a:solidFill>
                <a:latin typeface="FiraMono-Regular-Identity-H"/>
              </a:rPr>
              <a:t>min_id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], A[</a:t>
            </a:r>
            <a:r>
              <a:rPr lang="en-US" sz="2400" dirty="0" err="1">
                <a:solidFill>
                  <a:srgbClr val="000000"/>
                </a:solidFill>
                <a:latin typeface="FiraMono-Regular-Identity-H"/>
              </a:rPr>
              <a:t>barrier_id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]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	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8000"/>
                </a:solidFill>
                <a:latin typeface="FiraMono-Medium-Identity-H"/>
              </a:rPr>
              <a:t>      return 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A[</a:t>
            </a:r>
            <a:r>
              <a:rPr lang="en-US" sz="2400" dirty="0" err="1">
                <a:solidFill>
                  <a:srgbClr val="000000"/>
                </a:solidFill>
                <a:latin typeface="FiraMono-Regular-Identity-H"/>
              </a:rPr>
              <a:t>barrier_id</a:t>
            </a: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]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45714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ACE5D-F608-44B8-8AB2-4DD20D938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approaches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926764-8F00-423C-BFE9-4BAD99B9130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Approach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: </a:t>
                </a:r>
              </a:p>
              <a:p>
                <a:pPr lvl="1"/>
                <a:r>
                  <a:rPr lang="en-US" dirty="0"/>
                  <a:t>Modifying selection sort</a:t>
                </a:r>
              </a:p>
              <a:p>
                <a:pPr lvl="1"/>
                <a:r>
                  <a:rPr lang="en-US" dirty="0"/>
                  <a:t>Stops when find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order statistics </a:t>
                </a:r>
              </a:p>
              <a:p>
                <a:pPr lvl="1"/>
                <a:r>
                  <a:rPr lang="en-US" dirty="0"/>
                  <a:t>Time complexity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r>
                  <a:rPr lang="en-US" dirty="0"/>
                  <a:t>Approach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: </a:t>
                </a:r>
              </a:p>
              <a:p>
                <a:pPr lvl="1"/>
                <a:r>
                  <a:rPr lang="en-US" dirty="0"/>
                  <a:t>First sort 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Return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Time complexity</a:t>
                </a:r>
              </a:p>
              <a:p>
                <a:pPr lvl="2"/>
                <a:r>
                  <a:rPr lang="en-US" dirty="0"/>
                  <a:t>Same as sorting, which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926764-8F00-423C-BFE9-4BAD99B913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2D9D910-4FDF-4E59-9E10-149F7D2564B9}"/>
                  </a:ext>
                </a:extLst>
              </p:cNvPr>
              <p:cNvSpPr/>
              <p:nvPr/>
            </p:nvSpPr>
            <p:spPr>
              <a:xfrm>
                <a:off x="4876800" y="3505200"/>
                <a:ext cx="373380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Can we do better than sorting (namely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time)?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2D9D910-4FDF-4E59-9E10-149F7D2564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3505200"/>
                <a:ext cx="3733800" cy="990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520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Partition procedure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A14597F-412F-4712-9CEA-DACF7F436194}"/>
                  </a:ext>
                </a:extLst>
              </p:cNvPr>
              <p:cNvSpPr/>
              <p:nvPr/>
            </p:nvSpPr>
            <p:spPr>
              <a:xfrm>
                <a:off x="1371600" y="4267200"/>
                <a:ext cx="6629400" cy="1143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In what follows, I will use pseudocode, where for an array </a:t>
                </a:r>
                <a:r>
                  <a:rPr lang="en-US" sz="2000" i="1" dirty="0"/>
                  <a:t>A</a:t>
                </a:r>
                <a:r>
                  <a:rPr lang="en-US" sz="2000" dirty="0"/>
                  <a:t> of size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, its indices are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.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A14597F-412F-4712-9CEA-DACF7F4361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267200"/>
                <a:ext cx="6629400" cy="1143000"/>
              </a:xfrm>
              <a:prstGeom prst="rect">
                <a:avLst/>
              </a:prstGeom>
              <a:blipFill>
                <a:blip r:embed="rId2"/>
                <a:stretch>
                  <a:fillRect l="-275" r="-11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8917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8B101-CEEB-4364-A58D-D2C860D09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Select</a:t>
            </a:r>
            <a:r>
              <a:rPr lang="en-US" dirty="0"/>
              <a:t>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8C1C39-6D30-4D1D-897D-6A63CE393EC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   given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numbers stored in an array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and an order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∈[1,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Output:  return the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order statistics of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Intuition: </a:t>
                </a:r>
              </a:p>
              <a:p>
                <a:pPr lvl="1"/>
                <a:r>
                  <a:rPr lang="en-US" dirty="0"/>
                  <a:t>In Sorting, we essentially figure out the relative orders among all elements </a:t>
                </a:r>
              </a:p>
              <a:p>
                <a:pPr lvl="2"/>
                <a:r>
                  <a:rPr lang="en-US" dirty="0"/>
                  <a:t>There is much redundancy; for example, if two numbers both have higher order than the target order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then intuitively, we don’t care about spending time to figure out their relative order. </a:t>
                </a:r>
              </a:p>
              <a:p>
                <a:pPr lvl="2"/>
                <a:r>
                  <a:rPr lang="en-US" dirty="0"/>
                  <a:t>So intuitively, we should be able to do better than sorting. </a:t>
                </a:r>
              </a:p>
              <a:p>
                <a:pPr lvl="1"/>
                <a:r>
                  <a:rPr lang="en-US" dirty="0"/>
                  <a:t>How to leverage this thought?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8C1C39-6D30-4D1D-897D-6A63CE393E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b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77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0347-AD40-4835-B898-99AF4B353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B0E8F"/>
                </a:solidFill>
              </a:rPr>
              <a:t>Partition</a:t>
            </a:r>
            <a:r>
              <a:rPr lang="en-US" dirty="0"/>
              <a:t> procedure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7DA29B-6CCE-476C-ABEC-D3B028B2D17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34440"/>
                <a:ext cx="8229600" cy="3566160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B0E8F"/>
                    </a:solidFill>
                  </a:rPr>
                  <a:t>Partition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solidFill>
                      <a:srgbClr val="0B0E8F"/>
                    </a:solidFill>
                  </a:rPr>
                  <a:t>) </a:t>
                </a:r>
                <a:endParaRPr lang="en-US" dirty="0"/>
              </a:p>
              <a:p>
                <a:pPr lvl="1"/>
                <a:r>
                  <a:rPr lang="en-US" dirty="0"/>
                  <a:t>Input:   </a:t>
                </a:r>
              </a:p>
              <a:p>
                <a:pPr lvl="2"/>
                <a:r>
                  <a:rPr lang="en-US" dirty="0"/>
                  <a:t>Given an array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consider sub-array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…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will be used as the pivot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Output:</a:t>
                </a:r>
              </a:p>
              <a:p>
                <a:pPr lvl="2"/>
                <a:r>
                  <a:rPr lang="en-US" dirty="0"/>
                  <a:t>Rearrange elements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now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such that</a:t>
                </a:r>
              </a:p>
              <a:p>
                <a:pPr lvl="3"/>
                <a:r>
                  <a:rPr lang="en-US" dirty="0"/>
                  <a:t>all elements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are to its left</a:t>
                </a:r>
              </a:p>
              <a:p>
                <a:pPr lvl="3"/>
                <a:r>
                  <a:rPr lang="en-US" dirty="0"/>
                  <a:t>all elements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are to its right </a:t>
                </a:r>
              </a:p>
              <a:p>
                <a:pPr lvl="2"/>
                <a:r>
                  <a:rPr lang="en-US" dirty="0"/>
                  <a:t>Return the new position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of the pivot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7DA29B-6CCE-476C-ABEC-D3B028B2D1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34440"/>
                <a:ext cx="8229600" cy="3566160"/>
              </a:xfrm>
              <a:blipFill>
                <a:blip r:embed="rId3"/>
                <a:stretch>
                  <a:fillRect l="-667" t="-1709" b="-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0453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705A480-3E2F-4B07-A7CD-9ED7847188A5}"/>
              </a:ext>
            </a:extLst>
          </p:cNvPr>
          <p:cNvGrpSpPr/>
          <p:nvPr/>
        </p:nvGrpSpPr>
        <p:grpSpPr>
          <a:xfrm>
            <a:off x="1104900" y="1371600"/>
            <a:ext cx="7258050" cy="1140483"/>
            <a:chOff x="1104900" y="1363005"/>
            <a:chExt cx="7258050" cy="1140483"/>
          </a:xfrm>
        </p:grpSpPr>
        <p:sp>
          <p:nvSpPr>
            <p:cNvPr id="4" name="Rectangle 7">
              <a:extLst>
                <a:ext uri="{FF2B5EF4-FFF2-40B4-BE49-F238E27FC236}">
                  <a16:creationId xmlns:a16="http://schemas.microsoft.com/office/drawing/2014/main" id="{76D636A3-3926-4707-B741-F0B704A11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" y="1371600"/>
              <a:ext cx="6934200" cy="609600"/>
            </a:xfrm>
            <a:prstGeom prst="rect">
              <a:avLst/>
            </a:prstGeom>
            <a:solidFill>
              <a:srgbClr val="CCFFCC">
                <a:alpha val="56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9E6BED-F0E0-4430-ACB1-0B0FC656C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5700" y="1363005"/>
              <a:ext cx="533400" cy="6477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A5A6969-BE0C-4F82-A6C5-946E7671246D}"/>
                    </a:ext>
                  </a:extLst>
                </p:cNvPr>
                <p:cNvSpPr txBox="1"/>
                <p:nvPr/>
              </p:nvSpPr>
              <p:spPr>
                <a:xfrm>
                  <a:off x="7181850" y="2134156"/>
                  <a:ext cx="1181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A5A6969-BE0C-4F82-A6C5-946E767124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850" y="2134156"/>
                  <a:ext cx="1181100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5640347-AD40-4835-B898-99AF4B353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B0E8F"/>
                </a:solidFill>
              </a:rPr>
              <a:t>Partition</a:t>
            </a:r>
            <a:r>
              <a:rPr lang="en-US" dirty="0"/>
              <a:t> procedure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7DA29B-6CCE-476C-ABEC-D3B028B2D17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2590800"/>
                <a:ext cx="8229600" cy="3566160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B0E8F"/>
                    </a:solidFill>
                  </a:rPr>
                  <a:t>Partition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solidFill>
                      <a:srgbClr val="0B0E8F"/>
                    </a:solidFill>
                  </a:rPr>
                  <a:t>) </a:t>
                </a:r>
                <a:endParaRPr lang="en-US" dirty="0"/>
              </a:p>
              <a:p>
                <a:pPr lvl="1"/>
                <a:r>
                  <a:rPr lang="en-US" dirty="0"/>
                  <a:t>Input:   </a:t>
                </a:r>
              </a:p>
              <a:p>
                <a:pPr lvl="2"/>
                <a:r>
                  <a:rPr lang="en-US" dirty="0"/>
                  <a:t>Given an array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consider sub-array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…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will be used as the pivot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Output:</a:t>
                </a:r>
              </a:p>
              <a:p>
                <a:pPr lvl="2"/>
                <a:r>
                  <a:rPr lang="en-US" dirty="0"/>
                  <a:t>Rearrange elements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now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such that</a:t>
                </a:r>
              </a:p>
              <a:p>
                <a:pPr lvl="3"/>
                <a:r>
                  <a:rPr lang="en-US" dirty="0"/>
                  <a:t>all elements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are to its left</a:t>
                </a:r>
              </a:p>
              <a:p>
                <a:pPr lvl="3"/>
                <a:r>
                  <a:rPr lang="en-US" dirty="0"/>
                  <a:t>all elements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are to its right </a:t>
                </a:r>
              </a:p>
              <a:p>
                <a:pPr lvl="2"/>
                <a:r>
                  <a:rPr lang="en-US" dirty="0"/>
                  <a:t>Return the new position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of the pivot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7DA29B-6CCE-476C-ABEC-D3B028B2D1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2590800"/>
                <a:ext cx="8229600" cy="3566160"/>
              </a:xfrm>
              <a:blipFill>
                <a:blip r:embed="rId4"/>
                <a:stretch>
                  <a:fillRect l="-667" t="-1538" b="-1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8">
            <a:extLst>
              <a:ext uri="{FF2B5EF4-FFF2-40B4-BE49-F238E27FC236}">
                <a16:creationId xmlns:a16="http://schemas.microsoft.com/office/drawing/2014/main" id="{AEAF7716-EA3C-45D5-BE70-6D7DCB40E25F}"/>
              </a:ext>
            </a:extLst>
          </p:cNvPr>
          <p:cNvGrpSpPr>
            <a:grpSpLocks/>
          </p:cNvGrpSpPr>
          <p:nvPr/>
        </p:nvGrpSpPr>
        <p:grpSpPr bwMode="auto">
          <a:xfrm>
            <a:off x="1104900" y="1371600"/>
            <a:ext cx="6934200" cy="1055688"/>
            <a:chOff x="576" y="3360"/>
            <a:chExt cx="4368" cy="665"/>
          </a:xfrm>
        </p:grpSpPr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56CCDDE1-F5B8-4709-A5DF-CFFD7E7161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3360"/>
              <a:ext cx="4368" cy="384"/>
              <a:chOff x="576" y="3360"/>
              <a:chExt cx="4368" cy="384"/>
            </a:xfrm>
          </p:grpSpPr>
          <p:sp>
            <p:nvSpPr>
              <p:cNvPr id="8" name="Rectangle 10">
                <a:extLst>
                  <a:ext uri="{FF2B5EF4-FFF2-40B4-BE49-F238E27FC236}">
                    <a16:creationId xmlns:a16="http://schemas.microsoft.com/office/drawing/2014/main" id="{28ECD63F-96F8-4691-8C68-BE3422FBE0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3360"/>
                <a:ext cx="384" cy="384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Rectangle 11">
                <a:extLst>
                  <a:ext uri="{FF2B5EF4-FFF2-40B4-BE49-F238E27FC236}">
                    <a16:creationId xmlns:a16="http://schemas.microsoft.com/office/drawing/2014/main" id="{0508B54F-E227-40E7-8ECE-D6DACFBE0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3360"/>
                <a:ext cx="1536" cy="384"/>
              </a:xfrm>
              <a:prstGeom prst="rect">
                <a:avLst/>
              </a:prstGeom>
              <a:solidFill>
                <a:srgbClr val="FFCC99">
                  <a:alpha val="49001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Rectangle 12">
                <a:extLst>
                  <a:ext uri="{FF2B5EF4-FFF2-40B4-BE49-F238E27FC236}">
                    <a16:creationId xmlns:a16="http://schemas.microsoft.com/office/drawing/2014/main" id="{6CCAB2E9-AE11-4E6A-8667-CB51E2F5E6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3360"/>
                <a:ext cx="2448" cy="384"/>
              </a:xfrm>
              <a:prstGeom prst="rect">
                <a:avLst/>
              </a:prstGeom>
              <a:solidFill>
                <a:srgbClr val="99CC00">
                  <a:alpha val="83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" name="Text Box 13">
              <a:extLst>
                <a:ext uri="{FF2B5EF4-FFF2-40B4-BE49-F238E27FC236}">
                  <a16:creationId xmlns:a16="http://schemas.microsoft.com/office/drawing/2014/main" id="{A7965B00-7F41-455D-A2DD-7F2D00B04B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792"/>
              <a:ext cx="163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i="1" dirty="0">
                  <a:solidFill>
                    <a:srgbClr val="0B1196"/>
                  </a:solidFill>
                </a:rPr>
                <a:t>p</a:t>
              </a:r>
              <a:r>
                <a:rPr lang="en-US" altLang="en-US" b="0" i="1" dirty="0">
                  <a:solidFill>
                    <a:srgbClr val="0B1196"/>
                  </a:solidFill>
                </a:rPr>
                <a:t> : </a:t>
              </a:r>
              <a:r>
                <a:rPr lang="en-US" altLang="en-US" b="0" dirty="0"/>
                <a:t>pivot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5163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CDD85E8-FC76-4D5E-A321-B0A3F3977C7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Partition(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CDD85E8-FC76-4D5E-A321-B0A3F3977C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852" b="-19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56003AC-A589-48C2-A995-653123049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981200"/>
            <a:ext cx="7010400" cy="609600"/>
          </a:xfrm>
          <a:prstGeom prst="rect">
            <a:avLst/>
          </a:prstGeom>
          <a:solidFill>
            <a:srgbClr val="CCFFCC">
              <a:alpha val="48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C0D47EC-DE00-47C7-9D42-B1C58FFCB588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295400"/>
            <a:ext cx="6553200" cy="1295400"/>
            <a:chOff x="960" y="1152"/>
            <a:chExt cx="4128" cy="86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0512107-EBEE-425E-88C4-855BD8398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1584"/>
              <a:ext cx="336" cy="43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  p</a:t>
              </a:r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1D495087-BCC7-48AF-92EF-ACC38E91A9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152"/>
              <a:ext cx="3312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0" dirty="0"/>
                <a:t>Plan: take </a:t>
              </a:r>
              <a:r>
                <a:rPr lang="en-US" altLang="en-US" b="0" i="1" dirty="0">
                  <a:solidFill>
                    <a:srgbClr val="0B1196"/>
                  </a:solidFill>
                </a:rPr>
                <a:t>A[t]</a:t>
              </a:r>
              <a:r>
                <a:rPr lang="en-US" altLang="en-US" b="0" dirty="0"/>
                <a:t> as pivot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11EBFA8-2549-48AE-BA46-49DCCE1AF129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1981200"/>
            <a:ext cx="7010400" cy="1143000"/>
            <a:chOff x="672" y="2352"/>
            <a:chExt cx="4368" cy="72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8B3F355-A13D-479D-969C-04D2DCC583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2352"/>
              <a:ext cx="4368" cy="384"/>
              <a:chOff x="576" y="3360"/>
              <a:chExt cx="4368" cy="384"/>
            </a:xfrm>
          </p:grpSpPr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A968704D-0FFA-4F67-A07E-AAFF27829B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3360"/>
                <a:ext cx="384" cy="384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dirty="0"/>
                  <a:t>  p</a:t>
                </a: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F7F39091-FA89-4FCC-9904-88EC2D3AB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3360"/>
                <a:ext cx="1536" cy="384"/>
              </a:xfrm>
              <a:prstGeom prst="rect">
                <a:avLst/>
              </a:prstGeom>
              <a:solidFill>
                <a:srgbClr val="FFCC99">
                  <a:alpha val="49001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77A88035-FDCD-4B18-A1B9-878F2D59A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3360"/>
                <a:ext cx="2448" cy="384"/>
              </a:xfrm>
              <a:prstGeom prst="rect">
                <a:avLst/>
              </a:prstGeom>
              <a:solidFill>
                <a:srgbClr val="99CC00">
                  <a:alpha val="83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" name="Text Box 12">
              <a:extLst>
                <a:ext uri="{FF2B5EF4-FFF2-40B4-BE49-F238E27FC236}">
                  <a16:creationId xmlns:a16="http://schemas.microsoft.com/office/drawing/2014/main" id="{5B26DDB7-0AA9-4894-983C-2C7DCC90E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784"/>
              <a:ext cx="16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0" dirty="0"/>
                <a:t>return </a:t>
              </a:r>
              <a:r>
                <a:rPr lang="en-US" altLang="en-US" b="0" i="1" dirty="0">
                  <a:solidFill>
                    <a:srgbClr val="0B1196"/>
                  </a:solidFill>
                </a:rPr>
                <a:t>m</a:t>
              </a:r>
              <a:endParaRPr lang="en-US" altLang="en-US" b="0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28807AC-68F0-4108-8C99-060D4AD51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9786" y="3245069"/>
            <a:ext cx="6973614" cy="10221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>
                <a:solidFill>
                  <a:srgbClr val="700000"/>
                </a:solidFill>
              </a:rPr>
              <a:t>In-place</a:t>
            </a:r>
            <a:r>
              <a:rPr lang="en-US" altLang="en-US" b="0" dirty="0"/>
              <a:t> partition !</a:t>
            </a:r>
          </a:p>
          <a:p>
            <a:pPr algn="ctr"/>
            <a:r>
              <a:rPr lang="en-US" altLang="en-US" dirty="0" err="1"/>
              <a:t>i.e</a:t>
            </a:r>
            <a:r>
              <a:rPr lang="en-US" altLang="en-US" dirty="0"/>
              <a:t>, </a:t>
            </a:r>
            <a:r>
              <a:rPr lang="en-US" dirty="0"/>
              <a:t>we use the same input array, </a:t>
            </a:r>
          </a:p>
          <a:p>
            <a:pPr algn="ctr"/>
            <a:r>
              <a:rPr lang="en-US" dirty="0"/>
              <a:t>and only need constant number of auxiliary memory </a:t>
            </a:r>
            <a:endParaRPr lang="en-US" altLang="en-US" b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93AB025-EE10-42BA-A965-00BBE47D8B3C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953000"/>
            <a:ext cx="7010400" cy="609600"/>
            <a:chOff x="672" y="2928"/>
            <a:chExt cx="4416" cy="38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E13A111-EE1B-4CC8-9D8F-7D8FDD6A8B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928"/>
              <a:ext cx="4416" cy="384"/>
            </a:xfrm>
            <a:prstGeom prst="rect">
              <a:avLst/>
            </a:prstGeom>
            <a:solidFill>
              <a:srgbClr val="CCFFCC">
                <a:alpha val="52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D4B81C9-3E3A-43B3-8F90-BC7720DF1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928"/>
              <a:ext cx="336" cy="38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p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117B6BE-6E37-4E1E-8163-7C4017EA8599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953000"/>
            <a:ext cx="2895600" cy="1219200"/>
            <a:chOff x="672" y="3120"/>
            <a:chExt cx="1824" cy="76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B531FF4-95B0-4F6C-98C7-E8733FD8A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3120"/>
              <a:ext cx="672" cy="384"/>
            </a:xfrm>
            <a:prstGeom prst="rect">
              <a:avLst/>
            </a:prstGeom>
            <a:solidFill>
              <a:srgbClr val="FFCC99">
                <a:alpha val="55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059E3FA-D9D9-4CB4-91A1-EC2D2FBD44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3120"/>
              <a:ext cx="1056" cy="384"/>
            </a:xfrm>
            <a:prstGeom prst="rect">
              <a:avLst/>
            </a:prstGeom>
            <a:solidFill>
              <a:srgbClr val="99CC00">
                <a:alpha val="8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933B99C7-3B51-42A1-A490-AA521700B9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552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B8BA759B-691A-4C85-830B-6559A24F45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3552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E197337C-7468-4C1D-84D2-65B00F75C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953000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8700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 autoUpdateAnimBg="0"/>
      <p:bldP spid="23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4BC4725-6D91-480F-A0EA-0F540D8E6E1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Partition(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4BC4725-6D91-480F-A0EA-0F540D8E6E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852" b="-19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39626-42F8-4611-AC37-D22CC54383B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9C9CB6E-DC75-4CF5-A7DE-D918683ED3DB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057400"/>
            <a:ext cx="7010400" cy="609600"/>
            <a:chOff x="672" y="2928"/>
            <a:chExt cx="4416" cy="38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D54973-6FE9-4906-A195-004A182CC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928"/>
              <a:ext cx="4416" cy="384"/>
            </a:xfrm>
            <a:prstGeom prst="rect">
              <a:avLst/>
            </a:prstGeom>
            <a:solidFill>
              <a:srgbClr val="CCFFCC">
                <a:alpha val="52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E407EC7-E55E-488A-8A0C-73A31AEBF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928"/>
              <a:ext cx="336" cy="38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0" dirty="0"/>
                <a:t>p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EEF73-3017-41EF-982F-663A95868608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057400"/>
            <a:ext cx="2895600" cy="1219200"/>
            <a:chOff x="672" y="3120"/>
            <a:chExt cx="1824" cy="76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5BF1068-C984-423D-A7B2-BEFFFA378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3120"/>
              <a:ext cx="672" cy="384"/>
            </a:xfrm>
            <a:prstGeom prst="rect">
              <a:avLst/>
            </a:prstGeom>
            <a:solidFill>
              <a:srgbClr val="FFCC99">
                <a:alpha val="55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A05188F-6E15-4B7B-BB0D-AA05D1524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3120"/>
              <a:ext cx="1056" cy="384"/>
            </a:xfrm>
            <a:prstGeom prst="rect">
              <a:avLst/>
            </a:prstGeom>
            <a:solidFill>
              <a:srgbClr val="99CC00">
                <a:alpha val="8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6F559D32-EA72-4044-A159-79F7FC711D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552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210931FC-5371-4270-90F2-BBFF059F57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3552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99BA4012-6544-4C98-9A19-76294E517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057400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0" dirty="0"/>
              <a:t>x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3117A40B-C796-4B1E-9D0A-BDD4426A7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581400"/>
            <a:ext cx="2362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 dirty="0"/>
              <a:t>Case 1: x &gt; p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C3846FC-8899-4532-92C3-303828F94057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419600"/>
            <a:ext cx="7010400" cy="1219200"/>
            <a:chOff x="672" y="2784"/>
            <a:chExt cx="4416" cy="76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D93C745-0FC3-4C4D-8B9A-1CC2ACBFB2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2784"/>
              <a:ext cx="4416" cy="384"/>
              <a:chOff x="672" y="2928"/>
              <a:chExt cx="4416" cy="384"/>
            </a:xfrm>
          </p:grpSpPr>
          <p:sp>
            <p:nvSpPr>
              <p:cNvPr id="20" name="Rectangle 15">
                <a:extLst>
                  <a:ext uri="{FF2B5EF4-FFF2-40B4-BE49-F238E27FC236}">
                    <a16:creationId xmlns:a16="http://schemas.microsoft.com/office/drawing/2014/main" id="{D74024EF-4DCD-494D-8FFB-E3B5320D09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2928"/>
                <a:ext cx="4416" cy="384"/>
              </a:xfrm>
              <a:prstGeom prst="rect">
                <a:avLst/>
              </a:prstGeom>
              <a:solidFill>
                <a:srgbClr val="CCFFCC">
                  <a:alpha val="52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Rectangle 16">
                <a:extLst>
                  <a:ext uri="{FF2B5EF4-FFF2-40B4-BE49-F238E27FC236}">
                    <a16:creationId xmlns:a16="http://schemas.microsoft.com/office/drawing/2014/main" id="{A9FAEBF0-C956-4278-BDB4-853F4DD6CE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2928"/>
                <a:ext cx="336" cy="384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0" dirty="0"/>
                  <a:t>p</a:t>
                </a:r>
              </a:p>
            </p:txBody>
          </p:sp>
        </p:grpSp>
        <p:sp>
          <p:nvSpPr>
            <p:cNvPr id="16" name="Rectangle 17">
              <a:extLst>
                <a:ext uri="{FF2B5EF4-FFF2-40B4-BE49-F238E27FC236}">
                  <a16:creationId xmlns:a16="http://schemas.microsoft.com/office/drawing/2014/main" id="{526A0398-CD48-4C5B-9978-25EC00CF3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784"/>
              <a:ext cx="672" cy="384"/>
            </a:xfrm>
            <a:prstGeom prst="rect">
              <a:avLst/>
            </a:prstGeom>
            <a:solidFill>
              <a:srgbClr val="FFCC99">
                <a:alpha val="55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Rectangle 18">
              <a:extLst>
                <a:ext uri="{FF2B5EF4-FFF2-40B4-BE49-F238E27FC236}">
                  <a16:creationId xmlns:a16="http://schemas.microsoft.com/office/drawing/2014/main" id="{53FD4446-249E-4679-86EB-57583D2FC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784"/>
              <a:ext cx="1344" cy="384"/>
            </a:xfrm>
            <a:prstGeom prst="rect">
              <a:avLst/>
            </a:prstGeom>
            <a:solidFill>
              <a:srgbClr val="99CC00">
                <a:alpha val="8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0" dirty="0"/>
                <a:t>                     y                           x</a:t>
              </a:r>
            </a:p>
          </p:txBody>
        </p:sp>
        <p:sp>
          <p:nvSpPr>
            <p:cNvPr id="18" name="Line 19">
              <a:extLst>
                <a:ext uri="{FF2B5EF4-FFF2-40B4-BE49-F238E27FC236}">
                  <a16:creationId xmlns:a16="http://schemas.microsoft.com/office/drawing/2014/main" id="{2BD9449A-938E-4070-8DAF-7D7CE25A6C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216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20">
              <a:extLst>
                <a:ext uri="{FF2B5EF4-FFF2-40B4-BE49-F238E27FC236}">
                  <a16:creationId xmlns:a16="http://schemas.microsoft.com/office/drawing/2014/main" id="{B359FB9F-BC72-461D-B784-8F6D787B69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3216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7970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432C0C3-B206-48DA-B244-978958B10CF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Partition(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432C0C3-B206-48DA-B244-978958B10C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852" b="-19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BFBA0-0363-47BE-BBCF-CAD6F83A267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22">
            <a:extLst>
              <a:ext uri="{FF2B5EF4-FFF2-40B4-BE49-F238E27FC236}">
                <a16:creationId xmlns:a16="http://schemas.microsoft.com/office/drawing/2014/main" id="{DE5C81CE-0CB4-416B-B42F-6DE2364F7FBD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057400"/>
            <a:ext cx="7010400" cy="609600"/>
            <a:chOff x="672" y="2928"/>
            <a:chExt cx="4416" cy="384"/>
          </a:xfrm>
        </p:grpSpPr>
        <p:sp>
          <p:nvSpPr>
            <p:cNvPr id="5" name="Rectangle 23">
              <a:extLst>
                <a:ext uri="{FF2B5EF4-FFF2-40B4-BE49-F238E27FC236}">
                  <a16:creationId xmlns:a16="http://schemas.microsoft.com/office/drawing/2014/main" id="{B3806770-0DB3-47A5-9FCB-BA6046D32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928"/>
              <a:ext cx="4416" cy="384"/>
            </a:xfrm>
            <a:prstGeom prst="rect">
              <a:avLst/>
            </a:prstGeom>
            <a:solidFill>
              <a:srgbClr val="CCFFCC">
                <a:alpha val="52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Rectangle 24">
              <a:extLst>
                <a:ext uri="{FF2B5EF4-FFF2-40B4-BE49-F238E27FC236}">
                  <a16:creationId xmlns:a16="http://schemas.microsoft.com/office/drawing/2014/main" id="{0C80107B-D782-4647-B245-DA6C14658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928"/>
              <a:ext cx="336" cy="38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dirty="0"/>
                <a:t>p</a:t>
              </a:r>
              <a:endParaRPr lang="en-US" altLang="en-US" b="0" dirty="0"/>
            </a:p>
          </p:txBody>
        </p:sp>
      </p:grpSp>
      <p:sp>
        <p:nvSpPr>
          <p:cNvPr id="7" name="Rectangle 25">
            <a:extLst>
              <a:ext uri="{FF2B5EF4-FFF2-40B4-BE49-F238E27FC236}">
                <a16:creationId xmlns:a16="http://schemas.microsoft.com/office/drawing/2014/main" id="{10088884-6F9F-4DBE-A50F-DEC0CF3A4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057400"/>
            <a:ext cx="1066800" cy="609600"/>
          </a:xfrm>
          <a:prstGeom prst="rect">
            <a:avLst/>
          </a:prstGeom>
          <a:solidFill>
            <a:srgbClr val="FFCC99">
              <a:alpha val="55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CECC678D-E02F-4009-A49E-5C1735BE2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057400"/>
            <a:ext cx="1676400" cy="609600"/>
          </a:xfrm>
          <a:prstGeom prst="rect">
            <a:avLst/>
          </a:prstGeom>
          <a:solidFill>
            <a:srgbClr val="99CC00">
              <a:alpha val="8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dirty="0"/>
              <a:t>y</a:t>
            </a:r>
            <a:endParaRPr lang="en-US" altLang="en-US" b="0" dirty="0"/>
          </a:p>
        </p:txBody>
      </p:sp>
      <p:sp>
        <p:nvSpPr>
          <p:cNvPr id="9" name="Line 27">
            <a:extLst>
              <a:ext uri="{FF2B5EF4-FFF2-40B4-BE49-F238E27FC236}">
                <a16:creationId xmlns:a16="http://schemas.microsoft.com/office/drawing/2014/main" id="{C5E1179B-F97A-4A65-893C-28C33497FE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27432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28">
            <a:extLst>
              <a:ext uri="{FF2B5EF4-FFF2-40B4-BE49-F238E27FC236}">
                <a16:creationId xmlns:a16="http://schemas.microsoft.com/office/drawing/2014/main" id="{5B631A62-EC32-4945-8E09-01A998F45F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27432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29">
            <a:extLst>
              <a:ext uri="{FF2B5EF4-FFF2-40B4-BE49-F238E27FC236}">
                <a16:creationId xmlns:a16="http://schemas.microsoft.com/office/drawing/2014/main" id="{27C6D5CA-C5CA-41AD-8664-B20007BBA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057400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dirty="0"/>
              <a:t>x</a:t>
            </a:r>
            <a:endParaRPr lang="en-US" altLang="en-US" b="0" dirty="0"/>
          </a:p>
        </p:txBody>
      </p:sp>
      <p:sp>
        <p:nvSpPr>
          <p:cNvPr id="12" name="Text Box 30">
            <a:extLst>
              <a:ext uri="{FF2B5EF4-FFF2-40B4-BE49-F238E27FC236}">
                <a16:creationId xmlns:a16="http://schemas.microsoft.com/office/drawing/2014/main" id="{52A51FED-50AD-4F77-9FD5-A09EAD10E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581400"/>
            <a:ext cx="236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/>
              <a:t>Case 2: otherwise</a:t>
            </a:r>
          </a:p>
        </p:txBody>
      </p:sp>
      <p:grpSp>
        <p:nvGrpSpPr>
          <p:cNvPr id="13" name="Group 31">
            <a:extLst>
              <a:ext uri="{FF2B5EF4-FFF2-40B4-BE49-F238E27FC236}">
                <a16:creationId xmlns:a16="http://schemas.microsoft.com/office/drawing/2014/main" id="{8ACC80D8-EAC0-44F7-98C8-B0518E4FC948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419600"/>
            <a:ext cx="7010400" cy="1219200"/>
            <a:chOff x="672" y="2784"/>
            <a:chExt cx="4416" cy="768"/>
          </a:xfrm>
        </p:grpSpPr>
        <p:grpSp>
          <p:nvGrpSpPr>
            <p:cNvPr id="14" name="Group 32">
              <a:extLst>
                <a:ext uri="{FF2B5EF4-FFF2-40B4-BE49-F238E27FC236}">
                  <a16:creationId xmlns:a16="http://schemas.microsoft.com/office/drawing/2014/main" id="{1116DF14-90DA-4C2B-B13D-D076E2F9A1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2784"/>
              <a:ext cx="4416" cy="384"/>
              <a:chOff x="672" y="2928"/>
              <a:chExt cx="4416" cy="384"/>
            </a:xfrm>
          </p:grpSpPr>
          <p:sp>
            <p:nvSpPr>
              <p:cNvPr id="19" name="Rectangle 33">
                <a:extLst>
                  <a:ext uri="{FF2B5EF4-FFF2-40B4-BE49-F238E27FC236}">
                    <a16:creationId xmlns:a16="http://schemas.microsoft.com/office/drawing/2014/main" id="{EDFC2930-7F8C-420E-ADF8-6FE95E9BFE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2928"/>
                <a:ext cx="4416" cy="384"/>
              </a:xfrm>
              <a:prstGeom prst="rect">
                <a:avLst/>
              </a:prstGeom>
              <a:solidFill>
                <a:srgbClr val="CCFFCC">
                  <a:alpha val="52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Rectangle 34">
                <a:extLst>
                  <a:ext uri="{FF2B5EF4-FFF2-40B4-BE49-F238E27FC236}">
                    <a16:creationId xmlns:a16="http://schemas.microsoft.com/office/drawing/2014/main" id="{E74C8630-E122-4944-A6FF-B416A71675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2928"/>
                <a:ext cx="336" cy="384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dirty="0"/>
                  <a:t>p</a:t>
                </a:r>
                <a:endParaRPr lang="en-US" altLang="en-US" b="0" dirty="0"/>
              </a:p>
            </p:txBody>
          </p:sp>
        </p:grpSp>
        <p:sp>
          <p:nvSpPr>
            <p:cNvPr id="15" name="Rectangle 35">
              <a:extLst>
                <a:ext uri="{FF2B5EF4-FFF2-40B4-BE49-F238E27FC236}">
                  <a16:creationId xmlns:a16="http://schemas.microsoft.com/office/drawing/2014/main" id="{BAC85E4B-CD8D-4626-81BE-999D9EC2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784"/>
              <a:ext cx="1008" cy="384"/>
            </a:xfrm>
            <a:prstGeom prst="rect">
              <a:avLst/>
            </a:prstGeom>
            <a:solidFill>
              <a:srgbClr val="FFCC99">
                <a:alpha val="55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dirty="0"/>
                <a:t>x</a:t>
              </a:r>
              <a:endParaRPr lang="en-US" altLang="en-US" b="0" dirty="0"/>
            </a:p>
          </p:txBody>
        </p:sp>
        <p:sp>
          <p:nvSpPr>
            <p:cNvPr id="16" name="Rectangle 36">
              <a:extLst>
                <a:ext uri="{FF2B5EF4-FFF2-40B4-BE49-F238E27FC236}">
                  <a16:creationId xmlns:a16="http://schemas.microsoft.com/office/drawing/2014/main" id="{EA78F805-2D9C-4F5F-92DC-B2E3F68AF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784"/>
              <a:ext cx="1056" cy="384"/>
            </a:xfrm>
            <a:prstGeom prst="rect">
              <a:avLst/>
            </a:prstGeom>
            <a:solidFill>
              <a:srgbClr val="99CC00">
                <a:alpha val="8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dirty="0"/>
                <a:t>y</a:t>
              </a:r>
              <a:endParaRPr lang="en-US" altLang="en-US" b="0" dirty="0"/>
            </a:p>
          </p:txBody>
        </p:sp>
        <p:sp>
          <p:nvSpPr>
            <p:cNvPr id="17" name="Line 37">
              <a:extLst>
                <a:ext uri="{FF2B5EF4-FFF2-40B4-BE49-F238E27FC236}">
                  <a16:creationId xmlns:a16="http://schemas.microsoft.com/office/drawing/2014/main" id="{8257402E-0E70-4900-8093-C65195648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216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38">
              <a:extLst>
                <a:ext uri="{FF2B5EF4-FFF2-40B4-BE49-F238E27FC236}">
                  <a16:creationId xmlns:a16="http://schemas.microsoft.com/office/drawing/2014/main" id="{DC062D27-4DD3-42F0-A74D-30308BC936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3216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7899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D40D4-8AE3-4036-B7B9-038626995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223072-650A-4E96-B502-D89CE251A4F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0668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[12, 5, 3, 9, 7, 8]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assume pivot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[5]</m:t>
                    </m:r>
                  </m:oMath>
                </a14:m>
                <a:r>
                  <a:rPr lang="en-US" dirty="0"/>
                  <a:t>, the last element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Maintain two pointers: </a:t>
                </a:r>
              </a:p>
              <a:p>
                <a:pPr lvl="1"/>
                <a:r>
                  <a:rPr lang="en-US" dirty="0"/>
                  <a:t>“middle” barrier (variable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dirty="0"/>
                  <a:t> in code): </a:t>
                </a:r>
              </a:p>
              <a:p>
                <a:pPr lvl="2"/>
                <a:r>
                  <a:rPr lang="en-US" dirty="0"/>
                  <a:t>separates numbers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 from those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points to the first number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so far </a:t>
                </a:r>
              </a:p>
              <a:p>
                <a:pPr lvl="1"/>
                <a:r>
                  <a:rPr lang="en-US" dirty="0"/>
                  <a:t>“end” barrier (variable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 code):  </a:t>
                </a:r>
              </a:p>
              <a:p>
                <a:pPr lvl="2"/>
                <a:r>
                  <a:rPr lang="en-US" dirty="0"/>
                  <a:t>separates what’s already processed from un-processed</a:t>
                </a:r>
              </a:p>
              <a:p>
                <a:pPr lvl="2"/>
                <a:r>
                  <a:rPr lang="en-US" dirty="0"/>
                  <a:t>points to the first unprocessed number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223072-650A-4E96-B502-D89CE251A4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066800"/>
              </a:xfrm>
              <a:blipFill>
                <a:blip r:embed="rId2"/>
                <a:stretch>
                  <a:fillRect l="-667" b="-393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B34324C-8A06-4659-B9A8-52D1642FA672}"/>
              </a:ext>
            </a:extLst>
          </p:cNvPr>
          <p:cNvSpPr txBox="1"/>
          <p:nvPr/>
        </p:nvSpPr>
        <p:spPr>
          <a:xfrm>
            <a:off x="2362200" y="2362200"/>
            <a:ext cx="33528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[ 12,  5,   3,    9,   7,   8] </a:t>
            </a:r>
          </a:p>
        </p:txBody>
      </p:sp>
    </p:spTree>
    <p:extLst>
      <p:ext uri="{BB962C8B-B14F-4D97-AF65-F5344CB8AC3E}">
        <p14:creationId xmlns:p14="http://schemas.microsoft.com/office/powerpoint/2010/main" val="225425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497B8-56FC-465B-8699-ED09A006A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Pseudo-code for Partition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30D47-F6D5-430D-8EDF-70B990D308C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9E2A13-0598-4A6F-B2AC-C94BB97FC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959"/>
            <a:ext cx="4857899" cy="4191000"/>
          </a:xfrm>
          <a:prstGeom prst="rect">
            <a:avLst/>
          </a:prstGeom>
          <a:ln w="22225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4FB9485-879B-4167-88D2-79B71ADC9EE4}"/>
                  </a:ext>
                </a:extLst>
              </p:cNvPr>
              <p:cNvSpPr/>
              <p:nvPr/>
            </p:nvSpPr>
            <p:spPr>
              <a:xfrm>
                <a:off x="5737033" y="3429000"/>
                <a:ext cx="2514600" cy="14478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Time complexity:</a:t>
                </a:r>
              </a:p>
              <a:p>
                <a:pPr algn="ctr"/>
                <a:endParaRPr lang="en-US" sz="2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4FB9485-879B-4167-88D2-79B71ADC9E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033" y="3429000"/>
                <a:ext cx="2514600" cy="1447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1DC5773B-BC4B-4DF0-803F-73D380B6CD74}"/>
              </a:ext>
            </a:extLst>
          </p:cNvPr>
          <p:cNvSpPr/>
          <p:nvPr/>
        </p:nvSpPr>
        <p:spPr>
          <a:xfrm>
            <a:off x="5715000" y="2057400"/>
            <a:ext cx="25146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In-place!</a:t>
            </a:r>
          </a:p>
        </p:txBody>
      </p:sp>
    </p:spTree>
    <p:extLst>
      <p:ext uri="{BB962C8B-B14F-4D97-AF65-F5344CB8AC3E}">
        <p14:creationId xmlns:p14="http://schemas.microsoft.com/office/powerpoint/2010/main" val="3893340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990600"/>
          </a:xfrm>
        </p:spPr>
        <p:txBody>
          <a:bodyPr/>
          <a:lstStyle/>
          <a:p>
            <a:pPr algn="ctr"/>
            <a:r>
              <a:rPr lang="en-US" dirty="0" err="1"/>
              <a:t>QuickSelect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200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15A20-20B2-4D04-8DE6-0751A7D04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 of </a:t>
            </a:r>
            <a:r>
              <a:rPr lang="en-US" dirty="0" err="1"/>
              <a:t>QuickSelect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D8646B-05EB-4777-AE5B-B92DB09FB7E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Imagine we are given </a:t>
                </a:r>
                <a:r>
                  <a:rPr lang="en-US" dirty="0">
                    <a:solidFill>
                      <a:srgbClr val="0B0E8F"/>
                    </a:solidFill>
                  </a:rPr>
                  <a:t>Partition </a:t>
                </a:r>
                <a:r>
                  <a:rPr lang="en-US" dirty="0"/>
                  <a:t>procedure.  </a:t>
                </a:r>
              </a:p>
              <a:p>
                <a:r>
                  <a:rPr lang="en-US" dirty="0" err="1"/>
                  <a:t>QuickSelect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1,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)  </a:t>
                </a:r>
              </a:p>
              <a:p>
                <a:pPr lvl="1"/>
                <a:r>
                  <a:rPr lang="en-US" dirty="0"/>
                  <a:t>call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= Partition(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1,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)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D8646B-05EB-4777-AE5B-B92DB09FB7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4">
            <a:extLst>
              <a:ext uri="{FF2B5EF4-FFF2-40B4-BE49-F238E27FC236}">
                <a16:creationId xmlns:a16="http://schemas.microsoft.com/office/drawing/2014/main" id="{C8D1C33D-1F50-487F-AF1B-D4870298C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12068"/>
            <a:ext cx="6934200" cy="609600"/>
          </a:xfrm>
          <a:prstGeom prst="rect">
            <a:avLst/>
          </a:prstGeom>
          <a:solidFill>
            <a:srgbClr val="CCFFCC">
              <a:alpha val="56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AAE4134-EAAA-407F-A1F1-CCE346858F4E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212071"/>
            <a:ext cx="6934200" cy="1055688"/>
            <a:chOff x="576" y="3360"/>
            <a:chExt cx="4368" cy="665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12A256EB-CAFE-42B1-8736-DC19F3D761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3360"/>
              <a:ext cx="4368" cy="384"/>
              <a:chOff x="576" y="3360"/>
              <a:chExt cx="4368" cy="384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EAD0BD4-97AE-4C73-987F-0FB290EB2F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3360"/>
                <a:ext cx="384" cy="384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D854054-7B21-43A5-B738-896122D57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3360"/>
                <a:ext cx="1536" cy="384"/>
              </a:xfrm>
              <a:prstGeom prst="rect">
                <a:avLst/>
              </a:prstGeom>
              <a:solidFill>
                <a:srgbClr val="FFCC99">
                  <a:alpha val="49001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15E5B78-7343-47E4-91C5-315F2A7B7B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3360"/>
                <a:ext cx="2448" cy="384"/>
              </a:xfrm>
              <a:prstGeom prst="rect">
                <a:avLst/>
              </a:prstGeom>
              <a:solidFill>
                <a:srgbClr val="99CC00">
                  <a:alpha val="83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" name="Text Box 10">
              <a:extLst>
                <a:ext uri="{FF2B5EF4-FFF2-40B4-BE49-F238E27FC236}">
                  <a16:creationId xmlns:a16="http://schemas.microsoft.com/office/drawing/2014/main" id="{88198F4F-62F1-404C-B539-6BC99C1A37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792"/>
              <a:ext cx="163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0" i="1" dirty="0">
                  <a:solidFill>
                    <a:srgbClr val="0B1196"/>
                  </a:solidFill>
                </a:rPr>
                <a:t>p = A[m]: </a:t>
              </a:r>
              <a:r>
                <a:rPr lang="en-US" altLang="en-US" b="0" dirty="0"/>
                <a:t>pivot</a:t>
              </a:r>
            </a:p>
          </p:txBody>
        </p:sp>
      </p:grpSp>
      <p:sp>
        <p:nvSpPr>
          <p:cNvPr id="11" name="Text Box 11">
            <a:extLst>
              <a:ext uri="{FF2B5EF4-FFF2-40B4-BE49-F238E27FC236}">
                <a16:creationId xmlns:a16="http://schemas.microsoft.com/office/drawing/2014/main" id="{79648F62-4522-405E-AB16-5FFA448766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4659868"/>
            <a:ext cx="2362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 dirty="0"/>
              <a:t>Case 1: </a:t>
            </a:r>
            <a:r>
              <a:rPr lang="en-US" altLang="en-US" i="1" dirty="0">
                <a:solidFill>
                  <a:srgbClr val="0B1196"/>
                </a:solidFill>
              </a:rPr>
              <a:t>k</a:t>
            </a:r>
            <a:r>
              <a:rPr lang="en-US" altLang="en-US" b="0" i="1" dirty="0">
                <a:solidFill>
                  <a:srgbClr val="0B1196"/>
                </a:solidFill>
              </a:rPr>
              <a:t> = m</a:t>
            </a: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38BC68EB-6568-42CE-B52F-2192A429D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498068"/>
            <a:ext cx="2362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 dirty="0"/>
              <a:t>return  </a:t>
            </a:r>
            <a:r>
              <a:rPr lang="en-US" altLang="en-US" b="0" i="1" dirty="0">
                <a:solidFill>
                  <a:srgbClr val="0B1196"/>
                </a:solidFill>
              </a:rPr>
              <a:t>A[m]</a:t>
            </a:r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229204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utoUpdateAnimBg="0"/>
      <p:bldP spid="1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15A20-20B2-4D04-8DE6-0751A7D04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 of </a:t>
            </a:r>
            <a:r>
              <a:rPr lang="en-US" dirty="0" err="1"/>
              <a:t>QuickSelect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D8646B-05EB-4777-AE5B-B92DB09FB7E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Imagine we are given </a:t>
                </a:r>
                <a:r>
                  <a:rPr lang="en-US" dirty="0">
                    <a:solidFill>
                      <a:srgbClr val="0B0E8F"/>
                    </a:solidFill>
                  </a:rPr>
                  <a:t>Partition </a:t>
                </a:r>
                <a:r>
                  <a:rPr lang="en-US" dirty="0"/>
                  <a:t>procedure.  </a:t>
                </a:r>
              </a:p>
              <a:p>
                <a:r>
                  <a:rPr lang="en-US" dirty="0" err="1"/>
                  <a:t>QuickSelect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1,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)  </a:t>
                </a:r>
              </a:p>
              <a:p>
                <a:pPr lvl="1"/>
                <a:r>
                  <a:rPr lang="en-US" dirty="0"/>
                  <a:t>call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= Partition(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1,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)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D8646B-05EB-4777-AE5B-B92DB09FB7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10">
            <a:extLst>
              <a:ext uri="{FF2B5EF4-FFF2-40B4-BE49-F238E27FC236}">
                <a16:creationId xmlns:a16="http://schemas.microsoft.com/office/drawing/2014/main" id="{7174E50F-61DB-4E84-850A-1D503AA86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495800"/>
            <a:ext cx="2362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 dirty="0"/>
              <a:t>Case 2: </a:t>
            </a:r>
            <a:r>
              <a:rPr lang="en-US" altLang="en-US" i="1" dirty="0">
                <a:solidFill>
                  <a:srgbClr val="0B1196"/>
                </a:solidFill>
              </a:rPr>
              <a:t>k</a:t>
            </a:r>
            <a:r>
              <a:rPr lang="en-US" altLang="en-US" b="0" i="1" dirty="0">
                <a:solidFill>
                  <a:srgbClr val="0B1196"/>
                </a:solidFill>
              </a:rPr>
              <a:t> &lt; m</a:t>
            </a: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2553450A-527C-4912-A6CB-F86047EB0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5410200"/>
            <a:ext cx="5181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 dirty="0"/>
              <a:t>return  </a:t>
            </a:r>
            <a:r>
              <a:rPr lang="en-US" altLang="en-US" b="0" dirty="0" err="1"/>
              <a:t>QuickSelect</a:t>
            </a:r>
            <a:r>
              <a:rPr lang="en-US" altLang="en-US" b="0" dirty="0"/>
              <a:t> </a:t>
            </a:r>
            <a:r>
              <a:rPr lang="en-US" altLang="en-US" b="0" i="1" dirty="0">
                <a:solidFill>
                  <a:srgbClr val="0B1196"/>
                </a:solidFill>
              </a:rPr>
              <a:t>(</a:t>
            </a:r>
            <a:r>
              <a:rPr lang="en-US" altLang="en-US" b="0" dirty="0"/>
              <a:t> </a:t>
            </a:r>
            <a:r>
              <a:rPr lang="en-US" altLang="en-US" b="0" i="1" dirty="0">
                <a:solidFill>
                  <a:srgbClr val="0B1196"/>
                </a:solidFill>
              </a:rPr>
              <a:t>A, 1, </a:t>
            </a:r>
            <a:r>
              <a:rPr lang="en-US" altLang="en-US" i="1" dirty="0">
                <a:solidFill>
                  <a:srgbClr val="0B1196"/>
                </a:solidFill>
              </a:rPr>
              <a:t>m-1</a:t>
            </a:r>
            <a:r>
              <a:rPr lang="en-US" altLang="en-US" b="0" dirty="0"/>
              <a:t>,  </a:t>
            </a:r>
            <a:r>
              <a:rPr lang="en-US" altLang="en-US" b="0" i="1" dirty="0">
                <a:solidFill>
                  <a:srgbClr val="0B1196"/>
                </a:solidFill>
              </a:rPr>
              <a:t>k )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B65619C4-73D3-4F87-ADC3-538702402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12068"/>
            <a:ext cx="6934200" cy="609600"/>
          </a:xfrm>
          <a:prstGeom prst="rect">
            <a:avLst/>
          </a:prstGeom>
          <a:solidFill>
            <a:srgbClr val="CCFFCC">
              <a:alpha val="56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6" name="Group 5">
            <a:extLst>
              <a:ext uri="{FF2B5EF4-FFF2-40B4-BE49-F238E27FC236}">
                <a16:creationId xmlns:a16="http://schemas.microsoft.com/office/drawing/2014/main" id="{124EF037-33FB-435F-9E28-743205339C76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212071"/>
            <a:ext cx="6934200" cy="1055688"/>
            <a:chOff x="576" y="3360"/>
            <a:chExt cx="4368" cy="665"/>
          </a:xfrm>
        </p:grpSpPr>
        <p:grpSp>
          <p:nvGrpSpPr>
            <p:cNvPr id="17" name="Group 6">
              <a:extLst>
                <a:ext uri="{FF2B5EF4-FFF2-40B4-BE49-F238E27FC236}">
                  <a16:creationId xmlns:a16="http://schemas.microsoft.com/office/drawing/2014/main" id="{5BC0D5FC-865C-4A47-A319-6D9E928A6D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3360"/>
              <a:ext cx="4368" cy="384"/>
              <a:chOff x="576" y="3360"/>
              <a:chExt cx="4368" cy="384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EEE2A5D-F510-4354-AC65-AB35F2EC26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3360"/>
                <a:ext cx="384" cy="384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5616795-10A0-4B8D-BCAD-ACD4E5E71F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3360"/>
                <a:ext cx="1536" cy="384"/>
              </a:xfrm>
              <a:prstGeom prst="rect">
                <a:avLst/>
              </a:prstGeom>
              <a:solidFill>
                <a:srgbClr val="FFCC99">
                  <a:alpha val="49001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5EFC04-F6E8-4585-8170-BB6124C25C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3360"/>
                <a:ext cx="2448" cy="384"/>
              </a:xfrm>
              <a:prstGeom prst="rect">
                <a:avLst/>
              </a:prstGeom>
              <a:solidFill>
                <a:srgbClr val="99CC00">
                  <a:alpha val="83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" name="Text Box 10">
              <a:extLst>
                <a:ext uri="{FF2B5EF4-FFF2-40B4-BE49-F238E27FC236}">
                  <a16:creationId xmlns:a16="http://schemas.microsoft.com/office/drawing/2014/main" id="{3EEAE36F-ECC0-4BCA-986B-2B46987168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792"/>
              <a:ext cx="163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0" i="1" dirty="0">
                  <a:solidFill>
                    <a:srgbClr val="0B1196"/>
                  </a:solidFill>
                </a:rPr>
                <a:t>p = A[r]: </a:t>
              </a:r>
              <a:r>
                <a:rPr lang="en-US" altLang="en-US" b="0" dirty="0"/>
                <a:t>pivot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292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15A20-20B2-4D04-8DE6-0751A7D04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 of </a:t>
            </a:r>
            <a:r>
              <a:rPr lang="en-US" dirty="0" err="1"/>
              <a:t>QuickSelect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D8646B-05EB-4777-AE5B-B92DB09FB7E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Imagine we are given </a:t>
                </a:r>
                <a:r>
                  <a:rPr lang="en-US" dirty="0">
                    <a:solidFill>
                      <a:srgbClr val="0B0E8F"/>
                    </a:solidFill>
                  </a:rPr>
                  <a:t>Partition </a:t>
                </a:r>
                <a:r>
                  <a:rPr lang="en-US" dirty="0"/>
                  <a:t>procedure.  </a:t>
                </a:r>
              </a:p>
              <a:p>
                <a:r>
                  <a:rPr lang="en-US" dirty="0" err="1"/>
                  <a:t>QuickSelect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1,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)  </a:t>
                </a:r>
              </a:p>
              <a:p>
                <a:pPr lvl="1"/>
                <a:r>
                  <a:rPr lang="en-US" dirty="0"/>
                  <a:t>call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= Partition(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1,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)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D8646B-05EB-4777-AE5B-B92DB09FB7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4">
            <a:extLst>
              <a:ext uri="{FF2B5EF4-FFF2-40B4-BE49-F238E27FC236}">
                <a16:creationId xmlns:a16="http://schemas.microsoft.com/office/drawing/2014/main" id="{B65619C4-73D3-4F87-ADC3-538702402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12068"/>
            <a:ext cx="6934200" cy="609600"/>
          </a:xfrm>
          <a:prstGeom prst="rect">
            <a:avLst/>
          </a:prstGeom>
          <a:solidFill>
            <a:srgbClr val="CCFFCC">
              <a:alpha val="56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6" name="Group 5">
            <a:extLst>
              <a:ext uri="{FF2B5EF4-FFF2-40B4-BE49-F238E27FC236}">
                <a16:creationId xmlns:a16="http://schemas.microsoft.com/office/drawing/2014/main" id="{124EF037-33FB-435F-9E28-743205339C76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212071"/>
            <a:ext cx="6934200" cy="1055688"/>
            <a:chOff x="576" y="3360"/>
            <a:chExt cx="4368" cy="665"/>
          </a:xfrm>
        </p:grpSpPr>
        <p:grpSp>
          <p:nvGrpSpPr>
            <p:cNvPr id="17" name="Group 6">
              <a:extLst>
                <a:ext uri="{FF2B5EF4-FFF2-40B4-BE49-F238E27FC236}">
                  <a16:creationId xmlns:a16="http://schemas.microsoft.com/office/drawing/2014/main" id="{5BC0D5FC-865C-4A47-A319-6D9E928A6D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3360"/>
              <a:ext cx="4368" cy="384"/>
              <a:chOff x="576" y="3360"/>
              <a:chExt cx="4368" cy="384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EEE2A5D-F510-4354-AC65-AB35F2EC26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3360"/>
                <a:ext cx="384" cy="384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5616795-10A0-4B8D-BCAD-ACD4E5E71F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3360"/>
                <a:ext cx="1536" cy="384"/>
              </a:xfrm>
              <a:prstGeom prst="rect">
                <a:avLst/>
              </a:prstGeom>
              <a:solidFill>
                <a:srgbClr val="FFCC99">
                  <a:alpha val="49001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5EFC04-F6E8-4585-8170-BB6124C25C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3360"/>
                <a:ext cx="2448" cy="384"/>
              </a:xfrm>
              <a:prstGeom prst="rect">
                <a:avLst/>
              </a:prstGeom>
              <a:solidFill>
                <a:srgbClr val="99CC00">
                  <a:alpha val="83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" name="Text Box 10">
              <a:extLst>
                <a:ext uri="{FF2B5EF4-FFF2-40B4-BE49-F238E27FC236}">
                  <a16:creationId xmlns:a16="http://schemas.microsoft.com/office/drawing/2014/main" id="{3EEAE36F-ECC0-4BCA-986B-2B46987168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792"/>
              <a:ext cx="163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0" i="1" dirty="0">
                  <a:solidFill>
                    <a:srgbClr val="0B1196"/>
                  </a:solidFill>
                </a:rPr>
                <a:t>p = A[r]: </a:t>
              </a:r>
              <a:r>
                <a:rPr lang="en-US" altLang="en-US" b="0" dirty="0"/>
                <a:t>pivot</a:t>
              </a:r>
            </a:p>
          </p:txBody>
        </p:sp>
      </p:grpSp>
      <p:sp>
        <p:nvSpPr>
          <p:cNvPr id="22" name="Text Box 9">
            <a:extLst>
              <a:ext uri="{FF2B5EF4-FFF2-40B4-BE49-F238E27FC236}">
                <a16:creationId xmlns:a16="http://schemas.microsoft.com/office/drawing/2014/main" id="{1A2ABACB-B0C0-48D8-A6E6-0A0DF2579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572000"/>
            <a:ext cx="2362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 dirty="0"/>
              <a:t>Case 3: </a:t>
            </a:r>
            <a:r>
              <a:rPr lang="en-US" altLang="en-US" i="1" dirty="0">
                <a:solidFill>
                  <a:srgbClr val="0B1196"/>
                </a:solidFill>
              </a:rPr>
              <a:t>k</a:t>
            </a:r>
            <a:r>
              <a:rPr lang="en-US" altLang="en-US" b="0" i="1" dirty="0">
                <a:solidFill>
                  <a:srgbClr val="0B1196"/>
                </a:solidFill>
              </a:rPr>
              <a:t> &gt; m</a:t>
            </a:r>
          </a:p>
        </p:txBody>
      </p:sp>
      <p:sp>
        <p:nvSpPr>
          <p:cNvPr id="23" name="Text Box 10">
            <a:extLst>
              <a:ext uri="{FF2B5EF4-FFF2-40B4-BE49-F238E27FC236}">
                <a16:creationId xmlns:a16="http://schemas.microsoft.com/office/drawing/2014/main" id="{51C622DB-AB13-46C0-AB97-43C600740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486400"/>
            <a:ext cx="5181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0" dirty="0"/>
              <a:t>return  </a:t>
            </a:r>
            <a:r>
              <a:rPr lang="en-US" altLang="en-US" b="0" dirty="0" err="1"/>
              <a:t>QuickSelect</a:t>
            </a:r>
            <a:r>
              <a:rPr lang="en-US" altLang="en-US" b="0" dirty="0"/>
              <a:t> </a:t>
            </a:r>
            <a:r>
              <a:rPr lang="en-US" altLang="en-US" b="0" i="1" dirty="0">
                <a:solidFill>
                  <a:srgbClr val="0B1196"/>
                </a:solidFill>
              </a:rPr>
              <a:t>(</a:t>
            </a:r>
            <a:r>
              <a:rPr lang="en-US" altLang="en-US" b="0" dirty="0"/>
              <a:t> </a:t>
            </a:r>
            <a:r>
              <a:rPr lang="en-US" altLang="en-US" b="0" i="1" dirty="0">
                <a:solidFill>
                  <a:srgbClr val="0B1196"/>
                </a:solidFill>
              </a:rPr>
              <a:t>A, </a:t>
            </a:r>
            <a:r>
              <a:rPr lang="en-US" altLang="en-US" i="1" dirty="0">
                <a:solidFill>
                  <a:srgbClr val="0B1196"/>
                </a:solidFill>
              </a:rPr>
              <a:t>m</a:t>
            </a:r>
            <a:r>
              <a:rPr lang="en-US" altLang="en-US" b="0" i="1" dirty="0">
                <a:solidFill>
                  <a:srgbClr val="0B1196"/>
                </a:solidFill>
              </a:rPr>
              <a:t>+1, n</a:t>
            </a:r>
            <a:r>
              <a:rPr lang="en-US" altLang="en-US" b="0" dirty="0"/>
              <a:t>,</a:t>
            </a:r>
            <a:r>
              <a:rPr lang="en-US" altLang="en-US" b="0" i="1" dirty="0">
                <a:solidFill>
                  <a:srgbClr val="0B0E8F"/>
                </a:solidFill>
              </a:rPr>
              <a:t> k</a:t>
            </a:r>
            <a:r>
              <a:rPr lang="en-US" altLang="en-US" b="0" i="1" dirty="0">
                <a:solidFill>
                  <a:srgbClr val="0B1196"/>
                </a:solidFill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2871936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23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DB5B8-C71E-4D13-9383-F7E7763CE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Pseudo-code for </a:t>
            </a:r>
            <a:r>
              <a:rPr lang="en-US" dirty="0" err="1"/>
              <a:t>QuickSelect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3B951-0CBD-45A3-8E71-58342E29DB4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371600"/>
            <a:ext cx="5638800" cy="4191000"/>
          </a:xfrm>
          <a:ln w="25400"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en-US" sz="2400" b="0" dirty="0" err="1">
                <a:latin typeface="Chalkboard" charset="0"/>
              </a:rPr>
              <a:t>QuickSelect</a:t>
            </a:r>
            <a:r>
              <a:rPr lang="en-US" altLang="en-US" sz="2400" b="0" dirty="0">
                <a:latin typeface="Chalkboard" charset="0"/>
              </a:rPr>
              <a:t> ( A, s, t, k )</a:t>
            </a:r>
          </a:p>
          <a:p>
            <a:pPr marL="0" indent="0">
              <a:buNone/>
            </a:pPr>
            <a:r>
              <a:rPr lang="en-US" altLang="en-US" sz="2400" b="0" dirty="0">
                <a:latin typeface="Chalkboard" charset="0"/>
              </a:rPr>
              <a:t> </a:t>
            </a:r>
            <a:r>
              <a:rPr lang="en-US" altLang="en-US" sz="18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halkboard" charset="0"/>
              </a:rPr>
              <a:t>/* select the order k element in A from subarray A[</a:t>
            </a:r>
            <a:r>
              <a:rPr lang="en-US" altLang="en-US" sz="18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halkboard" charset="0"/>
              </a:rPr>
              <a:t>s,..t</a:t>
            </a:r>
            <a:r>
              <a:rPr lang="en-US" altLang="en-US" sz="18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halkboard" charset="0"/>
              </a:rPr>
              <a:t>] */  </a:t>
            </a:r>
            <a:endParaRPr lang="en-US" altLang="en-US" sz="800" b="0" dirty="0">
              <a:solidFill>
                <a:schemeClr val="tx1">
                  <a:lumMod val="65000"/>
                  <a:lumOff val="35000"/>
                </a:schemeClr>
              </a:solidFill>
              <a:latin typeface="Chalkboard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Chalkboard" charset="0"/>
              </a:rPr>
              <a:t>if (k &lt; s or k &gt; t) return “</a:t>
            </a:r>
            <a:r>
              <a:rPr lang="en-US" altLang="en-US" sz="2400" dirty="0">
                <a:solidFill>
                  <a:srgbClr val="00B050"/>
                </a:solidFill>
                <a:latin typeface="Chalkboard" charset="0"/>
              </a:rPr>
              <a:t>Out of range</a:t>
            </a:r>
            <a:r>
              <a:rPr lang="en-US" altLang="en-US" sz="2400" dirty="0">
                <a:latin typeface="Chalkboard" charset="0"/>
              </a:rPr>
              <a:t>”; </a:t>
            </a:r>
            <a:r>
              <a:rPr lang="en-US" altLang="en-US" sz="2400" b="0" dirty="0">
                <a:latin typeface="Chalkboard" charset="0"/>
              </a:rPr>
              <a:t>    </a:t>
            </a:r>
          </a:p>
          <a:p>
            <a:pPr marL="0" indent="0">
              <a:buNone/>
            </a:pPr>
            <a:r>
              <a:rPr lang="en-US" altLang="en-US" sz="2400" b="0" dirty="0">
                <a:latin typeface="Chalkboard" charset="0"/>
              </a:rPr>
              <a:t>if ( s = t ) return A[s] ; </a:t>
            </a:r>
          </a:p>
          <a:p>
            <a:pPr marL="0" indent="0">
              <a:buNone/>
            </a:pPr>
            <a:r>
              <a:rPr lang="en-US" altLang="en-US" sz="2400" b="0" dirty="0">
                <a:latin typeface="Chalkboard" charset="0"/>
              </a:rPr>
              <a:t>    m   = Partition ( A, s, t );   </a:t>
            </a:r>
          </a:p>
          <a:p>
            <a:pPr marL="0" indent="0">
              <a:buNone/>
            </a:pPr>
            <a:r>
              <a:rPr lang="en-US" altLang="en-US" sz="2400" b="0" dirty="0">
                <a:latin typeface="Chalkboard" charset="0"/>
              </a:rPr>
              <a:t>    if ( m = k)  return A[m]; </a:t>
            </a:r>
          </a:p>
          <a:p>
            <a:pPr marL="0" indent="0">
              <a:buNone/>
            </a:pPr>
            <a:r>
              <a:rPr lang="en-US" altLang="en-US" sz="2400" b="0" dirty="0">
                <a:latin typeface="Chalkboard" charset="0"/>
              </a:rPr>
              <a:t>    if ( m &gt; k )</a:t>
            </a:r>
          </a:p>
          <a:p>
            <a:pPr marL="0" indent="0">
              <a:buNone/>
            </a:pPr>
            <a:r>
              <a:rPr lang="en-US" altLang="en-US" sz="2400" b="0" dirty="0">
                <a:latin typeface="Chalkboard" charset="0"/>
              </a:rPr>
              <a:t>          return </a:t>
            </a:r>
            <a:r>
              <a:rPr lang="en-US" altLang="en-US" sz="2400" b="0" dirty="0" err="1">
                <a:latin typeface="Chalkboard" charset="0"/>
              </a:rPr>
              <a:t>QuickSelect</a:t>
            </a:r>
            <a:r>
              <a:rPr lang="en-US" altLang="en-US" sz="2400" b="0" dirty="0">
                <a:latin typeface="Chalkboard" charset="0"/>
              </a:rPr>
              <a:t> ( A, s, m-1, k );</a:t>
            </a:r>
          </a:p>
          <a:p>
            <a:pPr marL="0" indent="0">
              <a:buNone/>
            </a:pPr>
            <a:r>
              <a:rPr lang="en-US" altLang="en-US" sz="2400" b="0" dirty="0">
                <a:latin typeface="Chalkboard" charset="0"/>
              </a:rPr>
              <a:t>    else  return </a:t>
            </a:r>
            <a:r>
              <a:rPr lang="en-US" altLang="en-US" sz="2400" b="0" dirty="0" err="1">
                <a:latin typeface="Chalkboard" charset="0"/>
              </a:rPr>
              <a:t>QuickSelect</a:t>
            </a:r>
            <a:r>
              <a:rPr lang="en-US" altLang="en-US" sz="2400" b="0" dirty="0">
                <a:latin typeface="Chalkboard" charset="0"/>
              </a:rPr>
              <a:t> ( A, m+1, t, k ); 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6C6AA4-CAEB-4AA0-907F-A2EC3C184E4A}"/>
              </a:ext>
            </a:extLst>
          </p:cNvPr>
          <p:cNvSpPr txBox="1"/>
          <p:nvPr/>
        </p:nvSpPr>
        <p:spPr>
          <a:xfrm>
            <a:off x="457200" y="5867400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the top level, we call </a:t>
            </a:r>
            <a:r>
              <a:rPr lang="en-US" dirty="0" err="1"/>
              <a:t>QuickSelect</a:t>
            </a:r>
            <a:r>
              <a:rPr lang="en-US" dirty="0"/>
              <a:t>(A, 1, n, k) </a:t>
            </a:r>
          </a:p>
        </p:txBody>
      </p:sp>
    </p:spTree>
    <p:extLst>
      <p:ext uri="{BB962C8B-B14F-4D97-AF65-F5344CB8AC3E}">
        <p14:creationId xmlns:p14="http://schemas.microsoft.com/office/powerpoint/2010/main" val="3695596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Time Complexity Analysis</a:t>
            </a:r>
          </a:p>
        </p:txBody>
      </p:sp>
    </p:spTree>
    <p:extLst>
      <p:ext uri="{BB962C8B-B14F-4D97-AF65-F5344CB8AC3E}">
        <p14:creationId xmlns:p14="http://schemas.microsoft.com/office/powerpoint/2010/main" val="40525614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DB5B8-C71E-4D13-9383-F7E7763CE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Pseudo-code for </a:t>
            </a:r>
            <a:r>
              <a:rPr lang="en-US" dirty="0" err="1"/>
              <a:t>QuickSelect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FB45BB-8DD7-47B9-91F0-D75CFA8D227B}"/>
                  </a:ext>
                </a:extLst>
              </p:cNvPr>
              <p:cNvSpPr txBox="1"/>
              <p:nvPr/>
            </p:nvSpPr>
            <p:spPr>
              <a:xfrm>
                <a:off x="457200" y="5498068"/>
                <a:ext cx="6019800" cy="815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At the top level, we call </a:t>
                </a:r>
                <a:r>
                  <a:rPr lang="en-US" dirty="0" err="1"/>
                  <a:t>QuickSelect</a:t>
                </a:r>
                <a:r>
                  <a:rPr lang="en-US" dirty="0"/>
                  <a:t>(A, 1, n, k). </a:t>
                </a:r>
              </a:p>
              <a:p>
                <a:r>
                  <a:rPr lang="en-US" sz="11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m:rPr>
                          <m:sty m:val="p"/>
                        </m:rPr>
                        <a:rPr lang="en-US" i="1" dirty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−1),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)) + 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𝑐𝑛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FB45BB-8DD7-47B9-91F0-D75CFA8D2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498068"/>
                <a:ext cx="6019800" cy="815608"/>
              </a:xfrm>
              <a:prstGeom prst="rect">
                <a:avLst/>
              </a:prstGeom>
              <a:blipFill>
                <a:blip r:embed="rId2"/>
                <a:stretch>
                  <a:fillRect l="-810" t="-4478" b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597365-0CC2-4AFE-8C1B-FDEA07C39BE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2ECABB-B312-426F-AF3E-7171B20CC65B}"/>
              </a:ext>
            </a:extLst>
          </p:cNvPr>
          <p:cNvSpPr txBox="1">
            <a:spLocks/>
          </p:cNvSpPr>
          <p:nvPr/>
        </p:nvSpPr>
        <p:spPr bwMode="auto">
          <a:xfrm>
            <a:off x="457200" y="1295400"/>
            <a:ext cx="5638800" cy="4191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itchFamily="2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itchFamily="18" charset="2"/>
              <a:buNone/>
            </a:pPr>
            <a:r>
              <a:rPr lang="en-US" altLang="en-US" sz="2400" dirty="0" err="1">
                <a:latin typeface="Chalkboard" charset="0"/>
              </a:rPr>
              <a:t>QuickSelect</a:t>
            </a:r>
            <a:r>
              <a:rPr lang="en-US" altLang="en-US" sz="2400" dirty="0">
                <a:latin typeface="Chalkboard" charset="0"/>
              </a:rPr>
              <a:t> ( A, s, t, k )</a:t>
            </a:r>
          </a:p>
          <a:p>
            <a:pPr marL="0" indent="0">
              <a:buFont typeface="Wingdings 3" pitchFamily="18" charset="2"/>
              <a:buNone/>
            </a:pPr>
            <a:r>
              <a:rPr lang="en-US" altLang="en-US" sz="2400" dirty="0">
                <a:latin typeface="Chalkboard" charset="0"/>
              </a:rPr>
              <a:t> 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halkboard" charset="0"/>
              </a:rPr>
              <a:t>/* select the order k element in A from subarray A[</a:t>
            </a:r>
            <a:r>
              <a:rPr lang="en-US" alt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halkboard" charset="0"/>
              </a:rPr>
              <a:t>s,..t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halkboard" charset="0"/>
              </a:rPr>
              <a:t>] */  </a:t>
            </a:r>
            <a:endParaRPr lang="en-US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Chalkboard" charset="0"/>
            </a:endParaRPr>
          </a:p>
          <a:p>
            <a:pPr marL="0" indent="0">
              <a:buFont typeface="Wingdings 3" pitchFamily="18" charset="2"/>
              <a:buNone/>
            </a:pPr>
            <a:r>
              <a:rPr lang="en-US" altLang="en-US" sz="2400" dirty="0">
                <a:latin typeface="Chalkboard" charset="0"/>
              </a:rPr>
              <a:t>if (k &lt; s or k &gt; t) return “</a:t>
            </a:r>
            <a:r>
              <a:rPr lang="en-US" altLang="en-US" sz="2400" dirty="0">
                <a:solidFill>
                  <a:srgbClr val="00B050"/>
                </a:solidFill>
                <a:latin typeface="Chalkboard" charset="0"/>
              </a:rPr>
              <a:t>Out of range</a:t>
            </a:r>
            <a:r>
              <a:rPr lang="en-US" altLang="en-US" sz="2400" dirty="0">
                <a:latin typeface="Chalkboard" charset="0"/>
              </a:rPr>
              <a:t>”;     </a:t>
            </a:r>
          </a:p>
          <a:p>
            <a:pPr marL="0" indent="0">
              <a:buFont typeface="Wingdings 3" pitchFamily="18" charset="2"/>
              <a:buNone/>
            </a:pPr>
            <a:r>
              <a:rPr lang="en-US" altLang="en-US" sz="2400" dirty="0">
                <a:latin typeface="Chalkboard" charset="0"/>
              </a:rPr>
              <a:t>if ( s = t ) return A[s] ; </a:t>
            </a:r>
          </a:p>
          <a:p>
            <a:pPr marL="0" indent="0">
              <a:buFont typeface="Wingdings 3" pitchFamily="18" charset="2"/>
              <a:buNone/>
            </a:pPr>
            <a:r>
              <a:rPr lang="en-US" altLang="en-US" sz="2400" dirty="0">
                <a:latin typeface="Chalkboard" charset="0"/>
              </a:rPr>
              <a:t>    m   = Partition ( A, s, t );   </a:t>
            </a:r>
          </a:p>
          <a:p>
            <a:pPr marL="0" indent="0">
              <a:buFont typeface="Wingdings 3" pitchFamily="18" charset="2"/>
              <a:buNone/>
            </a:pPr>
            <a:r>
              <a:rPr lang="en-US" altLang="en-US" sz="2400" dirty="0">
                <a:latin typeface="Chalkboard" charset="0"/>
              </a:rPr>
              <a:t>    if ( m = k)  return A[m]; </a:t>
            </a:r>
          </a:p>
          <a:p>
            <a:pPr marL="0" indent="0">
              <a:buFont typeface="Wingdings 3" pitchFamily="18" charset="2"/>
              <a:buNone/>
            </a:pPr>
            <a:r>
              <a:rPr lang="en-US" altLang="en-US" sz="2400" dirty="0">
                <a:latin typeface="Chalkboard" charset="0"/>
              </a:rPr>
              <a:t>    if ( m &gt; k )</a:t>
            </a:r>
          </a:p>
          <a:p>
            <a:pPr marL="0" indent="0">
              <a:buFont typeface="Wingdings 3" pitchFamily="18" charset="2"/>
              <a:buNone/>
            </a:pPr>
            <a:r>
              <a:rPr lang="en-US" altLang="en-US" sz="2400" dirty="0">
                <a:latin typeface="Chalkboard" charset="0"/>
              </a:rPr>
              <a:t>          return </a:t>
            </a:r>
            <a:r>
              <a:rPr lang="en-US" altLang="en-US" sz="2400" dirty="0" err="1">
                <a:latin typeface="Chalkboard" charset="0"/>
              </a:rPr>
              <a:t>QuickSelect</a:t>
            </a:r>
            <a:r>
              <a:rPr lang="en-US" altLang="en-US" sz="2400" dirty="0">
                <a:latin typeface="Chalkboard" charset="0"/>
              </a:rPr>
              <a:t> ( A, s, m-1, k );</a:t>
            </a:r>
          </a:p>
          <a:p>
            <a:pPr marL="0" indent="0">
              <a:buFont typeface="Wingdings 3" pitchFamily="18" charset="2"/>
              <a:buNone/>
            </a:pPr>
            <a:r>
              <a:rPr lang="en-US" altLang="en-US" sz="2400" dirty="0">
                <a:latin typeface="Chalkboard" charset="0"/>
              </a:rPr>
              <a:t>    else  return </a:t>
            </a:r>
            <a:r>
              <a:rPr lang="en-US" altLang="en-US" sz="2400" dirty="0" err="1">
                <a:latin typeface="Chalkboard" charset="0"/>
              </a:rPr>
              <a:t>QuickSelect</a:t>
            </a:r>
            <a:r>
              <a:rPr lang="en-US" altLang="en-US" sz="2400" dirty="0">
                <a:latin typeface="Chalkboard" charset="0"/>
              </a:rPr>
              <a:t> ( A, m+1, t, k );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7680A-E823-431C-8899-86B5D59CF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E44799-26B1-4570-9017-91FE8F2BAEF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i="0" dirty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400" i="1" dirty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000" dirty="0"/>
                  <a:t>Depending on value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, recursively. </a:t>
                </a:r>
              </a:p>
              <a:p>
                <a:pPr lvl="1"/>
                <a:endParaRPr lang="en-US" sz="2000" dirty="0"/>
              </a:p>
              <a:p>
                <a:r>
                  <a:rPr lang="en-US" sz="2400" dirty="0"/>
                  <a:t>Best case: </a:t>
                </a:r>
              </a:p>
              <a:p>
                <a:pPr lvl="1"/>
                <a:r>
                  <a:rPr lang="en-US" sz="2000" dirty="0"/>
                  <a:t>Each time we remove half of the numbers</a:t>
                </a:r>
              </a:p>
              <a:p>
                <a:pPr lvl="2"/>
                <a:r>
                  <a:rPr lang="en-US" sz="1800" dirty="0"/>
                  <a:t>we cannot do better, why?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/>
              </a:p>
              <a:p>
                <a:pPr marL="274638" lvl="1" indent="0">
                  <a:buNone/>
                </a:pPr>
                <a:r>
                  <a:rPr lang="en-US" sz="2000" b="0" dirty="0"/>
                  <a:t>   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E44799-26B1-4570-9017-91FE8F2BA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5482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7680A-E823-431C-8899-86B5D59CF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E44799-26B1-4570-9017-91FE8F2BAEF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i="0" dirty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400" i="1" dirty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000" dirty="0"/>
                  <a:t>Depending on value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, recursively. </a:t>
                </a:r>
              </a:p>
              <a:p>
                <a:pPr lvl="1"/>
                <a:endParaRPr lang="en-US" sz="2000" dirty="0"/>
              </a:p>
              <a:p>
                <a:r>
                  <a:rPr lang="en-US" sz="2400" dirty="0"/>
                  <a:t>Worst case: </a:t>
                </a:r>
              </a:p>
              <a:p>
                <a:pPr lvl="1"/>
                <a:r>
                  <a:rPr lang="en-US" sz="2000" dirty="0"/>
                  <a:t>Each time we can only remove one number</a:t>
                </a:r>
              </a:p>
              <a:p>
                <a:pPr lvl="2"/>
                <a:r>
                  <a:rPr lang="en-US" sz="1800" dirty="0"/>
                  <a:t>say,  the target order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 , while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800" dirty="0"/>
                  <a:t> each time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/>
              </a:p>
              <a:p>
                <a:pPr marL="274638" lvl="1" indent="0">
                  <a:buNone/>
                </a:pPr>
                <a:r>
                  <a:rPr lang="en-US" sz="2000" b="0" dirty="0"/>
                  <a:t>   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000" b="0" dirty="0"/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E44799-26B1-4570-9017-91FE8F2BA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703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BE8D2-912D-4DD5-9D1B-B509718E9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5F62A8-1AB7-4B3C-8180-6C26D8605EC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How to ensure we mostly have “good cases”? </a:t>
                </a:r>
                <a:endParaRPr lang="en-US" sz="1100" dirty="0"/>
              </a:p>
              <a:p>
                <a:r>
                  <a:rPr lang="en-US" sz="2400" dirty="0">
                    <a:solidFill>
                      <a:srgbClr val="00B050"/>
                    </a:solidFill>
                  </a:rPr>
                  <a:t>Good </a:t>
                </a:r>
                <a:r>
                  <a:rPr lang="en-US" sz="2400" dirty="0"/>
                  <a:t>split: </a:t>
                </a:r>
              </a:p>
              <a:p>
                <a:pPr lvl="1"/>
                <a:r>
                  <a:rPr lang="en-US" sz="2000" dirty="0"/>
                  <a:t>The pivot splits the current subarray in a balanced way (a constant fraction is on each side)</a:t>
                </a:r>
              </a:p>
              <a:p>
                <a:r>
                  <a:rPr lang="en-US" sz="2400" dirty="0">
                    <a:solidFill>
                      <a:srgbClr val="700000"/>
                    </a:solidFill>
                  </a:rPr>
                  <a:t>Bad</a:t>
                </a:r>
                <a:r>
                  <a:rPr lang="en-US" sz="2400" dirty="0"/>
                  <a:t> split: </a:t>
                </a:r>
              </a:p>
              <a:p>
                <a:pPr lvl="1"/>
                <a:r>
                  <a:rPr lang="en-US" sz="2000" dirty="0"/>
                  <a:t>Otherwise </a:t>
                </a:r>
              </a:p>
              <a:p>
                <a:pPr lvl="8"/>
                <a:endParaRPr lang="en-US" sz="1100" dirty="0"/>
              </a:p>
              <a:p>
                <a:r>
                  <a:rPr lang="en-US" sz="2400" dirty="0"/>
                  <a:t>Roughly speaking, if we always have good split, then we have that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400" dirty="0"/>
                  <a:t>In fact, this can be relaxed to that if we can have one good split every few (constant number of) splits on average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5F62A8-1AB7-4B3C-8180-6C26D8605E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988" r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C8474B1-BAA7-418C-ACEA-918D55CD3CDD}"/>
              </a:ext>
            </a:extLst>
          </p:cNvPr>
          <p:cNvSpPr/>
          <p:nvPr/>
        </p:nvSpPr>
        <p:spPr>
          <a:xfrm>
            <a:off x="1905000" y="5890260"/>
            <a:ext cx="5562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How to ensure that this happens? </a:t>
            </a:r>
          </a:p>
        </p:txBody>
      </p:sp>
    </p:spTree>
    <p:extLst>
      <p:ext uri="{BB962C8B-B14F-4D97-AF65-F5344CB8AC3E}">
        <p14:creationId xmlns:p14="http://schemas.microsoft.com/office/powerpoint/2010/main" val="97702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0644F-F0EC-4E47-9880-14394846C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CDFFDF-70FA-45FB-A579-838E97223592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In other words, when we choose pivot, we hope to choose one whose rank (order) is around the middle </a:t>
                </a:r>
              </a:p>
              <a:p>
                <a:pPr lvl="1"/>
                <a:r>
                  <a:rPr lang="en-US" dirty="0"/>
                  <a:t>Say, between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:endParaRPr lang="en-US" sz="1000" dirty="0"/>
              </a:p>
              <a:p>
                <a:r>
                  <a:rPr lang="en-US" dirty="0"/>
                  <a:t>To guarantee that, </a:t>
                </a:r>
              </a:p>
              <a:p>
                <a:pPr lvl="1"/>
                <a:r>
                  <a:rPr lang="en-US" dirty="0"/>
                  <a:t>Pick a </a:t>
                </a:r>
                <a:r>
                  <a:rPr lang="en-US" dirty="0">
                    <a:solidFill>
                      <a:srgbClr val="700000"/>
                    </a:solidFill>
                  </a:rPr>
                  <a:t>random number</a:t>
                </a:r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as the pivot! </a:t>
                </a:r>
              </a:p>
              <a:p>
                <a:r>
                  <a:rPr lang="en-US" dirty="0"/>
                  <a:t>Why?   </a:t>
                </a:r>
              </a:p>
              <a:p>
                <a:pPr lvl="1"/>
                <a:r>
                  <a:rPr lang="en-US" dirty="0"/>
                  <a:t>If we pick a random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That means that the probability of choose any one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numbers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b="0" dirty="0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Probability </a:t>
                </a:r>
                <a:r>
                  <a:rPr lang="en-US" dirty="0" err="1"/>
                  <a:t>Pr</a:t>
                </a:r>
                <a:r>
                  <a:rPr lang="en-US" dirty="0"/>
                  <a:t>[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𝑟𝑎𝑛𝑘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]=(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)/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=2/4=1/2 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b="0" dirty="0"/>
                  <a:t>Hence in expectation, every two times we will have a good split. </a:t>
                </a:r>
              </a:p>
              <a:p>
                <a:pPr lvl="2"/>
                <a:endParaRPr lang="en-US" b="0" dirty="0"/>
              </a:p>
              <a:p>
                <a:pPr lvl="2"/>
                <a:endParaRPr lang="en-US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CDFFDF-70FA-45FB-A579-838E972235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b="-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3451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81FBF-2A85-4AF5-AD31-0E5A9419F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Rand-Select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A79009E-C5F4-4225-AC4B-543D7532FD4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1"/>
            <a:ext cx="8229600" cy="4114799"/>
          </a:xfrm>
          <a:ln w="25400"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en-US" sz="2400" b="0" dirty="0">
                <a:solidFill>
                  <a:srgbClr val="700000"/>
                </a:solidFill>
                <a:latin typeface="Chalkboard" charset="0"/>
              </a:rPr>
              <a:t>Rand-Select</a:t>
            </a:r>
            <a:r>
              <a:rPr lang="en-US" altLang="en-US" sz="2400" b="0" dirty="0">
                <a:latin typeface="Chalkboard" charset="0"/>
              </a:rPr>
              <a:t> ( A, s, t, k )</a:t>
            </a:r>
          </a:p>
          <a:p>
            <a:pPr marL="0" indent="0">
              <a:buNone/>
            </a:pPr>
            <a:r>
              <a:rPr lang="en-US" altLang="en-US" sz="2400" b="0" dirty="0">
                <a:latin typeface="Chalkboard" charset="0"/>
              </a:rPr>
              <a:t> </a:t>
            </a:r>
            <a:r>
              <a:rPr lang="en-US" altLang="en-US" sz="18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halkboard" charset="0"/>
              </a:rPr>
              <a:t>/* select the order k element in A from subarray A[</a:t>
            </a:r>
            <a:r>
              <a:rPr lang="en-US" altLang="en-US" sz="18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halkboard" charset="0"/>
              </a:rPr>
              <a:t>s,..t</a:t>
            </a:r>
            <a:r>
              <a:rPr lang="en-US" altLang="en-US" sz="18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halkboard" charset="0"/>
              </a:rPr>
              <a:t>] */</a:t>
            </a:r>
          </a:p>
          <a:p>
            <a:pPr marL="0" indent="0">
              <a:buNone/>
            </a:pP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halkboard" charset="0"/>
              </a:rPr>
              <a:t>     </a:t>
            </a:r>
            <a:r>
              <a:rPr lang="en-US" altLang="en-US" sz="2400" dirty="0">
                <a:latin typeface="Chalkboard" charset="0"/>
              </a:rPr>
              <a:t>if (k &lt; s or k &gt; t) return “</a:t>
            </a:r>
            <a:r>
              <a:rPr lang="en-US" altLang="en-US" sz="2400" dirty="0">
                <a:solidFill>
                  <a:srgbClr val="00B050"/>
                </a:solidFill>
                <a:latin typeface="Chalkboard" charset="0"/>
              </a:rPr>
              <a:t>Out of range</a:t>
            </a:r>
            <a:r>
              <a:rPr lang="en-US" altLang="en-US" sz="2400" dirty="0">
                <a:latin typeface="Chalkboard" charset="0"/>
              </a:rPr>
              <a:t>”;   </a:t>
            </a:r>
            <a:endParaRPr lang="en-US" altLang="en-US" sz="2400" b="0" dirty="0">
              <a:latin typeface="Chalkboard" charset="0"/>
            </a:endParaRPr>
          </a:p>
          <a:p>
            <a:pPr marL="0" indent="0">
              <a:buNone/>
            </a:pPr>
            <a:r>
              <a:rPr lang="en-US" altLang="en-US" sz="2400" b="0" dirty="0">
                <a:latin typeface="Chalkboard" charset="0"/>
              </a:rPr>
              <a:t>    if ( s = t ) return A[s] ; </a:t>
            </a:r>
          </a:p>
          <a:p>
            <a:pPr marL="0" indent="0">
              <a:buNone/>
            </a:pPr>
            <a:r>
              <a:rPr lang="en-US" altLang="en-US" sz="2400" b="0" dirty="0">
                <a:latin typeface="Chalkboard" charset="0"/>
              </a:rPr>
              <a:t>    m   = </a:t>
            </a:r>
            <a:r>
              <a:rPr lang="en-US" altLang="en-US" sz="2400" b="0" dirty="0">
                <a:solidFill>
                  <a:srgbClr val="700000"/>
                </a:solidFill>
                <a:latin typeface="Chalkboard" charset="0"/>
              </a:rPr>
              <a:t>Rand-Partition</a:t>
            </a:r>
            <a:r>
              <a:rPr lang="en-US" altLang="en-US" sz="2400" b="0" dirty="0">
                <a:latin typeface="Chalkboard" charset="0"/>
              </a:rPr>
              <a:t> ( A, s, t );   </a:t>
            </a:r>
          </a:p>
          <a:p>
            <a:pPr marL="0" indent="0">
              <a:buNone/>
            </a:pPr>
            <a:r>
              <a:rPr lang="en-US" altLang="en-US" sz="2400" b="0" dirty="0">
                <a:latin typeface="Chalkboard" charset="0"/>
              </a:rPr>
              <a:t>    if ( m = k)  return A[m]; </a:t>
            </a:r>
          </a:p>
          <a:p>
            <a:pPr marL="0" indent="0">
              <a:buNone/>
            </a:pPr>
            <a:r>
              <a:rPr lang="en-US" altLang="en-US" sz="2400" b="0" dirty="0">
                <a:latin typeface="Chalkboard" charset="0"/>
              </a:rPr>
              <a:t>    if ( m &gt; k )</a:t>
            </a:r>
          </a:p>
          <a:p>
            <a:pPr marL="0" indent="0">
              <a:buNone/>
            </a:pPr>
            <a:r>
              <a:rPr lang="en-US" altLang="en-US" sz="2400" b="0" dirty="0">
                <a:latin typeface="Chalkboard" charset="0"/>
              </a:rPr>
              <a:t>          return </a:t>
            </a:r>
            <a:r>
              <a:rPr lang="en-US" altLang="en-US" sz="2400" b="0" dirty="0">
                <a:solidFill>
                  <a:srgbClr val="700000"/>
                </a:solidFill>
                <a:latin typeface="Chalkboard" charset="0"/>
              </a:rPr>
              <a:t>Rand-Select</a:t>
            </a:r>
            <a:r>
              <a:rPr lang="en-US" altLang="en-US" sz="2400" b="0" dirty="0">
                <a:latin typeface="Chalkboard" charset="0"/>
              </a:rPr>
              <a:t> ( A, s, m-1, k );</a:t>
            </a:r>
          </a:p>
          <a:p>
            <a:pPr marL="0" indent="0">
              <a:buNone/>
            </a:pPr>
            <a:r>
              <a:rPr lang="en-US" altLang="en-US" sz="2400" b="0" dirty="0">
                <a:latin typeface="Chalkboard" charset="0"/>
              </a:rPr>
              <a:t>    else  return </a:t>
            </a:r>
            <a:r>
              <a:rPr lang="en-US" altLang="en-US" sz="2400" b="0" dirty="0">
                <a:solidFill>
                  <a:srgbClr val="700000"/>
                </a:solidFill>
                <a:latin typeface="Chalkboard" charset="0"/>
              </a:rPr>
              <a:t>Rand-Select </a:t>
            </a:r>
            <a:r>
              <a:rPr lang="en-US" altLang="en-US" sz="2400" b="0" dirty="0">
                <a:latin typeface="Chalkboard" charset="0"/>
              </a:rPr>
              <a:t>( A, m+1, t, k );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117D55-DEB2-4F85-82CB-A3E0074F98CA}"/>
              </a:ext>
            </a:extLst>
          </p:cNvPr>
          <p:cNvSpPr txBox="1"/>
          <p:nvPr/>
        </p:nvSpPr>
        <p:spPr>
          <a:xfrm>
            <a:off x="457200" y="5486400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700000"/>
                </a:solidFill>
              </a:rPr>
              <a:t>Rand-Partition</a:t>
            </a:r>
            <a:r>
              <a:rPr lang="en-US" sz="2000" dirty="0"/>
              <a:t>(A, s, t) uses a </a:t>
            </a:r>
            <a:r>
              <a:rPr lang="en-US" sz="2000" dirty="0">
                <a:solidFill>
                  <a:srgbClr val="700000"/>
                </a:solidFill>
              </a:rPr>
              <a:t>random element </a:t>
            </a:r>
            <a:r>
              <a:rPr lang="en-US" sz="2000" dirty="0"/>
              <a:t>from A[s, … t] as pivot, instead of using A[t] as pivot like in Partition(A, s, t). </a:t>
            </a:r>
          </a:p>
        </p:txBody>
      </p:sp>
    </p:spTree>
    <p:extLst>
      <p:ext uri="{BB962C8B-B14F-4D97-AF65-F5344CB8AC3E}">
        <p14:creationId xmlns:p14="http://schemas.microsoft.com/office/powerpoint/2010/main" val="26695679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57FB8ED-F5C0-4CAA-A708-F0D6E67E2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59" y="1218248"/>
            <a:ext cx="5284896" cy="5106352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A9FE1A-061B-4293-A069-02CE616E7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Rand-Partition pseudo-code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0E6300-AA97-4EF8-8CC8-88F8E5E72EBB}"/>
              </a:ext>
            </a:extLst>
          </p:cNvPr>
          <p:cNvSpPr/>
          <p:nvPr/>
        </p:nvSpPr>
        <p:spPr>
          <a:xfrm>
            <a:off x="491359" y="1676400"/>
            <a:ext cx="4876800" cy="1143000"/>
          </a:xfrm>
          <a:prstGeom prst="rect">
            <a:avLst/>
          </a:prstGeom>
          <a:solidFill>
            <a:srgbClr val="FF99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857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DFAB5-E24D-4AC5-B17E-66437EF13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time analysis -- intuition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C6A7E5-C994-48E1-B0A8-E5373E49900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5410200"/>
              </a:xfrm>
            </p:spPr>
            <p:txBody>
              <a:bodyPr/>
              <a:lstStyle/>
              <a:p>
                <a:r>
                  <a:rPr lang="en-US" sz="2400" dirty="0"/>
                  <a:t>In expectation, after every constant number of recursive calls, there will be a good split, meaning that the size of the problem will be reduced by a constant fraction</a:t>
                </a:r>
              </a:p>
              <a:p>
                <a:pPr lvl="1"/>
                <a:r>
                  <a:rPr lang="en-US" sz="2000" dirty="0"/>
                  <a:t>Say, the problem becomes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/>
                  <a:t>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/>
                  <a:t> is the previous size </a:t>
                </a:r>
              </a:p>
              <a:p>
                <a:pPr lvl="1"/>
                <a:endParaRPr lang="en-US" sz="2000" dirty="0"/>
              </a:p>
              <a:p>
                <a:r>
                  <a:rPr lang="en-US" sz="2400" dirty="0"/>
                  <a:t>Counting the cost of all good splits, we have that it is at most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𝑔𝑜𝑜𝑑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 …=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 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000" b="0" dirty="0"/>
              </a:p>
              <a:p>
                <a:r>
                  <a:rPr lang="en-US" sz="2400" dirty="0"/>
                  <a:t>As the good split happens with probability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400" dirty="0"/>
              </a:p>
              <a:p>
                <a:pPr lvl="1"/>
                <a:r>
                  <a:rPr lang="en-US" sz="2000" dirty="0"/>
                  <a:t>The expected total cost of all splits is at most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𝑔𝑜𝑜𝑑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C6A7E5-C994-48E1-B0A8-E5373E4990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5410200"/>
              </a:xfrm>
              <a:blipFill>
                <a:blip r:embed="rId2"/>
                <a:stretch>
                  <a:fillRect l="-519" t="-901" r="-1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CFB2087-2EA5-4107-8D79-30DB87005C35}"/>
              </a:ext>
            </a:extLst>
          </p:cNvPr>
          <p:cNvSpPr/>
          <p:nvPr/>
        </p:nvSpPr>
        <p:spPr>
          <a:xfrm>
            <a:off x="1143000" y="5791200"/>
            <a:ext cx="7010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is NOT a precise argument, just intuition. </a:t>
            </a:r>
          </a:p>
          <a:p>
            <a:pPr algn="ctr"/>
            <a:r>
              <a:rPr lang="en-US" dirty="0"/>
              <a:t>This can be made more precise. </a:t>
            </a:r>
          </a:p>
        </p:txBody>
      </p:sp>
    </p:spTree>
    <p:extLst>
      <p:ext uri="{BB962C8B-B14F-4D97-AF65-F5344CB8AC3E}">
        <p14:creationId xmlns:p14="http://schemas.microsoft.com/office/powerpoint/2010/main" val="64923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BB4B3-82E3-406F-95D4-79240528A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161C6E-3ECC-4290-B700-EBF0AE403C7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Randomized version of </a:t>
                </a:r>
                <a:r>
                  <a:rPr lang="en-US" dirty="0" err="1"/>
                  <a:t>QuickSelect</a:t>
                </a:r>
                <a:r>
                  <a:rPr lang="en-US" dirty="0"/>
                  <a:t> runs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expected time</a:t>
                </a:r>
              </a:p>
              <a:p>
                <a:endParaRPr lang="en-US" dirty="0"/>
              </a:p>
              <a:p>
                <a:r>
                  <a:rPr lang="en-US" dirty="0"/>
                  <a:t>In fact, one can perform Select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worst-case time</a:t>
                </a:r>
              </a:p>
              <a:p>
                <a:pPr lvl="1"/>
                <a:r>
                  <a:rPr lang="en-US" dirty="0"/>
                  <a:t>Not covered in this class.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161C6E-3ECC-4290-B700-EBF0AE403C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7484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1219200"/>
          </a:xfrm>
        </p:spPr>
        <p:txBody>
          <a:bodyPr/>
          <a:lstStyle/>
          <a:p>
            <a:pPr algn="ctr"/>
            <a:r>
              <a:rPr lang="en-US" dirty="0"/>
              <a:t>A related topic:</a:t>
            </a:r>
            <a:br>
              <a:rPr lang="en-US" dirty="0"/>
            </a:br>
            <a:r>
              <a:rPr lang="en-US" dirty="0"/>
              <a:t>Randomized </a:t>
            </a:r>
            <a:r>
              <a:rPr lang="en-US" dirty="0" err="1"/>
              <a:t>QuickSort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266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0D03A-CEA5-405D-B710-CDAB35DE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revisited!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BC4FF4-E3A0-4711-A7F9-A6DCD46C981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Previously,  </a:t>
                </a:r>
                <a:r>
                  <a:rPr lang="en-US" dirty="0" err="1"/>
                  <a:t>MergeSort</a:t>
                </a:r>
                <a:endParaRPr lang="en-US" dirty="0"/>
              </a:p>
              <a:p>
                <a:pPr lvl="1" eaLnBrk="1" hangingPunct="1"/>
                <a:r>
                  <a:rPr lang="en-US" altLang="en-US" dirty="0"/>
                  <a:t>Divide and conquer paradigm</a:t>
                </a:r>
              </a:p>
              <a:p>
                <a:pPr lvl="1" eaLnBrk="1" hangingPunct="1"/>
                <a:r>
                  <a:rPr lang="en-US" altLang="en-US" dirty="0"/>
                  <a:t>But </a:t>
                </a:r>
                <a:r>
                  <a:rPr lang="en-US" altLang="en-US" dirty="0">
                    <a:solidFill>
                      <a:srgbClr val="700000"/>
                    </a:solidFill>
                  </a:rPr>
                  <a:t>NOT</a:t>
                </a:r>
                <a:r>
                  <a:rPr lang="en-US" altLang="en-US" dirty="0"/>
                  <a:t> in-place sorting</a:t>
                </a:r>
              </a:p>
              <a:p>
                <a:pPr lvl="1" eaLnBrk="1" hangingPunct="1"/>
                <a:endParaRPr lang="en-US" altLang="en-US" dirty="0"/>
              </a:p>
              <a:p>
                <a:pPr eaLnBrk="1" hangingPunct="1"/>
                <a:r>
                  <a:rPr lang="en-US" altLang="en-US" dirty="0"/>
                  <a:t>Now:  </a:t>
                </a:r>
                <a:r>
                  <a:rPr lang="en-US" altLang="en-US" dirty="0" err="1"/>
                  <a:t>QuickSort</a:t>
                </a:r>
                <a:endParaRPr lang="en-US" altLang="en-US" dirty="0"/>
              </a:p>
              <a:p>
                <a:pPr lvl="1" eaLnBrk="1" hangingPunct="1"/>
                <a:r>
                  <a:rPr lang="en-US" altLang="en-US" dirty="0"/>
                  <a:t>In-place sorting</a:t>
                </a:r>
              </a:p>
              <a:p>
                <a:pPr lvl="1" eaLnBrk="1" hangingPunct="1"/>
                <a:r>
                  <a:rPr lang="en-US" altLang="en-US" dirty="0"/>
                  <a:t>Randomized quicksort:</a:t>
                </a:r>
              </a:p>
              <a:p>
                <a:pPr lvl="2" eaLnBrk="1" hangingPunct="1"/>
                <a:r>
                  <a:rPr lang="en-US" altLang="en-US" dirty="0"/>
                  <a:t>Worst case: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b="0" i="0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en-US" dirty="0"/>
                  <a:t> </a:t>
                </a:r>
              </a:p>
              <a:p>
                <a:pPr lvl="2" eaLnBrk="1" hangingPunct="1"/>
                <a:r>
                  <a:rPr lang="en-US" altLang="en-US" dirty="0"/>
                  <a:t>Expected running time: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/>
                          </a:rPr>
                          <m:t>𝑛</m:t>
                        </m:r>
                        <m:func>
                          <m:func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en-US" b="0" i="0" smtClean="0">
                                <a:latin typeface="Cambria Math"/>
                              </a:rPr>
                              <m:t>lg</m:t>
                            </m:r>
                          </m:fName>
                          <m:e>
                            <m:r>
                              <a:rPr lang="en-US" alt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alt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BC4FF4-E3A0-4711-A7F9-A6DCD46C98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0218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4B98-33F6-4B84-8606-B7779339A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</a:t>
            </a:r>
            <a:r>
              <a:rPr lang="en-US" dirty="0" err="1"/>
              <a:t>MergeSort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E2686-4E1B-4D4B-863C-F7DA46EA4D2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371600"/>
            <a:ext cx="4572000" cy="3429000"/>
          </a:xfrm>
          <a:ln w="22225">
            <a:solidFill>
              <a:schemeClr val="accent1">
                <a:shade val="50000"/>
              </a:schemeClr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en-US" b="0" dirty="0" err="1">
                <a:latin typeface="Chalkboard" charset="0"/>
              </a:rPr>
              <a:t>MergeSort</a:t>
            </a:r>
            <a:r>
              <a:rPr lang="en-US" altLang="en-US" b="0" dirty="0">
                <a:latin typeface="Chalkboard" charset="0"/>
              </a:rPr>
              <a:t> </a:t>
            </a:r>
            <a:r>
              <a:rPr lang="en-US" altLang="en-US" b="0" dirty="0"/>
              <a:t>( </a:t>
            </a:r>
            <a:r>
              <a:rPr lang="en-US" altLang="en-US" b="0" i="1" dirty="0">
                <a:solidFill>
                  <a:srgbClr val="0B1196"/>
                </a:solidFill>
              </a:rPr>
              <a:t>A, r, s </a:t>
            </a:r>
            <a:r>
              <a:rPr lang="en-US" altLang="en-US" b="0" dirty="0"/>
              <a:t>)</a:t>
            </a:r>
          </a:p>
          <a:p>
            <a:pPr marL="0" indent="0">
              <a:buNone/>
            </a:pPr>
            <a:endParaRPr lang="en-US" altLang="en-US" sz="1000" b="0" dirty="0"/>
          </a:p>
          <a:p>
            <a:pPr marL="0" indent="0">
              <a:buNone/>
            </a:pPr>
            <a:r>
              <a:rPr lang="en-US" altLang="en-US" sz="2800" b="0" dirty="0"/>
              <a:t>  if </a:t>
            </a:r>
            <a:r>
              <a:rPr lang="en-US" altLang="en-US" sz="2800" b="0" i="1" dirty="0">
                <a:solidFill>
                  <a:srgbClr val="0B1196"/>
                </a:solidFill>
              </a:rPr>
              <a:t>( r ≥ s)</a:t>
            </a:r>
            <a:r>
              <a:rPr lang="en-US" altLang="en-US" sz="2800" b="0" dirty="0"/>
              <a:t>  return; </a:t>
            </a:r>
          </a:p>
          <a:p>
            <a:pPr marL="0" indent="0">
              <a:buNone/>
            </a:pPr>
            <a:r>
              <a:rPr lang="en-US" altLang="en-US" sz="2400" b="0" dirty="0"/>
              <a:t>   </a:t>
            </a:r>
            <a:r>
              <a:rPr lang="en-US" altLang="en-US" sz="2400" b="0" i="1" dirty="0">
                <a:solidFill>
                  <a:srgbClr val="0B1196"/>
                </a:solidFill>
              </a:rPr>
              <a:t>m  = (</a:t>
            </a:r>
            <a:r>
              <a:rPr lang="en-US" altLang="en-US" sz="2400" b="0" i="1" dirty="0" err="1">
                <a:solidFill>
                  <a:srgbClr val="0B1196"/>
                </a:solidFill>
              </a:rPr>
              <a:t>r+s</a:t>
            </a:r>
            <a:r>
              <a:rPr lang="en-US" altLang="en-US" sz="2400" b="0" i="1" dirty="0">
                <a:solidFill>
                  <a:srgbClr val="0B1196"/>
                </a:solidFill>
              </a:rPr>
              <a:t>) / 2</a:t>
            </a:r>
            <a:r>
              <a:rPr lang="en-US" altLang="en-US" sz="2400" b="0" dirty="0"/>
              <a:t>;</a:t>
            </a:r>
          </a:p>
          <a:p>
            <a:pPr marL="0" indent="0">
              <a:buNone/>
            </a:pPr>
            <a:r>
              <a:rPr lang="en-US" altLang="en-US" sz="2400" b="0" dirty="0"/>
              <a:t>   </a:t>
            </a:r>
            <a:r>
              <a:rPr lang="en-US" altLang="en-US" sz="2400" b="0" i="1" dirty="0">
                <a:solidFill>
                  <a:srgbClr val="0B1196"/>
                </a:solidFill>
              </a:rPr>
              <a:t>A1</a:t>
            </a:r>
            <a:r>
              <a:rPr lang="en-US" altLang="en-US" sz="2400" b="0" dirty="0"/>
              <a:t> = </a:t>
            </a:r>
            <a:r>
              <a:rPr lang="en-US" altLang="en-US" sz="2400" b="0" dirty="0" err="1">
                <a:latin typeface="Chalkboard" charset="0"/>
              </a:rPr>
              <a:t>MergeSort</a:t>
            </a:r>
            <a:r>
              <a:rPr lang="en-US" altLang="en-US" sz="2400" b="0" dirty="0"/>
              <a:t> ( </a:t>
            </a:r>
            <a:r>
              <a:rPr lang="en-US" altLang="en-US" sz="2400" b="0" i="1" dirty="0">
                <a:solidFill>
                  <a:srgbClr val="0B1196"/>
                </a:solidFill>
              </a:rPr>
              <a:t>A, r, m </a:t>
            </a:r>
            <a:r>
              <a:rPr lang="en-US" altLang="en-US" sz="2400" b="0" dirty="0"/>
              <a:t>);</a:t>
            </a:r>
          </a:p>
          <a:p>
            <a:pPr marL="0" indent="0">
              <a:buNone/>
            </a:pPr>
            <a:r>
              <a:rPr lang="en-US" altLang="en-US" sz="2400" b="0" dirty="0"/>
              <a:t>   </a:t>
            </a:r>
            <a:r>
              <a:rPr lang="en-US" altLang="en-US" sz="2400" b="0" i="1" dirty="0">
                <a:solidFill>
                  <a:srgbClr val="0B1196"/>
                </a:solidFill>
              </a:rPr>
              <a:t>A2</a:t>
            </a:r>
            <a:r>
              <a:rPr lang="en-US" altLang="en-US" sz="2400" b="0" dirty="0"/>
              <a:t> = </a:t>
            </a:r>
            <a:r>
              <a:rPr lang="en-US" altLang="en-US" sz="2400" b="0" dirty="0" err="1">
                <a:latin typeface="Chalkboard" charset="0"/>
              </a:rPr>
              <a:t>MergeSort</a:t>
            </a:r>
            <a:r>
              <a:rPr lang="en-US" altLang="en-US" sz="2400" b="0" dirty="0"/>
              <a:t> ( </a:t>
            </a:r>
            <a:r>
              <a:rPr lang="en-US" altLang="en-US" sz="2400" b="0" i="1" dirty="0">
                <a:solidFill>
                  <a:srgbClr val="0B1196"/>
                </a:solidFill>
              </a:rPr>
              <a:t>A, m+1, s </a:t>
            </a:r>
            <a:r>
              <a:rPr lang="en-US" altLang="en-US" sz="2400" b="0" dirty="0"/>
              <a:t>); </a:t>
            </a:r>
          </a:p>
          <a:p>
            <a:pPr marL="0" indent="0">
              <a:buNone/>
            </a:pPr>
            <a:endParaRPr lang="en-US" altLang="en-US" sz="1000" b="0" dirty="0"/>
          </a:p>
          <a:p>
            <a:pPr marL="0" indent="0">
              <a:buNone/>
            </a:pPr>
            <a:r>
              <a:rPr lang="en-US" altLang="en-US" sz="2400" b="0" dirty="0"/>
              <a:t>   </a:t>
            </a:r>
            <a:r>
              <a:rPr lang="en-US" altLang="en-US" sz="2400" b="0" dirty="0">
                <a:latin typeface="Chalkboard" charset="0"/>
              </a:rPr>
              <a:t>Merge </a:t>
            </a:r>
            <a:r>
              <a:rPr lang="en-US" altLang="en-US" sz="2400" b="0" dirty="0"/>
              <a:t>(</a:t>
            </a:r>
            <a:r>
              <a:rPr lang="en-US" altLang="en-US" sz="2400" b="0" i="1" dirty="0">
                <a:solidFill>
                  <a:srgbClr val="0B1196"/>
                </a:solidFill>
              </a:rPr>
              <a:t>A1, A2</a:t>
            </a:r>
            <a:r>
              <a:rPr lang="en-US" altLang="en-US" sz="2400" b="0" dirty="0"/>
              <a:t>);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BC6A58-75A5-41AC-B9B7-F112886602BF}"/>
              </a:ext>
            </a:extLst>
          </p:cNvPr>
          <p:cNvSpPr/>
          <p:nvPr/>
        </p:nvSpPr>
        <p:spPr>
          <a:xfrm>
            <a:off x="762000" y="4191000"/>
            <a:ext cx="2514600" cy="381000"/>
          </a:xfrm>
          <a:prstGeom prst="rect">
            <a:avLst/>
          </a:prstGeom>
          <a:solidFill>
            <a:srgbClr val="FF99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264C9D-FD4B-4A25-A74D-D86789A44B8A}"/>
              </a:ext>
            </a:extLst>
          </p:cNvPr>
          <p:cNvSpPr txBox="1"/>
          <p:nvPr/>
        </p:nvSpPr>
        <p:spPr>
          <a:xfrm>
            <a:off x="457200" y="5181600"/>
            <a:ext cx="784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Much work has to be done in Merge(), but the “divide” step is easy (simply split the array into two equal parts).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5676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CC1B1-2EB3-49A4-BDE9-94436D093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QuickSort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9A5EA-3806-4FB0-9518-1F0BE5A0D9A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343400" cy="3276600"/>
          </a:xfrm>
          <a:ln w="22225"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en-US" b="0" dirty="0" err="1">
                <a:latin typeface="Chalkboard" charset="0"/>
              </a:rPr>
              <a:t>QuickSort</a:t>
            </a:r>
            <a:r>
              <a:rPr lang="en-US" altLang="en-US" b="0" dirty="0">
                <a:latin typeface="Chalkboard" charset="0"/>
              </a:rPr>
              <a:t> </a:t>
            </a:r>
            <a:r>
              <a:rPr lang="en-US" altLang="en-US" b="0" dirty="0"/>
              <a:t>( </a:t>
            </a:r>
            <a:r>
              <a:rPr lang="en-US" altLang="en-US" b="0" i="1" dirty="0">
                <a:solidFill>
                  <a:srgbClr val="0B1196"/>
                </a:solidFill>
              </a:rPr>
              <a:t>A, r, s </a:t>
            </a:r>
            <a:r>
              <a:rPr lang="en-US" altLang="en-US" b="0" dirty="0"/>
              <a:t>)</a:t>
            </a:r>
          </a:p>
          <a:p>
            <a:pPr marL="0" indent="0">
              <a:buNone/>
            </a:pPr>
            <a:endParaRPr lang="en-US" altLang="en-US" sz="1000" b="0" dirty="0"/>
          </a:p>
          <a:p>
            <a:pPr marL="0" indent="0">
              <a:buNone/>
            </a:pPr>
            <a:r>
              <a:rPr lang="en-US" altLang="en-US" sz="2400" b="0" dirty="0"/>
              <a:t>   if </a:t>
            </a:r>
            <a:r>
              <a:rPr lang="en-US" altLang="en-US" sz="2400" b="0" i="1" dirty="0">
                <a:solidFill>
                  <a:srgbClr val="0B1196"/>
                </a:solidFill>
              </a:rPr>
              <a:t>( r ≥ s)</a:t>
            </a:r>
            <a:r>
              <a:rPr lang="en-US" altLang="en-US" sz="2400" b="0" dirty="0"/>
              <a:t>  return;</a:t>
            </a:r>
          </a:p>
          <a:p>
            <a:pPr marL="0" indent="0">
              <a:buNone/>
            </a:pPr>
            <a:r>
              <a:rPr lang="en-US" altLang="en-US" b="0" dirty="0"/>
              <a:t>   </a:t>
            </a:r>
            <a:r>
              <a:rPr lang="en-US" altLang="en-US" b="0" i="1" dirty="0">
                <a:solidFill>
                  <a:srgbClr val="0B1196"/>
                </a:solidFill>
              </a:rPr>
              <a:t>m   = </a:t>
            </a:r>
            <a:r>
              <a:rPr lang="en-US" altLang="en-US" b="0" dirty="0">
                <a:latin typeface="Chalkboard" charset="0"/>
              </a:rPr>
              <a:t>Partition </a:t>
            </a:r>
            <a:r>
              <a:rPr lang="en-US" altLang="en-US" b="0" dirty="0"/>
              <a:t>( </a:t>
            </a:r>
            <a:r>
              <a:rPr lang="en-US" altLang="en-US" b="0" i="1" dirty="0">
                <a:solidFill>
                  <a:srgbClr val="0B1196"/>
                </a:solidFill>
              </a:rPr>
              <a:t>A, r, s </a:t>
            </a:r>
            <a:r>
              <a:rPr lang="en-US" altLang="en-US" b="0" dirty="0"/>
              <a:t>);   </a:t>
            </a:r>
          </a:p>
          <a:p>
            <a:pPr marL="0" indent="0">
              <a:buNone/>
            </a:pPr>
            <a:r>
              <a:rPr lang="en-US" altLang="en-US" sz="2400" b="0" dirty="0"/>
              <a:t>   </a:t>
            </a:r>
            <a:r>
              <a:rPr lang="en-US" altLang="en-US" sz="2400" b="0" i="1" dirty="0">
                <a:solidFill>
                  <a:srgbClr val="0B1196"/>
                </a:solidFill>
              </a:rPr>
              <a:t>A1</a:t>
            </a:r>
            <a:r>
              <a:rPr lang="en-US" altLang="en-US" sz="2400" b="0" dirty="0"/>
              <a:t> = </a:t>
            </a:r>
            <a:r>
              <a:rPr lang="en-US" altLang="en-US" sz="2400" b="0" dirty="0" err="1">
                <a:latin typeface="Chalkboard" charset="0"/>
              </a:rPr>
              <a:t>QuickSort</a:t>
            </a:r>
            <a:r>
              <a:rPr lang="en-US" altLang="en-US" sz="2400" b="0" dirty="0"/>
              <a:t> ( </a:t>
            </a:r>
            <a:r>
              <a:rPr lang="en-US" altLang="en-US" sz="2400" b="0" i="1" dirty="0">
                <a:solidFill>
                  <a:srgbClr val="0B1196"/>
                </a:solidFill>
              </a:rPr>
              <a:t>A, r, m-1 </a:t>
            </a:r>
            <a:r>
              <a:rPr lang="en-US" altLang="en-US" sz="2400" b="0" dirty="0"/>
              <a:t>);</a:t>
            </a:r>
          </a:p>
          <a:p>
            <a:pPr marL="0" indent="0">
              <a:buNone/>
            </a:pPr>
            <a:r>
              <a:rPr lang="en-US" altLang="en-US" sz="2400" b="0" dirty="0"/>
              <a:t>   </a:t>
            </a:r>
            <a:r>
              <a:rPr lang="en-US" altLang="en-US" sz="2400" b="0" i="1" dirty="0">
                <a:solidFill>
                  <a:srgbClr val="0B1196"/>
                </a:solidFill>
              </a:rPr>
              <a:t>A2</a:t>
            </a:r>
            <a:r>
              <a:rPr lang="en-US" altLang="en-US" sz="2400" b="0" dirty="0"/>
              <a:t> = </a:t>
            </a:r>
            <a:r>
              <a:rPr lang="en-US" altLang="en-US" sz="2400" b="0" dirty="0" err="1">
                <a:latin typeface="Chalkboard" charset="0"/>
              </a:rPr>
              <a:t>QuickSort</a:t>
            </a:r>
            <a:r>
              <a:rPr lang="en-US" altLang="en-US" sz="2400" b="0" dirty="0"/>
              <a:t> ( </a:t>
            </a:r>
            <a:r>
              <a:rPr lang="en-US" altLang="en-US" sz="2400" b="0" i="1" dirty="0">
                <a:solidFill>
                  <a:srgbClr val="0B1196"/>
                </a:solidFill>
              </a:rPr>
              <a:t>A, m+1, s </a:t>
            </a:r>
            <a:r>
              <a:rPr lang="en-US" altLang="en-US" sz="2400" b="0" dirty="0"/>
              <a:t>); </a:t>
            </a:r>
          </a:p>
          <a:p>
            <a:pPr marL="0" indent="0">
              <a:buNone/>
            </a:pPr>
            <a:endParaRPr lang="en-US" altLang="en-US" sz="1000" b="0" dirty="0"/>
          </a:p>
          <a:p>
            <a:pPr marL="0" indent="0">
              <a:buNone/>
            </a:pPr>
            <a:r>
              <a:rPr lang="en-US" altLang="en-US" sz="2400" b="0" dirty="0"/>
              <a:t>   </a:t>
            </a:r>
            <a:r>
              <a:rPr lang="en-US" altLang="en-US" sz="2400" b="0" dirty="0">
                <a:latin typeface="Chalkboard" charset="0"/>
              </a:rPr>
              <a:t>Merge </a:t>
            </a:r>
            <a:r>
              <a:rPr lang="en-US" altLang="en-US" sz="2400" b="0" dirty="0"/>
              <a:t>(</a:t>
            </a:r>
            <a:r>
              <a:rPr lang="en-US" altLang="en-US" sz="2400" b="0" i="1" dirty="0">
                <a:solidFill>
                  <a:srgbClr val="0B1196"/>
                </a:solidFill>
              </a:rPr>
              <a:t>A1, A2</a:t>
            </a:r>
            <a:r>
              <a:rPr lang="en-US" altLang="en-US" sz="2400" b="0" dirty="0"/>
              <a:t>);</a:t>
            </a:r>
          </a:p>
          <a:p>
            <a:endParaRPr lang="en-US" altLang="en-US" sz="3200" b="0" dirty="0"/>
          </a:p>
          <a:p>
            <a:endParaRPr lang="en-US" altLang="en-US" sz="3200" b="0" dirty="0"/>
          </a:p>
          <a:p>
            <a:endParaRPr lang="en-US" dirty="0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8AEEF21E-B76A-41C6-9DE5-466AA9AF9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105400"/>
            <a:ext cx="6934200" cy="609600"/>
          </a:xfrm>
          <a:prstGeom prst="rect">
            <a:avLst/>
          </a:prstGeom>
          <a:solidFill>
            <a:srgbClr val="CCFFCC">
              <a:alpha val="56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8">
            <a:extLst>
              <a:ext uri="{FF2B5EF4-FFF2-40B4-BE49-F238E27FC236}">
                <a16:creationId xmlns:a16="http://schemas.microsoft.com/office/drawing/2014/main" id="{E072D171-B992-4800-AEE6-8F9CCB8DB0BB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5105400"/>
            <a:ext cx="6934200" cy="1143000"/>
            <a:chOff x="576" y="3360"/>
            <a:chExt cx="4368" cy="720"/>
          </a:xfrm>
        </p:grpSpPr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A45E9085-C256-499F-AAA8-141DF30DD1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3360"/>
              <a:ext cx="4368" cy="384"/>
              <a:chOff x="576" y="3360"/>
              <a:chExt cx="4368" cy="384"/>
            </a:xfrm>
          </p:grpSpPr>
          <p:sp>
            <p:nvSpPr>
              <p:cNvPr id="8" name="Rectangle 10">
                <a:extLst>
                  <a:ext uri="{FF2B5EF4-FFF2-40B4-BE49-F238E27FC236}">
                    <a16:creationId xmlns:a16="http://schemas.microsoft.com/office/drawing/2014/main" id="{9687636D-B967-46A6-8CAD-CFF18896D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3360"/>
                <a:ext cx="384" cy="384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Rectangle 11">
                <a:extLst>
                  <a:ext uri="{FF2B5EF4-FFF2-40B4-BE49-F238E27FC236}">
                    <a16:creationId xmlns:a16="http://schemas.microsoft.com/office/drawing/2014/main" id="{D7D93320-6A63-4F96-BF15-02050EB41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3360"/>
                <a:ext cx="1536" cy="384"/>
              </a:xfrm>
              <a:prstGeom prst="rect">
                <a:avLst/>
              </a:prstGeom>
              <a:solidFill>
                <a:srgbClr val="FFCC99">
                  <a:alpha val="49001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Rectangle 12">
                <a:extLst>
                  <a:ext uri="{FF2B5EF4-FFF2-40B4-BE49-F238E27FC236}">
                    <a16:creationId xmlns:a16="http://schemas.microsoft.com/office/drawing/2014/main" id="{51CFDB40-256D-4B43-9DC6-133890EA31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3360"/>
                <a:ext cx="2448" cy="384"/>
              </a:xfrm>
              <a:prstGeom prst="rect">
                <a:avLst/>
              </a:prstGeom>
              <a:solidFill>
                <a:srgbClr val="99CC00">
                  <a:alpha val="83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" name="Text Box 13">
              <a:extLst>
                <a:ext uri="{FF2B5EF4-FFF2-40B4-BE49-F238E27FC236}">
                  <a16:creationId xmlns:a16="http://schemas.microsoft.com/office/drawing/2014/main" id="{60C92953-AA0D-4F17-AAE2-FA015BB834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792"/>
              <a:ext cx="16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0" i="1">
                  <a:solidFill>
                    <a:srgbClr val="0B1196"/>
                  </a:solidFill>
                </a:rPr>
                <a:t>A[m]: </a:t>
              </a:r>
              <a:r>
                <a:rPr lang="en-US" altLang="en-US" b="0"/>
                <a:t>pivot</a:t>
              </a:r>
            </a:p>
          </p:txBody>
        </p:sp>
      </p:grpSp>
      <p:grpSp>
        <p:nvGrpSpPr>
          <p:cNvPr id="11" name="Group 14">
            <a:extLst>
              <a:ext uri="{FF2B5EF4-FFF2-40B4-BE49-F238E27FC236}">
                <a16:creationId xmlns:a16="http://schemas.microsoft.com/office/drawing/2014/main" id="{6413A422-8B57-4DE1-8F79-76FEEF03366A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810000"/>
            <a:ext cx="2514600" cy="609600"/>
            <a:chOff x="480" y="2736"/>
            <a:chExt cx="1776" cy="432"/>
          </a:xfrm>
        </p:grpSpPr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5F65AC13-9744-42BA-965B-82C5289B4F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736"/>
              <a:ext cx="1776" cy="432"/>
            </a:xfrm>
            <a:prstGeom prst="rect">
              <a:avLst/>
            </a:prstGeom>
            <a:solidFill>
              <a:srgbClr val="FF9900">
                <a:alpha val="48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6">
              <a:extLst>
                <a:ext uri="{FF2B5EF4-FFF2-40B4-BE49-F238E27FC236}">
                  <a16:creationId xmlns:a16="http://schemas.microsoft.com/office/drawing/2014/main" id="{64551AC8-CE43-4EDD-94CD-9F5269C336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736"/>
              <a:ext cx="172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7">
              <a:extLst>
                <a:ext uri="{FF2B5EF4-FFF2-40B4-BE49-F238E27FC236}">
                  <a16:creationId xmlns:a16="http://schemas.microsoft.com/office/drawing/2014/main" id="{87E49218-4909-4EF8-9689-1E3AEAFFDC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" y="2784"/>
              <a:ext cx="177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035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91842-C5DC-4E94-AF10-3E7D0C001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QuickSort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653F45-78BE-4F3F-8231-B0383D57B8B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4191000"/>
                <a:ext cx="8229600" cy="1965960"/>
              </a:xfrm>
            </p:spPr>
            <p:txBody>
              <a:bodyPr/>
              <a:lstStyle/>
              <a:p>
                <a:r>
                  <a:rPr lang="en-US" dirty="0"/>
                  <a:t>Worst case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Best case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653F45-78BE-4F3F-8231-B0383D57B8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4191000"/>
                <a:ext cx="8229600" cy="1965960"/>
              </a:xfrm>
              <a:blipFill>
                <a:blip r:embed="rId2"/>
                <a:stretch>
                  <a:fillRect l="-667" t="-3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CD5C07E-E90F-4307-BF50-DFE35F1F820D}"/>
              </a:ext>
            </a:extLst>
          </p:cNvPr>
          <p:cNvSpPr txBox="1">
            <a:spLocks/>
          </p:cNvSpPr>
          <p:nvPr/>
        </p:nvSpPr>
        <p:spPr bwMode="auto">
          <a:xfrm>
            <a:off x="457200" y="1219200"/>
            <a:ext cx="4876800" cy="2743200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itchFamily="2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itchFamily="18" charset="2"/>
              <a:buNone/>
            </a:pPr>
            <a:r>
              <a:rPr lang="en-US" altLang="en-US" dirty="0" err="1">
                <a:latin typeface="Chalkboard" charset="0"/>
              </a:rPr>
              <a:t>QuickSort</a:t>
            </a:r>
            <a:r>
              <a:rPr lang="en-US" altLang="en-US" dirty="0">
                <a:latin typeface="Chalkboard" charset="0"/>
              </a:rPr>
              <a:t> </a:t>
            </a:r>
            <a:r>
              <a:rPr lang="en-US" altLang="en-US" dirty="0"/>
              <a:t>( </a:t>
            </a:r>
            <a:r>
              <a:rPr lang="en-US" altLang="en-US" i="1" dirty="0">
                <a:solidFill>
                  <a:srgbClr val="0B1196"/>
                </a:solidFill>
              </a:rPr>
              <a:t>A, r, s </a:t>
            </a:r>
            <a:r>
              <a:rPr lang="en-US" altLang="en-US" dirty="0"/>
              <a:t>)</a:t>
            </a:r>
          </a:p>
          <a:p>
            <a:pPr marL="0" indent="0">
              <a:buFont typeface="Wingdings 3" pitchFamily="18" charset="2"/>
              <a:buNone/>
            </a:pPr>
            <a:endParaRPr lang="en-US" altLang="en-US" sz="1000" dirty="0"/>
          </a:p>
          <a:p>
            <a:pPr marL="0" indent="0">
              <a:buFont typeface="Wingdings 3" pitchFamily="18" charset="2"/>
              <a:buNone/>
            </a:pPr>
            <a:r>
              <a:rPr lang="en-US" altLang="en-US" sz="2400" dirty="0"/>
              <a:t>   if </a:t>
            </a:r>
            <a:r>
              <a:rPr lang="en-US" altLang="en-US" sz="2400" i="1" dirty="0">
                <a:solidFill>
                  <a:srgbClr val="0B1196"/>
                </a:solidFill>
              </a:rPr>
              <a:t>( r ≥ s)</a:t>
            </a:r>
            <a:r>
              <a:rPr lang="en-US" altLang="en-US" sz="2400" dirty="0"/>
              <a:t>  return;</a:t>
            </a:r>
          </a:p>
          <a:p>
            <a:pPr marL="0" indent="0">
              <a:buFont typeface="Wingdings 3" pitchFamily="18" charset="2"/>
              <a:buNone/>
            </a:pPr>
            <a:r>
              <a:rPr lang="en-US" altLang="en-US" dirty="0"/>
              <a:t>   </a:t>
            </a:r>
            <a:r>
              <a:rPr lang="en-US" altLang="en-US" i="1" dirty="0">
                <a:solidFill>
                  <a:srgbClr val="0B1196"/>
                </a:solidFill>
              </a:rPr>
              <a:t>m   = </a:t>
            </a:r>
            <a:r>
              <a:rPr lang="en-US" altLang="en-US" dirty="0">
                <a:latin typeface="Chalkboard" charset="0"/>
              </a:rPr>
              <a:t>Partition </a:t>
            </a:r>
            <a:r>
              <a:rPr lang="en-US" altLang="en-US" dirty="0"/>
              <a:t>( </a:t>
            </a:r>
            <a:r>
              <a:rPr lang="en-US" altLang="en-US" i="1" dirty="0">
                <a:solidFill>
                  <a:srgbClr val="0B1196"/>
                </a:solidFill>
              </a:rPr>
              <a:t>A, r, s </a:t>
            </a:r>
            <a:r>
              <a:rPr lang="en-US" altLang="en-US" dirty="0"/>
              <a:t>);   </a:t>
            </a:r>
          </a:p>
          <a:p>
            <a:pPr marL="0" indent="0">
              <a:buFont typeface="Wingdings 3" pitchFamily="18" charset="2"/>
              <a:buNone/>
            </a:pPr>
            <a:r>
              <a:rPr lang="en-US" altLang="en-US" sz="2400" dirty="0"/>
              <a:t>   </a:t>
            </a:r>
            <a:r>
              <a:rPr lang="en-US" altLang="en-US" sz="2400" i="1" dirty="0">
                <a:solidFill>
                  <a:srgbClr val="0B1196"/>
                </a:solidFill>
              </a:rPr>
              <a:t>A1</a:t>
            </a:r>
            <a:r>
              <a:rPr lang="en-US" altLang="en-US" sz="2400" dirty="0"/>
              <a:t> = </a:t>
            </a:r>
            <a:r>
              <a:rPr lang="en-US" altLang="en-US" sz="2400" dirty="0" err="1">
                <a:latin typeface="Chalkboard" charset="0"/>
              </a:rPr>
              <a:t>QuickSort</a:t>
            </a:r>
            <a:r>
              <a:rPr lang="en-US" altLang="en-US" sz="2400" dirty="0"/>
              <a:t> ( </a:t>
            </a:r>
            <a:r>
              <a:rPr lang="en-US" altLang="en-US" sz="2400" i="1" dirty="0">
                <a:solidFill>
                  <a:srgbClr val="0B1196"/>
                </a:solidFill>
              </a:rPr>
              <a:t>A, r, m-1 </a:t>
            </a:r>
            <a:r>
              <a:rPr lang="en-US" altLang="en-US" sz="2400" dirty="0"/>
              <a:t>);</a:t>
            </a:r>
          </a:p>
          <a:p>
            <a:pPr marL="0" indent="0">
              <a:buFont typeface="Wingdings 3" pitchFamily="18" charset="2"/>
              <a:buNone/>
            </a:pPr>
            <a:r>
              <a:rPr lang="en-US" altLang="en-US" sz="2400" dirty="0"/>
              <a:t>   </a:t>
            </a:r>
            <a:r>
              <a:rPr lang="en-US" altLang="en-US" sz="2400" i="1" dirty="0">
                <a:solidFill>
                  <a:srgbClr val="0B1196"/>
                </a:solidFill>
              </a:rPr>
              <a:t>A2</a:t>
            </a:r>
            <a:r>
              <a:rPr lang="en-US" altLang="en-US" sz="2400" dirty="0"/>
              <a:t> = </a:t>
            </a:r>
            <a:r>
              <a:rPr lang="en-US" altLang="en-US" sz="2400" dirty="0" err="1">
                <a:latin typeface="Chalkboard" charset="0"/>
              </a:rPr>
              <a:t>QuickSort</a:t>
            </a:r>
            <a:r>
              <a:rPr lang="en-US" altLang="en-US" sz="2400" dirty="0"/>
              <a:t> ( </a:t>
            </a:r>
            <a:r>
              <a:rPr lang="en-US" altLang="en-US" sz="2400" i="1" dirty="0">
                <a:solidFill>
                  <a:srgbClr val="0B1196"/>
                </a:solidFill>
              </a:rPr>
              <a:t>A, m+1, s </a:t>
            </a:r>
            <a:r>
              <a:rPr lang="en-US" altLang="en-US" sz="2400" dirty="0"/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val="313676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91842-C5DC-4E94-AF10-3E7D0C001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rand-</a:t>
            </a:r>
            <a:r>
              <a:rPr lang="en-US" dirty="0" err="1"/>
              <a:t>QuickSort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653F45-78BE-4F3F-8231-B0383D57B8B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4191000"/>
                <a:ext cx="8229600" cy="1965960"/>
              </a:xfrm>
            </p:spPr>
            <p:txBody>
              <a:bodyPr/>
              <a:lstStyle/>
              <a:p>
                <a:r>
                  <a:rPr lang="en-US" dirty="0"/>
                  <a:t>Worst case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Best case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653F45-78BE-4F3F-8231-B0383D57B8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4191000"/>
                <a:ext cx="8229600" cy="1965960"/>
              </a:xfrm>
              <a:blipFill>
                <a:blip r:embed="rId2"/>
                <a:stretch>
                  <a:fillRect l="-667" t="-3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CD5C07E-E90F-4307-BF50-DFE35F1F820D}"/>
              </a:ext>
            </a:extLst>
          </p:cNvPr>
          <p:cNvSpPr txBox="1">
            <a:spLocks/>
          </p:cNvSpPr>
          <p:nvPr/>
        </p:nvSpPr>
        <p:spPr bwMode="auto">
          <a:xfrm>
            <a:off x="457200" y="1219200"/>
            <a:ext cx="4876800" cy="2743200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itchFamily="2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itchFamily="18" charset="2"/>
              <a:buNone/>
            </a:pPr>
            <a:r>
              <a:rPr lang="en-US" altLang="en-US" dirty="0">
                <a:solidFill>
                  <a:srgbClr val="700000"/>
                </a:solidFill>
                <a:latin typeface="Chalkboard" charset="0"/>
              </a:rPr>
              <a:t>rand-</a:t>
            </a:r>
            <a:r>
              <a:rPr lang="en-US" altLang="en-US" dirty="0" err="1">
                <a:solidFill>
                  <a:srgbClr val="700000"/>
                </a:solidFill>
                <a:latin typeface="Chalkboard" charset="0"/>
              </a:rPr>
              <a:t>QuickSort</a:t>
            </a:r>
            <a:r>
              <a:rPr lang="en-US" altLang="en-US" dirty="0">
                <a:latin typeface="Chalkboard" charset="0"/>
              </a:rPr>
              <a:t> </a:t>
            </a:r>
            <a:r>
              <a:rPr lang="en-US" altLang="en-US" dirty="0"/>
              <a:t>( </a:t>
            </a:r>
            <a:r>
              <a:rPr lang="en-US" altLang="en-US" i="1" dirty="0">
                <a:solidFill>
                  <a:srgbClr val="0B1196"/>
                </a:solidFill>
              </a:rPr>
              <a:t>A, r, s </a:t>
            </a:r>
            <a:r>
              <a:rPr lang="en-US" altLang="en-US" dirty="0"/>
              <a:t>)</a:t>
            </a:r>
          </a:p>
          <a:p>
            <a:pPr marL="0" indent="0">
              <a:buFont typeface="Wingdings 3" pitchFamily="18" charset="2"/>
              <a:buNone/>
            </a:pPr>
            <a:endParaRPr lang="en-US" altLang="en-US" sz="1000" dirty="0"/>
          </a:p>
          <a:p>
            <a:pPr marL="0" indent="0">
              <a:buFont typeface="Wingdings 3" pitchFamily="18" charset="2"/>
              <a:buNone/>
            </a:pPr>
            <a:r>
              <a:rPr lang="en-US" altLang="en-US" sz="2400" dirty="0"/>
              <a:t>   if </a:t>
            </a:r>
            <a:r>
              <a:rPr lang="en-US" altLang="en-US" sz="2400" i="1" dirty="0">
                <a:solidFill>
                  <a:srgbClr val="0B1196"/>
                </a:solidFill>
              </a:rPr>
              <a:t>( r ≥ s)</a:t>
            </a:r>
            <a:r>
              <a:rPr lang="en-US" altLang="en-US" sz="2400" dirty="0"/>
              <a:t>  return;</a:t>
            </a:r>
          </a:p>
          <a:p>
            <a:pPr marL="0" indent="0">
              <a:buFont typeface="Wingdings 3" pitchFamily="18" charset="2"/>
              <a:buNone/>
            </a:pPr>
            <a:r>
              <a:rPr lang="en-US" altLang="en-US" dirty="0"/>
              <a:t>   </a:t>
            </a:r>
            <a:r>
              <a:rPr lang="en-US" altLang="en-US" i="1" dirty="0">
                <a:solidFill>
                  <a:srgbClr val="0B1196"/>
                </a:solidFill>
              </a:rPr>
              <a:t>m   = </a:t>
            </a:r>
            <a:r>
              <a:rPr lang="en-US" altLang="en-US" dirty="0">
                <a:solidFill>
                  <a:srgbClr val="700000"/>
                </a:solidFill>
                <a:latin typeface="Chalkboard" charset="0"/>
              </a:rPr>
              <a:t>rand-Partition</a:t>
            </a:r>
            <a:r>
              <a:rPr lang="en-US" altLang="en-US" dirty="0">
                <a:latin typeface="Chalkboard" charset="0"/>
              </a:rPr>
              <a:t> </a:t>
            </a:r>
            <a:r>
              <a:rPr lang="en-US" altLang="en-US" dirty="0"/>
              <a:t>( </a:t>
            </a:r>
            <a:r>
              <a:rPr lang="en-US" altLang="en-US" i="1" dirty="0">
                <a:solidFill>
                  <a:srgbClr val="0B1196"/>
                </a:solidFill>
              </a:rPr>
              <a:t>A, r, s </a:t>
            </a:r>
            <a:r>
              <a:rPr lang="en-US" altLang="en-US" dirty="0"/>
              <a:t>);   </a:t>
            </a:r>
          </a:p>
          <a:p>
            <a:pPr marL="0" indent="0">
              <a:buFont typeface="Wingdings 3" pitchFamily="18" charset="2"/>
              <a:buNone/>
            </a:pPr>
            <a:r>
              <a:rPr lang="en-US" altLang="en-US" sz="2400" dirty="0"/>
              <a:t>   </a:t>
            </a:r>
            <a:r>
              <a:rPr lang="en-US" altLang="en-US" sz="2400" i="1" dirty="0">
                <a:solidFill>
                  <a:srgbClr val="0B1196"/>
                </a:solidFill>
              </a:rPr>
              <a:t>A1</a:t>
            </a:r>
            <a:r>
              <a:rPr lang="en-US" altLang="en-US" sz="2400" dirty="0"/>
              <a:t> = </a:t>
            </a:r>
            <a:r>
              <a:rPr lang="en-US" altLang="en-US" sz="2400" dirty="0">
                <a:solidFill>
                  <a:srgbClr val="700000"/>
                </a:solidFill>
              </a:rPr>
              <a:t>rand-</a:t>
            </a:r>
            <a:r>
              <a:rPr lang="en-US" altLang="en-US" sz="2400" dirty="0" err="1">
                <a:solidFill>
                  <a:srgbClr val="700000"/>
                </a:solidFill>
                <a:latin typeface="Chalkboard" charset="0"/>
              </a:rPr>
              <a:t>QuickSort</a:t>
            </a:r>
            <a:r>
              <a:rPr lang="en-US" altLang="en-US" sz="2400" dirty="0"/>
              <a:t> ( </a:t>
            </a:r>
            <a:r>
              <a:rPr lang="en-US" altLang="en-US" sz="2400" i="1" dirty="0">
                <a:solidFill>
                  <a:srgbClr val="0B1196"/>
                </a:solidFill>
              </a:rPr>
              <a:t>A, r, m-1 </a:t>
            </a:r>
            <a:r>
              <a:rPr lang="en-US" altLang="en-US" sz="2400" dirty="0"/>
              <a:t>);</a:t>
            </a:r>
          </a:p>
          <a:p>
            <a:pPr marL="0" indent="0">
              <a:buFont typeface="Wingdings 3" pitchFamily="18" charset="2"/>
              <a:buNone/>
            </a:pPr>
            <a:r>
              <a:rPr lang="en-US" altLang="en-US" sz="2400" dirty="0"/>
              <a:t>   </a:t>
            </a:r>
            <a:r>
              <a:rPr lang="en-US" altLang="en-US" sz="2400" i="1" dirty="0">
                <a:solidFill>
                  <a:srgbClr val="0B1196"/>
                </a:solidFill>
              </a:rPr>
              <a:t>A2</a:t>
            </a:r>
            <a:r>
              <a:rPr lang="en-US" altLang="en-US" sz="2400" dirty="0"/>
              <a:t> = </a:t>
            </a:r>
            <a:r>
              <a:rPr lang="en-US" altLang="en-US" sz="2400" dirty="0">
                <a:solidFill>
                  <a:srgbClr val="700000"/>
                </a:solidFill>
              </a:rPr>
              <a:t>rand-</a:t>
            </a:r>
            <a:r>
              <a:rPr lang="en-US" altLang="en-US" sz="2400" dirty="0" err="1">
                <a:solidFill>
                  <a:srgbClr val="700000"/>
                </a:solidFill>
                <a:latin typeface="Chalkboard" charset="0"/>
              </a:rPr>
              <a:t>QuickSort</a:t>
            </a:r>
            <a:r>
              <a:rPr lang="en-US" altLang="en-US" sz="2400" dirty="0"/>
              <a:t> ( </a:t>
            </a:r>
            <a:r>
              <a:rPr lang="en-US" altLang="en-US" sz="2400" i="1" dirty="0">
                <a:solidFill>
                  <a:srgbClr val="0B1196"/>
                </a:solidFill>
              </a:rPr>
              <a:t>A, m+1, s </a:t>
            </a:r>
            <a:r>
              <a:rPr lang="en-US" altLang="en-US" sz="2400" dirty="0"/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val="259115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AC64E-DB81-4A50-8143-DF7DAFC2F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D38BAC-B1C9-4BB1-8DBB-4970BB4946B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rand-</a:t>
                </a:r>
                <a:r>
                  <a:rPr lang="en-US" dirty="0" err="1"/>
                  <a:t>QuickSelect</a:t>
                </a:r>
                <a:endParaRPr lang="en-US" dirty="0"/>
              </a:p>
              <a:p>
                <a:pPr lvl="1"/>
                <a:r>
                  <a:rPr lang="en-US" dirty="0"/>
                  <a:t>like rand-Select, there are good and bad splits </a:t>
                </a:r>
              </a:p>
              <a:p>
                <a:pPr lvl="1"/>
                <a:r>
                  <a:rPr lang="en-US" dirty="0"/>
                  <a:t>as long as good splits come constant fraction of the time, the time complexity is dominated by good splits </a:t>
                </a:r>
              </a:p>
              <a:p>
                <a:pPr lvl="1"/>
                <a:r>
                  <a:rPr lang="en-US" dirty="0"/>
                  <a:t>expected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b="0" dirty="0"/>
              </a:p>
              <a:p>
                <a:pPr lvl="1"/>
                <a:endParaRPr lang="en-US" dirty="0"/>
              </a:p>
              <a:p>
                <a:r>
                  <a:rPr lang="en-US" dirty="0"/>
                  <a:t>Compared to </a:t>
                </a:r>
                <a:r>
                  <a:rPr lang="en-US" dirty="0" err="1"/>
                  <a:t>MergeSort</a:t>
                </a:r>
                <a:endParaRPr lang="en-US" dirty="0"/>
              </a:p>
              <a:p>
                <a:pPr lvl="1"/>
                <a:r>
                  <a:rPr lang="en-US" dirty="0"/>
                  <a:t>In-place sorting</a:t>
                </a:r>
              </a:p>
              <a:p>
                <a:pPr lvl="2"/>
                <a:r>
                  <a:rPr lang="en-US" dirty="0"/>
                  <a:t>while </a:t>
                </a:r>
                <a:r>
                  <a:rPr lang="en-US" dirty="0" err="1"/>
                  <a:t>MergeSort</a:t>
                </a:r>
                <a:r>
                  <a:rPr lang="en-US" dirty="0"/>
                  <a:t> needs to open a new output array of size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 practice often faster.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D38BAC-B1C9-4BB1-8DBB-4970BB4946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578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76400"/>
            <a:ext cx="8229600" cy="990600"/>
          </a:xfrm>
        </p:spPr>
        <p:txBody>
          <a:bodyPr/>
          <a:lstStyle/>
          <a:p>
            <a:pPr algn="ctr"/>
            <a:r>
              <a:rPr lang="en-US" sz="3600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5370834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YUSU@WQEIJCNFUVWXY5M7" val="3343"/>
  <p:tag name="FIRSTYUSU@YOW8PJOFUVWXY5L9" val="3347"/>
  <p:tag name="DEFAULTDISPLAYSOURCE" val="\documentclass{article}\pagestyle{empty}&#10;\begin{document}&#10;&#10;\end{document}&#10;"/>
  <p:tag name="EMBEDFONTS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20198</TotalTime>
  <Words>2481</Words>
  <Application>Microsoft Office PowerPoint</Application>
  <PresentationFormat>On-screen Show (4:3)</PresentationFormat>
  <Paragraphs>328</Paragraphs>
  <Slides>41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41</vt:i4>
      </vt:variant>
    </vt:vector>
  </HeadingPairs>
  <TitlesOfParts>
    <vt:vector size="56" baseType="lpstr">
      <vt:lpstr>FiraMono-Regular-Identity-H</vt:lpstr>
      <vt:lpstr>Cambria Math</vt:lpstr>
      <vt:lpstr>Calibri Light</vt:lpstr>
      <vt:lpstr>Chalkboard</vt:lpstr>
      <vt:lpstr>Bookman Old Style</vt:lpstr>
      <vt:lpstr>FiraMono-Medium-Identity-H</vt:lpstr>
      <vt:lpstr>Calibri</vt:lpstr>
      <vt:lpstr>FiraMono-Oblique-Identity-H</vt:lpstr>
      <vt:lpstr>Arial</vt:lpstr>
      <vt:lpstr>Wingdings 3</vt:lpstr>
      <vt:lpstr>Wingdings</vt:lpstr>
      <vt:lpstr>Gill Sans MT</vt:lpstr>
      <vt:lpstr>Origin</vt:lpstr>
      <vt:lpstr>1_Custom Design</vt:lpstr>
      <vt:lpstr>Custom Design</vt:lpstr>
      <vt:lpstr>DSC40B: Theoretical Foundations of Data Science II </vt:lpstr>
      <vt:lpstr>Previously</vt:lpstr>
      <vt:lpstr>Order statistics and simple examples</vt:lpstr>
      <vt:lpstr>Order statistics</vt:lpstr>
      <vt:lpstr>Select problem</vt:lpstr>
      <vt:lpstr>Simple approaches</vt:lpstr>
      <vt:lpstr>Algorithm selection_sort</vt:lpstr>
      <vt:lpstr>Algorithm selection_kthOS</vt:lpstr>
      <vt:lpstr>Simple approaches</vt:lpstr>
      <vt:lpstr>Partition procedure </vt:lpstr>
      <vt:lpstr>Select problem</vt:lpstr>
      <vt:lpstr>Partition procedure</vt:lpstr>
      <vt:lpstr>Partition procedure</vt:lpstr>
      <vt:lpstr>Partition(A, s, t)</vt:lpstr>
      <vt:lpstr>Partition(A, s, t)</vt:lpstr>
      <vt:lpstr>Partition(A, s, t)</vt:lpstr>
      <vt:lpstr>Idea </vt:lpstr>
      <vt:lpstr>Pseudo-code for Partition</vt:lpstr>
      <vt:lpstr>QuickSelect</vt:lpstr>
      <vt:lpstr>Intuition of QuickSelect</vt:lpstr>
      <vt:lpstr>Intuition of QuickSelect</vt:lpstr>
      <vt:lpstr>Intuition of QuickSelect</vt:lpstr>
      <vt:lpstr>Pseudo-code for QuickSelect</vt:lpstr>
      <vt:lpstr>Time Complexity Analysis</vt:lpstr>
      <vt:lpstr>Pseudo-code for QuickSelect</vt:lpstr>
      <vt:lpstr>PowerPoint Presentation</vt:lpstr>
      <vt:lpstr>PowerPoint Presentation</vt:lpstr>
      <vt:lpstr>PowerPoint Presentation</vt:lpstr>
      <vt:lpstr>PowerPoint Presentation</vt:lpstr>
      <vt:lpstr>Rand-Select</vt:lpstr>
      <vt:lpstr>Rand-Partition pseudo-code</vt:lpstr>
      <vt:lpstr>Expected time analysis -- intuition</vt:lpstr>
      <vt:lpstr>Summary</vt:lpstr>
      <vt:lpstr>A related topic: Randomized QuickSort</vt:lpstr>
      <vt:lpstr>Sorting revisited! </vt:lpstr>
      <vt:lpstr>Recall MergeSort</vt:lpstr>
      <vt:lpstr>QuickSort</vt:lpstr>
      <vt:lpstr>QuickSort</vt:lpstr>
      <vt:lpstr>rand-QuickSort</vt:lpstr>
      <vt:lpstr>PowerPoint Presentation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wang, yusu</dc:creator>
  <cp:lastModifiedBy>enid wang</cp:lastModifiedBy>
  <cp:revision>1283</cp:revision>
  <dcterms:created xsi:type="dcterms:W3CDTF">2006-08-16T00:00:00Z</dcterms:created>
  <dcterms:modified xsi:type="dcterms:W3CDTF">2021-01-25T05:13:15Z</dcterms:modified>
</cp:coreProperties>
</file>