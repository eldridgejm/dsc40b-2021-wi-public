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32"/>
  </p:notesMasterIdLst>
  <p:sldIdLst>
    <p:sldId id="256" r:id="rId4"/>
    <p:sldId id="779" r:id="rId5"/>
    <p:sldId id="785" r:id="rId6"/>
    <p:sldId id="812" r:id="rId7"/>
    <p:sldId id="813" r:id="rId8"/>
    <p:sldId id="814" r:id="rId9"/>
    <p:sldId id="815" r:id="rId10"/>
    <p:sldId id="816" r:id="rId11"/>
    <p:sldId id="817" r:id="rId12"/>
    <p:sldId id="819" r:id="rId13"/>
    <p:sldId id="818" r:id="rId14"/>
    <p:sldId id="820" r:id="rId15"/>
    <p:sldId id="821" r:id="rId16"/>
    <p:sldId id="822" r:id="rId17"/>
    <p:sldId id="823" r:id="rId18"/>
    <p:sldId id="824" r:id="rId19"/>
    <p:sldId id="825" r:id="rId20"/>
    <p:sldId id="826" r:id="rId21"/>
    <p:sldId id="827" r:id="rId22"/>
    <p:sldId id="830" r:id="rId23"/>
    <p:sldId id="828" r:id="rId24"/>
    <p:sldId id="829" r:id="rId25"/>
    <p:sldId id="831" r:id="rId26"/>
    <p:sldId id="832" r:id="rId27"/>
    <p:sldId id="833" r:id="rId28"/>
    <p:sldId id="834" r:id="rId29"/>
    <p:sldId id="835" r:id="rId30"/>
    <p:sldId id="811" r:id="rId31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33"/>
      <p:bold r:id="rId34"/>
      <p:italic r:id="rId35"/>
      <p:boldItalic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  <p:embeddedFont>
      <p:font typeface="Gill Sans MT" panose="020B0502020104020203" pitchFamily="34" charset="0"/>
      <p:regular r:id="rId44"/>
      <p:bold r:id="rId45"/>
      <p:italic r:id="rId46"/>
      <p:boldItalic r:id="rId47"/>
    </p:embeddedFont>
    <p:embeddedFont>
      <p:font typeface="Wingdings 3" panose="05040102010807070707" pitchFamily="18" charset="2"/>
      <p:regular r:id="rId48"/>
    </p:embeddedFont>
  </p:embeddedFontLst>
  <p:custDataLst>
    <p:tags r:id="rId4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0B0E8F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0909" autoAdjust="0"/>
  </p:normalViewPr>
  <p:slideViewPr>
    <p:cSldViewPr>
      <p:cViewPr varScale="1">
        <p:scale>
          <a:sx n="61" d="100"/>
          <a:sy n="61" d="100"/>
        </p:scale>
        <p:origin x="14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7.fntdata"/><Relationship Id="rId21" Type="http://schemas.openxmlformats.org/officeDocument/2006/relationships/slide" Target="slides/slide18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2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7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4.fntdata"/><Relationship Id="rId4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12:   </a:t>
            </a:r>
            <a:r>
              <a:rPr lang="en-US" sz="2800" i="1" dirty="0"/>
              <a:t>More on BFS: shortest path in (unweighted) graphs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Previously: </a:t>
            </a:r>
          </a:p>
          <a:p>
            <a:pPr lvl="1"/>
            <a:r>
              <a:rPr lang="en-US" dirty="0"/>
              <a:t>Introduced Breadth-first search (BFS) graph search algorithm </a:t>
            </a:r>
          </a:p>
          <a:p>
            <a:pPr lvl="1"/>
            <a:r>
              <a:rPr lang="en-US" dirty="0"/>
              <a:t>Can be used to check for connectivity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Today: </a:t>
            </a:r>
          </a:p>
          <a:p>
            <a:pPr lvl="1"/>
            <a:r>
              <a:rPr lang="en-US" dirty="0"/>
              <a:t>Properties of BFS:</a:t>
            </a:r>
          </a:p>
          <a:p>
            <a:pPr lvl="2"/>
            <a:r>
              <a:rPr lang="en-US" dirty="0"/>
              <a:t>Computing shortest path from a source node</a:t>
            </a:r>
          </a:p>
          <a:p>
            <a:pPr lvl="2"/>
            <a:r>
              <a:rPr lang="en-US" dirty="0"/>
              <a:t>BFS tree </a:t>
            </a:r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Shortest path</a:t>
            </a:r>
            <a:br>
              <a:rPr lang="en-US" dirty="0"/>
            </a:br>
            <a:r>
              <a:rPr lang="en-US" dirty="0"/>
              <a:t>in (unweighted) graphs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D773-CEEA-4EFE-ABAB-2C397E59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0DC28-3DAD-4FED-8385-82CE5E6E18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5029200"/>
            <a:ext cx="8229600" cy="1127760"/>
          </a:xfrm>
        </p:spPr>
        <p:txBody>
          <a:bodyPr/>
          <a:lstStyle/>
          <a:p>
            <a:pPr marL="661988" lvl="1" indent="-342900"/>
            <a:r>
              <a:rPr lang="en-US" dirty="0"/>
              <a:t>How to fly to Denver from Columbus using fewest number of connections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Content Placeholder 12" descr="A picture containing radar chart&#10;&#10;Description automatically generated">
            <a:extLst>
              <a:ext uri="{FF2B5EF4-FFF2-40B4-BE49-F238E27FC236}">
                <a16:creationId xmlns:a16="http://schemas.microsoft.com/office/drawing/2014/main" id="{0F02233D-42ED-4B3F-A36E-C1C51B9BA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447800"/>
            <a:ext cx="6763449" cy="3395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1702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D773-CEEA-4EFE-ABAB-2C397E59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DC28-3DAD-4FED-8385-82CE5E6E18A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0070C0"/>
                    </a:solidFill>
                  </a:rPr>
                  <a:t>length</a:t>
                </a:r>
                <a:r>
                  <a:rPr lang="en-US" dirty="0"/>
                  <a:t> of a path is</a:t>
                </a:r>
              </a:p>
              <a:p>
                <a:pPr marL="593725" lvl="2" indent="0">
                  <a:buNone/>
                </a:pPr>
                <a:r>
                  <a:rPr lang="en-US" dirty="0"/>
                  <a:t>	(#of nodes in this path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− 1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661988" lvl="1" indent="-342900"/>
                <a:endParaRPr lang="en-US" dirty="0"/>
              </a:p>
              <a:p>
                <a:pPr marL="387350" indent="-342900"/>
                <a:r>
                  <a:rPr lang="en-US" dirty="0"/>
                  <a:t>A </a:t>
                </a:r>
                <a:r>
                  <a:rPr lang="en-US" dirty="0">
                    <a:solidFill>
                      <a:srgbClr val="0070C0"/>
                    </a:solidFill>
                  </a:rPr>
                  <a:t>shortest path </a:t>
                </a: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661988" lvl="1" indent="-342900"/>
                <a:r>
                  <a:rPr lang="en-US" dirty="0"/>
                  <a:t>is a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using with smallest possible length. </a:t>
                </a:r>
              </a:p>
              <a:p>
                <a:pPr marL="661988" lvl="1" indent="-342900"/>
                <a:r>
                  <a:rPr lang="en-US" dirty="0"/>
                  <a:t>Note that there may be multiple shortest paths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all of which has the same length. </a:t>
                </a:r>
              </a:p>
              <a:p>
                <a:pPr marL="661988" lvl="1" indent="-342900"/>
                <a:endParaRPr lang="en-US" dirty="0"/>
              </a:p>
              <a:p>
                <a:pPr marL="387350" indent="-342900"/>
                <a:r>
                  <a:rPr lang="en-US" dirty="0"/>
                  <a:t>The </a:t>
                </a:r>
                <a:r>
                  <a:rPr lang="en-US" dirty="0">
                    <a:solidFill>
                      <a:srgbClr val="0070C0"/>
                    </a:solidFill>
                  </a:rPr>
                  <a:t>shortest path distance </a:t>
                </a: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 marL="661988" lvl="1" indent="-342900"/>
                <a:r>
                  <a:rPr lang="en-US" dirty="0"/>
                  <a:t>is the length of a shortest path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 marL="661988" lvl="1" indent="-342900"/>
                <a:r>
                  <a:rPr lang="en-US" dirty="0"/>
                  <a:t>by convention, the distance is set to be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there is no path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DC28-3DAD-4FED-8385-82CE5E6E18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037" b="-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21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AD0E-B804-4AB6-8F40-7D096955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F9AD9-91B3-451D-B52C-BDEBEF9798D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 </a:t>
                </a:r>
              </a:p>
              <a:p>
                <a:pPr lvl="1"/>
                <a:r>
                  <a:rPr lang="en-US" dirty="0"/>
                  <a:t>A (directed or undirected)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source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The shortest path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all other nodes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F9AD9-91B3-451D-B52C-BDEBEF979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61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684F-A229-471D-9B54-867AA3E3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7479C-42B6-41A9-9892-43D86C45BE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200524"/>
            <a:ext cx="8229600" cy="195643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79041-5271-4147-A5EE-CAF7FB211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589689"/>
            <a:ext cx="50196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4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EC45-FDFC-4423-B0BB-BFAA226D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of shortest paths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5ABDB-98D0-4F19-B3AB-ACAA5A5F6FA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dirty="0"/>
                  <a:t>Claim A:</a:t>
                </a:r>
              </a:p>
              <a:p>
                <a:pPr lvl="1"/>
                <a:r>
                  <a:rPr lang="en-US" dirty="0"/>
                  <a:t>Given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 shortest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has to be </a:t>
                </a:r>
                <a:r>
                  <a:rPr lang="en-US" dirty="0">
                    <a:solidFill>
                      <a:srgbClr val="C00000"/>
                    </a:solidFill>
                  </a:rPr>
                  <a:t>simple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(Recall, a path is simple if no node in it is visited more than once)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5ABDB-98D0-4F19-B3AB-ACAA5A5F6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blipFill>
                <a:blip r:embed="rId2"/>
                <a:stretch>
                  <a:fillRect l="-592" t="-2353" b="-382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15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EC45-FDFC-4423-B0BB-BFAA226D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of shortest paths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FFF6538-B9E3-4F9B-BD52-96BEF0FAF97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80848" y="1447800"/>
                <a:ext cx="8229600" cy="24384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Key structure of shortest paths:</a:t>
                </a:r>
              </a:p>
              <a:p>
                <a:pPr lvl="1"/>
                <a:r>
                  <a:rPr lang="en-US" dirty="0"/>
                  <a:t>Any sub-path of a shortest path must be a shortest path itself. </a:t>
                </a:r>
              </a:p>
              <a:p>
                <a:pPr lvl="1"/>
                <a:r>
                  <a:rPr lang="en-US" dirty="0"/>
                  <a:t>This implies that a shortest path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consists of a shortest path of length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) plus one edge. </a:t>
                </a:r>
              </a:p>
              <a:p>
                <a:pPr lvl="2"/>
                <a:r>
                  <a:rPr lang="en-US" dirty="0" err="1"/>
                  <a:t>e.g</a:t>
                </a:r>
                <a:r>
                  <a:rPr lang="en-US" dirty="0"/>
                  <a:t>, given a shortest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it consists of a shortest path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plus edge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marL="0" indent="0">
                  <a:buFont typeface="Wingdings 3" pitchFamily="18" charset="2"/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FFF6538-B9E3-4F9B-BD52-96BEF0FAF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848" y="1447800"/>
                <a:ext cx="8229600" cy="2438400"/>
              </a:xfrm>
              <a:prstGeom prst="rect">
                <a:avLst/>
              </a:prstGeom>
              <a:blipFill>
                <a:blip r:embed="rId2"/>
                <a:stretch>
                  <a:fillRect l="-592" t="-2239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4D06DCD-A77E-40EB-8EF3-2DEDDC8EE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114800"/>
            <a:ext cx="46863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3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Shortest path</a:t>
            </a:r>
            <a:br>
              <a:rPr lang="en-US" dirty="0"/>
            </a:br>
            <a:r>
              <a:rPr lang="en-US" dirty="0"/>
              <a:t>and BFS </a:t>
            </a:r>
          </a:p>
        </p:txBody>
      </p:sp>
    </p:spTree>
    <p:extLst>
      <p:ext uri="{BB962C8B-B14F-4D97-AF65-F5344CB8AC3E}">
        <p14:creationId xmlns:p14="http://schemas.microsoft.com/office/powerpoint/2010/main" val="2838374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4B31-8051-48BD-A6A2-D1DB06C3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shortest paths?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A37911-2331-4E82-9519-096BC7FEA95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High level idea: </a:t>
                </a:r>
              </a:p>
              <a:p>
                <a:pPr lvl="1"/>
                <a:r>
                  <a:rPr lang="en-US" dirty="0"/>
                  <a:t>Starting from the source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find all nodes that are at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</a:t>
                </a:r>
                <a:r>
                  <a:rPr lang="en-US" dirty="0">
                    <a:solidFill>
                      <a:srgbClr val="C00000"/>
                    </a:solidFill>
                  </a:rPr>
                  <a:t>use them </a:t>
                </a:r>
                <a:r>
                  <a:rPr lang="en-US" dirty="0"/>
                  <a:t>to find those nodes at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</a:t>
                </a:r>
                <a:r>
                  <a:rPr lang="en-US" dirty="0">
                    <a:solidFill>
                      <a:srgbClr val="C00000"/>
                    </a:solidFill>
                  </a:rPr>
                  <a:t>use them </a:t>
                </a:r>
                <a:r>
                  <a:rPr lang="en-US" dirty="0"/>
                  <a:t>to find those nodes at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…. </a:t>
                </a:r>
              </a:p>
              <a:p>
                <a:pPr lvl="1"/>
                <a:r>
                  <a:rPr lang="en-US" dirty="0"/>
                  <a:t>Till we find all reachable nodes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Note: </a:t>
                </a:r>
              </a:p>
              <a:p>
                <a:pPr lvl="1"/>
                <a:r>
                  <a:rPr lang="en-US" dirty="0"/>
                  <a:t>to get a node at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from source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you have to first reach a node at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and extend it from that node via an edge.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A37911-2331-4E82-9519-096BC7FEA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b="-4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04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033C-16B4-4B54-89BC-AF767AEC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26EB2-5925-4611-BCB8-4970FC4B57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EC15C-511B-4F6B-A1E4-7AF825CC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676400"/>
            <a:ext cx="50196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68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D2810-2F7B-4161-A4FD-86787630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C576-CC4B-4562-9334-9F03384F04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It turns out that this idea is exactly what BFS is doing! </a:t>
            </a:r>
          </a:p>
          <a:p>
            <a:r>
              <a:rPr lang="en-US" dirty="0"/>
              <a:t>Intuitively, </a:t>
            </a:r>
          </a:p>
          <a:p>
            <a:pPr lvl="1"/>
            <a:r>
              <a:rPr lang="en-US" dirty="0"/>
              <a:t>the first time that we discover a node turns out to encode the fastest way to reach it </a:t>
            </a:r>
          </a:p>
          <a:p>
            <a:pPr lvl="2"/>
            <a:r>
              <a:rPr lang="en-US" dirty="0"/>
              <a:t>that is also when we first change the status of a node from undiscovered to pending </a:t>
            </a:r>
          </a:p>
          <a:p>
            <a:pPr lvl="1"/>
            <a:r>
              <a:rPr lang="en-US" dirty="0"/>
              <a:t>the time this node is discovered relates to the distance to the source nodes</a:t>
            </a:r>
          </a:p>
          <a:p>
            <a:pPr lvl="1"/>
            <a:r>
              <a:rPr lang="en-US" dirty="0"/>
              <a:t>by visiting and exploring the oldest pending nodes (those with smallest distance to the source first),  we find fastest way to reach a new node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0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26C8-88F6-4DC7-85FF-B6203C0E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BFS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76213-214B-42E7-98D2-9F795F99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1757"/>
            <a:ext cx="8229600" cy="458804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37221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C2DC-8B01-4BE4-B79F-10C49EE5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of BFS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230EA-9F2C-4B9C-B3F3-6A4C144C809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lvl="1"/>
                <a:r>
                  <a:rPr lang="en-US" sz="2000" dirty="0"/>
                  <a:t>all nodes distance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from source are added to the queue before any node of distance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Hence nodes are added to the queue in increasing order of their distances to the source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Therefore, nodes are “processed” (popped from the queue) in order of distance from the source, </a:t>
                </a:r>
              </a:p>
              <a:p>
                <a:pPr lvl="1"/>
                <a:r>
                  <a:rPr lang="en-US" sz="2000" dirty="0"/>
                  <a:t>which further guarantees that the first time to find a undiscovered node, that must be the shortest path to reach this node from the source.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230EA-9F2C-4B9C-B3F3-6A4C144C8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67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C2AC-D419-44DB-81B6-4D456196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2490D-4360-49F5-89AB-82F8A4757EC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a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that we just popped from the queue</a:t>
                </a:r>
              </a:p>
              <a:p>
                <a:r>
                  <a:rPr lang="en-US" sz="2400" dirty="0"/>
                  <a:t>Suppose the distance from source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:r>
                  <a:rPr lang="en-US" sz="2400" dirty="0"/>
                  <a:t>Our algorithm will then scan through all neighbors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b="0" dirty="0"/>
                  <a:t>. </a:t>
                </a:r>
              </a:p>
              <a:p>
                <a:pPr lvl="1"/>
                <a:r>
                  <a:rPr lang="en-US" sz="2100" b="0" dirty="0"/>
                  <a:t>For a neighbor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100" dirty="0"/>
                  <a:t> of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100" b="0" dirty="0"/>
                  <a:t>, </a:t>
                </a:r>
                <a:r>
                  <a:rPr lang="en-US" sz="2000" dirty="0"/>
                  <a:t>we have now found a new path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/>
                  <a:t> to reach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by the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followed by the edge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 The length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lvl="1"/>
                <a:r>
                  <a:rPr lang="en-US" sz="2100" b="0" dirty="0"/>
                  <a:t>If</a:t>
                </a:r>
                <a:r>
                  <a:rPr lang="en-US" sz="2000" b="0" dirty="0"/>
                  <a:t> this neighbor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dirty="0"/>
                  <a:t>is </a:t>
                </a:r>
                <a:r>
                  <a:rPr lang="en-US" sz="2000" b="0" dirty="0">
                    <a:solidFill>
                      <a:srgbClr val="00B050"/>
                    </a:solidFill>
                  </a:rPr>
                  <a:t>undiscovered</a:t>
                </a:r>
              </a:p>
              <a:p>
                <a:pPr lvl="2"/>
                <a:r>
                  <a:rPr lang="en-US" sz="1800" dirty="0"/>
                  <a:t>then the new path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 must be shortest! Why? </a:t>
                </a:r>
              </a:p>
              <a:p>
                <a:pPr lvl="2"/>
                <a:r>
                  <a:rPr lang="en-US" sz="1800" dirty="0"/>
                  <a:t>h</a:t>
                </a:r>
                <a:r>
                  <a:rPr lang="en-US" sz="1800" b="0" dirty="0"/>
                  <a:t>ence the shortest path distance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b="0" dirty="0"/>
                  <a:t>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800" b="0" dirty="0"/>
                  <a:t>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800" b="0" dirty="0"/>
              </a:p>
              <a:p>
                <a:pPr lvl="1"/>
                <a:r>
                  <a:rPr lang="en-US" sz="2000" dirty="0"/>
                  <a:t>Otherwise, this neighbor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dirty="0"/>
                  <a:t>is already discovered (</a:t>
                </a:r>
                <a:r>
                  <a:rPr lang="en-US" sz="2000" b="0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sz="2000" b="0" dirty="0"/>
                  <a:t> or </a:t>
                </a:r>
                <a:r>
                  <a:rPr lang="en-US" sz="2000" b="0" dirty="0">
                    <a:solidFill>
                      <a:srgbClr val="C00000"/>
                    </a:solidFill>
                  </a:rPr>
                  <a:t>visited</a:t>
                </a:r>
                <a:r>
                  <a:rPr lang="en-US" sz="2000" b="0" dirty="0"/>
                  <a:t>)</a:t>
                </a:r>
              </a:p>
              <a:p>
                <a:pPr lvl="2"/>
                <a:r>
                  <a:rPr lang="en-US" sz="1800" dirty="0"/>
                  <a:t>t</a:t>
                </a:r>
                <a:r>
                  <a:rPr lang="en-US" sz="1800" b="0" dirty="0"/>
                  <a:t>hen it means that we have already found a path to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b="0" dirty="0"/>
                  <a:t> before, whose length is at most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b="0" dirty="0"/>
                  <a:t>. </a:t>
                </a:r>
                <a:r>
                  <a:rPr lang="en-US" sz="1800" dirty="0"/>
                  <a:t> </a:t>
                </a:r>
              </a:p>
              <a:p>
                <a:pPr lvl="2"/>
                <a:r>
                  <a:rPr lang="en-US" sz="1800" dirty="0"/>
                  <a:t>so, the new path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 we just found is not useful for shortest path – we already have a shortest path 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18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2490D-4360-49F5-89AB-82F8A4757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4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D547-A5B1-491F-80E5-734C463E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BFS – distance computation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D61FF8-DC59-4EA8-B65E-2C8DD0F646A6}"/>
              </a:ext>
            </a:extLst>
          </p:cNvPr>
          <p:cNvGrpSpPr/>
          <p:nvPr/>
        </p:nvGrpSpPr>
        <p:grpSpPr>
          <a:xfrm>
            <a:off x="381000" y="1143000"/>
            <a:ext cx="8229600" cy="5334000"/>
            <a:chOff x="381000" y="1143000"/>
            <a:chExt cx="8229600" cy="5334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81F22D-739C-4748-8C89-0EC3984FC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476" y="1143000"/>
              <a:ext cx="7315200" cy="11239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6659E2-C091-452D-B574-C5442CE86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550" y="2362200"/>
              <a:ext cx="3448050" cy="51435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BA9C000-8101-4877-9008-5A52D0E23801}"/>
                </a:ext>
              </a:extLst>
            </p:cNvPr>
            <p:cNvGrpSpPr/>
            <p:nvPr/>
          </p:nvGrpSpPr>
          <p:grpSpPr>
            <a:xfrm>
              <a:off x="965638" y="2971800"/>
              <a:ext cx="5130362" cy="3495675"/>
              <a:chOff x="965638" y="3122886"/>
              <a:chExt cx="5130362" cy="349567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ACA8395-C433-4165-86D5-FDA124B1B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550" y="3122886"/>
                <a:ext cx="5124450" cy="2171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0DE6CA6-818A-4048-ABAE-8EF50EA34E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5638" y="5294586"/>
                <a:ext cx="3619500" cy="1323975"/>
              </a:xfrm>
              <a:prstGeom prst="rect">
                <a:avLst/>
              </a:prstGeom>
            </p:spPr>
          </p:pic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6DCC22-F350-4441-985E-16E9093A13B3}"/>
                </a:ext>
              </a:extLst>
            </p:cNvPr>
            <p:cNvSpPr/>
            <p:nvPr/>
          </p:nvSpPr>
          <p:spPr>
            <a:xfrm>
              <a:off x="381000" y="1143000"/>
              <a:ext cx="8229600" cy="533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4410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3CBF-77DC-4E8A-9F7A-578D2E74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we can do more!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9E30D-5A50-420E-A560-30B199C83E9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We can record information to help us recover shortest paths themselves later! </a:t>
                </a:r>
              </a:p>
              <a:p>
                <a:endParaRPr lang="en-US" sz="800" dirty="0"/>
              </a:p>
              <a:p>
                <a:r>
                  <a:rPr lang="en-US" sz="2400" dirty="0"/>
                  <a:t>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set to be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BFS-predecessor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is discovered while visiting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.  </a:t>
                </a:r>
              </a:p>
              <a:p>
                <a:endParaRPr lang="en-US" sz="800" dirty="0"/>
              </a:p>
              <a:p>
                <a:r>
                  <a:rPr lang="en-US" sz="2400" dirty="0"/>
                  <a:t>This means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the predecessor along a shortest path from the source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In particular, the shortest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plus edge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a shortest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! </a:t>
                </a:r>
              </a:p>
              <a:p>
                <a:pPr lvl="1"/>
                <a:endParaRPr lang="en-US" sz="800" dirty="0"/>
              </a:p>
              <a:p>
                <a:r>
                  <a:rPr lang="en-US" sz="2400" dirty="0"/>
                  <a:t>If all nodes remember their </a:t>
                </a:r>
                <a:r>
                  <a:rPr lang="en-US" sz="2400" dirty="0">
                    <a:solidFill>
                      <a:srgbClr val="0070C0"/>
                    </a:solidFill>
                  </a:rPr>
                  <a:t>BFS-predecessors</a:t>
                </a:r>
                <a:r>
                  <a:rPr lang="en-US" sz="2400" dirty="0"/>
                  <a:t>, </a:t>
                </a:r>
              </a:p>
              <a:p>
                <a:pPr lvl="1"/>
                <a:r>
                  <a:rPr lang="en-US" sz="2000" dirty="0"/>
                  <a:t>Then we have enough information to recover shortest paths from the source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all reachable nodes! </a:t>
                </a:r>
              </a:p>
              <a:p>
                <a:pPr marL="274638" lvl="1" indent="0">
                  <a:buNone/>
                </a:pP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9E30D-5A50-420E-A560-30B199C83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05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3E29-1D4E-40B3-9BA2-0454B2C1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Shortest-Path algorithm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B0789D-381E-43C9-AA42-9437FA2496C3}"/>
              </a:ext>
            </a:extLst>
          </p:cNvPr>
          <p:cNvGrpSpPr/>
          <p:nvPr/>
        </p:nvGrpSpPr>
        <p:grpSpPr>
          <a:xfrm>
            <a:off x="457200" y="1143000"/>
            <a:ext cx="7696200" cy="5283881"/>
            <a:chOff x="381000" y="1219200"/>
            <a:chExt cx="7696200" cy="52838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7F83F5-B741-440D-AED1-DD8BDDBDB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9828" y="1219200"/>
              <a:ext cx="6557963" cy="122586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B43DD3-8E4E-4256-B0C5-24B875879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869" y="2521268"/>
              <a:ext cx="2931795" cy="74580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9780F3-D468-4666-B6F5-E93C6F4BD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2869" y="3343276"/>
              <a:ext cx="4663440" cy="278606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D992390-843E-43E0-A9AE-865C8B7BB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2869" y="6254478"/>
              <a:ext cx="3248978" cy="24860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4AD588C-FF21-4E5F-B747-582B9A5E7E74}"/>
                </a:ext>
              </a:extLst>
            </p:cNvPr>
            <p:cNvSpPr/>
            <p:nvPr/>
          </p:nvSpPr>
          <p:spPr>
            <a:xfrm>
              <a:off x="381000" y="1219200"/>
              <a:ext cx="7696200" cy="52838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1398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033C-16B4-4B54-89BC-AF767AEC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26EB2-5925-4611-BCB8-4970FC4B57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EC15C-511B-4F6B-A1E4-7AF825CC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676400"/>
            <a:ext cx="50196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84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98C5-CFA1-49FE-8D00-0457FE2E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DE974-677B-4B2B-BD46-8C8C34CA3FF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this has the same asymptotic time complexity as BFS algorithm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DE974-677B-4B2B-BD46-8C8C34CA3F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56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1600200"/>
          </a:xfrm>
        </p:spPr>
        <p:txBody>
          <a:bodyPr/>
          <a:lstStyle/>
          <a:p>
            <a:pPr algn="ctr"/>
            <a:r>
              <a:rPr lang="en-US" dirty="0"/>
              <a:t>BFS Trees 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recovering shortest paths</a:t>
            </a:r>
          </a:p>
        </p:txBody>
      </p:sp>
    </p:spTree>
    <p:extLst>
      <p:ext uri="{BB962C8B-B14F-4D97-AF65-F5344CB8AC3E}">
        <p14:creationId xmlns:p14="http://schemas.microsoft.com/office/powerpoint/2010/main" val="794187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55B6-E4C4-4B0E-8112-D368E1DC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</a:t>
            </a:r>
            <a:r>
              <a:rPr lang="en-US" dirty="0" err="1"/>
              <a:t>BFS_shortest_path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0E274-F1E8-4337-B82F-AEAA8D60F10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Every node reachable from the source has a single </a:t>
                </a:r>
                <a:r>
                  <a:rPr lang="en-US" dirty="0">
                    <a:solidFill>
                      <a:srgbClr val="0070C0"/>
                    </a:solidFill>
                  </a:rPr>
                  <a:t>BFS-predecessor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except for the source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itself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Connecting each  node to its BFS-predecessor gives a rooted tree, where the source is the root</a:t>
                </a:r>
              </a:p>
              <a:p>
                <a:pPr lvl="1"/>
                <a:r>
                  <a:rPr lang="en-US" dirty="0"/>
                  <a:t>in particular, the parent of each node in the tree is its BFS-predecessor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This tree is called the </a:t>
                </a:r>
                <a:r>
                  <a:rPr lang="en-US" dirty="0">
                    <a:solidFill>
                      <a:srgbClr val="0070C0"/>
                    </a:solidFill>
                  </a:rPr>
                  <a:t>BFS-tree associated to source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60E274-F1E8-4337-B82F-AEAA8D60F1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825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543F-10FC-4BD7-BDAB-7D0B7F8D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009F6C-44A1-4D69-8154-68ADB2F168F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 (free) </a:t>
                </a:r>
                <a:r>
                  <a:rPr lang="en-US" sz="2400" dirty="0">
                    <a:solidFill>
                      <a:srgbClr val="0070C0"/>
                    </a:solidFill>
                  </a:rPr>
                  <a:t>tree</a:t>
                </a:r>
                <a:r>
                  <a:rPr lang="en-US" sz="2400" dirty="0"/>
                  <a:t> is a connected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For any two nodes in a tree, there is only one simple path connecting them.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rooted tree </a:t>
                </a:r>
                <a:r>
                  <a:rPr lang="en-US" sz="2400" dirty="0"/>
                  <a:t>has a root, and each node other than the root has a parent. </a:t>
                </a:r>
              </a:p>
              <a:p>
                <a:pPr lvl="1"/>
                <a:r>
                  <a:rPr lang="en-US" sz="2000" dirty="0"/>
                  <a:t>The parent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the predecessor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along the unique simple path from the root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endParaRPr lang="en-US" sz="2000" dirty="0"/>
              </a:p>
              <a:p>
                <a:r>
                  <a:rPr lang="en-US" sz="2300" dirty="0"/>
                  <a:t>A collection of trees is called a </a:t>
                </a:r>
                <a:r>
                  <a:rPr lang="en-US" sz="2300" dirty="0">
                    <a:solidFill>
                      <a:srgbClr val="0070C0"/>
                    </a:solidFill>
                  </a:rPr>
                  <a:t>forest</a:t>
                </a:r>
                <a:r>
                  <a:rPr lang="en-US" sz="2300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009F6C-44A1-4D69-8154-68ADB2F16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658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42226-D3EB-48A8-A3F5-CE733182401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143000"/>
                <a:ext cx="8229600" cy="5181600"/>
              </a:xfrm>
            </p:spPr>
            <p:txBody>
              <a:bodyPr/>
              <a:lstStyle/>
              <a:p>
                <a:r>
                  <a:rPr lang="en-US" dirty="0"/>
                  <a:t>BFS-tree associated to source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can be used to recover</a:t>
                </a:r>
              </a:p>
              <a:p>
                <a:pPr lvl="1"/>
                <a:r>
                  <a:rPr lang="en-US" dirty="0"/>
                  <a:t>both the shortest path and shortest path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each reachable node. </a:t>
                </a:r>
              </a:p>
              <a:p>
                <a:pPr lvl="1"/>
                <a:endParaRPr lang="en-US" sz="600" dirty="0"/>
              </a:p>
              <a:p>
                <a:r>
                  <a:rPr lang="en-US" dirty="0"/>
                  <a:t>Example: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/>
                  <a:t>Claim:  </a:t>
                </a:r>
                <a:r>
                  <a:rPr lang="en-US" sz="2200" dirty="0"/>
                  <a:t>Given a graph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, 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/>
                  <a:t> be its BFS-tree from source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.  Then for the unique path from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00" dirty="0"/>
                  <a:t>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/>
                  <a:t> is a shortest path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and its length is the shortest path distance from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00" dirty="0"/>
                  <a:t>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42226-D3EB-48A8-A3F5-CE7331824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143000"/>
                <a:ext cx="8229600" cy="5181600"/>
              </a:xfrm>
              <a:blipFill>
                <a:blip r:embed="rId2"/>
                <a:stretch>
                  <a:fillRect l="-667" t="-1176" r="-1556" b="-3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6199BA8-B5C3-404A-B35C-421570734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048000"/>
            <a:ext cx="4411000" cy="2285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264E0B-B636-49F9-89B7-9C3EF09F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BFS-tree</a:t>
            </a:r>
          </a:p>
        </p:txBody>
      </p:sp>
    </p:spTree>
    <p:extLst>
      <p:ext uri="{BB962C8B-B14F-4D97-AF65-F5344CB8AC3E}">
        <p14:creationId xmlns:p14="http://schemas.microsoft.com/office/powerpoint/2010/main" val="287087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82EF-BE75-4827-9448-6A5E4A96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7CB79-EC57-4FC0-9791-389721DD2BD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828800"/>
          </a:xfrm>
        </p:spPr>
        <p:txBody>
          <a:bodyPr/>
          <a:lstStyle/>
          <a:p>
            <a:r>
              <a:rPr lang="en-US" dirty="0"/>
              <a:t>In general, if we run the full-BFS algorithm (with augmentation of computing also predecessors and distances), then we will obtain a collection of BFS-trees, called a BFS-forest. </a:t>
            </a:r>
          </a:p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7E3F8E-60A3-443F-8F71-434A6BAEE78C}"/>
              </a:ext>
            </a:extLst>
          </p:cNvPr>
          <p:cNvGrpSpPr/>
          <p:nvPr/>
        </p:nvGrpSpPr>
        <p:grpSpPr>
          <a:xfrm>
            <a:off x="295605" y="3118945"/>
            <a:ext cx="8385940" cy="3401165"/>
            <a:chOff x="295605" y="3118945"/>
            <a:chExt cx="8385940" cy="3401165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B5A1BC53-0964-4743-96F5-D7646B69D03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51945" y="3118945"/>
              <a:ext cx="8229600" cy="1828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73050" indent="-273050" algn="l" rtl="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7688" indent="-273050" algn="l" rtl="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325" indent="-228600" algn="l" rtl="0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6963" indent="-228600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8BA2B4"/>
                </a:buClr>
                <a:buSzPct val="70000"/>
                <a:buFont typeface="Wingdings" pitchFamily="2" charset="2"/>
                <a:buChar char="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itchFamily="2" charset="2"/>
                <a:buChar char="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Example: </a:t>
              </a:r>
            </a:p>
            <a:p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132D1AE-45F9-419C-9230-04F53AE3DD85}"/>
                </a:ext>
              </a:extLst>
            </p:cNvPr>
            <p:cNvGrpSpPr/>
            <p:nvPr/>
          </p:nvGrpSpPr>
          <p:grpSpPr>
            <a:xfrm>
              <a:off x="295605" y="3498550"/>
              <a:ext cx="4366882" cy="3021560"/>
              <a:chOff x="295605" y="3498550"/>
              <a:chExt cx="4366882" cy="302156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8CBE082-CEC3-4E18-AB35-B512BF1F1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5605" y="3810000"/>
                <a:ext cx="2414588" cy="2071688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BB27624-014F-4646-9CA7-F39A0D4948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5448" y="3498550"/>
                <a:ext cx="1714500" cy="131445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2115541-8F71-490A-BA2B-2A0085FBE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8012" y="4848472"/>
                <a:ext cx="1514475" cy="16716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7892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438D-A61E-4C44-B7A5-16667526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379173-146D-40CC-BF55-12C784294AF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BFS algorithm: </a:t>
                </a:r>
              </a:p>
              <a:p>
                <a:pPr lvl="1"/>
                <a:r>
                  <a:rPr lang="en-US"/>
                  <a:t>It explores </a:t>
                </a:r>
                <a:r>
                  <a:rPr lang="en-US" dirty="0"/>
                  <a:t>nodes in order of their first discovery time</a:t>
                </a:r>
              </a:p>
              <a:p>
                <a:pPr lvl="1"/>
                <a:r>
                  <a:rPr lang="en-US" dirty="0"/>
                  <a:t>In particular, it will explore them in order of their shortest path distance to the source</a:t>
                </a:r>
              </a:p>
              <a:p>
                <a:pPr lvl="1"/>
                <a:r>
                  <a:rPr lang="en-US" dirty="0"/>
                  <a:t>It will propagate a wavefront, first visit all nodes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to source, then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then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3, </m:t>
                    </m:r>
                  </m:oMath>
                </a14:m>
                <a:r>
                  <a:rPr lang="en-US" dirty="0"/>
                  <a:t>and so on</a:t>
                </a:r>
              </a:p>
              <a:p>
                <a:pPr lvl="1"/>
                <a:r>
                  <a:rPr lang="en-US" dirty="0"/>
                  <a:t>So it explores as broad as possible before moving deeper (meaning further away from the source) </a:t>
                </a:r>
              </a:p>
              <a:p>
                <a:pPr lvl="1"/>
                <a:r>
                  <a:rPr lang="en-US" dirty="0"/>
                  <a:t>Thus the name:  “</a:t>
                </a:r>
                <a:r>
                  <a:rPr lang="en-US" dirty="0">
                    <a:solidFill>
                      <a:srgbClr val="C00000"/>
                    </a:solidFill>
                  </a:rPr>
                  <a:t>breadth-first</a:t>
                </a:r>
                <a:r>
                  <a:rPr lang="en-US" dirty="0"/>
                  <a:t>” search. </a:t>
                </a:r>
              </a:p>
              <a:p>
                <a:r>
                  <a:rPr lang="en-US" dirty="0"/>
                  <a:t>It can be used to compute the shortest path distance to a source node</a:t>
                </a:r>
              </a:p>
              <a:p>
                <a:pPr lvl="1"/>
                <a:r>
                  <a:rPr lang="en-US" dirty="0"/>
                  <a:t>Time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379173-146D-40CC-BF55-12C784294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741" b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875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20057</TotalTime>
  <Words>1319</Words>
  <Application>Microsoft Office PowerPoint</Application>
  <PresentationFormat>On-screen Show (4:3)</PresentationFormat>
  <Paragraphs>134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Bookman Old Style</vt:lpstr>
      <vt:lpstr>Cambria Math</vt:lpstr>
      <vt:lpstr>Calibri Light</vt:lpstr>
      <vt:lpstr>Gill Sans MT</vt:lpstr>
      <vt:lpstr>Calibri</vt:lpstr>
      <vt:lpstr>Wingdings 3</vt:lpstr>
      <vt:lpstr>Wingdings</vt:lpstr>
      <vt:lpstr>Origin</vt:lpstr>
      <vt:lpstr>1_Custom Design</vt:lpstr>
      <vt:lpstr>Custom Design</vt:lpstr>
      <vt:lpstr>DSC40B: Theoretical Foundations of Data Science II </vt:lpstr>
      <vt:lpstr>PowerPoint Presentation</vt:lpstr>
      <vt:lpstr>Shortest path in (unweighted) graphs</vt:lpstr>
      <vt:lpstr>PowerPoint Presentation</vt:lpstr>
      <vt:lpstr>PowerPoint Presentation</vt:lpstr>
      <vt:lpstr>PowerPoint Presentation</vt:lpstr>
      <vt:lpstr>Example </vt:lpstr>
      <vt:lpstr>Property of shortest paths (i)</vt:lpstr>
      <vt:lpstr>Property of shortest paths (ii)</vt:lpstr>
      <vt:lpstr>Shortest path and BFS </vt:lpstr>
      <vt:lpstr>How do we find shortest paths? </vt:lpstr>
      <vt:lpstr>Example </vt:lpstr>
      <vt:lpstr>PowerPoint Presentation</vt:lpstr>
      <vt:lpstr>Recall BFS</vt:lpstr>
      <vt:lpstr>Property of BFS </vt:lpstr>
      <vt:lpstr>PowerPoint Presentation</vt:lpstr>
      <vt:lpstr>Modified BFS – distance computation</vt:lpstr>
      <vt:lpstr>But we can do more! </vt:lpstr>
      <vt:lpstr>Shortest-Path algorithm </vt:lpstr>
      <vt:lpstr>Example </vt:lpstr>
      <vt:lpstr>Time complexity</vt:lpstr>
      <vt:lpstr>BFS Trees  and  recovering shortest paths</vt:lpstr>
      <vt:lpstr>Results of BFS_shortest_path </vt:lpstr>
      <vt:lpstr>Trees </vt:lpstr>
      <vt:lpstr>BFS-tree</vt:lpstr>
      <vt:lpstr>PowerPoint Presentation</vt:lpstr>
      <vt:lpstr>Summary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1265</cp:revision>
  <dcterms:created xsi:type="dcterms:W3CDTF">2006-08-16T00:00:00Z</dcterms:created>
  <dcterms:modified xsi:type="dcterms:W3CDTF">2021-02-16T21:51:54Z</dcterms:modified>
</cp:coreProperties>
</file>