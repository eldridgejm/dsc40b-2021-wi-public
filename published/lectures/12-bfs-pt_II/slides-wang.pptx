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 saveSubsetFonts="1">
  <p:sldMasterIdLst>
    <p:sldMasterId id="2147483660" r:id="rId1"/>
    <p:sldMasterId id="2147483681" r:id="rId2"/>
    <p:sldMasterId id="2147483668" r:id="rId3"/>
  </p:sldMasterIdLst>
  <p:notesMasterIdLst>
    <p:notesMasterId r:id="rId32"/>
  </p:notesMasterIdLst>
  <p:sldIdLst>
    <p:sldId id="256" r:id="rId4"/>
    <p:sldId id="779" r:id="rId5"/>
    <p:sldId id="785" r:id="rId6"/>
    <p:sldId id="812" r:id="rId7"/>
    <p:sldId id="813" r:id="rId8"/>
    <p:sldId id="814" r:id="rId9"/>
    <p:sldId id="815" r:id="rId10"/>
    <p:sldId id="816" r:id="rId11"/>
    <p:sldId id="817" r:id="rId12"/>
    <p:sldId id="819" r:id="rId13"/>
    <p:sldId id="818" r:id="rId14"/>
    <p:sldId id="820" r:id="rId15"/>
    <p:sldId id="821" r:id="rId16"/>
    <p:sldId id="822" r:id="rId17"/>
    <p:sldId id="823" r:id="rId18"/>
    <p:sldId id="824" r:id="rId19"/>
    <p:sldId id="825" r:id="rId20"/>
    <p:sldId id="826" r:id="rId21"/>
    <p:sldId id="827" r:id="rId22"/>
    <p:sldId id="830" r:id="rId23"/>
    <p:sldId id="828" r:id="rId24"/>
    <p:sldId id="829" r:id="rId25"/>
    <p:sldId id="831" r:id="rId26"/>
    <p:sldId id="832" r:id="rId27"/>
    <p:sldId id="833" r:id="rId28"/>
    <p:sldId id="834" r:id="rId29"/>
    <p:sldId id="835" r:id="rId30"/>
    <p:sldId id="811" r:id="rId31"/>
  </p:sldIdLst>
  <p:sldSz cx="9144000" cy="6858000" type="screen4x3"/>
  <p:notesSz cx="6858000" cy="9144000"/>
  <p:embeddedFontLst>
    <p:embeddedFont>
      <p:font typeface="Bookman Old Style" panose="02050604050505020204" pitchFamily="18" charset="0"/>
      <p:regular r:id="rId33"/>
      <p:bold r:id="rId34"/>
      <p:italic r:id="rId35"/>
      <p:boldItalic r:id="rId36"/>
    </p:embeddedFont>
    <p:embeddedFont>
      <p:font typeface="Calibri" panose="020F0502020204030204" pitchFamily="34" charset="0"/>
      <p:regular r:id="rId37"/>
      <p:bold r:id="rId38"/>
      <p:italic r:id="rId39"/>
      <p:boldItalic r:id="rId40"/>
    </p:embeddedFont>
    <p:embeddedFont>
      <p:font typeface="Calibri Light" panose="020F0302020204030204" pitchFamily="34" charset="0"/>
      <p:regular r:id="rId41"/>
      <p:italic r:id="rId42"/>
    </p:embeddedFont>
    <p:embeddedFont>
      <p:font typeface="Cambria Math" panose="02040503050406030204" pitchFamily="18" charset="0"/>
      <p:regular r:id="rId43"/>
    </p:embeddedFont>
    <p:embeddedFont>
      <p:font typeface="Gill Sans MT" panose="020B0502020104020203" pitchFamily="34" charset="0"/>
      <p:regular r:id="rId44"/>
      <p:bold r:id="rId45"/>
      <p:italic r:id="rId46"/>
      <p:boldItalic r:id="rId47"/>
    </p:embeddedFont>
    <p:embeddedFont>
      <p:font typeface="Wingdings 3" panose="05040102010807070707" pitchFamily="18" charset="2"/>
      <p:regular r:id="rId48"/>
    </p:embeddedFont>
  </p:embeddedFontLst>
  <p:custDataLst>
    <p:tags r:id="rId49"/>
  </p:custDataLst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00000"/>
    <a:srgbClr val="0B0E8F"/>
    <a:srgbClr val="FF9900"/>
    <a:srgbClr val="FFFFCC"/>
    <a:srgbClr val="46464C"/>
    <a:srgbClr val="6E7792"/>
    <a:srgbClr val="1F0C64"/>
    <a:srgbClr val="9FA5C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353" autoAdjust="0"/>
    <p:restoredTop sz="90909" autoAdjust="0"/>
  </p:normalViewPr>
  <p:slideViewPr>
    <p:cSldViewPr>
      <p:cViewPr varScale="1">
        <p:scale>
          <a:sx n="61" d="100"/>
          <a:sy n="61" d="100"/>
        </p:scale>
        <p:origin x="1412" y="4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26" Type="http://schemas.openxmlformats.org/officeDocument/2006/relationships/slide" Target="slides/slide23.xml"/><Relationship Id="rId39" Type="http://schemas.openxmlformats.org/officeDocument/2006/relationships/font" Target="fonts/font7.fntdata"/><Relationship Id="rId21" Type="http://schemas.openxmlformats.org/officeDocument/2006/relationships/slide" Target="slides/slide18.xml"/><Relationship Id="rId34" Type="http://schemas.openxmlformats.org/officeDocument/2006/relationships/font" Target="fonts/font2.fntdata"/><Relationship Id="rId42" Type="http://schemas.openxmlformats.org/officeDocument/2006/relationships/font" Target="fonts/font10.fntdata"/><Relationship Id="rId47" Type="http://schemas.openxmlformats.org/officeDocument/2006/relationships/font" Target="fonts/font15.fntdata"/><Relationship Id="rId50" Type="http://schemas.openxmlformats.org/officeDocument/2006/relationships/presProps" Target="presProps.xml"/><Relationship Id="rId7" Type="http://schemas.openxmlformats.org/officeDocument/2006/relationships/slide" Target="slides/slide4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9" Type="http://schemas.openxmlformats.org/officeDocument/2006/relationships/slide" Target="slides/slide26.xml"/><Relationship Id="rId11" Type="http://schemas.openxmlformats.org/officeDocument/2006/relationships/slide" Target="slides/slide8.xml"/><Relationship Id="rId24" Type="http://schemas.openxmlformats.org/officeDocument/2006/relationships/slide" Target="slides/slide21.xml"/><Relationship Id="rId32" Type="http://schemas.openxmlformats.org/officeDocument/2006/relationships/notesMaster" Target="notesMasters/notesMaster1.xml"/><Relationship Id="rId37" Type="http://schemas.openxmlformats.org/officeDocument/2006/relationships/font" Target="fonts/font5.fntdata"/><Relationship Id="rId40" Type="http://schemas.openxmlformats.org/officeDocument/2006/relationships/font" Target="fonts/font8.fntdata"/><Relationship Id="rId45" Type="http://schemas.openxmlformats.org/officeDocument/2006/relationships/font" Target="fonts/font13.fntdata"/><Relationship Id="rId53" Type="http://schemas.openxmlformats.org/officeDocument/2006/relationships/tableStyles" Target="tableStyles.xml"/><Relationship Id="rId5" Type="http://schemas.openxmlformats.org/officeDocument/2006/relationships/slide" Target="slides/slide2.xml"/><Relationship Id="rId10" Type="http://schemas.openxmlformats.org/officeDocument/2006/relationships/slide" Target="slides/slide7.xml"/><Relationship Id="rId19" Type="http://schemas.openxmlformats.org/officeDocument/2006/relationships/slide" Target="slides/slide16.xml"/><Relationship Id="rId31" Type="http://schemas.openxmlformats.org/officeDocument/2006/relationships/slide" Target="slides/slide28.xml"/><Relationship Id="rId44" Type="http://schemas.openxmlformats.org/officeDocument/2006/relationships/font" Target="fonts/font12.fntdata"/><Relationship Id="rId52" Type="http://schemas.openxmlformats.org/officeDocument/2006/relationships/theme" Target="theme/theme1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Relationship Id="rId22" Type="http://schemas.openxmlformats.org/officeDocument/2006/relationships/slide" Target="slides/slide19.xml"/><Relationship Id="rId27" Type="http://schemas.openxmlformats.org/officeDocument/2006/relationships/slide" Target="slides/slide24.xml"/><Relationship Id="rId30" Type="http://schemas.openxmlformats.org/officeDocument/2006/relationships/slide" Target="slides/slide27.xml"/><Relationship Id="rId35" Type="http://schemas.openxmlformats.org/officeDocument/2006/relationships/font" Target="fonts/font3.fntdata"/><Relationship Id="rId43" Type="http://schemas.openxmlformats.org/officeDocument/2006/relationships/font" Target="fonts/font11.fntdata"/><Relationship Id="rId48" Type="http://schemas.openxmlformats.org/officeDocument/2006/relationships/font" Target="fonts/font16.fntdata"/><Relationship Id="rId8" Type="http://schemas.openxmlformats.org/officeDocument/2006/relationships/slide" Target="slides/slide5.xml"/><Relationship Id="rId51" Type="http://schemas.openxmlformats.org/officeDocument/2006/relationships/viewProps" Target="viewProps.xml"/><Relationship Id="rId3" Type="http://schemas.openxmlformats.org/officeDocument/2006/relationships/slideMaster" Target="slideMasters/slideMaster3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slide" Target="slides/slide22.xml"/><Relationship Id="rId33" Type="http://schemas.openxmlformats.org/officeDocument/2006/relationships/font" Target="fonts/font1.fntdata"/><Relationship Id="rId38" Type="http://schemas.openxmlformats.org/officeDocument/2006/relationships/font" Target="fonts/font6.fntdata"/><Relationship Id="rId46" Type="http://schemas.openxmlformats.org/officeDocument/2006/relationships/font" Target="fonts/font14.fntdata"/><Relationship Id="rId20" Type="http://schemas.openxmlformats.org/officeDocument/2006/relationships/slide" Target="slides/slide17.xml"/><Relationship Id="rId41" Type="http://schemas.openxmlformats.org/officeDocument/2006/relationships/font" Target="fonts/font9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5" Type="http://schemas.openxmlformats.org/officeDocument/2006/relationships/slide" Target="slides/slide12.xml"/><Relationship Id="rId23" Type="http://schemas.openxmlformats.org/officeDocument/2006/relationships/slide" Target="slides/slide20.xml"/><Relationship Id="rId28" Type="http://schemas.openxmlformats.org/officeDocument/2006/relationships/slide" Target="slides/slide25.xml"/><Relationship Id="rId36" Type="http://schemas.openxmlformats.org/officeDocument/2006/relationships/font" Target="fonts/font4.fntdata"/><Relationship Id="rId49" Type="http://schemas.openxmlformats.org/officeDocument/2006/relationships/tags" Target="tags/tag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fld id="{6C45A928-D252-4E73-BA6C-5EBB50EA9974}" type="datetimeFigureOut">
              <a:rPr lang="en-US"/>
              <a:pPr>
                <a:defRPr/>
              </a:pPr>
              <a:t>2/11/2021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fld id="{DDE926EA-2410-44E1-B457-BBA54A162217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6673400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20"/>
          <p:cNvSpPr/>
          <p:nvPr/>
        </p:nvSpPr>
        <p:spPr>
          <a:xfrm>
            <a:off x="904875" y="3648075"/>
            <a:ext cx="7315200" cy="1279525"/>
          </a:xfrm>
          <a:prstGeom prst="rect">
            <a:avLst/>
          </a:prstGeom>
          <a:noFill/>
          <a:ln w="6350" cap="rnd" cmpd="sng" algn="ctr">
            <a:solidFill>
              <a:schemeClr val="accent1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5" name="Rectangle 32"/>
          <p:cNvSpPr/>
          <p:nvPr/>
        </p:nvSpPr>
        <p:spPr>
          <a:xfrm>
            <a:off x="914400" y="5048250"/>
            <a:ext cx="7315200" cy="685800"/>
          </a:xfrm>
          <a:prstGeom prst="rect">
            <a:avLst/>
          </a:prstGeom>
          <a:noFill/>
          <a:ln w="6350" cap="rnd" cmpd="sng" algn="ctr">
            <a:solidFill>
              <a:schemeClr val="accent2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6" name="Rectangle 21"/>
          <p:cNvSpPr/>
          <p:nvPr/>
        </p:nvSpPr>
        <p:spPr>
          <a:xfrm>
            <a:off x="904875" y="3648075"/>
            <a:ext cx="228600" cy="1279525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7" name="Rectangle 31"/>
          <p:cNvSpPr/>
          <p:nvPr/>
        </p:nvSpPr>
        <p:spPr>
          <a:xfrm>
            <a:off x="914400" y="5048250"/>
            <a:ext cx="228600" cy="685800"/>
          </a:xfrm>
          <a:prstGeom prst="rect">
            <a:avLst/>
          </a:prstGeom>
          <a:solidFill>
            <a:schemeClr val="accent2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1219200" y="3886200"/>
            <a:ext cx="6858000" cy="990600"/>
          </a:xfrm>
        </p:spPr>
        <p:txBody>
          <a:bodyPr anchor="t"/>
          <a:lstStyle>
            <a:lvl1pPr algn="r"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9" name="Subtitle 8"/>
          <p:cNvSpPr>
            <a:spLocks noGrp="1"/>
          </p:cNvSpPr>
          <p:nvPr>
            <p:ph type="subTitle" idx="1"/>
          </p:nvPr>
        </p:nvSpPr>
        <p:spPr>
          <a:xfrm>
            <a:off x="1219200" y="5124450"/>
            <a:ext cx="6858000" cy="533400"/>
          </a:xfrm>
        </p:spPr>
        <p:txBody>
          <a:bodyPr/>
          <a:lstStyle>
            <a:lvl1pPr marL="0" indent="0" algn="r">
              <a:buNone/>
              <a:defRPr sz="20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0" name="Date Placeholder 27"/>
          <p:cNvSpPr>
            <a:spLocks noGrp="1"/>
          </p:cNvSpPr>
          <p:nvPr>
            <p:ph type="dt" sz="half" idx="10"/>
          </p:nvPr>
        </p:nvSpPr>
        <p:spPr>
          <a:xfrm>
            <a:off x="6400800" y="6354763"/>
            <a:ext cx="2286000" cy="366712"/>
          </a:xfrm>
        </p:spPr>
        <p:txBody>
          <a:bodyPr/>
          <a:lstStyle>
            <a:lvl1pPr>
              <a:defRPr sz="1400" smtClean="0"/>
            </a:lvl1pPr>
          </a:lstStyle>
          <a:p>
            <a:pPr>
              <a:defRPr/>
            </a:pPr>
            <a:fld id="{E16C4EF9-5865-4A6A-9380-B94D95EDFBB1}" type="datetime1">
              <a:rPr lang="en-US"/>
              <a:pPr>
                <a:defRPr/>
              </a:pPr>
              <a:t>2/11/2021</a:t>
            </a:fld>
            <a:endParaRPr lang="en-US"/>
          </a:p>
        </p:txBody>
      </p:sp>
      <p:sp>
        <p:nvSpPr>
          <p:cNvPr id="11" name="Slide Number Placeholder 28"/>
          <p:cNvSpPr>
            <a:spLocks noGrp="1"/>
          </p:cNvSpPr>
          <p:nvPr>
            <p:ph type="sldNum" sz="quarter" idx="11"/>
          </p:nvPr>
        </p:nvSpPr>
        <p:spPr>
          <a:xfrm>
            <a:off x="1216025" y="6354763"/>
            <a:ext cx="1219200" cy="366712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C6DE774B-0244-43AE-81AE-949E2AED0BBC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/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49377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1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9D8D4EC-B919-4B7F-AD2C-08A3936481C2}" type="datetime1">
              <a:rPr lang="en-US"/>
              <a:pPr>
                <a:defRPr/>
              </a:pPr>
              <a:t>2/11/2021</a:t>
            </a:fld>
            <a:endParaRPr lang="en-US"/>
          </a:p>
        </p:txBody>
      </p:sp>
      <p:sp>
        <p:nvSpPr>
          <p:cNvPr id="5" name="Slide Number Placeholder 22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01FFA5E-D537-4A8C-B688-12FAF7CC1F1F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9144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9" name="Content Placeholder 8"/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4041648" cy="49377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"/>
          </p:nvPr>
        </p:nvSpPr>
        <p:spPr>
          <a:xfrm>
            <a:off x="4632198" y="1216152"/>
            <a:ext cx="4041648" cy="49377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1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B278A1A-418A-4889-8466-7277E8543661}" type="datetime1">
              <a:rPr lang="en-US"/>
              <a:pPr>
                <a:defRPr/>
              </a:pPr>
              <a:t>2/11/2021</a:t>
            </a:fld>
            <a:endParaRPr lang="en-US"/>
          </a:p>
        </p:txBody>
      </p:sp>
      <p:sp>
        <p:nvSpPr>
          <p:cNvPr id="6" name="Slide Number Placeholder 22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5451084-9ADD-481F-8E3A-A4A104A1583A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914400"/>
          </a:xfrm>
        </p:spPr>
        <p:txBody>
          <a:bodyPr anchor="ctr"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85875"/>
            <a:ext cx="4040188" cy="685800"/>
          </a:xfrm>
          <a:noFill/>
          <a:ln>
            <a:noFill/>
          </a:ln>
        </p:spPr>
        <p:txBody>
          <a:bodyPr anchor="b">
            <a:noAutofit/>
          </a:bodyPr>
          <a:lstStyle>
            <a:lvl1pPr marL="0" indent="0">
              <a:buNone/>
              <a:defRPr sz="2400" b="1">
                <a:solidFill>
                  <a:schemeClr val="accent2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3"/>
          </p:nvPr>
        </p:nvSpPr>
        <p:spPr>
          <a:xfrm>
            <a:off x="4648200" y="1295400"/>
            <a:ext cx="4041775" cy="685800"/>
          </a:xfrm>
          <a:noFill/>
          <a:ln>
            <a:noFill/>
          </a:ln>
        </p:spPr>
        <p:txBody>
          <a:bodyPr anchor="b"/>
          <a:lstStyle>
            <a:lvl1pPr marL="0" indent="0">
              <a:buNone/>
              <a:defRPr sz="2400" b="1">
                <a:solidFill>
                  <a:schemeClr val="accent2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"/>
          </p:nvPr>
        </p:nvSpPr>
        <p:spPr>
          <a:xfrm>
            <a:off x="457200" y="2133600"/>
            <a:ext cx="4038600" cy="40386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Content Placeholder 12"/>
          <p:cNvSpPr>
            <a:spLocks noGrp="1"/>
          </p:cNvSpPr>
          <p:nvPr>
            <p:ph sz="quarter" idx="4"/>
          </p:nvPr>
        </p:nvSpPr>
        <p:spPr>
          <a:xfrm>
            <a:off x="4648200" y="2133600"/>
            <a:ext cx="4038600" cy="40386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1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3D7207B-C772-46C0-AF6B-C696C628ECD6}" type="datetime1">
              <a:rPr lang="en-US"/>
              <a:pPr>
                <a:defRPr/>
              </a:pPr>
              <a:t>2/11/2021</a:t>
            </a:fld>
            <a:endParaRPr lang="en-US"/>
          </a:p>
        </p:txBody>
      </p:sp>
      <p:sp>
        <p:nvSpPr>
          <p:cNvPr id="8" name="Slide Number Placeholder 22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280823A-D158-4554-9F4D-D1401680ED9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1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4890D1A-9AF0-4373-9C19-31BA056F18D0}" type="datetime1">
              <a:rPr lang="en-US"/>
              <a:pPr>
                <a:defRPr/>
              </a:pPr>
              <a:t>2/11/2021</a:t>
            </a:fld>
            <a:endParaRPr lang="en-US"/>
          </a:p>
        </p:txBody>
      </p:sp>
      <p:sp>
        <p:nvSpPr>
          <p:cNvPr id="5" name="Slide Number Placeholder 22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0802858-B2E8-4CEF-AB5E-E0718287C1E1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45CEBB1-9625-48F6-B3A4-11D228BFD397}" type="datetime1">
              <a:rPr lang="en-US"/>
              <a:pPr>
                <a:defRPr/>
              </a:pPr>
              <a:t>2/11/2021</a:t>
            </a:fld>
            <a:endParaRPr lang="en-US"/>
          </a:p>
        </p:txBody>
      </p:sp>
      <p:sp>
        <p:nvSpPr>
          <p:cNvPr id="3" name="Slide Number Placeholder 22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D2D8101-5309-4DFF-AB2A-546F31B4185E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D195152B-B4E1-457A-BC5F-3AB91570D542}" type="datetime1">
              <a:rPr lang="en-US" smtClean="0"/>
              <a:pPr>
                <a:defRPr/>
              </a:pPr>
              <a:t>2/11/2021</a:t>
            </a:fld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1BDBEE41-09A9-4372-AA29-C508F4A53546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4661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/>
          <a:lstStyle/>
          <a:p>
            <a:fld id="{344494C4-6097-4BA9-B81C-8FE8D10E85BA}" type="datetimeFigureOut">
              <a:rPr lang="en-US" smtClean="0"/>
              <a:t>2/11/2021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E377FD-0449-4D16-847C-E7FCD0D44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75164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/>
          <a:lstStyle/>
          <a:p>
            <a:fld id="{344494C4-6097-4BA9-B81C-8FE8D10E85BA}" type="datetimeFigureOut">
              <a:rPr lang="en-US" smtClean="0"/>
              <a:t>2/11/2021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E377FD-0449-4D16-847C-E7FCD0D44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85049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8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3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/>
          <a:lstStyle/>
          <a:p>
            <a:fld id="{344494C4-6097-4BA9-B81C-8FE8D10E85BA}" type="datetimeFigureOut">
              <a:rPr lang="en-US" smtClean="0"/>
              <a:t>2/11/2021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E377FD-0449-4D16-847C-E7FCD0D44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628206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671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825625"/>
            <a:ext cx="38671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/>
          <a:lstStyle/>
          <a:p>
            <a:fld id="{344494C4-6097-4BA9-B81C-8FE8D10E85BA}" type="datetimeFigureOut">
              <a:rPr lang="en-US" smtClean="0"/>
              <a:t>2/11/2021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E377FD-0449-4D16-847C-E7FCD0D44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867174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0238" y="365125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0238" y="1681163"/>
            <a:ext cx="386873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0238" y="2505075"/>
            <a:ext cx="386873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7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7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/>
          <a:lstStyle/>
          <a:p>
            <a:fld id="{344494C4-6097-4BA9-B81C-8FE8D10E85BA}" type="datetimeFigureOut">
              <a:rPr lang="en-US" smtClean="0"/>
              <a:t>2/11/2021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E377FD-0449-4D16-847C-E7FCD0D44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599806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/>
          <a:lstStyle/>
          <a:p>
            <a:fld id="{344494C4-6097-4BA9-B81C-8FE8D10E85BA}" type="datetimeFigureOut">
              <a:rPr lang="en-US" smtClean="0"/>
              <a:t>2/11/2021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E377FD-0449-4D16-847C-E7FCD0D44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601914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/>
          <a:lstStyle/>
          <a:p>
            <a:fld id="{344494C4-6097-4BA9-B81C-8FE8D10E85BA}" type="datetimeFigureOut">
              <a:rPr lang="en-US" smtClean="0"/>
              <a:t>2/11/2021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E377FD-0449-4D16-847C-E7FCD0D44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036771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/>
          <a:lstStyle/>
          <a:p>
            <a:fld id="{344494C4-6097-4BA9-B81C-8FE8D10E85BA}" type="datetimeFigureOut">
              <a:rPr lang="en-US" smtClean="0"/>
              <a:t>2/11/2021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E377FD-0449-4D16-847C-E7FCD0D44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741367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/>
          <a:lstStyle/>
          <a:p>
            <a:fld id="{344494C4-6097-4BA9-B81C-8FE8D10E85BA}" type="datetimeFigureOut">
              <a:rPr lang="en-US" smtClean="0"/>
              <a:t>2/11/2021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E377FD-0449-4D16-847C-E7FCD0D44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615240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/>
          <a:lstStyle/>
          <a:p>
            <a:fld id="{344494C4-6097-4BA9-B81C-8FE8D10E85BA}" type="datetimeFigureOut">
              <a:rPr lang="en-US" smtClean="0"/>
              <a:t>2/11/2021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E377FD-0449-4D16-847C-E7FCD0D44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338278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7626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/>
          <a:lstStyle/>
          <a:p>
            <a:fld id="{344494C4-6097-4BA9-B81C-8FE8D10E85BA}" type="datetimeFigureOut">
              <a:rPr lang="en-US" smtClean="0"/>
              <a:t>2/11/2021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E377FD-0449-4D16-847C-E7FCD0D44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856900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F7D500-1223-4445-9EB2-2C72C770F9EB}" type="datetimeFigureOut">
              <a:rPr lang="en-US" smtClean="0"/>
              <a:t>2/11/2021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A2B7C0-2BFE-4B93-8D6A-346114099C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946845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F7D500-1223-4445-9EB2-2C72C770F9EB}" type="datetimeFigureOut">
              <a:rPr lang="en-US" smtClean="0"/>
              <a:t>2/11/2021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A2B7C0-2BFE-4B93-8D6A-346114099C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9109224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8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3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F7D500-1223-4445-9EB2-2C72C770F9EB}" type="datetimeFigureOut">
              <a:rPr lang="en-US" smtClean="0"/>
              <a:t>2/11/2021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A2B7C0-2BFE-4B93-8D6A-346114099C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743182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671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825625"/>
            <a:ext cx="38671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F7D500-1223-4445-9EB2-2C72C770F9EB}" type="datetimeFigureOut">
              <a:rPr lang="en-US" smtClean="0"/>
              <a:t>2/11/2021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A2B7C0-2BFE-4B93-8D6A-346114099C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324140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0238" y="365125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0238" y="1681163"/>
            <a:ext cx="386873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0238" y="2505075"/>
            <a:ext cx="386873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7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7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F7D500-1223-4445-9EB2-2C72C770F9EB}" type="datetimeFigureOut">
              <a:rPr lang="en-US" smtClean="0"/>
              <a:t>2/11/2021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A2B7C0-2BFE-4B93-8D6A-346114099C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906911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F7D500-1223-4445-9EB2-2C72C770F9EB}" type="datetimeFigureOut">
              <a:rPr lang="en-US" smtClean="0"/>
              <a:t>2/11/2021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A2B7C0-2BFE-4B93-8D6A-346114099C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6873237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F7D500-1223-4445-9EB2-2C72C770F9EB}" type="datetimeFigureOut">
              <a:rPr lang="en-US" smtClean="0"/>
              <a:t>2/11/2021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A2B7C0-2BFE-4B93-8D6A-346114099C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715137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F7D500-1223-4445-9EB2-2C72C770F9EB}" type="datetimeFigureOut">
              <a:rPr lang="en-US" smtClean="0"/>
              <a:t>2/11/2021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A2B7C0-2BFE-4B93-8D6A-346114099C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0769023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F7D500-1223-4445-9EB2-2C72C770F9EB}" type="datetimeFigureOut">
              <a:rPr lang="en-US" smtClean="0"/>
              <a:t>2/11/2021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A2B7C0-2BFE-4B93-8D6A-346114099C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3525019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F7D500-1223-4445-9EB2-2C72C770F9EB}" type="datetimeFigureOut">
              <a:rPr lang="en-US" smtClean="0"/>
              <a:t>2/11/2021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A2B7C0-2BFE-4B93-8D6A-346114099C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4957513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7626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F7D500-1223-4445-9EB2-2C72C770F9EB}" type="datetimeFigureOut">
              <a:rPr lang="en-US" smtClean="0"/>
              <a:t>2/11/2021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A2B7C0-2BFE-4B93-8D6A-346114099C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39309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5.xml"/><Relationship Id="rId3" Type="http://schemas.openxmlformats.org/officeDocument/2006/relationships/slideLayout" Target="../slideLayouts/slideLayout10.xml"/><Relationship Id="rId7" Type="http://schemas.openxmlformats.org/officeDocument/2006/relationships/slideLayout" Target="../slideLayouts/slideLayout14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9.xml"/><Relationship Id="rId1" Type="http://schemas.openxmlformats.org/officeDocument/2006/relationships/slideLayout" Target="../slideLayouts/slideLayout8.xml"/><Relationship Id="rId6" Type="http://schemas.openxmlformats.org/officeDocument/2006/relationships/slideLayout" Target="../slideLayouts/slideLayout13.xml"/><Relationship Id="rId11" Type="http://schemas.openxmlformats.org/officeDocument/2006/relationships/slideLayout" Target="../slideLayouts/slideLayout18.xml"/><Relationship Id="rId5" Type="http://schemas.openxmlformats.org/officeDocument/2006/relationships/slideLayout" Target="../slideLayouts/slideLayout12.xml"/><Relationship Id="rId10" Type="http://schemas.openxmlformats.org/officeDocument/2006/relationships/slideLayout" Target="../slideLayouts/slideLayout17.xml"/><Relationship Id="rId4" Type="http://schemas.openxmlformats.org/officeDocument/2006/relationships/slideLayout" Target="../slideLayouts/slideLayout11.xml"/><Relationship Id="rId9" Type="http://schemas.openxmlformats.org/officeDocument/2006/relationships/slideLayout" Target="../slideLayouts/slideLayout16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6.xml"/><Relationship Id="rId3" Type="http://schemas.openxmlformats.org/officeDocument/2006/relationships/slideLayout" Target="../slideLayouts/slideLayout21.xml"/><Relationship Id="rId7" Type="http://schemas.openxmlformats.org/officeDocument/2006/relationships/slideLayout" Target="../slideLayouts/slideLayout25.xml"/><Relationship Id="rId12" Type="http://schemas.openxmlformats.org/officeDocument/2006/relationships/theme" Target="../theme/theme3.xml"/><Relationship Id="rId2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9.xml"/><Relationship Id="rId6" Type="http://schemas.openxmlformats.org/officeDocument/2006/relationships/slideLayout" Target="../slideLayouts/slideLayout24.xml"/><Relationship Id="rId11" Type="http://schemas.openxmlformats.org/officeDocument/2006/relationships/slideLayout" Target="../slideLayouts/slideLayout29.xml"/><Relationship Id="rId5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28.xml"/><Relationship Id="rId4" Type="http://schemas.openxmlformats.org/officeDocument/2006/relationships/slideLayout" Target="../slideLayouts/slideLayout22.xml"/><Relationship Id="rId9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21"/>
          <p:cNvSpPr>
            <a:spLocks noGrp="1"/>
          </p:cNvSpPr>
          <p:nvPr>
            <p:ph type="title"/>
          </p:nvPr>
        </p:nvSpPr>
        <p:spPr bwMode="auto">
          <a:xfrm>
            <a:off x="457200" y="152400"/>
            <a:ext cx="8229600" cy="990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12"/>
          <p:cNvSpPr>
            <a:spLocks noGrp="1"/>
          </p:cNvSpPr>
          <p:nvPr>
            <p:ph type="body" idx="1"/>
          </p:nvPr>
        </p:nvSpPr>
        <p:spPr bwMode="auto">
          <a:xfrm>
            <a:off x="457200" y="1219200"/>
            <a:ext cx="8229600" cy="49101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4" name="Date Placeholder 13"/>
          <p:cNvSpPr>
            <a:spLocks noGrp="1"/>
          </p:cNvSpPr>
          <p:nvPr>
            <p:ph type="dt" sz="half" idx="2"/>
          </p:nvPr>
        </p:nvSpPr>
        <p:spPr>
          <a:xfrm>
            <a:off x="6400800" y="6356350"/>
            <a:ext cx="2289175" cy="365125"/>
          </a:xfrm>
          <a:prstGeom prst="rect">
            <a:avLst/>
          </a:prstGeom>
        </p:spPr>
        <p:txBody>
          <a:bodyPr vert="horz"/>
          <a:lstStyle>
            <a:lvl1pPr algn="l" eaLnBrk="1" fontAlgn="auto" latinLnBrk="0" hangingPunct="1">
              <a:spcBef>
                <a:spcPts val="0"/>
              </a:spcBef>
              <a:spcAft>
                <a:spcPts val="0"/>
              </a:spcAft>
              <a:defRPr kumimoji="0" sz="1400" smtClean="0">
                <a:solidFill>
                  <a:schemeClr val="tx2"/>
                </a:solidFill>
                <a:latin typeface="+mn-lt"/>
              </a:defRPr>
            </a:lvl1pPr>
          </a:lstStyle>
          <a:p>
            <a:pPr>
              <a:defRPr/>
            </a:pPr>
            <a:fld id="{D195152B-B4E1-457A-BC5F-3AB91570D542}" type="datetime1">
              <a:rPr lang="en-US"/>
              <a:pPr>
                <a:defRPr/>
              </a:pPr>
              <a:t>2/11/2021</a:t>
            </a:fld>
            <a:endParaRPr lang="en-US"/>
          </a:p>
        </p:txBody>
      </p:sp>
      <p:sp>
        <p:nvSpPr>
          <p:cNvPr id="23" name="Slide Number Placeholder 22"/>
          <p:cNvSpPr>
            <a:spLocks noGrp="1"/>
          </p:cNvSpPr>
          <p:nvPr>
            <p:ph type="sldNum" sz="quarter" idx="4"/>
          </p:nvPr>
        </p:nvSpPr>
        <p:spPr>
          <a:xfrm>
            <a:off x="612775" y="6356350"/>
            <a:ext cx="1981200" cy="365125"/>
          </a:xfrm>
          <a:prstGeom prst="rect">
            <a:avLst/>
          </a:prstGeom>
        </p:spPr>
        <p:txBody>
          <a:bodyPr vert="horz"/>
          <a:lstStyle>
            <a:lvl1pPr algn="l" eaLnBrk="1" fontAlgn="auto" latinLnBrk="0" hangingPunct="1">
              <a:spcBef>
                <a:spcPts val="0"/>
              </a:spcBef>
              <a:spcAft>
                <a:spcPts val="0"/>
              </a:spcAft>
              <a:defRPr kumimoji="0" sz="1400">
                <a:solidFill>
                  <a:schemeClr val="tx2"/>
                </a:solidFill>
                <a:latin typeface="+mn-lt"/>
              </a:defRPr>
            </a:lvl1pPr>
          </a:lstStyle>
          <a:p>
            <a:pPr>
              <a:defRPr/>
            </a:pPr>
            <a:fld id="{1BDBEE41-09A9-4372-AA29-C508F4A53546}" type="slidenum">
              <a:rPr lang="en-US"/>
              <a:pPr>
                <a:defRPr/>
              </a:pPr>
              <a:t>‹#›</a:t>
            </a:fld>
            <a:endParaRPr lang="en-US"/>
          </a:p>
        </p:txBody>
      </p:sp>
      <p:sp>
        <p:nvSpPr>
          <p:cNvPr id="28" name="Straight Connector 27"/>
          <p:cNvSpPr>
            <a:spLocks noChangeShapeType="1"/>
          </p:cNvSpPr>
          <p:nvPr/>
        </p:nvSpPr>
        <p:spPr bwMode="auto">
          <a:xfrm>
            <a:off x="457200" y="6324600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en-US">
              <a:latin typeface="+mn-lt"/>
            </a:endParaRPr>
          </a:p>
        </p:txBody>
      </p:sp>
      <p:sp>
        <p:nvSpPr>
          <p:cNvPr id="29" name="Straight Connector 28"/>
          <p:cNvSpPr>
            <a:spLocks noChangeShapeType="1"/>
          </p:cNvSpPr>
          <p:nvPr/>
        </p:nvSpPr>
        <p:spPr bwMode="auto">
          <a:xfrm>
            <a:off x="457200" y="1143000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en-US">
              <a:latin typeface="+mn-lt"/>
            </a:endParaRPr>
          </a:p>
        </p:txBody>
      </p:sp>
      <p:sp>
        <p:nvSpPr>
          <p:cNvPr id="10" name="Isosceles Triangle 9"/>
          <p:cNvSpPr>
            <a:spLocks noChangeAspect="1"/>
          </p:cNvSpPr>
          <p:nvPr/>
        </p:nvSpPr>
        <p:spPr>
          <a:xfrm rot="5400000">
            <a:off x="419100" y="6467475"/>
            <a:ext cx="190500" cy="120650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  <p:sldLayoutId id="2147483666" r:id="rId2"/>
    <p:sldLayoutId id="2147483665" r:id="rId3"/>
    <p:sldLayoutId id="2147483664" r:id="rId4"/>
    <p:sldLayoutId id="2147483663" r:id="rId5"/>
    <p:sldLayoutId id="2147483662" r:id="rId6"/>
    <p:sldLayoutId id="2147483680" r:id="rId7"/>
  </p:sldLayoutIdLst>
  <p:hf sldNum="0" hd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3200" kern="1200">
          <a:solidFill>
            <a:schemeClr val="tx2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Bookman Old Style" pitchFamily="18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Bookman Old Style" pitchFamily="18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Bookman Old Style" pitchFamily="18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Bookman Old Style" pitchFamily="18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Bookman Old Style" pitchFamily="18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Bookman Old Style" pitchFamily="18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Bookman Old Style" pitchFamily="18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Bookman Old Style" pitchFamily="18" charset="0"/>
        </a:defRPr>
      </a:lvl9pPr>
    </p:titleStyle>
    <p:bodyStyle>
      <a:lvl1pPr marL="273050" indent="-273050" algn="l" rtl="0" eaLnBrk="0" fontAlgn="base" hangingPunct="0">
        <a:spcBef>
          <a:spcPts val="600"/>
        </a:spcBef>
        <a:spcAft>
          <a:spcPct val="0"/>
        </a:spcAft>
        <a:buClr>
          <a:schemeClr val="accent1"/>
        </a:buClr>
        <a:buSzPct val="76000"/>
        <a:buFont typeface="Wingdings 3" pitchFamily="18" charset="2"/>
        <a:buChar char=""/>
        <a:defRPr sz="2600" kern="1200">
          <a:solidFill>
            <a:schemeClr val="tx1"/>
          </a:solidFill>
          <a:latin typeface="+mn-lt"/>
          <a:ea typeface="+mn-ea"/>
          <a:cs typeface="+mn-cs"/>
        </a:defRPr>
      </a:lvl1pPr>
      <a:lvl2pPr marL="547688" indent="-273050" algn="l" rtl="0" eaLnBrk="0" fontAlgn="base" hangingPunct="0">
        <a:spcBef>
          <a:spcPts val="500"/>
        </a:spcBef>
        <a:spcAft>
          <a:spcPct val="0"/>
        </a:spcAft>
        <a:buClr>
          <a:schemeClr val="accent2"/>
        </a:buClr>
        <a:buSzPct val="76000"/>
        <a:buFont typeface="Wingdings 3" pitchFamily="18" charset="2"/>
        <a:buChar char=""/>
        <a:defRPr sz="2300" kern="1200">
          <a:solidFill>
            <a:schemeClr val="tx2"/>
          </a:solidFill>
          <a:latin typeface="+mn-lt"/>
          <a:ea typeface="+mn-ea"/>
          <a:cs typeface="+mn-cs"/>
        </a:defRPr>
      </a:lvl2pPr>
      <a:lvl3pPr marL="822325" indent="-228600" algn="l" rtl="0" eaLnBrk="0" fontAlgn="base" hangingPunct="0">
        <a:spcBef>
          <a:spcPts val="500"/>
        </a:spcBef>
        <a:spcAft>
          <a:spcPct val="0"/>
        </a:spcAft>
        <a:buClr>
          <a:srgbClr val="BCBCBC"/>
        </a:buClr>
        <a:buSzPct val="76000"/>
        <a:buFont typeface="Wingdings 3" pitchFamily="18" charset="2"/>
        <a:buChar char="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096963" indent="-228600" algn="l" rtl="0" eaLnBrk="0" fontAlgn="base" hangingPunct="0">
        <a:spcBef>
          <a:spcPts val="400"/>
        </a:spcBef>
        <a:spcAft>
          <a:spcPct val="0"/>
        </a:spcAft>
        <a:buClr>
          <a:srgbClr val="8BA2B4"/>
        </a:buClr>
        <a:buSzPct val="70000"/>
        <a:buFont typeface="Wingdings" pitchFamily="2" charset="2"/>
        <a:buChar char="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indent="-228600" algn="l" rtl="0" eaLnBrk="0" fontAlgn="base" hangingPunct="0">
        <a:spcBef>
          <a:spcPts val="300"/>
        </a:spcBef>
        <a:spcAft>
          <a:spcPct val="0"/>
        </a:spcAft>
        <a:buClr>
          <a:schemeClr val="accent2"/>
        </a:buClr>
        <a:buSzPct val="70000"/>
        <a:buFont typeface="Wingdings" pitchFamily="2" charset="2"/>
        <a:buChar char="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645920" indent="-182880" algn="l" rtl="0" eaLnBrk="1" latinLnBrk="0" hangingPunct="1">
        <a:spcBef>
          <a:spcPts val="300"/>
        </a:spcBef>
        <a:buClr>
          <a:srgbClr val="9FB8CD">
            <a:shade val="75000"/>
          </a:srgbClr>
        </a:buClr>
        <a:buSzPct val="75000"/>
        <a:buFont typeface="Wingdings 3"/>
        <a:buChar char=""/>
        <a:defRPr kumimoji="0"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6pPr>
      <a:lvl7pPr marL="1828800" indent="-182880" algn="l" rtl="0" eaLnBrk="1" latinLnBrk="0" hangingPunct="1">
        <a:spcBef>
          <a:spcPts val="300"/>
        </a:spcBef>
        <a:buClr>
          <a:srgbClr val="727CA3">
            <a:shade val="75000"/>
          </a:srgbClr>
        </a:buClr>
        <a:buSzPct val="75000"/>
        <a:buFont typeface="Wingdings 3"/>
        <a:buChar char=""/>
        <a:defRPr kumimoji="0" lang="en-US" sz="1400" kern="1200" smtClean="0">
          <a:solidFill>
            <a:schemeClr val="tx1"/>
          </a:solidFill>
          <a:latin typeface="+mn-lt"/>
          <a:ea typeface="+mn-ea"/>
          <a:cs typeface="+mn-cs"/>
        </a:defRPr>
      </a:lvl7pPr>
      <a:lvl8pPr marL="2011680" indent="-182880" algn="l" rtl="0" eaLnBrk="1" latinLnBrk="0" hangingPunct="1">
        <a:spcBef>
          <a:spcPts val="300"/>
        </a:spcBef>
        <a:buClr>
          <a:prstClr val="white">
            <a:shade val="50000"/>
          </a:prstClr>
        </a:buClr>
        <a:buSzPct val="75000"/>
        <a:buFont typeface="Wingdings 3"/>
        <a:buChar char=""/>
        <a:defRPr kumimoji="0" lang="en-US" sz="1400" kern="1200" smtClean="0">
          <a:solidFill>
            <a:schemeClr val="tx1"/>
          </a:solidFill>
          <a:latin typeface="+mn-lt"/>
          <a:ea typeface="+mn-ea"/>
          <a:cs typeface="+mn-cs"/>
        </a:defRPr>
      </a:lvl8pPr>
      <a:lvl9pPr marL="2194560" indent="-182880" algn="l" rtl="0" eaLnBrk="1" latinLnBrk="0" hangingPunct="1">
        <a:spcBef>
          <a:spcPts val="300"/>
        </a:spcBef>
        <a:buClr>
          <a:srgbClr val="9FB8CD"/>
        </a:buClr>
        <a:buSzPct val="75000"/>
        <a:buFont typeface="Wingdings 3"/>
        <a:buChar char=""/>
        <a:defRPr kumimoji="0" lang="en-US" sz="1200" kern="1200" smtClean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5E377FD-0449-4D16-847C-E7FCD0D44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33637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2" r:id="rId1"/>
    <p:sldLayoutId id="2147483683" r:id="rId2"/>
    <p:sldLayoutId id="2147483684" r:id="rId3"/>
    <p:sldLayoutId id="2147483685" r:id="rId4"/>
    <p:sldLayoutId id="2147483686" r:id="rId5"/>
    <p:sldLayoutId id="2147483687" r:id="rId6"/>
    <p:sldLayoutId id="2147483688" r:id="rId7"/>
    <p:sldLayoutId id="2147483689" r:id="rId8"/>
    <p:sldLayoutId id="2147483690" r:id="rId9"/>
    <p:sldLayoutId id="2147483691" r:id="rId10"/>
    <p:sldLayoutId id="2147483692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BF7D500-1223-4445-9EB2-2C72C770F9EB}" type="datetimeFigureOut">
              <a:rPr lang="en-US" smtClean="0"/>
              <a:t>2/11/2021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A2B7C0-2BFE-4B93-8D6A-346114099C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42497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9" r:id="rId1"/>
    <p:sldLayoutId id="2147483670" r:id="rId2"/>
    <p:sldLayoutId id="2147483671" r:id="rId3"/>
    <p:sldLayoutId id="2147483672" r:id="rId4"/>
    <p:sldLayoutId id="2147483673" r:id="rId5"/>
    <p:sldLayoutId id="2147483674" r:id="rId6"/>
    <p:sldLayoutId id="2147483675" r:id="rId7"/>
    <p:sldLayoutId id="2147483676" r:id="rId8"/>
    <p:sldLayoutId id="2147483677" r:id="rId9"/>
    <p:sldLayoutId id="2147483678" r:id="rId10"/>
    <p:sldLayoutId id="214748367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838200" y="1447800"/>
            <a:ext cx="7467600" cy="20574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9218" name="Title 1"/>
          <p:cNvSpPr>
            <a:spLocks noGrp="1"/>
          </p:cNvSpPr>
          <p:nvPr>
            <p:ph type="ctrTitle"/>
          </p:nvPr>
        </p:nvSpPr>
        <p:spPr>
          <a:xfrm>
            <a:off x="1219200" y="1823484"/>
            <a:ext cx="6858000" cy="1295400"/>
          </a:xfrm>
        </p:spPr>
        <p:txBody>
          <a:bodyPr/>
          <a:lstStyle/>
          <a:p>
            <a:pPr algn="ctr" eaLnBrk="1" hangingPunct="1"/>
            <a:r>
              <a:rPr lang="en-US" sz="2800" dirty="0">
                <a:solidFill>
                  <a:schemeClr val="bg1"/>
                </a:solidFill>
              </a:rPr>
              <a:t>DSC40B:</a:t>
            </a:r>
            <a:br>
              <a:rPr lang="en-US" sz="2800" dirty="0">
                <a:solidFill>
                  <a:schemeClr val="bg1"/>
                </a:solidFill>
              </a:rPr>
            </a:br>
            <a:r>
              <a:rPr lang="en-US" sz="2800" dirty="0">
                <a:solidFill>
                  <a:schemeClr val="bg1"/>
                </a:solidFill>
              </a:rPr>
              <a:t>Theoretical Foundations of Data Science II </a:t>
            </a:r>
            <a:endParaRPr lang="en-US" sz="2800" i="1" dirty="0">
              <a:solidFill>
                <a:schemeClr val="bg1"/>
              </a:solidFill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962400"/>
            <a:ext cx="6858000" cy="1885950"/>
          </a:xfrm>
        </p:spPr>
        <p:txBody>
          <a:bodyPr>
            <a:normAutofit/>
          </a:bodyPr>
          <a:lstStyle/>
          <a:p>
            <a:pPr algn="ctr" eaLnBrk="1" fontAlgn="auto" hangingPunct="1">
              <a:spcAft>
                <a:spcPts val="0"/>
              </a:spcAft>
              <a:buFont typeface="Wingdings 3"/>
              <a:buNone/>
              <a:defRPr/>
            </a:pPr>
            <a:r>
              <a:rPr lang="en-US" sz="2800" dirty="0"/>
              <a:t>Lecture 12:   </a:t>
            </a:r>
            <a:r>
              <a:rPr lang="en-US" sz="2800" i="1" dirty="0"/>
              <a:t>More on BFS: shortest path in (unweighted) graphs</a:t>
            </a:r>
          </a:p>
          <a:p>
            <a:pPr algn="ctr" eaLnBrk="1" fontAlgn="auto" hangingPunct="1">
              <a:spcAft>
                <a:spcPts val="0"/>
              </a:spcAft>
              <a:buFont typeface="Wingdings 3"/>
              <a:buNone/>
              <a:defRPr/>
            </a:pPr>
            <a:endParaRPr lang="en-US" sz="1600" dirty="0"/>
          </a:p>
          <a:p>
            <a:pPr algn="ctr" eaLnBrk="1" fontAlgn="auto" hangingPunct="1">
              <a:spcAft>
                <a:spcPts val="0"/>
              </a:spcAft>
              <a:buFont typeface="Wingdings 3"/>
              <a:buNone/>
              <a:defRPr/>
            </a:pPr>
            <a:r>
              <a:rPr lang="en-US" sz="2800" dirty="0"/>
              <a:t>Instructor: Yusu Wang</a:t>
            </a:r>
          </a:p>
        </p:txBody>
      </p:sp>
      <p:sp>
        <p:nvSpPr>
          <p:cNvPr id="5" name="Rectangle 4"/>
          <p:cNvSpPr/>
          <p:nvPr/>
        </p:nvSpPr>
        <p:spPr>
          <a:xfrm>
            <a:off x="838200" y="1447800"/>
            <a:ext cx="304800" cy="205740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3F6649-5A64-45D6-A6CA-8E8A3A6B0C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494781-9569-4BCE-B3A3-2C8EB0F996BF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/>
              <a:t>Previously: </a:t>
            </a:r>
          </a:p>
          <a:p>
            <a:pPr lvl="1"/>
            <a:r>
              <a:rPr lang="en-US" dirty="0"/>
              <a:t>Introduced Breadth-first search (BFS) graph search algorithm </a:t>
            </a:r>
          </a:p>
          <a:p>
            <a:pPr lvl="1"/>
            <a:r>
              <a:rPr lang="en-US" dirty="0"/>
              <a:t>Can be used to check for connectivity </a:t>
            </a:r>
            <a:r>
              <a:rPr lang="en-US" dirty="0" err="1"/>
              <a:t>etc</a:t>
            </a:r>
            <a:endParaRPr lang="en-US" dirty="0"/>
          </a:p>
          <a:p>
            <a:pPr lvl="1"/>
            <a:endParaRPr lang="en-US" dirty="0"/>
          </a:p>
          <a:p>
            <a:r>
              <a:rPr lang="en-US" dirty="0"/>
              <a:t>Today: </a:t>
            </a:r>
          </a:p>
          <a:p>
            <a:pPr lvl="1"/>
            <a:r>
              <a:rPr lang="en-US" dirty="0"/>
              <a:t>Properties of BFS:</a:t>
            </a:r>
          </a:p>
          <a:p>
            <a:pPr lvl="2"/>
            <a:r>
              <a:rPr lang="en-US" dirty="0"/>
              <a:t>Computing shortest path from a source node</a:t>
            </a:r>
          </a:p>
          <a:p>
            <a:pPr lvl="2"/>
            <a:r>
              <a:rPr lang="en-US" dirty="0"/>
              <a:t>BFS tree </a:t>
            </a:r>
          </a:p>
        </p:txBody>
      </p:sp>
    </p:spTree>
    <p:extLst>
      <p:ext uri="{BB962C8B-B14F-4D97-AF65-F5344CB8AC3E}">
        <p14:creationId xmlns:p14="http://schemas.microsoft.com/office/powerpoint/2010/main" val="27505058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4AD14C-6D94-4048-8030-AF3B00C6AD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2590800"/>
            <a:ext cx="8229600" cy="990600"/>
          </a:xfrm>
        </p:spPr>
        <p:txBody>
          <a:bodyPr/>
          <a:lstStyle/>
          <a:p>
            <a:pPr algn="ctr"/>
            <a:r>
              <a:rPr lang="en-US" dirty="0"/>
              <a:t>Shortest path</a:t>
            </a:r>
            <a:br>
              <a:rPr lang="en-US" dirty="0"/>
            </a:br>
            <a:r>
              <a:rPr lang="en-US" dirty="0"/>
              <a:t>in (unweighted) graphs</a:t>
            </a:r>
          </a:p>
        </p:txBody>
      </p:sp>
    </p:spTree>
    <p:extLst>
      <p:ext uri="{BB962C8B-B14F-4D97-AF65-F5344CB8AC3E}">
        <p14:creationId xmlns:p14="http://schemas.microsoft.com/office/powerpoint/2010/main" val="19291706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2ED773-CEEA-4EFE-ABAB-2C397E59DA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E0DC28-3DAD-4FED-8385-82CE5E6E18AB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5029200"/>
            <a:ext cx="8229600" cy="1127760"/>
          </a:xfrm>
        </p:spPr>
        <p:txBody>
          <a:bodyPr/>
          <a:lstStyle/>
          <a:p>
            <a:pPr marL="661988" lvl="1" indent="-342900"/>
            <a:r>
              <a:rPr lang="en-US" dirty="0"/>
              <a:t>How to fly to Denver from Columbus using fewest number of connections  </a:t>
            </a:r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pic>
        <p:nvPicPr>
          <p:cNvPr id="4" name="Content Placeholder 12" descr="A picture containing radar chart&#10;&#10;Description automatically generated">
            <a:extLst>
              <a:ext uri="{FF2B5EF4-FFF2-40B4-BE49-F238E27FC236}">
                <a16:creationId xmlns:a16="http://schemas.microsoft.com/office/drawing/2014/main" id="{0F02233D-42ED-4B3F-A36E-C1C51B9BAB7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295400" y="1447800"/>
            <a:ext cx="6763449" cy="339512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8170208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2ED773-CEEA-4EFE-ABAB-2C397E59DA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9E0DC28-3DAD-4FED-8385-82CE5E6E18AB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/>
            <p:txBody>
              <a:bodyPr/>
              <a:lstStyle/>
              <a:p>
                <a:r>
                  <a:rPr lang="en-US" dirty="0"/>
                  <a:t>The </a:t>
                </a:r>
                <a:r>
                  <a:rPr lang="en-US" dirty="0">
                    <a:solidFill>
                      <a:srgbClr val="0070C0"/>
                    </a:solidFill>
                  </a:rPr>
                  <a:t>length</a:t>
                </a:r>
                <a:r>
                  <a:rPr lang="en-US" dirty="0"/>
                  <a:t> of a path is</a:t>
                </a:r>
              </a:p>
              <a:p>
                <a:pPr marL="593725" lvl="2" indent="0">
                  <a:buNone/>
                </a:pPr>
                <a:r>
                  <a:rPr lang="en-US" dirty="0"/>
                  <a:t>	(#of nodes in this path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− 1</m:t>
                    </m:r>
                  </m:oMath>
                </a14:m>
                <a:r>
                  <a:rPr lang="en-US" dirty="0"/>
                  <a:t>)</a:t>
                </a:r>
              </a:p>
              <a:p>
                <a:pPr marL="661988" lvl="1" indent="-342900"/>
                <a:endParaRPr lang="en-US" dirty="0"/>
              </a:p>
              <a:p>
                <a:pPr marL="387350" indent="-342900"/>
                <a:r>
                  <a:rPr lang="en-US" dirty="0"/>
                  <a:t>A </a:t>
                </a:r>
                <a:r>
                  <a:rPr lang="en-US" dirty="0">
                    <a:solidFill>
                      <a:srgbClr val="0070C0"/>
                    </a:solidFill>
                  </a:rPr>
                  <a:t>shortest path </a:t>
                </a:r>
                <a:r>
                  <a:rPr lang="en-US" dirty="0"/>
                  <a:t>from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en-US" dirty="0"/>
                  <a:t> to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dirty="0"/>
                  <a:t> </a:t>
                </a:r>
              </a:p>
              <a:p>
                <a:pPr marL="661988" lvl="1" indent="-342900"/>
                <a:r>
                  <a:rPr lang="en-US" dirty="0"/>
                  <a:t>is a path from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en-US" dirty="0"/>
                  <a:t> to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dirty="0"/>
                  <a:t> using with smallest possible length. </a:t>
                </a:r>
              </a:p>
              <a:p>
                <a:pPr marL="661988" lvl="1" indent="-342900"/>
                <a:r>
                  <a:rPr lang="en-US" dirty="0"/>
                  <a:t>Note that there may be multiple shortest paths from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en-US" dirty="0"/>
                  <a:t> to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dirty="0"/>
                  <a:t>, all of which has the same length. </a:t>
                </a:r>
              </a:p>
              <a:p>
                <a:pPr marL="661988" lvl="1" indent="-342900"/>
                <a:endParaRPr lang="en-US" dirty="0"/>
              </a:p>
              <a:p>
                <a:pPr marL="387350" indent="-342900"/>
                <a:r>
                  <a:rPr lang="en-US" dirty="0"/>
                  <a:t>The </a:t>
                </a:r>
                <a:r>
                  <a:rPr lang="en-US" dirty="0">
                    <a:solidFill>
                      <a:srgbClr val="0070C0"/>
                    </a:solidFill>
                  </a:rPr>
                  <a:t>shortest path distance </a:t>
                </a:r>
                <a:r>
                  <a:rPr lang="en-US" dirty="0"/>
                  <a:t>from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en-US" dirty="0"/>
                  <a:t> to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endParaRPr lang="en-US" dirty="0"/>
              </a:p>
              <a:p>
                <a:pPr marL="661988" lvl="1" indent="-342900"/>
                <a:r>
                  <a:rPr lang="en-US" dirty="0"/>
                  <a:t>is the length of a shortest path from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en-US" dirty="0"/>
                  <a:t> to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endParaRPr lang="en-US" dirty="0"/>
              </a:p>
              <a:p>
                <a:pPr marL="661988" lvl="1" indent="-342900"/>
                <a:r>
                  <a:rPr lang="en-US" dirty="0"/>
                  <a:t>by convention, the distance is set to be </a:t>
                </a:r>
                <a14:m>
                  <m:oMath xmlns:m="http://schemas.openxmlformats.org/officeDocument/2006/math">
                    <m:r>
                      <a:rPr lang="en-US" b="0" i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∞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if there is no path from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en-US" dirty="0"/>
                  <a:t> to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endParaRPr lang="en-US" dirty="0"/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9E0DC28-3DAD-4FED-8385-82CE5E6E18A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blipFill>
                <a:blip r:embed="rId2"/>
                <a:stretch>
                  <a:fillRect l="-667" t="-1111" r="-1037" b="-358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702121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FEAD0E-B804-4AB6-8F40-7D09695526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27F9AD9-91B3-451D-B52C-BDEBEF9798DF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/>
            <p:txBody>
              <a:bodyPr/>
              <a:lstStyle/>
              <a:p>
                <a:r>
                  <a:rPr lang="en-US" dirty="0"/>
                  <a:t>Input:  </a:t>
                </a:r>
              </a:p>
              <a:p>
                <a:pPr lvl="1"/>
                <a:r>
                  <a:rPr lang="en-US" dirty="0"/>
                  <a:t>A (directed or undirected) graph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and a source node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endParaRPr lang="en-US" dirty="0"/>
              </a:p>
              <a:p>
                <a:r>
                  <a:rPr lang="en-US" dirty="0"/>
                  <a:t>Output: </a:t>
                </a:r>
              </a:p>
              <a:p>
                <a:pPr lvl="1"/>
                <a:r>
                  <a:rPr lang="en-US" dirty="0"/>
                  <a:t>The shortest path distance from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dirty="0"/>
                  <a:t> to all other nodes in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27F9AD9-91B3-451D-B52C-BDEBEF9798D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blipFill>
                <a:blip r:embed="rId2"/>
                <a:stretch>
                  <a:fillRect l="-667" t="-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7461699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4E684F-A229-471D-9B54-867AA3E3F1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D7479C-42B6-41A9-9892-43D86C45BECC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4200524"/>
            <a:ext cx="8229600" cy="1956435"/>
          </a:xfrm>
        </p:spPr>
        <p:txBody>
          <a:bodyPr/>
          <a:lstStyle/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4079041-5271-4147-A5EE-CAF7FB2111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2200" y="1589689"/>
            <a:ext cx="5019675" cy="2600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194194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55EC45-FDFC-4423-B0BB-BFAA226D2E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Property of shortest paths (</a:t>
            </a:r>
            <a:r>
              <a:rPr lang="en-US" dirty="0" err="1"/>
              <a:t>i</a:t>
            </a:r>
            <a:r>
              <a:rPr lang="en-US" dirty="0"/>
              <a:t>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3C5ABDB-98D0-4F19-B3AB-ACAA5A5F6FA3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>
              <a:xfrm>
                <a:off x="457200" y="1219200"/>
                <a:ext cx="8229600" cy="2057400"/>
              </a:xfrm>
              <a:ln w="127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 dirty="0"/>
                  <a:t>Claim A:</a:t>
                </a:r>
              </a:p>
              <a:p>
                <a:pPr lvl="1"/>
                <a:r>
                  <a:rPr lang="en-US" dirty="0"/>
                  <a:t>Given any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n-US" dirty="0"/>
                  <a:t>,  if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dirty="0"/>
                  <a:t> is reachable from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en-US" dirty="0"/>
                  <a:t> a shortest path from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to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dirty="0"/>
                  <a:t> has to be </a:t>
                </a:r>
                <a:r>
                  <a:rPr lang="en-US" dirty="0">
                    <a:solidFill>
                      <a:srgbClr val="C00000"/>
                    </a:solidFill>
                  </a:rPr>
                  <a:t>simple</a:t>
                </a:r>
                <a:r>
                  <a:rPr lang="en-US" dirty="0"/>
                  <a:t>. </a:t>
                </a:r>
              </a:p>
              <a:p>
                <a:pPr lvl="1"/>
                <a:r>
                  <a:rPr lang="en-US" dirty="0"/>
                  <a:t>(Recall, a path is simple if no node in it is visited more than once) 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lvl="1"/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3C5ABDB-98D0-4F19-B3AB-ACAA5A5F6FA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xfrm>
                <a:off x="457200" y="1219200"/>
                <a:ext cx="8229600" cy="2057400"/>
              </a:xfrm>
              <a:blipFill>
                <a:blip r:embed="rId2"/>
                <a:stretch>
                  <a:fillRect l="-592" t="-2353" b="-3824"/>
                </a:stretch>
              </a:blipFill>
              <a:ln w="127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8215088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55EC45-FDFC-4423-B0BB-BFAA226D2E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Property of shortest paths (ii)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7FFF6538-B9E3-4F9B-BD52-96BEF0FAF97B}"/>
                  </a:ext>
                </a:extLst>
              </p:cNvPr>
              <p:cNvSpPr txBox="1">
                <a:spLocks/>
              </p:cNvSpPr>
              <p:nvPr/>
            </p:nvSpPr>
            <p:spPr bwMode="auto">
              <a:xfrm>
                <a:off x="480848" y="1447800"/>
                <a:ext cx="8229600" cy="2438400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lvl1pPr marL="273050" indent="-273050" algn="l" rtl="0" eaLnBrk="0" fontAlgn="base" hangingPunct="0">
                  <a:spcBef>
                    <a:spcPts val="600"/>
                  </a:spcBef>
                  <a:spcAft>
                    <a:spcPct val="0"/>
                  </a:spcAft>
                  <a:buClr>
                    <a:schemeClr val="accent1"/>
                  </a:buClr>
                  <a:buSzPct val="76000"/>
                  <a:buFont typeface="Wingdings 3" pitchFamily="18" charset="2"/>
                  <a:buChar char=""/>
                  <a:defRPr sz="2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547688" indent="-273050" algn="l" rtl="0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chemeClr val="accent2"/>
                  </a:buClr>
                  <a:buSzPct val="76000"/>
                  <a:buFont typeface="Wingdings 3" pitchFamily="18" charset="2"/>
                  <a:buChar char=""/>
                  <a:defRPr sz="2300" kern="120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2pPr>
                <a:lvl3pPr marL="822325" indent="-228600" algn="l" rtl="0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BCBCBC"/>
                  </a:buClr>
                  <a:buSzPct val="76000"/>
                  <a:buFont typeface="Wingdings 3" pitchFamily="18" charset="2"/>
                  <a:buChar char="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096963" indent="-228600" algn="l" rtl="0" eaLnBrk="0" fontAlgn="base" hangingPunct="0">
                  <a:spcBef>
                    <a:spcPts val="400"/>
                  </a:spcBef>
                  <a:spcAft>
                    <a:spcPct val="0"/>
                  </a:spcAft>
                  <a:buClr>
                    <a:srgbClr val="8BA2B4"/>
                  </a:buClr>
                  <a:buSzPct val="70000"/>
                  <a:buFont typeface="Wingdings" pitchFamily="2" charset="2"/>
                  <a:buChar char="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371600" indent="-228600" algn="l" rtl="0" eaLnBrk="0" fontAlgn="base" hangingPunct="0">
                  <a:spcBef>
                    <a:spcPts val="300"/>
                  </a:spcBef>
                  <a:spcAft>
                    <a:spcPct val="0"/>
                  </a:spcAft>
                  <a:buClr>
                    <a:schemeClr val="accent2"/>
                  </a:buClr>
                  <a:buSzPct val="70000"/>
                  <a:buFont typeface="Wingdings" pitchFamily="2" charset="2"/>
                  <a:buChar char="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1645920" indent="-182880" algn="l" rtl="0" eaLnBrk="1" latinLnBrk="0" hangingPunct="1">
                  <a:spcBef>
                    <a:spcPts val="300"/>
                  </a:spcBef>
                  <a:buClr>
                    <a:srgbClr val="9FB8CD">
                      <a:shade val="75000"/>
                    </a:srgbClr>
                  </a:buClr>
                  <a:buSzPct val="75000"/>
                  <a:buFont typeface="Wingdings 3"/>
                  <a:buChar char=""/>
                  <a:defRPr kumimoji="0" lang="en-US" sz="16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1828800" indent="-182880" algn="l" rtl="0" eaLnBrk="1" latinLnBrk="0" hangingPunct="1">
                  <a:spcBef>
                    <a:spcPts val="300"/>
                  </a:spcBef>
                  <a:buClr>
                    <a:srgbClr val="727CA3">
                      <a:shade val="75000"/>
                    </a:srgbClr>
                  </a:buClr>
                  <a:buSzPct val="75000"/>
                  <a:buFont typeface="Wingdings 3"/>
                  <a:buChar char=""/>
                  <a:defRPr kumimoji="0" lang="en-US" sz="14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011680" indent="-182880" algn="l" rtl="0" eaLnBrk="1" latinLnBrk="0" hangingPunct="1">
                  <a:spcBef>
                    <a:spcPts val="300"/>
                  </a:spcBef>
                  <a:buClr>
                    <a:prstClr val="white">
                      <a:shade val="50000"/>
                    </a:prstClr>
                  </a:buClr>
                  <a:buSzPct val="75000"/>
                  <a:buFont typeface="Wingdings 3"/>
                  <a:buChar char=""/>
                  <a:defRPr kumimoji="0" lang="en-US" sz="14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2194560" indent="-182880" algn="l" rtl="0" eaLnBrk="1" latinLnBrk="0" hangingPunct="1">
                  <a:spcBef>
                    <a:spcPts val="300"/>
                  </a:spcBef>
                  <a:buClr>
                    <a:srgbClr val="9FB8CD"/>
                  </a:buClr>
                  <a:buSzPct val="75000"/>
                  <a:buFont typeface="Wingdings 3"/>
                  <a:buChar char=""/>
                  <a:defRPr kumimoji="0" lang="en-US" sz="12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dirty="0"/>
                  <a:t>Key structure of shortest paths:</a:t>
                </a:r>
              </a:p>
              <a:p>
                <a:pPr lvl="1"/>
                <a:r>
                  <a:rPr lang="en-US" dirty="0"/>
                  <a:t>Any sub-path of a shortest path must be a shortest path itself. </a:t>
                </a:r>
              </a:p>
              <a:p>
                <a:pPr lvl="1"/>
                <a:r>
                  <a:rPr lang="en-US" dirty="0"/>
                  <a:t>This implies that a shortest path of length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 consists of a shortest path of length (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en-US" dirty="0"/>
                  <a:t>) plus one edge. </a:t>
                </a:r>
              </a:p>
              <a:p>
                <a:pPr lvl="2"/>
                <a:r>
                  <a:rPr lang="en-US" dirty="0" err="1"/>
                  <a:t>e.g</a:t>
                </a:r>
                <a:r>
                  <a:rPr lang="en-US" dirty="0"/>
                  <a:t>, given a shortest path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=⟨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,…,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⟩</m:t>
                    </m:r>
                  </m:oMath>
                </a14:m>
                <a:r>
                  <a:rPr lang="en-US" dirty="0"/>
                  <a:t>  from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dirty="0"/>
                  <a:t>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dirty="0"/>
                  <a:t>, it consists of a shortest path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⟨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,…,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⟩</m:t>
                    </m:r>
                  </m:oMath>
                </a14:m>
                <a:r>
                  <a:rPr lang="en-US" dirty="0"/>
                  <a:t> plus edge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 lvl="2"/>
                <a:endParaRPr lang="en-US" dirty="0"/>
              </a:p>
              <a:p>
                <a:pPr marL="0" indent="0">
                  <a:buFont typeface="Wingdings 3" pitchFamily="18" charset="2"/>
                  <a:buNone/>
                </a:pPr>
                <a:endParaRPr lang="en-US" dirty="0"/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7FFF6538-B9E3-4F9B-BD52-96BEF0FAF9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80848" y="1447800"/>
                <a:ext cx="8229600" cy="2438400"/>
              </a:xfrm>
              <a:prstGeom prst="rect">
                <a:avLst/>
              </a:prstGeom>
              <a:blipFill>
                <a:blip r:embed="rId2"/>
                <a:stretch>
                  <a:fillRect l="-592" t="-2239"/>
                </a:stretch>
              </a:blipFill>
              <a:ln w="1270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3" name="Picture 12">
            <a:extLst>
              <a:ext uri="{FF2B5EF4-FFF2-40B4-BE49-F238E27FC236}">
                <a16:creationId xmlns:a16="http://schemas.microsoft.com/office/drawing/2014/main" id="{B4D06DCD-A77E-40EB-8EF3-2DEDDC8EED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33600" y="4114800"/>
            <a:ext cx="4686300" cy="2190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31375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4AD14C-6D94-4048-8030-AF3B00C6AD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2590800"/>
            <a:ext cx="8229600" cy="990600"/>
          </a:xfrm>
        </p:spPr>
        <p:txBody>
          <a:bodyPr/>
          <a:lstStyle/>
          <a:p>
            <a:pPr algn="ctr"/>
            <a:r>
              <a:rPr lang="en-US" dirty="0"/>
              <a:t>Shortest path</a:t>
            </a:r>
            <a:br>
              <a:rPr lang="en-US" dirty="0"/>
            </a:br>
            <a:r>
              <a:rPr lang="en-US" dirty="0"/>
              <a:t>and BFS </a:t>
            </a:r>
          </a:p>
        </p:txBody>
      </p:sp>
    </p:spTree>
    <p:extLst>
      <p:ext uri="{BB962C8B-B14F-4D97-AF65-F5344CB8AC3E}">
        <p14:creationId xmlns:p14="http://schemas.microsoft.com/office/powerpoint/2010/main" val="283837467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2A4B31-8051-48BD-A6A2-D1DB06C3E0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do we find shortest paths?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8A37911-2331-4E82-9519-096BC7FEA957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/>
            <p:txBody>
              <a:bodyPr/>
              <a:lstStyle/>
              <a:p>
                <a:r>
                  <a:rPr lang="en-US" dirty="0"/>
                  <a:t>High level idea: </a:t>
                </a:r>
              </a:p>
              <a:p>
                <a:pPr lvl="1"/>
                <a:r>
                  <a:rPr lang="en-US" dirty="0"/>
                  <a:t>Starting from the source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First find all nodes that are at distance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dirty="0"/>
                  <a:t> from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Then </a:t>
                </a:r>
                <a:r>
                  <a:rPr lang="en-US" dirty="0">
                    <a:solidFill>
                      <a:srgbClr val="C00000"/>
                    </a:solidFill>
                  </a:rPr>
                  <a:t>use them </a:t>
                </a:r>
                <a:r>
                  <a:rPr lang="en-US" dirty="0"/>
                  <a:t>to find those nodes at distance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en-US" dirty="0"/>
                  <a:t> from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Then </a:t>
                </a:r>
                <a:r>
                  <a:rPr lang="en-US" dirty="0">
                    <a:solidFill>
                      <a:srgbClr val="C00000"/>
                    </a:solidFill>
                  </a:rPr>
                  <a:t>use them </a:t>
                </a:r>
                <a:r>
                  <a:rPr lang="en-US" dirty="0"/>
                  <a:t>to find those nodes at distance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3</m:t>
                    </m:r>
                  </m:oMath>
                </a14:m>
                <a:r>
                  <a:rPr lang="en-US" dirty="0"/>
                  <a:t> from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…. </a:t>
                </a:r>
              </a:p>
              <a:p>
                <a:pPr lvl="1"/>
                <a:r>
                  <a:rPr lang="en-US" dirty="0"/>
                  <a:t>Till we find all reachable nodes </a:t>
                </a:r>
              </a:p>
              <a:p>
                <a:pPr lvl="1"/>
                <a:endParaRPr lang="en-US" dirty="0"/>
              </a:p>
              <a:p>
                <a:r>
                  <a:rPr lang="en-US" dirty="0"/>
                  <a:t>Note: </a:t>
                </a:r>
              </a:p>
              <a:p>
                <a:pPr lvl="1"/>
                <a:r>
                  <a:rPr lang="en-US" dirty="0"/>
                  <a:t>to get a node at distance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 from source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dirty="0"/>
                  <a:t>, </a:t>
                </a:r>
              </a:p>
              <a:p>
                <a:pPr lvl="1"/>
                <a:r>
                  <a:rPr lang="en-US" dirty="0"/>
                  <a:t>you have to first reach a node at distance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en-US" dirty="0"/>
                  <a:t> from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dirty="0"/>
                  <a:t>, and extend it from that node via an edge. 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8A37911-2331-4E82-9519-096BC7FEA95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blipFill>
                <a:blip r:embed="rId2"/>
                <a:stretch>
                  <a:fillRect l="-667" t="-1111" b="-46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850414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E4033C-16B4-4B54-89BC-AF767AEC74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326EB2-5925-4611-BCB8-4970FC4B577E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06EC15C-511B-4F6B-A1E4-7AF825CCA4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3600" y="1676400"/>
            <a:ext cx="5019675" cy="2600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226842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FD2810-2F7B-4161-A4FD-867876309B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B5C576-CC4B-4562-9334-9F03384F0433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/>
              <a:t>It turns out that this idea is exactly what BFS is doing! </a:t>
            </a:r>
          </a:p>
          <a:p>
            <a:r>
              <a:rPr lang="en-US" dirty="0"/>
              <a:t>Intuitively, </a:t>
            </a:r>
          </a:p>
          <a:p>
            <a:pPr lvl="1"/>
            <a:r>
              <a:rPr lang="en-US" dirty="0"/>
              <a:t>the first time that we discover a node turns out to encode the fastest way to reach it </a:t>
            </a:r>
          </a:p>
          <a:p>
            <a:pPr lvl="2"/>
            <a:r>
              <a:rPr lang="en-US" dirty="0"/>
              <a:t>that is also when we first change the status of a node from undiscovered to pending </a:t>
            </a:r>
          </a:p>
          <a:p>
            <a:pPr lvl="1"/>
            <a:r>
              <a:rPr lang="en-US" dirty="0"/>
              <a:t>the time this node is discovered relates to the distance to the source nodes</a:t>
            </a:r>
          </a:p>
          <a:p>
            <a:pPr lvl="1"/>
            <a:r>
              <a:rPr lang="en-US" dirty="0"/>
              <a:t>by visiting and exploring the oldest pending nodes (those with smallest distance to the source first),  we find fastest way to reach a new node </a:t>
            </a:r>
          </a:p>
          <a:p>
            <a:pPr lvl="2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732084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0F26C8-88F6-4DC7-85FF-B6203C0EAE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Recall BFS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E176213-214B-42E7-98D2-9F795F9966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31757"/>
            <a:ext cx="8229600" cy="4588043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43722132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62C2DC-8B01-4BE4-B79F-10C49EE5D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Property of BFS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6230EA-9F2C-4B9C-B3F3-6A4C144C8095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/>
            <p:txBody>
              <a:bodyPr/>
              <a:lstStyle/>
              <a:p>
                <a:r>
                  <a:rPr lang="en-US" sz="2400" dirty="0"/>
                  <a:t>For any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≥1</m:t>
                    </m:r>
                  </m:oMath>
                </a14:m>
                <a:r>
                  <a:rPr lang="en-US" sz="2400" dirty="0"/>
                  <a:t>, </a:t>
                </a:r>
              </a:p>
              <a:p>
                <a:pPr lvl="1"/>
                <a:r>
                  <a:rPr lang="en-US" sz="2000" dirty="0"/>
                  <a:t>all nodes distance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sz="2000" dirty="0"/>
                  <a:t> from source are added to the queue before any node of distance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endParaRPr lang="en-US" sz="2000" dirty="0"/>
              </a:p>
              <a:p>
                <a:pPr lvl="1"/>
                <a:r>
                  <a:rPr lang="en-US" sz="2000" dirty="0"/>
                  <a:t>Hence nodes are added to the queue in increasing order of their distances to the source</a:t>
                </a:r>
              </a:p>
              <a:p>
                <a:pPr lvl="1"/>
                <a:endParaRPr lang="en-US" sz="2000" dirty="0"/>
              </a:p>
              <a:p>
                <a:r>
                  <a:rPr lang="en-US" sz="2400" dirty="0"/>
                  <a:t>Therefore, nodes are “processed” (popped from the queue) in order of distance from the source, </a:t>
                </a:r>
              </a:p>
              <a:p>
                <a:pPr lvl="1"/>
                <a:r>
                  <a:rPr lang="en-US" sz="2000" dirty="0"/>
                  <a:t>which further guarantees that the first time to find a undiscovered node, that must be the shortest path to reach this node from the source.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6230EA-9F2C-4B9C-B3F3-6A4C144C809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blipFill>
                <a:blip r:embed="rId2"/>
                <a:stretch>
                  <a:fillRect l="-519" t="-988" r="-7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426747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ECC2AC-D419-44DB-81B6-4D456196E6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EB2490D-4360-49F5-89AB-82F8A4757EC5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/>
            <p:txBody>
              <a:bodyPr/>
              <a:lstStyle/>
              <a:p>
                <a:r>
                  <a:rPr lang="en-US" sz="2400" dirty="0"/>
                  <a:t>Consider a node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en-US" sz="2400" dirty="0"/>
                  <a:t> that we just popped from the queue</a:t>
                </a:r>
              </a:p>
              <a:p>
                <a:r>
                  <a:rPr lang="en-US" sz="2400" dirty="0"/>
                  <a:t>Suppose the distance from source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2400" dirty="0"/>
                  <a:t> to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en-US" sz="2400" dirty="0"/>
                  <a:t> is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sz="2400" b="0" dirty="0"/>
                  <a:t> </a:t>
                </a:r>
              </a:p>
              <a:p>
                <a:r>
                  <a:rPr lang="en-US" sz="2400" dirty="0"/>
                  <a:t>Our algorithm will then scan through all neighbors of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en-US" sz="2400" b="0" dirty="0"/>
                  <a:t>. </a:t>
                </a:r>
              </a:p>
              <a:p>
                <a:pPr lvl="1"/>
                <a:r>
                  <a:rPr lang="en-US" sz="2100" b="0" dirty="0"/>
                  <a:t>For a neighbor </a:t>
                </a:r>
                <a14:m>
                  <m:oMath xmlns:m="http://schemas.openxmlformats.org/officeDocument/2006/math">
                    <m:r>
                      <a:rPr lang="en-US" sz="2100" i="1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sz="2100" dirty="0"/>
                  <a:t> of </a:t>
                </a:r>
                <a14:m>
                  <m:oMath xmlns:m="http://schemas.openxmlformats.org/officeDocument/2006/math">
                    <m:r>
                      <a:rPr lang="en-US" sz="2100" i="1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en-US" sz="2100" b="0" dirty="0"/>
                  <a:t>, </a:t>
                </a:r>
                <a:r>
                  <a:rPr lang="en-US" sz="2000" dirty="0"/>
                  <a:t>we have now found a new path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sz="2000" dirty="0"/>
                  <a:t> to reach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sz="2000" dirty="0"/>
                  <a:t> by the path from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000" dirty="0"/>
                  <a:t>to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, </m:t>
                    </m:r>
                  </m:oMath>
                </a14:m>
                <a:r>
                  <a:rPr lang="en-US" sz="2000" dirty="0"/>
                  <a:t>followed by the edge (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000" dirty="0"/>
                  <a:t>.  The length is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r>
                  <a:rPr lang="en-US" sz="2400" dirty="0"/>
                  <a:t>. </a:t>
                </a:r>
              </a:p>
              <a:p>
                <a:pPr lvl="1"/>
                <a:r>
                  <a:rPr lang="en-US" sz="2100" b="0" dirty="0"/>
                  <a:t>If</a:t>
                </a:r>
                <a:r>
                  <a:rPr lang="en-US" sz="2000" b="0" dirty="0"/>
                  <a:t> this neighbor </a:t>
                </a:r>
                <a14:m>
                  <m:oMath xmlns:m="http://schemas.openxmlformats.org/officeDocument/2006/math">
                    <m:r>
                      <a:rPr lang="en-US" sz="2000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sz="200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000" b="0" dirty="0"/>
                  <a:t>is </a:t>
                </a:r>
                <a:r>
                  <a:rPr lang="en-US" sz="2000" b="0" dirty="0">
                    <a:solidFill>
                      <a:srgbClr val="00B050"/>
                    </a:solidFill>
                  </a:rPr>
                  <a:t>undiscovered</a:t>
                </a:r>
              </a:p>
              <a:p>
                <a:pPr lvl="2"/>
                <a:r>
                  <a:rPr lang="en-US" sz="1800" dirty="0"/>
                  <a:t>then the new path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sz="1800" dirty="0"/>
                  <a:t> must be shortest! Why? </a:t>
                </a:r>
              </a:p>
              <a:p>
                <a:pPr lvl="2"/>
                <a:r>
                  <a:rPr lang="en-US" sz="1800" dirty="0"/>
                  <a:t>h</a:t>
                </a:r>
                <a:r>
                  <a:rPr lang="en-US" sz="1800" b="0" dirty="0"/>
                  <a:t>ence the shortest path distance from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800" b="0" dirty="0"/>
                  <a:t> to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en-US" sz="1800" b="0" dirty="0"/>
                  <a:t> is </a:t>
                </a:r>
                <a14:m>
                  <m:oMath xmlns:m="http://schemas.openxmlformats.org/officeDocument/2006/math">
                    <m:r>
                      <a:rPr lang="en-US" sz="1800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1800" i="1"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endParaRPr lang="en-US" sz="1800" b="0" dirty="0"/>
              </a:p>
              <a:p>
                <a:pPr lvl="1"/>
                <a:r>
                  <a:rPr lang="en-US" sz="2000" dirty="0"/>
                  <a:t>Otherwise, this neighbor </a:t>
                </a:r>
                <a14:m>
                  <m:oMath xmlns:m="http://schemas.openxmlformats.org/officeDocument/2006/math">
                    <m:r>
                      <a:rPr lang="en-US" sz="2000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sz="200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000" b="0" dirty="0"/>
                  <a:t>is already discovered (</a:t>
                </a:r>
                <a:r>
                  <a:rPr lang="en-US" sz="2000" b="0" dirty="0">
                    <a:solidFill>
                      <a:schemeClr val="accent4">
                        <a:lumMod val="75000"/>
                      </a:schemeClr>
                    </a:solidFill>
                  </a:rPr>
                  <a:t>pending</a:t>
                </a:r>
                <a:r>
                  <a:rPr lang="en-US" sz="2000" b="0" dirty="0"/>
                  <a:t> or </a:t>
                </a:r>
                <a:r>
                  <a:rPr lang="en-US" sz="2000" b="0" dirty="0">
                    <a:solidFill>
                      <a:srgbClr val="C00000"/>
                    </a:solidFill>
                  </a:rPr>
                  <a:t>visited</a:t>
                </a:r>
                <a:r>
                  <a:rPr lang="en-US" sz="2000" b="0" dirty="0"/>
                  <a:t>)</a:t>
                </a:r>
              </a:p>
              <a:p>
                <a:pPr lvl="2"/>
                <a:r>
                  <a:rPr lang="en-US" sz="1800" dirty="0"/>
                  <a:t>t</a:t>
                </a:r>
                <a:r>
                  <a:rPr lang="en-US" sz="1800" b="0" dirty="0"/>
                  <a:t>hen it means that we have already found a path to </a:t>
                </a:r>
                <a14:m>
                  <m:oMath xmlns:m="http://schemas.openxmlformats.org/officeDocument/2006/math">
                    <m:r>
                      <a:rPr lang="en-US" sz="1800" i="1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sz="1800" b="0" dirty="0"/>
                  <a:t> before, whose length is at most </a:t>
                </a:r>
                <a14:m>
                  <m:oMath xmlns:m="http://schemas.openxmlformats.org/officeDocument/2006/math">
                    <m:r>
                      <a:rPr lang="en-US" sz="1800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1800" i="1"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r>
                  <a:rPr lang="en-US" sz="1800" b="0" dirty="0"/>
                  <a:t>. </a:t>
                </a:r>
                <a:r>
                  <a:rPr lang="en-US" sz="1800" dirty="0"/>
                  <a:t> </a:t>
                </a:r>
              </a:p>
              <a:p>
                <a:pPr lvl="2"/>
                <a:r>
                  <a:rPr lang="en-US" sz="1800" dirty="0"/>
                  <a:t>so, the new path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sz="1800" dirty="0"/>
                  <a:t> we just found is not useful for shortest path – we already have a shortest path to </a:t>
                </a:r>
                <a14:m>
                  <m:oMath xmlns:m="http://schemas.openxmlformats.org/officeDocument/2006/math">
                    <m:r>
                      <a:rPr lang="en-US" sz="1800" i="1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endParaRPr lang="en-US" sz="1800" b="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EB2490D-4360-49F5-89AB-82F8A4757EC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blipFill>
                <a:blip r:embed="rId2"/>
                <a:stretch>
                  <a:fillRect l="-519" t="-9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33434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8AD547-A5B1-491F-80E5-734C463E72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Modified BFS – distance computation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7CD61FF8-DC59-4EA8-B65E-2C8DD0F646A6}"/>
              </a:ext>
            </a:extLst>
          </p:cNvPr>
          <p:cNvGrpSpPr/>
          <p:nvPr/>
        </p:nvGrpSpPr>
        <p:grpSpPr>
          <a:xfrm>
            <a:off x="381000" y="1143000"/>
            <a:ext cx="8229600" cy="5334000"/>
            <a:chOff x="381000" y="1143000"/>
            <a:chExt cx="8229600" cy="533400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F381F22D-739C-4748-8C89-0EC3984FCFF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83476" y="1143000"/>
              <a:ext cx="7315200" cy="1123950"/>
            </a:xfrm>
            <a:prstGeom prst="rect">
              <a:avLst/>
            </a:prstGeom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376659E2-C091-452D-B574-C5442CE8650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71550" y="2362200"/>
              <a:ext cx="3448050" cy="514350"/>
            </a:xfrm>
            <a:prstGeom prst="rect">
              <a:avLst/>
            </a:prstGeom>
          </p:spPr>
        </p:pic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1BA9C000-8101-4877-9008-5A52D0E23801}"/>
                </a:ext>
              </a:extLst>
            </p:cNvPr>
            <p:cNvGrpSpPr/>
            <p:nvPr/>
          </p:nvGrpSpPr>
          <p:grpSpPr>
            <a:xfrm>
              <a:off x="965638" y="2971800"/>
              <a:ext cx="5130362" cy="3495675"/>
              <a:chOff x="965638" y="3122886"/>
              <a:chExt cx="5130362" cy="3495675"/>
            </a:xfrm>
          </p:grpSpPr>
          <p:pic>
            <p:nvPicPr>
              <p:cNvPr id="9" name="Picture 8">
                <a:extLst>
                  <a:ext uri="{FF2B5EF4-FFF2-40B4-BE49-F238E27FC236}">
                    <a16:creationId xmlns:a16="http://schemas.microsoft.com/office/drawing/2014/main" id="{AACA8395-C433-4165-86D5-FDA124B1B9C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71550" y="3122886"/>
                <a:ext cx="5124450" cy="2171700"/>
              </a:xfrm>
              <a:prstGeom prst="rect">
                <a:avLst/>
              </a:prstGeom>
            </p:spPr>
          </p:pic>
          <p:pic>
            <p:nvPicPr>
              <p:cNvPr id="11" name="Picture 10">
                <a:extLst>
                  <a:ext uri="{FF2B5EF4-FFF2-40B4-BE49-F238E27FC236}">
                    <a16:creationId xmlns:a16="http://schemas.microsoft.com/office/drawing/2014/main" id="{E0DE6CA6-818A-4048-ABAE-8EF50EA34EB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65638" y="5294586"/>
                <a:ext cx="3619500" cy="1323975"/>
              </a:xfrm>
              <a:prstGeom prst="rect">
                <a:avLst/>
              </a:prstGeom>
            </p:spPr>
          </p:pic>
        </p:grp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4E6DCC22-F350-4441-985E-16E9093A13B3}"/>
                </a:ext>
              </a:extLst>
            </p:cNvPr>
            <p:cNvSpPr/>
            <p:nvPr/>
          </p:nvSpPr>
          <p:spPr>
            <a:xfrm>
              <a:off x="381000" y="1143000"/>
              <a:ext cx="8229600" cy="5334000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400441093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E43CBF-77DC-4E8A-9F7A-578D2E74E9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But we can do more!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9E9E30D-5A50-420E-A560-30B199C83E90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/>
            <p:txBody>
              <a:bodyPr/>
              <a:lstStyle/>
              <a:p>
                <a:r>
                  <a:rPr lang="en-US" sz="2400" dirty="0"/>
                  <a:t>We can record information to help us recover shortest paths themselves later! </a:t>
                </a:r>
              </a:p>
              <a:p>
                <a:endParaRPr lang="en-US" sz="800" dirty="0"/>
              </a:p>
              <a:p>
                <a:r>
                  <a:rPr lang="en-US" sz="2400" dirty="0"/>
                  <a:t>Node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en-US" sz="2400" dirty="0"/>
                  <a:t> is set to be </a:t>
                </a:r>
                <a:r>
                  <a:rPr lang="en-US" sz="2400" dirty="0">
                    <a:solidFill>
                      <a:srgbClr val="0070C0"/>
                    </a:solidFill>
                  </a:rPr>
                  <a:t>BFS-predecessor</a:t>
                </a:r>
                <a:r>
                  <a:rPr lang="en-US" sz="2400" dirty="0"/>
                  <a:t> of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sz="2400" b="0" i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400" dirty="0"/>
                  <a:t>if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sz="2400" dirty="0"/>
                  <a:t> is discovered while visiting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en-US" sz="2400" dirty="0"/>
                  <a:t>.  </a:t>
                </a:r>
              </a:p>
              <a:p>
                <a:endParaRPr lang="en-US" sz="800" dirty="0"/>
              </a:p>
              <a:p>
                <a:r>
                  <a:rPr lang="en-US" sz="2400" dirty="0"/>
                  <a:t>This means that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en-US" sz="2400" dirty="0"/>
                  <a:t> is the predecessor along a shortest path from the source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2400" dirty="0"/>
                  <a:t> to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endParaRPr lang="en-US" sz="2400" dirty="0"/>
              </a:p>
              <a:p>
                <a:pPr lvl="1"/>
                <a:r>
                  <a:rPr lang="en-US" sz="2000" dirty="0"/>
                  <a:t>In particular, the shortest path from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2000" dirty="0"/>
                  <a:t> to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en-US" sz="2000" dirty="0"/>
                  <a:t> plus edge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000" dirty="0"/>
                  <a:t> is a shortest path from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2000" dirty="0"/>
                  <a:t> to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000" dirty="0"/>
                  <a:t>! </a:t>
                </a:r>
              </a:p>
              <a:p>
                <a:pPr lvl="1"/>
                <a:endParaRPr lang="en-US" sz="800" dirty="0"/>
              </a:p>
              <a:p>
                <a:r>
                  <a:rPr lang="en-US" sz="2400" dirty="0"/>
                  <a:t>If all nodes remember their </a:t>
                </a:r>
                <a:r>
                  <a:rPr lang="en-US" sz="2400" dirty="0">
                    <a:solidFill>
                      <a:srgbClr val="0070C0"/>
                    </a:solidFill>
                  </a:rPr>
                  <a:t>BFS-predecessors</a:t>
                </a:r>
                <a:r>
                  <a:rPr lang="en-US" sz="2400" dirty="0"/>
                  <a:t>, </a:t>
                </a:r>
              </a:p>
              <a:p>
                <a:pPr lvl="1"/>
                <a:r>
                  <a:rPr lang="en-US" sz="2000" dirty="0"/>
                  <a:t>Then we have enough information to recover shortest paths from the source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2000" dirty="0"/>
                  <a:t> to all reachable nodes! </a:t>
                </a:r>
              </a:p>
              <a:p>
                <a:pPr marL="274638" lvl="1" indent="0">
                  <a:buNone/>
                </a:pPr>
                <a:endParaRPr lang="en-US" sz="200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9E9E30D-5A50-420E-A560-30B199C83E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blipFill>
                <a:blip r:embed="rId2"/>
                <a:stretch>
                  <a:fillRect l="-519" t="-988" r="-3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140585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883E29-1D4E-40B3-9BA2-0454B2C197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Shortest-Path algorithm 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1DB0789D-381E-43C9-AA42-9437FA2496C3}"/>
              </a:ext>
            </a:extLst>
          </p:cNvPr>
          <p:cNvGrpSpPr/>
          <p:nvPr/>
        </p:nvGrpSpPr>
        <p:grpSpPr>
          <a:xfrm>
            <a:off x="457200" y="1143000"/>
            <a:ext cx="7696200" cy="5283881"/>
            <a:chOff x="381000" y="1219200"/>
            <a:chExt cx="7696200" cy="5283881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037F83F5-B741-440D-AED1-DD8BDDBDB59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59828" y="1219200"/>
              <a:ext cx="6557963" cy="1225868"/>
            </a:xfrm>
            <a:prstGeom prst="rect">
              <a:avLst/>
            </a:prstGeom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0FB43DD3-8E4E-4256-B0C5-24B875879E2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82869" y="2521268"/>
              <a:ext cx="2931795" cy="74580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D59780F3-D468-4666-B6F5-E93C6F4BDAC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882869" y="3343276"/>
              <a:ext cx="4663440" cy="2786063"/>
            </a:xfrm>
            <a:prstGeom prst="rect">
              <a:avLst/>
            </a:prstGeom>
          </p:spPr>
        </p:pic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0D992390-843E-43E0-A9AE-865C8B7BB3A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882869" y="6254478"/>
              <a:ext cx="3248978" cy="248603"/>
            </a:xfrm>
            <a:prstGeom prst="rect">
              <a:avLst/>
            </a:prstGeom>
          </p:spPr>
        </p:pic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A4AD588C-FF21-4E5F-B747-582B9A5E7E74}"/>
                </a:ext>
              </a:extLst>
            </p:cNvPr>
            <p:cNvSpPr/>
            <p:nvPr/>
          </p:nvSpPr>
          <p:spPr>
            <a:xfrm>
              <a:off x="381000" y="1219200"/>
              <a:ext cx="7696200" cy="5283881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413139805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E4033C-16B4-4B54-89BC-AF767AEC74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326EB2-5925-4611-BCB8-4970FC4B577E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06EC15C-511B-4F6B-A1E4-7AF825CCA4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3600" y="1676400"/>
            <a:ext cx="5019675" cy="2600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918489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0998C5-CFA1-49FE-8D00-0457FE2EAD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Time complexity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FADE974-677B-4B2B-BD46-8C8C34CA3FFF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/>
            <p:txBody>
              <a:bodyPr/>
              <a:lstStyle/>
              <a:p>
                <a:r>
                  <a:rPr lang="en-US" dirty="0"/>
                  <a:t>Note that this has the same asymptotic time complexity as BFS algorithm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begChr m:val="|"/>
                            <m:endChr m:val="|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d>
                          <m:dPr>
                            <m:begChr m:val="|"/>
                            <m:endChr m:val="|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𝐸</m:t>
                            </m:r>
                          </m:e>
                        </m:d>
                      </m:e>
                    </m:d>
                  </m:oMath>
                </a14:m>
                <a:endParaRPr lang="en-US" b="0" dirty="0"/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FADE974-677B-4B2B-BD46-8C8C34CA3FF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blipFill>
                <a:blip r:embed="rId2"/>
                <a:stretch>
                  <a:fillRect l="-667" t="-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1956781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4AD14C-6D94-4048-8030-AF3B00C6AD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2590800"/>
            <a:ext cx="8229600" cy="1600200"/>
          </a:xfrm>
        </p:spPr>
        <p:txBody>
          <a:bodyPr/>
          <a:lstStyle/>
          <a:p>
            <a:pPr algn="ctr"/>
            <a:r>
              <a:rPr lang="en-US" dirty="0"/>
              <a:t>BFS Trees </a:t>
            </a:r>
            <a:br>
              <a:rPr lang="en-US" dirty="0"/>
            </a:br>
            <a:r>
              <a:rPr lang="en-US" dirty="0"/>
              <a:t>and </a:t>
            </a:r>
            <a:br>
              <a:rPr lang="en-US" dirty="0"/>
            </a:br>
            <a:r>
              <a:rPr lang="en-US" dirty="0"/>
              <a:t>recovering shortest paths</a:t>
            </a:r>
          </a:p>
        </p:txBody>
      </p:sp>
    </p:spTree>
    <p:extLst>
      <p:ext uri="{BB962C8B-B14F-4D97-AF65-F5344CB8AC3E}">
        <p14:creationId xmlns:p14="http://schemas.microsoft.com/office/powerpoint/2010/main" val="79418738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0B55B6-E4C4-4B0E-8112-D368E1DC8F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Results of </a:t>
            </a:r>
            <a:r>
              <a:rPr lang="en-US" dirty="0" err="1"/>
              <a:t>BFS_shortest_path</a:t>
            </a:r>
            <a:r>
              <a:rPr lang="en-US" dirty="0"/>
              <a:t>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B60E274-F1E8-4337-B82F-AEAA8D60F104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/>
            <p:txBody>
              <a:bodyPr/>
              <a:lstStyle/>
              <a:p>
                <a:r>
                  <a:rPr lang="en-US" dirty="0"/>
                  <a:t>Every node reachable from the source has a single </a:t>
                </a:r>
                <a:r>
                  <a:rPr lang="en-US" dirty="0">
                    <a:solidFill>
                      <a:srgbClr val="0070C0"/>
                    </a:solidFill>
                  </a:rPr>
                  <a:t>BFS-predecessor</a:t>
                </a:r>
                <a:r>
                  <a:rPr lang="en-US" dirty="0"/>
                  <a:t> </a:t>
                </a:r>
              </a:p>
              <a:p>
                <a:pPr lvl="1"/>
                <a:r>
                  <a:rPr lang="en-US" dirty="0"/>
                  <a:t>except for the source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dirty="0"/>
                  <a:t> itself </a:t>
                </a:r>
              </a:p>
              <a:p>
                <a:pPr lvl="1"/>
                <a:endParaRPr lang="en-US" dirty="0"/>
              </a:p>
              <a:p>
                <a:r>
                  <a:rPr lang="en-US" dirty="0"/>
                  <a:t>Connecting each  node to its BFS-predecessor gives a rooted tree, where the source is the root</a:t>
                </a:r>
              </a:p>
              <a:p>
                <a:pPr lvl="1"/>
                <a:r>
                  <a:rPr lang="en-US" dirty="0"/>
                  <a:t>in particular, the parent of each node in the tree is its BFS-predecessor</a:t>
                </a:r>
              </a:p>
              <a:p>
                <a:pPr lvl="1"/>
                <a:endParaRPr lang="en-US" dirty="0"/>
              </a:p>
              <a:p>
                <a:r>
                  <a:rPr lang="en-US" dirty="0"/>
                  <a:t>This tree is called the </a:t>
                </a:r>
                <a:r>
                  <a:rPr lang="en-US" dirty="0">
                    <a:solidFill>
                      <a:srgbClr val="0070C0"/>
                    </a:solidFill>
                  </a:rPr>
                  <a:t>BFS-tree associated to source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B60E274-F1E8-4337-B82F-AEAA8D60F10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blipFill>
                <a:blip r:embed="rId2"/>
                <a:stretch>
                  <a:fillRect l="-667" t="-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3982527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64543F-10FC-4BD7-BDAB-7D0B7F8D10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Trees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7009F6C-44A1-4D69-8154-68ADB2F168F1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/>
            <p:txBody>
              <a:bodyPr/>
              <a:lstStyle/>
              <a:p>
                <a:r>
                  <a:rPr lang="en-US" sz="2400" dirty="0"/>
                  <a:t>A (free) </a:t>
                </a:r>
                <a:r>
                  <a:rPr lang="en-US" sz="2400" dirty="0">
                    <a:solidFill>
                      <a:srgbClr val="0070C0"/>
                    </a:solidFill>
                  </a:rPr>
                  <a:t>tree</a:t>
                </a:r>
                <a:r>
                  <a:rPr lang="en-US" sz="2400" dirty="0"/>
                  <a:t> is a connected graph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=(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 where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|"/>
                        <m:endChr m:val="|"/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en-US" sz="2400" dirty="0"/>
                  <a:t>. </a:t>
                </a:r>
              </a:p>
              <a:p>
                <a:endParaRPr lang="en-US" sz="2400" dirty="0"/>
              </a:p>
              <a:p>
                <a:r>
                  <a:rPr lang="en-US" sz="2400" dirty="0"/>
                  <a:t>For any two nodes in a tree, there is only one simple path connecting them. </a:t>
                </a:r>
              </a:p>
              <a:p>
                <a:endParaRPr lang="en-US" sz="2400" dirty="0"/>
              </a:p>
              <a:p>
                <a:r>
                  <a:rPr lang="en-US" sz="2400" dirty="0"/>
                  <a:t>A </a:t>
                </a:r>
                <a:r>
                  <a:rPr lang="en-US" sz="2400" dirty="0">
                    <a:solidFill>
                      <a:srgbClr val="0070C0"/>
                    </a:solidFill>
                  </a:rPr>
                  <a:t>root tree </a:t>
                </a:r>
                <a:r>
                  <a:rPr lang="en-US" sz="2400" dirty="0"/>
                  <a:t>has a root, and each node other than the root has a parent. </a:t>
                </a:r>
              </a:p>
              <a:p>
                <a:pPr lvl="1"/>
                <a:r>
                  <a:rPr lang="en-US" sz="2000" dirty="0"/>
                  <a:t>The parent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000" dirty="0"/>
                  <a:t>is the predecessor of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sz="2000" dirty="0"/>
                  <a:t> along the unique simple path from the root to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sz="2000" dirty="0"/>
                  <a:t> </a:t>
                </a:r>
              </a:p>
              <a:p>
                <a:pPr lvl="1"/>
                <a:endParaRPr lang="en-US" sz="2000" dirty="0"/>
              </a:p>
              <a:p>
                <a:r>
                  <a:rPr lang="en-US" sz="2300" dirty="0"/>
                  <a:t>A collection of trees is called a </a:t>
                </a:r>
                <a:r>
                  <a:rPr lang="en-US" sz="2300" dirty="0">
                    <a:solidFill>
                      <a:srgbClr val="0070C0"/>
                    </a:solidFill>
                  </a:rPr>
                  <a:t>forest</a:t>
                </a:r>
                <a:r>
                  <a:rPr lang="en-US" sz="2300" dirty="0"/>
                  <a:t>.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7009F6C-44A1-4D69-8154-68ADB2F168F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blipFill>
                <a:blip r:embed="rId2"/>
                <a:stretch>
                  <a:fillRect l="-519" t="-9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2065830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264E0B-B636-49F9-89B7-9C3EF09F4A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0642226-D3EB-48A8-A3F5-CE7331824015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/>
            <p:txBody>
              <a:bodyPr/>
              <a:lstStyle/>
              <a:p>
                <a:r>
                  <a:rPr lang="en-US" dirty="0"/>
                  <a:t>BFS-tree associated to source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dirty="0"/>
                  <a:t> can be used to recover</a:t>
                </a:r>
              </a:p>
              <a:p>
                <a:pPr lvl="1"/>
                <a:r>
                  <a:rPr lang="en-US" dirty="0"/>
                  <a:t>both the shortest path and shortest path distance from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dirty="0"/>
                  <a:t> to each reachable node. </a:t>
                </a:r>
              </a:p>
              <a:p>
                <a:pPr lvl="1"/>
                <a:endParaRPr lang="en-US" dirty="0"/>
              </a:p>
              <a:p>
                <a:r>
                  <a:rPr lang="en-US" dirty="0"/>
                  <a:t>Example: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0642226-D3EB-48A8-A3F5-CE733182401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blipFill>
                <a:blip r:embed="rId2"/>
                <a:stretch>
                  <a:fillRect l="-667" t="-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16199BA8-B5C3-404A-B35C-421570734F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800" y="3429000"/>
            <a:ext cx="5019675" cy="2600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087899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1382EF-BE75-4827-9448-6A5E4A960E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D7CB79-EC57-4FC0-9791-389721DD2BD9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1828800"/>
          </a:xfrm>
        </p:spPr>
        <p:txBody>
          <a:bodyPr/>
          <a:lstStyle/>
          <a:p>
            <a:r>
              <a:rPr lang="en-US" dirty="0"/>
              <a:t>In general, if we run the full-BFS algorithm (with augmentation of computing also predecessors and distances), then we will obtain a collection of BFS-trees, called a BFS-forest. </a:t>
            </a:r>
          </a:p>
          <a:p>
            <a:endParaRPr lang="en-US" dirty="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957E3F8E-60A3-443F-8F71-434A6BAEE78C}"/>
              </a:ext>
            </a:extLst>
          </p:cNvPr>
          <p:cNvGrpSpPr/>
          <p:nvPr/>
        </p:nvGrpSpPr>
        <p:grpSpPr>
          <a:xfrm>
            <a:off x="295605" y="3118945"/>
            <a:ext cx="8385940" cy="3401165"/>
            <a:chOff x="295605" y="3118945"/>
            <a:chExt cx="8385940" cy="3401165"/>
          </a:xfrm>
        </p:grpSpPr>
        <p:sp>
          <p:nvSpPr>
            <p:cNvPr id="6" name="Content Placeholder 2">
              <a:extLst>
                <a:ext uri="{FF2B5EF4-FFF2-40B4-BE49-F238E27FC236}">
                  <a16:creationId xmlns:a16="http://schemas.microsoft.com/office/drawing/2014/main" id="{B5A1BC53-0964-4743-96F5-D7646B69D032}"/>
                </a:ext>
              </a:extLst>
            </p:cNvPr>
            <p:cNvSpPr txBox="1">
              <a:spLocks/>
            </p:cNvSpPr>
            <p:nvPr/>
          </p:nvSpPr>
          <p:spPr bwMode="auto">
            <a:xfrm>
              <a:off x="451945" y="3118945"/>
              <a:ext cx="8229600" cy="182880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lvl1pPr marL="273050" indent="-273050" algn="l" rtl="0" eaLnBrk="0" fontAlgn="base" hangingPunct="0">
                <a:spcBef>
                  <a:spcPts val="600"/>
                </a:spcBef>
                <a:spcAft>
                  <a:spcPct val="0"/>
                </a:spcAft>
                <a:buClr>
                  <a:schemeClr val="accent1"/>
                </a:buClr>
                <a:buSzPct val="76000"/>
                <a:buFont typeface="Wingdings 3" pitchFamily="18" charset="2"/>
                <a:buChar char=""/>
                <a:defRPr sz="2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47688" indent="-273050" algn="l" rtl="0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chemeClr val="accent2"/>
                </a:buClr>
                <a:buSzPct val="76000"/>
                <a:buFont typeface="Wingdings 3" pitchFamily="18" charset="2"/>
                <a:buChar char=""/>
                <a:defRPr sz="23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822325" indent="-228600" algn="l" rtl="0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BCBCBC"/>
                </a:buClr>
                <a:buSzPct val="76000"/>
                <a:buFont typeface="Wingdings 3" pitchFamily="18" charset="2"/>
                <a:buChar char="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096963" indent="-228600" algn="l" rtl="0" eaLnBrk="0" fontAlgn="base" hangingPunct="0">
                <a:spcBef>
                  <a:spcPts val="400"/>
                </a:spcBef>
                <a:spcAft>
                  <a:spcPct val="0"/>
                </a:spcAft>
                <a:buClr>
                  <a:srgbClr val="8BA2B4"/>
                </a:buClr>
                <a:buSzPct val="70000"/>
                <a:buFont typeface="Wingdings" pitchFamily="2" charset="2"/>
                <a:buChar char="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371600" indent="-228600" algn="l" rtl="0" eaLnBrk="0" fontAlgn="base" hangingPunct="0">
                <a:spcBef>
                  <a:spcPts val="300"/>
                </a:spcBef>
                <a:spcAft>
                  <a:spcPct val="0"/>
                </a:spcAft>
                <a:buClr>
                  <a:schemeClr val="accent2"/>
                </a:buClr>
                <a:buSzPct val="70000"/>
                <a:buFont typeface="Wingdings" pitchFamily="2" charset="2"/>
                <a:buChar char="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645920" indent="-182880" algn="l" rtl="0" eaLnBrk="1" latinLnBrk="0" hangingPunct="1">
                <a:spcBef>
                  <a:spcPts val="300"/>
                </a:spcBef>
                <a:buClr>
                  <a:srgbClr val="9FB8CD">
                    <a:shade val="75000"/>
                  </a:srgbClr>
                </a:buClr>
                <a:buSzPct val="75000"/>
                <a:buFont typeface="Wingdings 3"/>
                <a:buChar char=""/>
                <a:defRPr kumimoji="0" lang="en-US" sz="1600" kern="1200" smtClean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1828800" indent="-182880" algn="l" rtl="0" eaLnBrk="1" latinLnBrk="0" hangingPunct="1">
                <a:spcBef>
                  <a:spcPts val="300"/>
                </a:spcBef>
                <a:buClr>
                  <a:srgbClr val="727CA3">
                    <a:shade val="75000"/>
                  </a:srgbClr>
                </a:buClr>
                <a:buSzPct val="75000"/>
                <a:buFont typeface="Wingdings 3"/>
                <a:buChar char=""/>
                <a:defRPr kumimoji="0" lang="en-US" sz="1400" kern="1200" smtClean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011680" indent="-182880" algn="l" rtl="0" eaLnBrk="1" latinLnBrk="0" hangingPunct="1">
                <a:spcBef>
                  <a:spcPts val="300"/>
                </a:spcBef>
                <a:buClr>
                  <a:prstClr val="white">
                    <a:shade val="50000"/>
                  </a:prstClr>
                </a:buClr>
                <a:buSzPct val="75000"/>
                <a:buFont typeface="Wingdings 3"/>
                <a:buChar char=""/>
                <a:defRPr kumimoji="0" lang="en-US" sz="1400" kern="1200" smtClean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194560" indent="-182880" algn="l" rtl="0" eaLnBrk="1" latinLnBrk="0" hangingPunct="1">
                <a:spcBef>
                  <a:spcPts val="300"/>
                </a:spcBef>
                <a:buClr>
                  <a:srgbClr val="9FB8CD"/>
                </a:buClr>
                <a:buSzPct val="75000"/>
                <a:buFont typeface="Wingdings 3"/>
                <a:buChar char=""/>
                <a:defRPr kumimoji="0" lang="en-US" sz="1200" kern="1200" smtClean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/>
                <a:t>Example: </a:t>
              </a:r>
            </a:p>
            <a:p>
              <a:endParaRPr lang="en-US" dirty="0"/>
            </a:p>
          </p:txBody>
        </p: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F132D1AE-45F9-419C-9230-04F53AE3DD85}"/>
                </a:ext>
              </a:extLst>
            </p:cNvPr>
            <p:cNvGrpSpPr/>
            <p:nvPr/>
          </p:nvGrpSpPr>
          <p:grpSpPr>
            <a:xfrm>
              <a:off x="295605" y="3498550"/>
              <a:ext cx="4366882" cy="3021560"/>
              <a:chOff x="295605" y="3498550"/>
              <a:chExt cx="4366882" cy="3021560"/>
            </a:xfrm>
          </p:grpSpPr>
          <p:pic>
            <p:nvPicPr>
              <p:cNvPr id="5" name="Picture 4">
                <a:extLst>
                  <a:ext uri="{FF2B5EF4-FFF2-40B4-BE49-F238E27FC236}">
                    <a16:creationId xmlns:a16="http://schemas.microsoft.com/office/drawing/2014/main" id="{08CBE082-CEC3-4E18-AB35-B512BF1F104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295605" y="3810000"/>
                <a:ext cx="2414588" cy="2071688"/>
              </a:xfrm>
              <a:prstGeom prst="rect">
                <a:avLst/>
              </a:prstGeom>
            </p:spPr>
          </p:pic>
          <p:pic>
            <p:nvPicPr>
              <p:cNvPr id="8" name="Picture 7">
                <a:extLst>
                  <a:ext uri="{FF2B5EF4-FFF2-40B4-BE49-F238E27FC236}">
                    <a16:creationId xmlns:a16="http://schemas.microsoft.com/office/drawing/2014/main" id="{2BB27624-014F-4646-9CA7-F39A0D49488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715448" y="3498550"/>
                <a:ext cx="1714500" cy="1314450"/>
              </a:xfrm>
              <a:prstGeom prst="rect">
                <a:avLst/>
              </a:prstGeom>
            </p:spPr>
          </p:pic>
          <p:pic>
            <p:nvPicPr>
              <p:cNvPr id="10" name="Picture 9">
                <a:extLst>
                  <a:ext uri="{FF2B5EF4-FFF2-40B4-BE49-F238E27FC236}">
                    <a16:creationId xmlns:a16="http://schemas.microsoft.com/office/drawing/2014/main" id="{A2115541-8F71-490A-BA2B-2A0085FBE4C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148012" y="4848472"/>
                <a:ext cx="1514475" cy="1671638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p14:creationId xmlns:p14="http://schemas.microsoft.com/office/powerpoint/2010/main" val="25789238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3F438D-A61E-4C44-B7A5-16667526CA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6379173-146D-40CC-BF55-12C784294AFF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/>
            <p:txBody>
              <a:bodyPr/>
              <a:lstStyle/>
              <a:p>
                <a:r>
                  <a:rPr lang="en-US" dirty="0"/>
                  <a:t>BFS algorithm: </a:t>
                </a:r>
              </a:p>
              <a:p>
                <a:pPr lvl="1"/>
                <a:r>
                  <a:rPr lang="en-US"/>
                  <a:t>It explores </a:t>
                </a:r>
                <a:r>
                  <a:rPr lang="en-US" dirty="0"/>
                  <a:t>nodes in order of their first discovery time</a:t>
                </a:r>
              </a:p>
              <a:p>
                <a:pPr lvl="1"/>
                <a:r>
                  <a:rPr lang="en-US" dirty="0"/>
                  <a:t>In particular, it will explore them in order of their shortest path distance to the source</a:t>
                </a:r>
              </a:p>
              <a:p>
                <a:pPr lvl="1"/>
                <a:r>
                  <a:rPr lang="en-US" dirty="0"/>
                  <a:t>It will propagate a wavefront, first visit all nodes distance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dirty="0"/>
                  <a:t> to source, then distance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en-US" dirty="0"/>
                  <a:t>, then distance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3, </m:t>
                    </m:r>
                  </m:oMath>
                </a14:m>
                <a:r>
                  <a:rPr lang="en-US" dirty="0"/>
                  <a:t>and so on</a:t>
                </a:r>
              </a:p>
              <a:p>
                <a:pPr lvl="1"/>
                <a:r>
                  <a:rPr lang="en-US" dirty="0"/>
                  <a:t>So it explores as broad as possible before moving deeper (meaning further away from the source) </a:t>
                </a:r>
              </a:p>
              <a:p>
                <a:pPr lvl="1"/>
                <a:r>
                  <a:rPr lang="en-US" dirty="0"/>
                  <a:t>Thus the name:  “</a:t>
                </a:r>
                <a:r>
                  <a:rPr lang="en-US" dirty="0">
                    <a:solidFill>
                      <a:srgbClr val="C00000"/>
                    </a:solidFill>
                  </a:rPr>
                  <a:t>breadth-first</a:t>
                </a:r>
                <a:r>
                  <a:rPr lang="en-US" dirty="0"/>
                  <a:t>” search. </a:t>
                </a:r>
              </a:p>
              <a:p>
                <a:r>
                  <a:rPr lang="en-US" dirty="0"/>
                  <a:t>It can be used to compute the shortest path distance to a source node</a:t>
                </a:r>
              </a:p>
              <a:p>
                <a:pPr lvl="1"/>
                <a:r>
                  <a:rPr lang="en-US" dirty="0"/>
                  <a:t>Time complexity is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d>
                      <m:dPr>
                        <m:begChr m:val="|"/>
                        <m:endChr m:val="|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begChr m:val="|"/>
                        <m:endChr m:val="|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6379173-146D-40CC-BF55-12C784294AF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blipFill>
                <a:blip r:embed="rId2"/>
                <a:stretch>
                  <a:fillRect l="-667" t="-1111" r="-741" b="-17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5887533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4AD14C-6D94-4048-8030-AF3B00C6AD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676400"/>
            <a:ext cx="8229600" cy="990600"/>
          </a:xfrm>
        </p:spPr>
        <p:txBody>
          <a:bodyPr/>
          <a:lstStyle/>
          <a:p>
            <a:pPr algn="ctr"/>
            <a:r>
              <a:rPr lang="en-US" sz="3600" dirty="0"/>
              <a:t>FIN</a:t>
            </a:r>
          </a:p>
        </p:txBody>
      </p:sp>
    </p:spTree>
    <p:extLst>
      <p:ext uri="{BB962C8B-B14F-4D97-AF65-F5344CB8AC3E}">
        <p14:creationId xmlns:p14="http://schemas.microsoft.com/office/powerpoint/2010/main" val="537083424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FIRSTYUSU@WQEIJCNFUVWXY5M7" val="3343"/>
  <p:tag name="FIRSTYUSU@YOW8PJOFUVWXY5L9" val="3347"/>
  <p:tag name="DEFAULTDISPLAYSOURCE" val="\documentclass{article}\pagestyle{empty}&#10;\begin{document}&#10;&#10;\end{document}&#10;"/>
  <p:tag name="EMBEDFONTS" val="1"/>
</p:tagLst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Origin">
  <a:themeElements>
    <a:clrScheme name="Origin">
      <a:dk1>
        <a:sysClr val="windowText" lastClr="000000"/>
      </a:dk1>
      <a:lt1>
        <a:sysClr val="window" lastClr="FFFFFF"/>
      </a:lt1>
      <a:dk2>
        <a:srgbClr val="464653"/>
      </a:dk2>
      <a:lt2>
        <a:srgbClr val="DDE9EC"/>
      </a:lt2>
      <a:accent1>
        <a:srgbClr val="727CA3"/>
      </a:accent1>
      <a:accent2>
        <a:srgbClr val="9FB8CD"/>
      </a:accent2>
      <a:accent3>
        <a:srgbClr val="D2DA7A"/>
      </a:accent3>
      <a:accent4>
        <a:srgbClr val="FADA7A"/>
      </a:accent4>
      <a:accent5>
        <a:srgbClr val="B88472"/>
      </a:accent5>
      <a:accent6>
        <a:srgbClr val="8E736A"/>
      </a:accent6>
      <a:hlink>
        <a:srgbClr val="B292CA"/>
      </a:hlink>
      <a:folHlink>
        <a:srgbClr val="6B5680"/>
      </a:folHlink>
    </a:clrScheme>
    <a:fontScheme name="Origin">
      <a:majorFont>
        <a:latin typeface="Bookman Old Style"/>
        <a:ea typeface=""/>
        <a:cs typeface=""/>
        <a:font script="Grek" typeface="Cambria"/>
        <a:font script="Cyrl" typeface="Cambria"/>
        <a:font script="Jpan" typeface="HG明朝E"/>
        <a:font script="Hang" typeface="돋움"/>
        <a:font script="Hans" typeface="宋体"/>
        <a:font script="Hant" typeface="標楷體"/>
        <a:font script="Arab" typeface="Times New Roman"/>
        <a:font script="Hebr" typeface="Times New Roman"/>
        <a:font script="Thai" typeface="Browalli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Gill Sans MT"/>
        <a:ea typeface=""/>
        <a:cs typeface=""/>
        <a:font script="Grek" typeface="Calibri"/>
        <a:font script="Cyrl" typeface="Calibri"/>
        <a:font script="Jpan" typeface="ＭＳ Ｐゴシック"/>
        <a:font script="Hang" typeface="맑은 고딕"/>
        <a:font script="Hans" typeface="华文新魏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rigin">
      <a:fillStyleLst>
        <a:solidFill>
          <a:schemeClr val="phClr"/>
        </a:solidFill>
        <a:gradFill rotWithShape="1">
          <a:gsLst>
            <a:gs pos="0">
              <a:schemeClr val="phClr">
                <a:tint val="45000"/>
                <a:satMod val="200000"/>
              </a:schemeClr>
            </a:gs>
            <a:gs pos="30000">
              <a:schemeClr val="phClr">
                <a:tint val="61000"/>
                <a:satMod val="200000"/>
              </a:schemeClr>
            </a:gs>
            <a:gs pos="45000">
              <a:schemeClr val="phClr">
                <a:tint val="66000"/>
                <a:satMod val="200000"/>
              </a:schemeClr>
            </a:gs>
            <a:gs pos="55000">
              <a:schemeClr val="phClr">
                <a:tint val="66000"/>
                <a:satMod val="200000"/>
              </a:schemeClr>
            </a:gs>
            <a:gs pos="73000">
              <a:schemeClr val="phClr">
                <a:tint val="61000"/>
                <a:satMod val="200000"/>
              </a:schemeClr>
            </a:gs>
            <a:gs pos="100000">
              <a:schemeClr val="phClr">
                <a:tint val="45000"/>
                <a:satMod val="200000"/>
              </a:schemeClr>
            </a:gs>
          </a:gsLst>
          <a:lin ang="950000" scaled="1"/>
        </a:gradFill>
        <a:gradFill rotWithShape="1">
          <a:gsLst>
            <a:gs pos="0">
              <a:schemeClr val="phClr">
                <a:shade val="63000"/>
              </a:schemeClr>
            </a:gs>
            <a:gs pos="30000">
              <a:schemeClr val="phClr">
                <a:shade val="90000"/>
                <a:satMod val="110000"/>
              </a:schemeClr>
            </a:gs>
            <a:gs pos="45000">
              <a:schemeClr val="phClr">
                <a:shade val="100000"/>
                <a:satMod val="118000"/>
              </a:schemeClr>
            </a:gs>
            <a:gs pos="55000">
              <a:schemeClr val="phClr">
                <a:shade val="100000"/>
                <a:satMod val="118000"/>
              </a:schemeClr>
            </a:gs>
            <a:gs pos="73000">
              <a:schemeClr val="phClr">
                <a:shade val="90000"/>
                <a:satMod val="110000"/>
              </a:schemeClr>
            </a:gs>
            <a:gs pos="100000">
              <a:schemeClr val="phClr">
                <a:shade val="63000"/>
              </a:schemeClr>
            </a:gs>
          </a:gsLst>
          <a:lin ang="950000" scaled="1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40000"/>
              </a:srgbClr>
            </a:outerShdw>
          </a:effectLst>
        </a:effectStyle>
        <a:effectStyle>
          <a:effectLst>
            <a:outerShdw blurRad="50800" dist="43000" dir="5400000" rotWithShape="0">
              <a:srgbClr val="000000">
                <a:alpha val="40000"/>
              </a:srgbClr>
            </a:outerShdw>
          </a:effectLst>
          <a:scene3d>
            <a:camera prst="orthographicFront" fov="0">
              <a:rot lat="0" lon="0" rev="0"/>
            </a:camera>
            <a:lightRig rig="balanced" dir="t">
              <a:rot lat="0" lon="0" rev="0"/>
            </a:lightRig>
          </a:scene3d>
          <a:sp3d prstMaterial="matte">
            <a:bevelT w="0" h="0"/>
            <a:contourClr>
              <a:schemeClr val="phClr">
                <a:tint val="100000"/>
                <a:shade val="100000"/>
                <a:hueMod val="100000"/>
                <a:satMod val="100000"/>
              </a:schemeClr>
            </a:contourClr>
          </a:sp3d>
        </a:effectStyle>
        <a:effectStyle>
          <a:effectLst>
            <a:outerShdw blurRad="50800" dist="25400" dir="5400000" rotWithShape="0">
              <a:srgbClr val="000000">
                <a:alpha val="50000"/>
              </a:srgbClr>
            </a:outerShdw>
          </a:effectLst>
          <a:scene3d>
            <a:camera prst="orthographicFront" fov="0">
              <a:rot lat="0" lon="0" rev="0"/>
            </a:camera>
            <a:lightRig rig="soft" dir="t">
              <a:rot lat="0" lon="0" rev="2700000"/>
            </a:lightRig>
          </a:scene3d>
          <a:sp3d prstMaterial="matte">
            <a:bevelT w="50800" h="50800"/>
            <a:contourClr>
              <a:schemeClr val="phClr"/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shade val="60000"/>
                <a:satMod val="300000"/>
              </a:schemeClr>
            </a:gs>
            <a:gs pos="30000">
              <a:schemeClr val="phClr">
                <a:shade val="80000"/>
                <a:satMod val="230000"/>
              </a:schemeClr>
            </a:gs>
            <a:gs pos="100000">
              <a:schemeClr val="phClr">
                <a:tint val="97000"/>
                <a:satMod val="220000"/>
              </a:schemeClr>
            </a:gs>
          </a:gsLst>
          <a:lin ang="16200000" scaled="1"/>
        </a:gradFill>
        <a:blipFill>
          <a:blip xmlns:r="http://schemas.openxmlformats.org/officeDocument/2006/relationships" r:embed="rId1">
            <a:duotone>
              <a:schemeClr val="phClr">
                <a:shade val="6000"/>
                <a:satMod val="120000"/>
              </a:schemeClr>
              <a:schemeClr val="phClr">
                <a:tint val="90000"/>
              </a:schemeClr>
            </a:duotone>
          </a:blip>
          <a:tile tx="0" ty="0" sx="35000" sy="40000" flip="x" algn="tl"/>
        </a:blip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1_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Origin</Template>
  <TotalTime>20014</TotalTime>
  <Words>1265</Words>
  <Application>Microsoft Office PowerPoint</Application>
  <PresentationFormat>On-screen Show (4:3)</PresentationFormat>
  <Paragraphs>127</Paragraphs>
  <Slides>28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28</vt:i4>
      </vt:variant>
    </vt:vector>
  </HeadingPairs>
  <TitlesOfParts>
    <vt:vector size="39" baseType="lpstr">
      <vt:lpstr>Gill Sans MT</vt:lpstr>
      <vt:lpstr>Calibri</vt:lpstr>
      <vt:lpstr>Wingdings 3</vt:lpstr>
      <vt:lpstr>Wingdings</vt:lpstr>
      <vt:lpstr>Arial</vt:lpstr>
      <vt:lpstr>Bookman Old Style</vt:lpstr>
      <vt:lpstr>Cambria Math</vt:lpstr>
      <vt:lpstr>Calibri Light</vt:lpstr>
      <vt:lpstr>Origin</vt:lpstr>
      <vt:lpstr>1_Custom Design</vt:lpstr>
      <vt:lpstr>Custom Design</vt:lpstr>
      <vt:lpstr>DSC40B: Theoretical Foundations of Data Science II </vt:lpstr>
      <vt:lpstr>PowerPoint Presentation</vt:lpstr>
      <vt:lpstr>Shortest path in (unweighted) graphs</vt:lpstr>
      <vt:lpstr>PowerPoint Presentation</vt:lpstr>
      <vt:lpstr>PowerPoint Presentation</vt:lpstr>
      <vt:lpstr>PowerPoint Presentation</vt:lpstr>
      <vt:lpstr>Example </vt:lpstr>
      <vt:lpstr>Property of shortest paths (i)</vt:lpstr>
      <vt:lpstr>Property of shortest paths (ii)</vt:lpstr>
      <vt:lpstr>Shortest path and BFS </vt:lpstr>
      <vt:lpstr>How do we find shortest paths? </vt:lpstr>
      <vt:lpstr>Example </vt:lpstr>
      <vt:lpstr>PowerPoint Presentation</vt:lpstr>
      <vt:lpstr>Recall BFS</vt:lpstr>
      <vt:lpstr>Property of BFS </vt:lpstr>
      <vt:lpstr>PowerPoint Presentation</vt:lpstr>
      <vt:lpstr>Modified BFS – distance computation</vt:lpstr>
      <vt:lpstr>But we can do more! </vt:lpstr>
      <vt:lpstr>Shortest-Path algorithm </vt:lpstr>
      <vt:lpstr>Example </vt:lpstr>
      <vt:lpstr>Time complexity</vt:lpstr>
      <vt:lpstr>BFS Trees  and  recovering shortest paths</vt:lpstr>
      <vt:lpstr>Results of BFS_shortest_path </vt:lpstr>
      <vt:lpstr>Trees </vt:lpstr>
      <vt:lpstr>PowerPoint Presentation</vt:lpstr>
      <vt:lpstr>PowerPoint Presentation</vt:lpstr>
      <vt:lpstr>Summary</vt:lpstr>
      <vt:lpstr>FIN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wang, yusu</dc:creator>
  <cp:lastModifiedBy>enid wang</cp:lastModifiedBy>
  <cp:revision>1263</cp:revision>
  <dcterms:created xsi:type="dcterms:W3CDTF">2006-08-16T00:00:00Z</dcterms:created>
  <dcterms:modified xsi:type="dcterms:W3CDTF">2021-02-11T21:52:36Z</dcterms:modified>
</cp:coreProperties>
</file>