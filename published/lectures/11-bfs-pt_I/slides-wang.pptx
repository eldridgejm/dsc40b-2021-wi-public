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0" r:id="rId1"/>
    <p:sldMasterId id="2147483681" r:id="rId2"/>
    <p:sldMasterId id="2147483668" r:id="rId3"/>
  </p:sldMasterIdLst>
  <p:notesMasterIdLst>
    <p:notesMasterId r:id="rId27"/>
  </p:notesMasterIdLst>
  <p:sldIdLst>
    <p:sldId id="256" r:id="rId4"/>
    <p:sldId id="812" r:id="rId5"/>
    <p:sldId id="813" r:id="rId6"/>
    <p:sldId id="814" r:id="rId7"/>
    <p:sldId id="785" r:id="rId8"/>
    <p:sldId id="779" r:id="rId9"/>
    <p:sldId id="815" r:id="rId10"/>
    <p:sldId id="816" r:id="rId11"/>
    <p:sldId id="829" r:id="rId12"/>
    <p:sldId id="830" r:id="rId13"/>
    <p:sldId id="817" r:id="rId14"/>
    <p:sldId id="818" r:id="rId15"/>
    <p:sldId id="820" r:id="rId16"/>
    <p:sldId id="821" r:id="rId17"/>
    <p:sldId id="819" r:id="rId18"/>
    <p:sldId id="822" r:id="rId19"/>
    <p:sldId id="824" r:id="rId20"/>
    <p:sldId id="823" r:id="rId21"/>
    <p:sldId id="826" r:id="rId22"/>
    <p:sldId id="825" r:id="rId23"/>
    <p:sldId id="831" r:id="rId24"/>
    <p:sldId id="827" r:id="rId25"/>
    <p:sldId id="811" r:id="rId26"/>
  </p:sldIdLst>
  <p:sldSz cx="9144000" cy="6858000" type="screen4x3"/>
  <p:notesSz cx="6858000" cy="9144000"/>
  <p:embeddedFontLst>
    <p:embeddedFont>
      <p:font typeface="Bookman Old Style" panose="02050604050505020204" pitchFamily="18" charset="0"/>
      <p:regular r:id="rId28"/>
      <p:bold r:id="rId29"/>
      <p:italic r:id="rId30"/>
      <p:boldItalic r:id="rId31"/>
    </p:embeddedFon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Calibri Light" panose="020F0302020204030204" pitchFamily="34" charset="0"/>
      <p:regular r:id="rId36"/>
      <p:italic r:id="rId37"/>
    </p:embeddedFont>
    <p:embeddedFont>
      <p:font typeface="Cambria Math" panose="02040503050406030204" pitchFamily="18" charset="0"/>
      <p:regular r:id="rId38"/>
    </p:embeddedFont>
    <p:embeddedFont>
      <p:font typeface="Gill Sans MT" panose="020B0502020104020203" pitchFamily="34" charset="0"/>
      <p:regular r:id="rId39"/>
      <p:bold r:id="rId40"/>
      <p:italic r:id="rId41"/>
      <p:boldItalic r:id="rId42"/>
    </p:embeddedFont>
    <p:embeddedFont>
      <p:font typeface="Times" panose="02020603050405020304" pitchFamily="18" charset="0"/>
      <p:regular r:id="rId43"/>
      <p:bold r:id="rId44"/>
      <p:italic r:id="rId45"/>
      <p:boldItalic r:id="rId46"/>
    </p:embeddedFont>
    <p:embeddedFont>
      <p:font typeface="Wingdings 3" panose="05040102010807070707" pitchFamily="18" charset="2"/>
      <p:regular r:id="rId47"/>
    </p:embeddedFont>
  </p:embeddedFontLst>
  <p:custDataLst>
    <p:tags r:id="rId4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0000"/>
    <a:srgbClr val="0B0E8F"/>
    <a:srgbClr val="FF9900"/>
    <a:srgbClr val="FFFFCC"/>
    <a:srgbClr val="46464C"/>
    <a:srgbClr val="6E7792"/>
    <a:srgbClr val="1F0C64"/>
    <a:srgbClr val="9FA5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0909" autoAdjust="0"/>
  </p:normalViewPr>
  <p:slideViewPr>
    <p:cSldViewPr>
      <p:cViewPr varScale="1">
        <p:scale>
          <a:sx n="61" d="100"/>
          <a:sy n="61" d="100"/>
        </p:scale>
        <p:origin x="69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12.fntdata"/><Relationship Id="rId21" Type="http://schemas.openxmlformats.org/officeDocument/2006/relationships/slide" Target="slides/slide18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font" Target="fonts/font20.fntdata"/><Relationship Id="rId50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font" Target="fonts/font2.fntdata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52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tags" Target="tags/tag1.xml"/><Relationship Id="rId8" Type="http://schemas.openxmlformats.org/officeDocument/2006/relationships/slide" Target="slides/slide5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font" Target="fonts/font19.fntdata"/><Relationship Id="rId20" Type="http://schemas.openxmlformats.org/officeDocument/2006/relationships/slide" Target="slides/slide17.xml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1-27T20:43:05.65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464 91 33,'0'0'20,"0"0"0,0 0-4,0 0-3,0 0-2,0 0-1,0 0-2,0 0-1,0 0-1,0 0 0,0 0-1,0 0-1,0 0 0,2-13-1,-2 13 0,0 0-1,0 0 0,-5-13 0,5 13-1,-5-16 1,5 16-1,0 0 0,-15-17 1,15 17-2,-22-13 1,7 7-1,-2 3 1,-3 0-1,1 0 1,-4 2-1,1-2 0,0 3 0,1 1 0,-3 1 1,4 2-1,-2 0 0,2 4 0,0 0 0,-2 1 0,0 3 0,4 2 0,0-3 0,3 4 0,3-1 0,1-1 0,3 0 0,8 0 1,0 2-1,0-15 1,12 22-1,-12-22 1,22 21-1,-22-21 1,25 19 0,-9-10 0,0-2-1,2-1 1,-1 3-1,3-2 0,0 1 0,4-1 0,4 1 0,-1-2 1,3 2-1,2 2 0,-1-1-1,-2 3 2,-3 0-2,-5 3 2,-2-1-1,-7 7 0,-4 0 0,-3 4 0,-3 1 0,-4 1 1,-1 1-1,-2 1 0,-5-2 0,-2-3 1,-3-2-1,0-3 0,-5-2 0,-4-4 0,-1-5 0,-2 0 1,-3-4-1,2-5 0,-3-1 0,1-4 0,-2-2 1,2-3-2,0-1 1,5 1 0,1-1 0,5-1-1,1 1 1,3 0 0,15 12-1,-22-21-1,22 21-2,-13-19-5,13 19-26,0 0-1,0 0 1,13-6-1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" units="cm"/>
          <inkml:channel name="Y" type="integer" max="1569" units="cm"/>
        </inkml:traceFormat>
        <inkml:channelProperties>
          <inkml:channelProperty channel="X" name="resolution" value="99.99999" units="1/cm"/>
          <inkml:channelProperty channel="Y" name="resolution" value="99.9745" units="1/cm"/>
        </inkml:channelProperties>
      </inkml:inkSource>
      <inkml:timestamp xml:id="ts0" timeString="2021-01-27T20:43:05.664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" units="cm"/>
          <inkml:channel name="Y" type="integer" max="1569" units="cm"/>
        </inkml:traceFormat>
        <inkml:channelProperties>
          <inkml:channelProperty channel="X" name="resolution" value="99.99999" units="1/cm"/>
          <inkml:channelProperty channel="Y" name="resolution" value="99.9745" units="1/cm"/>
        </inkml:channelProperties>
      </inkml:inkSource>
      <inkml:timestamp xml:id="ts0" timeString="2021-01-27T20:43:05.66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C45A928-D252-4E73-BA6C-5EBB50EA9974}" type="datetimeFigureOut">
              <a:rPr lang="en-US"/>
              <a:pPr>
                <a:defRPr/>
              </a:pPr>
              <a:t>2/11/2021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DE926EA-2410-44E1-B457-BBA54A1622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6734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"/>
          <p:cNvSpPr/>
          <p:nvPr/>
        </p:nvSpPr>
        <p:spPr>
          <a:xfrm>
            <a:off x="904875" y="3648075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21"/>
          <p:cNvSpPr/>
          <p:nvPr/>
        </p:nvSpPr>
        <p:spPr>
          <a:xfrm>
            <a:off x="904875" y="3648075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</p:spPr>
        <p:txBody>
          <a:bodyPr/>
          <a:lstStyle>
            <a:lvl1pPr>
              <a:defRPr sz="1400" smtClean="0"/>
            </a:lvl1pPr>
          </a:lstStyle>
          <a:p>
            <a:pPr>
              <a:defRPr/>
            </a:pPr>
            <a:fld id="{E16C4EF9-5865-4A6A-9380-B94D95EDFBB1}" type="datetime1">
              <a:rPr lang="en-US"/>
              <a:pPr>
                <a:defRPr/>
              </a:pPr>
              <a:t>2/11/2021</a:t>
            </a:fld>
            <a:endParaRPr lang="en-US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1"/>
          </p:nvPr>
        </p:nvSpPr>
        <p:spPr>
          <a:xfrm>
            <a:off x="1216025" y="6354763"/>
            <a:ext cx="1219200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DE774B-0244-43AE-81AE-949E2AED0B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D8D4EC-B919-4B7F-AD2C-08A3936481C2}" type="datetime1">
              <a:rPr lang="en-US"/>
              <a:pPr>
                <a:defRPr/>
              </a:pPr>
              <a:t>2/11/2021</a:t>
            </a:fld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1FFA5E-D537-4A8C-B688-12FAF7CC1F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278A1A-418A-4889-8466-7277E8543661}" type="datetime1">
              <a:rPr lang="en-US"/>
              <a:pPr>
                <a:defRPr/>
              </a:pPr>
              <a:t>2/11/2021</a:t>
            </a:fld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51084-9ADD-481F-8E3A-A4A104A158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D7207B-C772-46C0-AF6B-C696C628ECD6}" type="datetime1">
              <a:rPr lang="en-US"/>
              <a:pPr>
                <a:defRPr/>
              </a:pPr>
              <a:t>2/11/2021</a:t>
            </a:fld>
            <a:endParaRPr lang="en-US"/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80823A-D158-4554-9F4D-D1401680ED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890D1A-9AF0-4373-9C19-31BA056F18D0}" type="datetime1">
              <a:rPr lang="en-US"/>
              <a:pPr>
                <a:defRPr/>
              </a:pPr>
              <a:t>2/11/2021</a:t>
            </a:fld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802858-B2E8-4CEF-AB5E-E0718287C1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5CEBB1-9625-48F6-B3A4-11D228BFD397}" type="datetime1">
              <a:rPr lang="en-US"/>
              <a:pPr>
                <a:defRPr/>
              </a:pPr>
              <a:t>2/11/2021</a:t>
            </a:fld>
            <a:endParaRPr lang="en-US"/>
          </a:p>
        </p:txBody>
      </p:sp>
      <p:sp>
        <p:nvSpPr>
          <p:cNvPr id="3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2D8101-5309-4DFF-AB2A-546F31B418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95152B-B4E1-457A-BC5F-3AB91570D542}" type="datetime1">
              <a:rPr lang="en-US" smtClean="0"/>
              <a:pPr>
                <a:defRPr/>
              </a:pPr>
              <a:t>2/11/2021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DBEE41-09A9-4372-AA29-C508F4A5354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6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516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04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82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71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998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191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677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413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152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382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690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68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092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318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41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69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732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151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690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5250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9575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30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D195152B-B4E1-457A-BC5F-3AB91570D542}" type="datetime1">
              <a:rPr lang="en-US"/>
              <a:pPr>
                <a:defRPr/>
              </a:pPr>
              <a:t>2/11/2021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1BDBEE41-09A9-4372-AA29-C508F4A535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246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6" r:id="rId2"/>
    <p:sldLayoutId id="2147483665" r:id="rId3"/>
    <p:sldLayoutId id="2147483664" r:id="rId4"/>
    <p:sldLayoutId id="2147483663" r:id="rId5"/>
    <p:sldLayoutId id="2147483662" r:id="rId6"/>
    <p:sldLayoutId id="2147483680" r:id="rId7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itchFamily="18" charset="2"/>
        <a:buChar char="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itchFamily="18" charset="2"/>
        <a:buChar char=""/>
        <a:defRPr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itchFamily="2" charset="2"/>
        <a:buChar char="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63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7D500-1223-4445-9EB2-2C72C770F9EB}" type="datetimeFigureOut">
              <a:rPr lang="en-US" smtClean="0"/>
              <a:t>2/11/2021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49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customXml" Target="../ink/ink2.xml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38200" y="1447800"/>
            <a:ext cx="74676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1219200" y="1823484"/>
            <a:ext cx="6858000" cy="1295400"/>
          </a:xfrm>
        </p:spPr>
        <p:txBody>
          <a:bodyPr/>
          <a:lstStyle/>
          <a:p>
            <a:pPr algn="ctr" eaLnBrk="1" hangingPunct="1"/>
            <a:r>
              <a:rPr lang="en-US" sz="2800" dirty="0">
                <a:solidFill>
                  <a:schemeClr val="bg1"/>
                </a:solidFill>
              </a:rPr>
              <a:t>DSC40B: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Theoretical Foundations of Data Science II </a:t>
            </a:r>
            <a:endParaRPr lang="en-US" sz="2800" i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62400"/>
            <a:ext cx="6858000" cy="1885950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800" dirty="0"/>
              <a:t>Lecture 11:   </a:t>
            </a:r>
            <a:r>
              <a:rPr lang="en-US" sz="2800" i="1" dirty="0"/>
              <a:t>Breadth-first-search (BFS) in graphs: part I </a:t>
            </a:r>
          </a:p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en-US" sz="1600" dirty="0"/>
          </a:p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800" dirty="0"/>
              <a:t>Instructor: Yusu Wang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447800"/>
            <a:ext cx="304800" cy="2057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7594D-2BD2-4BDC-96CE-8BB033766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search strategies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0D2780-410A-4A40-B4FA-12621CE548D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How do we </a:t>
                </a:r>
              </a:p>
              <a:p>
                <a:pPr lvl="1"/>
                <a:r>
                  <a:rPr lang="en-US" dirty="0"/>
                  <a:t>find a path to go from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in the graph? </a:t>
                </a:r>
              </a:p>
              <a:p>
                <a:pPr lvl="1"/>
                <a:r>
                  <a:rPr lang="en-US" dirty="0"/>
                  <a:t>check whether the graph is connected? </a:t>
                </a:r>
              </a:p>
              <a:p>
                <a:pPr lvl="1"/>
                <a:r>
                  <a:rPr lang="en-US" dirty="0"/>
                  <a:t>compute how many connected components a graph has? 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We want a graph search strategy </a:t>
                </a:r>
              </a:p>
              <a:p>
                <a:pPr lvl="1"/>
                <a:r>
                  <a:rPr lang="en-US" dirty="0"/>
                  <a:t>which is a strategy to explore the graph systematically</a:t>
                </a:r>
              </a:p>
              <a:p>
                <a:pPr lvl="2"/>
                <a:r>
                  <a:rPr lang="en-US" dirty="0"/>
                  <a:t>sometimes called a graph traversal strategy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Different graph search strategies have different properties</a:t>
                </a:r>
              </a:p>
              <a:p>
                <a:pPr lvl="1"/>
                <a:r>
                  <a:rPr lang="en-US" dirty="0" err="1"/>
                  <a:t>e.g</a:t>
                </a:r>
                <a:r>
                  <a:rPr lang="en-US" dirty="0"/>
                  <a:t>, Breadth-first search (BFS) and Depth-first search (DFS)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0D2780-410A-4A40-B4FA-12621CE548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r="-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8534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48F29-5A78-48C8-A618-71E96864E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high-level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5E1C2-76D2-4EDF-B77E-B5CEAD2FC27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/>
              <a:t>Each node has one of the following three states: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undiscovered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pending</a:t>
            </a:r>
            <a:r>
              <a:rPr lang="en-US" dirty="0"/>
              <a:t> (discovered, but has not finished exploring it)</a:t>
            </a:r>
          </a:p>
          <a:p>
            <a:pPr lvl="2"/>
            <a:r>
              <a:rPr lang="en-US" dirty="0"/>
              <a:t>we say that a node is ``discovered” when seeing it first time, at which point its status is changed from </a:t>
            </a:r>
            <a:r>
              <a:rPr lang="en-US" dirty="0">
                <a:solidFill>
                  <a:srgbClr val="00B050"/>
                </a:solidFill>
              </a:rPr>
              <a:t>undiscovered</a:t>
            </a:r>
            <a:r>
              <a:rPr lang="en-US" dirty="0"/>
              <a:t> to </a:t>
            </a:r>
            <a:r>
              <a:rPr lang="en-US" dirty="0">
                <a:solidFill>
                  <a:srgbClr val="C00000"/>
                </a:solidFill>
              </a:rPr>
              <a:t>pending</a:t>
            </a:r>
            <a:r>
              <a:rPr lang="en-US" dirty="0"/>
              <a:t>. 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visited</a:t>
            </a:r>
            <a:r>
              <a:rPr lang="en-US" dirty="0"/>
              <a:t> (done with exploring all its neighbors)</a:t>
            </a:r>
          </a:p>
          <a:p>
            <a:pPr lvl="1"/>
            <a:endParaRPr lang="en-US" sz="1000" dirty="0"/>
          </a:p>
          <a:p>
            <a:r>
              <a:rPr lang="en-US" dirty="0"/>
              <a:t>At the beginning, all nodes are </a:t>
            </a:r>
            <a:r>
              <a:rPr lang="en-US" dirty="0">
                <a:solidFill>
                  <a:srgbClr val="00B050"/>
                </a:solidFill>
              </a:rPr>
              <a:t>undiscovered</a:t>
            </a:r>
            <a:endParaRPr lang="en-US" dirty="0"/>
          </a:p>
          <a:p>
            <a:r>
              <a:rPr lang="en-US" dirty="0"/>
              <a:t>At any moment, </a:t>
            </a:r>
          </a:p>
          <a:p>
            <a:pPr lvl="1"/>
            <a:r>
              <a:rPr lang="en-US" dirty="0"/>
              <a:t>if a node is “</a:t>
            </a:r>
            <a:r>
              <a:rPr lang="en-US" dirty="0">
                <a:solidFill>
                  <a:srgbClr val="C00000"/>
                </a:solidFill>
              </a:rPr>
              <a:t>visited</a:t>
            </a:r>
            <a:r>
              <a:rPr lang="en-US" dirty="0"/>
              <a:t>”, then all its neighbors should be in  “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pending</a:t>
            </a:r>
            <a:r>
              <a:rPr lang="en-US" dirty="0"/>
              <a:t>” or “</a:t>
            </a:r>
            <a:r>
              <a:rPr lang="en-US" dirty="0">
                <a:solidFill>
                  <a:srgbClr val="C00000"/>
                </a:solidFill>
              </a:rPr>
              <a:t>visited</a:t>
            </a:r>
            <a:r>
              <a:rPr lang="en-US" dirty="0"/>
              <a:t>” </a:t>
            </a:r>
          </a:p>
          <a:p>
            <a:pPr lvl="1"/>
            <a:r>
              <a:rPr lang="en-US" dirty="0"/>
              <a:t>the search strategy will choose next node to visit (explore) from the list of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pending</a:t>
            </a:r>
            <a:r>
              <a:rPr lang="en-US" dirty="0"/>
              <a:t> nodes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5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F8C71-FE6D-4A19-AE7E-ED34320A3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AF351-959B-4D7F-8141-C565D3F558D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How do we decide which is the next node to visit?</a:t>
            </a:r>
          </a:p>
          <a:p>
            <a:pPr lvl="1"/>
            <a:r>
              <a:rPr lang="en-US" dirty="0">
                <a:solidFill>
                  <a:srgbClr val="0B0E8F"/>
                </a:solidFill>
              </a:rPr>
              <a:t>Breadth-first </a:t>
            </a:r>
            <a:r>
              <a:rPr lang="en-US" dirty="0"/>
              <a:t>search:   </a:t>
            </a:r>
          </a:p>
          <a:p>
            <a:pPr lvl="2"/>
            <a:r>
              <a:rPr lang="en-US" dirty="0"/>
              <a:t>choose the ``oldest” pending node </a:t>
            </a:r>
          </a:p>
          <a:p>
            <a:pPr lvl="2"/>
            <a:r>
              <a:rPr lang="en-US" dirty="0"/>
              <a:t>namely, the one was discovered earliest among all pending nodes</a:t>
            </a:r>
          </a:p>
          <a:p>
            <a:pPr lvl="2"/>
            <a:endParaRPr lang="en-US" dirty="0"/>
          </a:p>
          <a:p>
            <a:pPr lvl="1"/>
            <a:r>
              <a:rPr lang="en-US" dirty="0">
                <a:solidFill>
                  <a:srgbClr val="0B0E8F"/>
                </a:solidFill>
              </a:rPr>
              <a:t>Depth-first</a:t>
            </a:r>
            <a:r>
              <a:rPr lang="en-US" dirty="0"/>
              <a:t> search: </a:t>
            </a:r>
          </a:p>
          <a:p>
            <a:pPr lvl="2"/>
            <a:r>
              <a:rPr lang="en-US" dirty="0"/>
              <a:t>choose the “newest” pending node</a:t>
            </a:r>
          </a:p>
          <a:p>
            <a:pPr lvl="2"/>
            <a:r>
              <a:rPr lang="en-US" dirty="0"/>
              <a:t>namely, the one that was discovered last among all pending nodes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539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90800"/>
            <a:ext cx="8229600" cy="990600"/>
          </a:xfrm>
        </p:spPr>
        <p:txBody>
          <a:bodyPr/>
          <a:lstStyle/>
          <a:p>
            <a:pPr algn="ctr"/>
            <a:r>
              <a:rPr lang="en-US" dirty="0"/>
              <a:t>Breadth-first search (BFS): </a:t>
            </a:r>
            <a:br>
              <a:rPr lang="en-US" dirty="0"/>
            </a:br>
            <a:r>
              <a:rPr lang="en-US" dirty="0"/>
              <a:t>the algorithm</a:t>
            </a:r>
          </a:p>
        </p:txBody>
      </p:sp>
    </p:spTree>
    <p:extLst>
      <p:ext uri="{BB962C8B-B14F-4D97-AF65-F5344CB8AC3E}">
        <p14:creationId xmlns:p14="http://schemas.microsoft.com/office/powerpoint/2010/main" val="1929170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F6649-5A64-45D6-A6CA-8E8A3A6B0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Breadth-first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494781-9569-4BCE-B3A3-2C8EB0F996B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5105400"/>
              </a:xfrm>
            </p:spPr>
            <p:txBody>
              <a:bodyPr/>
              <a:lstStyle/>
              <a:p>
                <a:r>
                  <a:rPr lang="en-US" dirty="0"/>
                  <a:t>BFS(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It will perform breadth-first search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starting from a graph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called the </a:t>
                </a:r>
                <a:r>
                  <a:rPr lang="en-US" i="1" dirty="0"/>
                  <a:t>source</a:t>
                </a:r>
                <a:r>
                  <a:rPr lang="en-US" dirty="0"/>
                  <a:t> node. </a:t>
                </a:r>
              </a:p>
              <a:p>
                <a:endParaRPr lang="en-US" sz="1200" dirty="0"/>
              </a:p>
              <a:p>
                <a:r>
                  <a:rPr lang="en-US" dirty="0"/>
                  <a:t>Idea: </a:t>
                </a:r>
              </a:p>
              <a:p>
                <a:pPr lvl="1"/>
                <a:r>
                  <a:rPr lang="en-US" dirty="0"/>
                  <a:t>All nodes are initialized as </a:t>
                </a:r>
                <a:r>
                  <a:rPr lang="en-US" dirty="0">
                    <a:solidFill>
                      <a:srgbClr val="00B050"/>
                    </a:solidFill>
                  </a:rPr>
                  <a:t>undiscovered</a:t>
                </a:r>
                <a:r>
                  <a:rPr lang="en-US" dirty="0"/>
                  <a:t>, other than the source node, which is initialized as </a:t>
                </a:r>
                <a:r>
                  <a:rPr lang="en-US" dirty="0">
                    <a:solidFill>
                      <a:schemeClr val="accent4">
                        <a:lumMod val="75000"/>
                      </a:schemeClr>
                    </a:solidFill>
                  </a:rPr>
                  <a:t>pending</a:t>
                </a:r>
                <a:r>
                  <a:rPr lang="en-US" dirty="0"/>
                  <a:t> (</a:t>
                </a:r>
                <a:r>
                  <a:rPr lang="en-US" dirty="0" err="1"/>
                  <a:t>i.e</a:t>
                </a:r>
                <a:r>
                  <a:rPr lang="en-US" dirty="0"/>
                  <a:t>, discovered, and to be processed) </a:t>
                </a:r>
              </a:p>
              <a:p>
                <a:pPr lvl="1"/>
                <a:r>
                  <a:rPr lang="en-US" dirty="0"/>
                  <a:t>At each step: </a:t>
                </a:r>
              </a:p>
              <a:p>
                <a:pPr lvl="2"/>
                <a:r>
                  <a:rPr lang="en-US" dirty="0"/>
                  <a:t>take the oldest </a:t>
                </a:r>
                <a:r>
                  <a:rPr lang="en-US" dirty="0">
                    <a:solidFill>
                      <a:schemeClr val="accent4">
                        <a:lumMod val="75000"/>
                      </a:schemeClr>
                    </a:solidFill>
                  </a:rPr>
                  <a:t>pending</a:t>
                </a:r>
                <a:r>
                  <a:rPr lang="en-US" dirty="0"/>
                  <a:t> node to explore</a:t>
                </a:r>
              </a:p>
              <a:p>
                <a:pPr lvl="2"/>
                <a:r>
                  <a:rPr lang="en-US" dirty="0"/>
                  <a:t>mark all its </a:t>
                </a:r>
                <a:r>
                  <a:rPr lang="en-US" i="1" dirty="0"/>
                  <a:t>undiscovered neighbors </a:t>
                </a:r>
                <a:r>
                  <a:rPr lang="en-US" dirty="0"/>
                  <a:t>as </a:t>
                </a:r>
                <a:r>
                  <a:rPr lang="en-US" dirty="0">
                    <a:solidFill>
                      <a:schemeClr val="accent4">
                        <a:lumMod val="75000"/>
                      </a:schemeClr>
                    </a:solidFill>
                  </a:rPr>
                  <a:t>pending</a:t>
                </a:r>
              </a:p>
              <a:p>
                <a:pPr lvl="2"/>
                <a:r>
                  <a:rPr lang="en-US" dirty="0"/>
                  <a:t>then mark this node to be </a:t>
                </a:r>
                <a:r>
                  <a:rPr lang="en-US" dirty="0">
                    <a:solidFill>
                      <a:srgbClr val="C00000"/>
                    </a:solidFill>
                  </a:rPr>
                  <a:t>visited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Repeat till there is no more </a:t>
                </a:r>
                <a:r>
                  <a:rPr lang="en-US" dirty="0">
                    <a:solidFill>
                      <a:schemeClr val="accent4">
                        <a:lumMod val="75000"/>
                      </a:schemeClr>
                    </a:solidFill>
                  </a:rPr>
                  <a:t>pending</a:t>
                </a:r>
                <a:r>
                  <a:rPr lang="en-US" dirty="0"/>
                  <a:t> nodes to explore </a:t>
                </a:r>
              </a:p>
              <a:p>
                <a:pPr lvl="2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494781-9569-4BCE-B3A3-2C8EB0F996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5105400"/>
              </a:xfrm>
              <a:blipFill>
                <a:blip r:embed="rId2"/>
                <a:stretch>
                  <a:fillRect l="-667" t="-1074" r="-1185" b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0505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7A6E8-AF18-4F84-866E-113FF4AA1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AF89E44-BF53-4628-AD51-8ABFF0DFFEB4}"/>
              </a:ext>
            </a:extLst>
          </p:cNvPr>
          <p:cNvGrpSpPr/>
          <p:nvPr/>
        </p:nvGrpSpPr>
        <p:grpSpPr>
          <a:xfrm>
            <a:off x="685801" y="1600200"/>
            <a:ext cx="4495800" cy="2743200"/>
            <a:chOff x="1406241" y="2177626"/>
            <a:chExt cx="4769439" cy="289273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AB2C57E-969B-4ECF-9630-B61828F6B340}"/>
                </a:ext>
              </a:extLst>
            </p:cNvPr>
            <p:cNvSpPr/>
            <p:nvPr/>
          </p:nvSpPr>
          <p:spPr>
            <a:xfrm>
              <a:off x="1406241" y="2185845"/>
              <a:ext cx="552797" cy="53829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883DC02-17C2-4038-B303-577311CD7C38}"/>
                    </a:ext>
                  </a:extLst>
                </p14:cNvPr>
                <p14:cNvContentPartPr/>
                <p14:nvPr/>
              </p14:nvContentPartPr>
              <p14:xfrm>
                <a:off x="1562815" y="2350016"/>
                <a:ext cx="186044" cy="25973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883DC02-17C2-4038-B303-577311CD7C3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50362" y="2337485"/>
                  <a:ext cx="210950" cy="284792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FF065C5-8388-407E-94F3-81097B0F5A34}"/>
                </a:ext>
              </a:extLst>
            </p:cNvPr>
            <p:cNvCxnSpPr>
              <a:stCxn id="5" idx="6"/>
              <a:endCxn id="8" idx="2"/>
            </p:cNvCxnSpPr>
            <p:nvPr/>
          </p:nvCxnSpPr>
          <p:spPr>
            <a:xfrm>
              <a:off x="1959038" y="2454990"/>
              <a:ext cx="740489" cy="665449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BEA21E9-D9BD-4223-B9CA-232863642A38}"/>
                </a:ext>
              </a:extLst>
            </p:cNvPr>
            <p:cNvSpPr/>
            <p:nvPr/>
          </p:nvSpPr>
          <p:spPr>
            <a:xfrm>
              <a:off x="2699527" y="2885709"/>
              <a:ext cx="481780" cy="469461"/>
            </a:xfrm>
            <a:prstGeom prst="ellipse">
              <a:avLst/>
            </a:prstGeom>
            <a:noFill/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9C7BC5B-11C3-40CC-897D-D5EE78894A44}"/>
                </a:ext>
              </a:extLst>
            </p:cNvPr>
            <p:cNvCxnSpPr>
              <a:cxnSpLocks/>
              <a:stCxn id="8" idx="6"/>
              <a:endCxn id="10" idx="2"/>
            </p:cNvCxnSpPr>
            <p:nvPr/>
          </p:nvCxnSpPr>
          <p:spPr>
            <a:xfrm flipV="1">
              <a:off x="3181308" y="2531989"/>
              <a:ext cx="1084922" cy="588450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2F710FE-E63F-4532-9EB8-1E042F399F9F}"/>
                </a:ext>
              </a:extLst>
            </p:cNvPr>
            <p:cNvSpPr/>
            <p:nvPr/>
          </p:nvSpPr>
          <p:spPr>
            <a:xfrm>
              <a:off x="4266230" y="2266578"/>
              <a:ext cx="545128" cy="530823"/>
            </a:xfrm>
            <a:prstGeom prst="ellipse">
              <a:avLst/>
            </a:prstGeom>
            <a:noFill/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ADDFDE4-0B1D-44E6-82B9-E063E6A31886}"/>
                </a:ext>
              </a:extLst>
            </p:cNvPr>
            <p:cNvCxnSpPr>
              <a:cxnSpLocks/>
              <a:stCxn id="5" idx="4"/>
              <a:endCxn id="13" idx="0"/>
            </p:cNvCxnSpPr>
            <p:nvPr/>
          </p:nvCxnSpPr>
          <p:spPr>
            <a:xfrm>
              <a:off x="1682640" y="2724135"/>
              <a:ext cx="33807" cy="649959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EF197E4-F431-46BB-88FC-834ABD85F7AF}"/>
                </a:ext>
              </a:extLst>
            </p:cNvPr>
            <p:cNvSpPr/>
            <p:nvPr/>
          </p:nvSpPr>
          <p:spPr>
            <a:xfrm>
              <a:off x="1463220" y="3374094"/>
              <a:ext cx="506453" cy="493486"/>
            </a:xfrm>
            <a:prstGeom prst="ellipse">
              <a:avLst/>
            </a:prstGeom>
            <a:noFill/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BD04B5-9895-49E6-8D55-D43861C0F385}"/>
                </a:ext>
              </a:extLst>
            </p:cNvPr>
            <p:cNvCxnSpPr>
              <a:cxnSpLocks/>
              <a:stCxn id="13" idx="4"/>
            </p:cNvCxnSpPr>
            <p:nvPr/>
          </p:nvCxnSpPr>
          <p:spPr>
            <a:xfrm>
              <a:off x="1716446" y="3867580"/>
              <a:ext cx="4834" cy="0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FE2CF73-3EE4-4B68-99AE-A0581CD15823}"/>
                    </a:ext>
                  </a:extLst>
                </p14:cNvPr>
                <p14:cNvContentPartPr/>
                <p14:nvPr/>
              </p14:nvContentPartPr>
              <p14:xfrm>
                <a:off x="5408036" y="4342035"/>
                <a:ext cx="333" cy="325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FE2CF73-3EE4-4B68-99AE-A0581CD1582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97047" y="4331310"/>
                  <a:ext cx="22311" cy="217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27E9776-2F26-4D40-9887-ACB73A3174D9}"/>
                    </a:ext>
                  </a:extLst>
                </p14:cNvPr>
                <p14:cNvContentPartPr/>
                <p14:nvPr/>
              </p14:nvContentPartPr>
              <p14:xfrm>
                <a:off x="5610751" y="4117693"/>
                <a:ext cx="333" cy="325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27E9776-2F26-4D40-9887-ACB73A3174D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599762" y="4106968"/>
                  <a:ext cx="22311" cy="21775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5D2D48B-1133-4D16-86A7-F8A9146EC7C4}"/>
                </a:ext>
              </a:extLst>
            </p:cNvPr>
            <p:cNvCxnSpPr>
              <a:cxnSpLocks/>
              <a:stCxn id="13" idx="4"/>
              <a:endCxn id="19" idx="0"/>
            </p:cNvCxnSpPr>
            <p:nvPr/>
          </p:nvCxnSpPr>
          <p:spPr>
            <a:xfrm flipH="1">
              <a:off x="1712462" y="3867580"/>
              <a:ext cx="3985" cy="710268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EF82891-D1BA-453E-B684-7AB77BF44213}"/>
                </a:ext>
              </a:extLst>
            </p:cNvPr>
            <p:cNvSpPr/>
            <p:nvPr/>
          </p:nvSpPr>
          <p:spPr>
            <a:xfrm>
              <a:off x="1484241" y="4577848"/>
              <a:ext cx="456441" cy="444138"/>
            </a:xfrm>
            <a:prstGeom prst="ellipse">
              <a:avLst/>
            </a:prstGeom>
            <a:noFill/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0ED3400-640B-4018-876F-19019D54AD1E}"/>
                </a:ext>
              </a:extLst>
            </p:cNvPr>
            <p:cNvSpPr/>
            <p:nvPr/>
          </p:nvSpPr>
          <p:spPr>
            <a:xfrm>
              <a:off x="2655850" y="4079816"/>
              <a:ext cx="577136" cy="562315"/>
            </a:xfrm>
            <a:prstGeom prst="ellipse">
              <a:avLst/>
            </a:prstGeom>
            <a:noFill/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DE023E4-FD81-4A19-9150-1623CA58CED3}"/>
                </a:ext>
              </a:extLst>
            </p:cNvPr>
            <p:cNvCxnSpPr>
              <a:stCxn id="8" idx="4"/>
              <a:endCxn id="20" idx="0"/>
            </p:cNvCxnSpPr>
            <p:nvPr/>
          </p:nvCxnSpPr>
          <p:spPr>
            <a:xfrm>
              <a:off x="2940417" y="3355170"/>
              <a:ext cx="4001" cy="724646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354ED09-3C66-4C9F-A004-2F6C3CC7DF9D}"/>
                </a:ext>
              </a:extLst>
            </p:cNvPr>
            <p:cNvCxnSpPr>
              <a:cxnSpLocks/>
              <a:stCxn id="13" idx="5"/>
              <a:endCxn id="20" idx="2"/>
            </p:cNvCxnSpPr>
            <p:nvPr/>
          </p:nvCxnSpPr>
          <p:spPr>
            <a:xfrm>
              <a:off x="1895505" y="3795311"/>
              <a:ext cx="760345" cy="565663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FE5CEE0-D5BA-4D86-9C9E-3A039E472377}"/>
                </a:ext>
              </a:extLst>
            </p:cNvPr>
            <p:cNvCxnSpPr>
              <a:stCxn id="8" idx="5"/>
              <a:endCxn id="24" idx="2"/>
            </p:cNvCxnSpPr>
            <p:nvPr/>
          </p:nvCxnSpPr>
          <p:spPr>
            <a:xfrm>
              <a:off x="3110752" y="3286419"/>
              <a:ext cx="1237164" cy="358512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62B7E02-6286-482D-9CB5-15F9C977E104}"/>
                </a:ext>
              </a:extLst>
            </p:cNvPr>
            <p:cNvSpPr/>
            <p:nvPr/>
          </p:nvSpPr>
          <p:spPr>
            <a:xfrm>
              <a:off x="4347916" y="3386338"/>
              <a:ext cx="531125" cy="517187"/>
            </a:xfrm>
            <a:prstGeom prst="ellipse">
              <a:avLst/>
            </a:prstGeom>
            <a:noFill/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D54B73E-BE30-4DC0-B45C-5C74E7A3E279}"/>
                </a:ext>
              </a:extLst>
            </p:cNvPr>
            <p:cNvCxnSpPr>
              <a:cxnSpLocks/>
              <a:stCxn id="10" idx="4"/>
              <a:endCxn id="24" idx="0"/>
            </p:cNvCxnSpPr>
            <p:nvPr/>
          </p:nvCxnSpPr>
          <p:spPr>
            <a:xfrm>
              <a:off x="4538794" y="2797401"/>
              <a:ext cx="74684" cy="588937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61337B8-2ED3-4092-A0D2-67206ED62601}"/>
                </a:ext>
              </a:extLst>
            </p:cNvPr>
            <p:cNvCxnSpPr>
              <a:stCxn id="24" idx="4"/>
              <a:endCxn id="27" idx="0"/>
            </p:cNvCxnSpPr>
            <p:nvPr/>
          </p:nvCxnSpPr>
          <p:spPr>
            <a:xfrm>
              <a:off x="4613478" y="3903524"/>
              <a:ext cx="52679" cy="587963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E6D730E-11D2-44E1-8985-D4A59D309FD0}"/>
                </a:ext>
              </a:extLst>
            </p:cNvPr>
            <p:cNvSpPr/>
            <p:nvPr/>
          </p:nvSpPr>
          <p:spPr>
            <a:xfrm>
              <a:off x="4368921" y="4491487"/>
              <a:ext cx="594473" cy="578873"/>
            </a:xfrm>
            <a:prstGeom prst="ellipse">
              <a:avLst/>
            </a:prstGeom>
            <a:noFill/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9B311DC-2710-441C-A157-D80D653DC904}"/>
                </a:ext>
              </a:extLst>
            </p:cNvPr>
            <p:cNvCxnSpPr>
              <a:cxnSpLocks/>
              <a:stCxn id="24" idx="6"/>
              <a:endCxn id="30" idx="1"/>
            </p:cNvCxnSpPr>
            <p:nvPr/>
          </p:nvCxnSpPr>
          <p:spPr>
            <a:xfrm>
              <a:off x="4879041" y="3644931"/>
              <a:ext cx="831912" cy="417353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28878A4-E913-4093-A0CD-6B1497E0496C}"/>
                </a:ext>
              </a:extLst>
            </p:cNvPr>
            <p:cNvSpPr/>
            <p:nvPr/>
          </p:nvSpPr>
          <p:spPr>
            <a:xfrm>
              <a:off x="5631218" y="3984690"/>
              <a:ext cx="544462" cy="529849"/>
            </a:xfrm>
            <a:prstGeom prst="ellipse">
              <a:avLst/>
            </a:prstGeom>
            <a:noFill/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5A1B27A-E282-4D26-A8B1-0A46BC116C3A}"/>
                </a:ext>
              </a:extLst>
            </p:cNvPr>
            <p:cNvCxnSpPr>
              <a:cxnSpLocks/>
              <a:stCxn id="27" idx="6"/>
              <a:endCxn id="30" idx="3"/>
            </p:cNvCxnSpPr>
            <p:nvPr/>
          </p:nvCxnSpPr>
          <p:spPr>
            <a:xfrm flipV="1">
              <a:off x="4963394" y="4436944"/>
              <a:ext cx="747559" cy="343980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958B4CC-944B-48CE-AE02-64D7C781C693}"/>
                </a:ext>
              </a:extLst>
            </p:cNvPr>
            <p:cNvCxnSpPr>
              <a:stCxn id="20" idx="5"/>
              <a:endCxn id="27" idx="2"/>
            </p:cNvCxnSpPr>
            <p:nvPr/>
          </p:nvCxnSpPr>
          <p:spPr>
            <a:xfrm>
              <a:off x="3148466" y="4559782"/>
              <a:ext cx="1220454" cy="221142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F9F858A-2E70-408A-9A26-29BEA09D47E9}"/>
                </a:ext>
              </a:extLst>
            </p:cNvPr>
            <p:cNvCxnSpPr>
              <a:stCxn id="19" idx="6"/>
              <a:endCxn id="20" idx="3"/>
            </p:cNvCxnSpPr>
            <p:nvPr/>
          </p:nvCxnSpPr>
          <p:spPr>
            <a:xfrm flipV="1">
              <a:off x="1940682" y="4559782"/>
              <a:ext cx="799689" cy="240135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69FA58E-FBD8-41E4-BEB6-E2199C0A2EC0}"/>
                </a:ext>
              </a:extLst>
            </p:cNvPr>
            <p:cNvCxnSpPr>
              <a:stCxn id="20" idx="6"/>
              <a:endCxn id="24" idx="3"/>
            </p:cNvCxnSpPr>
            <p:nvPr/>
          </p:nvCxnSpPr>
          <p:spPr>
            <a:xfrm flipV="1">
              <a:off x="3232986" y="3827784"/>
              <a:ext cx="1192711" cy="533189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B246E623-9EB0-4FD8-A6C5-574C5427F95E}"/>
                    </a:ext>
                  </a:extLst>
                </p:cNvPr>
                <p:cNvSpPr txBox="1"/>
                <p:nvPr/>
              </p:nvSpPr>
              <p:spPr>
                <a:xfrm>
                  <a:off x="1525612" y="3268832"/>
                  <a:ext cx="377622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B246E623-9EB0-4FD8-A6C5-574C5427F9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5612" y="3268832"/>
                  <a:ext cx="377622" cy="5847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4321BCA5-B7E1-470D-ACC5-CEEFEC75216B}"/>
                    </a:ext>
                  </a:extLst>
                </p:cNvPr>
                <p:cNvSpPr txBox="1"/>
                <p:nvPr/>
              </p:nvSpPr>
              <p:spPr>
                <a:xfrm>
                  <a:off x="2710162" y="2801563"/>
                  <a:ext cx="411429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4321BCA5-B7E1-470D-ACC5-CEEFEC7521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0162" y="2801563"/>
                  <a:ext cx="411429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0C752F9E-118E-4626-BB4B-005E0C46223F}"/>
                    </a:ext>
                  </a:extLst>
                </p:cNvPr>
                <p:cNvSpPr txBox="1"/>
                <p:nvPr/>
              </p:nvSpPr>
              <p:spPr>
                <a:xfrm>
                  <a:off x="1475955" y="4485585"/>
                  <a:ext cx="423531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0C752F9E-118E-4626-BB4B-005E0C4622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5955" y="4485585"/>
                  <a:ext cx="423531" cy="58477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145082F0-B782-4F70-9588-9C276DAC45AD}"/>
                    </a:ext>
                  </a:extLst>
                </p:cNvPr>
                <p:cNvSpPr txBox="1"/>
                <p:nvPr/>
              </p:nvSpPr>
              <p:spPr>
                <a:xfrm>
                  <a:off x="2721554" y="4016348"/>
                  <a:ext cx="411429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145082F0-B782-4F70-9588-9C276DAC45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1554" y="4016348"/>
                  <a:ext cx="411429" cy="58477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9794844F-F78E-41C6-80F7-7237D30215E7}"/>
                    </a:ext>
                  </a:extLst>
                </p:cNvPr>
                <p:cNvSpPr txBox="1"/>
                <p:nvPr/>
              </p:nvSpPr>
              <p:spPr>
                <a:xfrm>
                  <a:off x="4390796" y="3291477"/>
                  <a:ext cx="411429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9794844F-F78E-41C6-80F7-7237D30215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0796" y="3291477"/>
                  <a:ext cx="411429" cy="58477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5BA8E21E-C52C-45BC-9B99-073CF5E10E23}"/>
                    </a:ext>
                  </a:extLst>
                </p:cNvPr>
                <p:cNvSpPr txBox="1"/>
                <p:nvPr/>
              </p:nvSpPr>
              <p:spPr>
                <a:xfrm>
                  <a:off x="4337854" y="2177626"/>
                  <a:ext cx="411429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5BA8E21E-C52C-45BC-9B99-073CF5E10E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7854" y="2177626"/>
                  <a:ext cx="411429" cy="58477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E87AD2B0-540C-461C-9889-0FFFDF032A52}"/>
                    </a:ext>
                  </a:extLst>
                </p:cNvPr>
                <p:cNvSpPr txBox="1"/>
                <p:nvPr/>
              </p:nvSpPr>
              <p:spPr>
                <a:xfrm>
                  <a:off x="4434102" y="4455964"/>
                  <a:ext cx="411429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E87AD2B0-540C-461C-9889-0FFFDF032A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4102" y="4455964"/>
                  <a:ext cx="411429" cy="58477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37A52954-9A06-45DF-879F-01F6415C162B}"/>
                    </a:ext>
                  </a:extLst>
                </p:cNvPr>
                <p:cNvSpPr txBox="1"/>
                <p:nvPr/>
              </p:nvSpPr>
              <p:spPr>
                <a:xfrm>
                  <a:off x="5696686" y="3909772"/>
                  <a:ext cx="411429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37A52954-9A06-45DF-879F-01F6415C16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6686" y="3909772"/>
                  <a:ext cx="411429" cy="58477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93FE90A0-782B-434B-9B11-3FDD5947F0DF}"/>
              </a:ext>
            </a:extLst>
          </p:cNvPr>
          <p:cNvSpPr txBox="1"/>
          <p:nvPr/>
        </p:nvSpPr>
        <p:spPr>
          <a:xfrm>
            <a:off x="550649" y="4780837"/>
            <a:ext cx="1741869" cy="40011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</a:rPr>
              <a:t>undiscovered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A88EA52-332A-42B6-9C70-CDD59DBDF03B}"/>
              </a:ext>
            </a:extLst>
          </p:cNvPr>
          <p:cNvSpPr txBox="1"/>
          <p:nvPr/>
        </p:nvSpPr>
        <p:spPr>
          <a:xfrm>
            <a:off x="567234" y="5339007"/>
            <a:ext cx="1725284" cy="40011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pending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4C588C4-0250-42DE-89E8-C50966493B3D}"/>
              </a:ext>
            </a:extLst>
          </p:cNvPr>
          <p:cNvSpPr txBox="1"/>
          <p:nvPr/>
        </p:nvSpPr>
        <p:spPr>
          <a:xfrm>
            <a:off x="567234" y="5929981"/>
            <a:ext cx="1725284" cy="40011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visited</a:t>
            </a:r>
          </a:p>
        </p:txBody>
      </p:sp>
    </p:spTree>
    <p:extLst>
      <p:ext uri="{BB962C8B-B14F-4D97-AF65-F5344CB8AC3E}">
        <p14:creationId xmlns:p14="http://schemas.microsoft.com/office/powerpoint/2010/main" val="3773276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3C3B4-FCD5-4AC0-9ECC-804987E7B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implement the idea?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16BEC4-A04E-496A-B1C3-FD52E18FBF9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Need to maintain pending nodes: </a:t>
                </a:r>
              </a:p>
              <a:p>
                <a:pPr lvl="1"/>
                <a:r>
                  <a:rPr lang="en-US" sz="2000" dirty="0"/>
                  <a:t>Need a </a:t>
                </a:r>
                <a:r>
                  <a:rPr lang="en-US" sz="2000" dirty="0">
                    <a:solidFill>
                      <a:srgbClr val="C00000"/>
                    </a:solidFill>
                  </a:rPr>
                  <a:t>FIFO</a:t>
                </a:r>
                <a:r>
                  <a:rPr lang="en-US" sz="2000" dirty="0"/>
                  <a:t> (first-in first-out) data structure, which is a standard `</a:t>
                </a:r>
                <a:r>
                  <a:rPr lang="en-US" sz="2000" dirty="0">
                    <a:solidFill>
                      <a:srgbClr val="C00000"/>
                    </a:solidFill>
                  </a:rPr>
                  <a:t>queue</a:t>
                </a:r>
                <a:r>
                  <a:rPr lang="en-US" sz="2000" dirty="0"/>
                  <a:t>’ data structure </a:t>
                </a:r>
              </a:p>
              <a:p>
                <a:pPr lvl="2"/>
                <a:r>
                  <a:rPr lang="en-US" sz="1800" dirty="0"/>
                  <a:t>A queue data structure can support the following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1800" dirty="0"/>
                  <a:t> time: </a:t>
                </a:r>
              </a:p>
              <a:p>
                <a:pPr lvl="2"/>
                <a:r>
                  <a:rPr lang="en-US" sz="1800" dirty="0" err="1"/>
                  <a:t>Q.Enqueue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800" dirty="0"/>
                  <a:t>):  it adds a  new element to the end of the current queue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800" dirty="0"/>
                  <a:t> = </a:t>
                </a:r>
                <a:r>
                  <a:rPr lang="en-US" sz="1800" dirty="0" err="1"/>
                  <a:t>Q.Dequeue</a:t>
                </a:r>
                <a:r>
                  <a:rPr lang="en-US" sz="1800" dirty="0"/>
                  <a:t>(): it returns the element b at the beginning of the current queue. </a:t>
                </a:r>
              </a:p>
              <a:p>
                <a:pPr lvl="2"/>
                <a:endParaRPr lang="en-US" sz="1800" dirty="0"/>
              </a:p>
              <a:p>
                <a:r>
                  <a:rPr lang="en-US" sz="2400" dirty="0"/>
                  <a:t>Need to maintain status: </a:t>
                </a:r>
              </a:p>
              <a:p>
                <a:pPr lvl="1"/>
                <a:r>
                  <a:rPr lang="en-US" sz="2000" dirty="0"/>
                  <a:t>we can use an array to store status if all nodes are indexed from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lvl="1"/>
                <a:r>
                  <a:rPr lang="en-US" sz="2000" dirty="0"/>
                  <a:t>or we can use a hash table (</a:t>
                </a:r>
                <a:r>
                  <a:rPr lang="en-US" sz="2000" dirty="0" err="1"/>
                  <a:t>e.g</a:t>
                </a:r>
                <a:r>
                  <a:rPr lang="en-US" sz="2000" dirty="0"/>
                  <a:t>, </a:t>
                </a:r>
                <a:r>
                  <a:rPr lang="en-US" sz="2000" dirty="0" err="1">
                    <a:solidFill>
                      <a:srgbClr val="00B050"/>
                    </a:solidFill>
                  </a:rPr>
                  <a:t>dict</a:t>
                </a:r>
                <a:r>
                  <a:rPr lang="en-US" sz="2000" dirty="0"/>
                  <a:t> from python) to store it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16BEC4-A04E-496A-B1C3-FD52E18FBF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9" t="-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9572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5058D-473E-48E7-B9A2-7688C33B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 of BFS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D9880-036B-4486-9064-6EE4ABD4EAA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BF26C8-CCE4-4486-9554-E7D0FF8DA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" y="1411605"/>
            <a:ext cx="8477250" cy="455295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44250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7D441-DF3D-4979-8CCE-4C77B7F75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BFS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11D54-3016-4F16-8669-A0D48CEB884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To get the standard `</a:t>
            </a:r>
            <a:r>
              <a:rPr lang="en-US" dirty="0">
                <a:solidFill>
                  <a:srgbClr val="C00000"/>
                </a:solidFill>
              </a:rPr>
              <a:t>queue</a:t>
            </a:r>
            <a:r>
              <a:rPr lang="en-US" dirty="0"/>
              <a:t>’ data structure</a:t>
            </a:r>
          </a:p>
          <a:p>
            <a:pPr lvl="1"/>
            <a:r>
              <a:rPr lang="en-US" sz="2400" dirty="0"/>
              <a:t>In python, we need to use </a:t>
            </a:r>
            <a:r>
              <a:rPr lang="en-US" sz="2400" dirty="0">
                <a:solidFill>
                  <a:srgbClr val="00B050"/>
                </a:solidFill>
              </a:rPr>
              <a:t>deque</a:t>
            </a:r>
            <a:r>
              <a:rPr lang="en-US" sz="2400" dirty="0"/>
              <a:t> </a:t>
            </a:r>
          </a:p>
          <a:p>
            <a:pPr lvl="2"/>
            <a:r>
              <a:rPr lang="en-US" dirty="0">
                <a:solidFill>
                  <a:srgbClr val="00B050"/>
                </a:solidFill>
              </a:rPr>
              <a:t>from </a:t>
            </a:r>
            <a:r>
              <a:rPr lang="en-US" dirty="0">
                <a:solidFill>
                  <a:srgbClr val="0B0E8F"/>
                </a:solidFill>
              </a:rPr>
              <a:t>collections</a:t>
            </a:r>
            <a:r>
              <a:rPr lang="en-US" dirty="0">
                <a:solidFill>
                  <a:srgbClr val="00B050"/>
                </a:solidFill>
              </a:rPr>
              <a:t> import </a:t>
            </a:r>
            <a:r>
              <a:rPr lang="en-US" dirty="0"/>
              <a:t>deque (“deck”).</a:t>
            </a:r>
          </a:p>
          <a:p>
            <a:pPr lvl="2"/>
            <a:r>
              <a:rPr lang="en-US" dirty="0"/>
              <a:t>.</a:t>
            </a:r>
            <a:r>
              <a:rPr lang="en-US" dirty="0" err="1"/>
              <a:t>popleft</a:t>
            </a:r>
            <a:r>
              <a:rPr lang="en-US" dirty="0"/>
              <a:t>(), .pop(), .append()</a:t>
            </a:r>
          </a:p>
          <a:p>
            <a:pPr lvl="2"/>
            <a:r>
              <a:rPr lang="en-US" dirty="0">
                <a:solidFill>
                  <a:srgbClr val="00B050"/>
                </a:solidFill>
              </a:rPr>
              <a:t>list</a:t>
            </a:r>
            <a:r>
              <a:rPr lang="en-US" dirty="0"/>
              <a:t> doesn’t have right time complexity!</a:t>
            </a:r>
          </a:p>
          <a:p>
            <a:pPr lvl="2"/>
            <a:r>
              <a:rPr lang="en-US" dirty="0">
                <a:solidFill>
                  <a:srgbClr val="00B050"/>
                </a:solidFill>
              </a:rPr>
              <a:t>import </a:t>
            </a:r>
            <a:r>
              <a:rPr lang="en-US" dirty="0">
                <a:solidFill>
                  <a:srgbClr val="0B0E8F"/>
                </a:solidFill>
              </a:rPr>
              <a:t>queue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isn’t what you want!</a:t>
            </a:r>
          </a:p>
          <a:p>
            <a:pPr lvl="1"/>
            <a:endParaRPr lang="en-US" dirty="0"/>
          </a:p>
          <a:p>
            <a:r>
              <a:rPr lang="en-US" dirty="0"/>
              <a:t>To maintain `status’ of nodes </a:t>
            </a:r>
          </a:p>
          <a:p>
            <a:pPr lvl="1"/>
            <a:r>
              <a:rPr lang="en-US" sz="2400" dirty="0"/>
              <a:t>we can use a hash table (</a:t>
            </a:r>
            <a:r>
              <a:rPr lang="en-US" sz="2400" dirty="0" err="1"/>
              <a:t>e.g</a:t>
            </a:r>
            <a:r>
              <a:rPr lang="en-US" sz="2400" dirty="0"/>
              <a:t>, </a:t>
            </a:r>
            <a:r>
              <a:rPr lang="en-US" sz="2400" dirty="0" err="1">
                <a:solidFill>
                  <a:srgbClr val="00B050"/>
                </a:solidFill>
              </a:rPr>
              <a:t>dict</a:t>
            </a:r>
            <a:r>
              <a:rPr lang="en-US" sz="2400" dirty="0"/>
              <a:t> from python) to store 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751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F26C8-88F6-4DC7-85FF-B6203C0EA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code for BFS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176213-214B-42E7-98D2-9F795F996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1757"/>
            <a:ext cx="8229600" cy="458804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37221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57B78-7BDC-4256-8803-04B743732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EBC272-883C-4D8F-85AC-A94C113B3F89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5334000"/>
              </a:xfrm>
            </p:spPr>
            <p:txBody>
              <a:bodyPr/>
              <a:lstStyle/>
              <a:p>
                <a:r>
                  <a:rPr lang="en-US" dirty="0"/>
                  <a:t>The same algorithm works for both undirected and directed graphs </a:t>
                </a:r>
              </a:p>
              <a:p>
                <a:endParaRPr lang="en-US" sz="800" dirty="0"/>
              </a:p>
              <a:p>
                <a:r>
                  <a:rPr lang="en-US" dirty="0"/>
                  <a:t>Claim: </a:t>
                </a:r>
              </a:p>
              <a:p>
                <a:pPr lvl="1"/>
                <a:r>
                  <a:rPr lang="en-US" dirty="0"/>
                  <a:t>BFS(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will visit exactly the set of nodes that are reachable from the source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in the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Why?   </a:t>
                </a:r>
              </a:p>
              <a:p>
                <a:pPr lvl="1"/>
                <a:endParaRPr lang="en-US" sz="800" dirty="0"/>
              </a:p>
              <a:p>
                <a:r>
                  <a:rPr lang="en-US" dirty="0"/>
                  <a:t>Hence some nodes may not be visited in the end, </a:t>
                </a:r>
              </a:p>
              <a:p>
                <a:pPr lvl="1"/>
                <a:r>
                  <a:rPr lang="en-US" dirty="0"/>
                  <a:t>and these are the nodes not reachable from source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pPr lvl="1"/>
                <a:endParaRPr lang="en-US" sz="800" dirty="0"/>
              </a:p>
              <a:p>
                <a:r>
                  <a:rPr lang="en-US" dirty="0"/>
                  <a:t>Can be used to help answer questions such as: </a:t>
                </a:r>
              </a:p>
              <a:p>
                <a:pPr lvl="1"/>
                <a:r>
                  <a:rPr lang="en-US" dirty="0"/>
                  <a:t>Is an input undirected graph connected? </a:t>
                </a:r>
              </a:p>
              <a:p>
                <a:pPr lvl="1"/>
                <a:r>
                  <a:rPr lang="en-US" dirty="0"/>
                  <a:t>Is there a path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?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EBC272-883C-4D8F-85AC-A94C113B3F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5334000"/>
              </a:xfrm>
              <a:blipFill>
                <a:blip r:embed="rId2"/>
                <a:stretch>
                  <a:fillRect l="-667" t="-1029" b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8342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90800"/>
            <a:ext cx="8229600" cy="990600"/>
          </a:xfrm>
        </p:spPr>
        <p:txBody>
          <a:bodyPr/>
          <a:lstStyle/>
          <a:p>
            <a:pPr algn="ctr"/>
            <a:r>
              <a:rPr lang="en-US" dirty="0"/>
              <a:t>Full BFS and analysis </a:t>
            </a:r>
          </a:p>
        </p:txBody>
      </p:sp>
    </p:spTree>
    <p:extLst>
      <p:ext uri="{BB962C8B-B14F-4D97-AF65-F5344CB8AC3E}">
        <p14:creationId xmlns:p14="http://schemas.microsoft.com/office/powerpoint/2010/main" val="147600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C631B-3B08-4F95-9DEE-58FF818FC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B59FDF-DC83-4FCF-9381-C7F916A8C928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Note that BFS(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) only visits nodes reachable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So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is disconnected, then it will not visit all nodes</a:t>
                </a:r>
              </a:p>
              <a:p>
                <a:endParaRPr lang="en-US" dirty="0"/>
              </a:p>
              <a:p>
                <a:r>
                  <a:rPr lang="en-US" dirty="0"/>
                  <a:t>How to explore all nodes? </a:t>
                </a:r>
              </a:p>
              <a:p>
                <a:pPr lvl="1"/>
                <a:r>
                  <a:rPr lang="en-US" dirty="0"/>
                  <a:t>``Re-start” from an undiscovered node, till all nodes are discovered</a:t>
                </a:r>
              </a:p>
              <a:p>
                <a:pPr lvl="1"/>
                <a:r>
                  <a:rPr lang="en-US" dirty="0"/>
                  <a:t>Will need to call BFS() potentially multiple times, but need to maintain and pass status between calls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B59FDF-DC83-4FCF-9381-C7F916A8C9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7747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2B3F2-1D4D-4C4B-9DCE-64E3DDA7A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Full-BFS to visit all 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25C34-C0F7-4FFF-BB00-FCF3F2954EE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381251"/>
          </a:xfrm>
        </p:spPr>
        <p:txBody>
          <a:bodyPr/>
          <a:lstStyle/>
          <a:p>
            <a:r>
              <a:rPr lang="en-US" dirty="0"/>
              <a:t>Modify BFS() to accept statuses as well: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3FF738-9B6A-4CB3-87DC-260D8A736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55" y="1828800"/>
            <a:ext cx="8315325" cy="142875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EF93C5B-3AFE-4FEA-92DD-C8A31EF6B602}"/>
              </a:ext>
            </a:extLst>
          </p:cNvPr>
          <p:cNvSpPr txBox="1">
            <a:spLocks/>
          </p:cNvSpPr>
          <p:nvPr/>
        </p:nvSpPr>
        <p:spPr bwMode="auto">
          <a:xfrm>
            <a:off x="441434" y="3590599"/>
            <a:ext cx="8229600" cy="2381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8BA2B4"/>
              </a:buClr>
              <a:buSzPct val="70000"/>
              <a:buFont typeface="Wingdings" pitchFamily="2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Full-BFS() procedure to visit all nodes </a:t>
            </a:r>
          </a:p>
          <a:p>
            <a:pPr lvl="1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94E854-DEEF-4AE7-AC0D-62F688BC7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71" y="4419600"/>
            <a:ext cx="7858125" cy="141922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30646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24535-A54D-45A6-A048-79060B54E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94A4A89-B992-482A-8E08-C54FD117993F}"/>
              </a:ext>
            </a:extLst>
          </p:cNvPr>
          <p:cNvGrpSpPr/>
          <p:nvPr/>
        </p:nvGrpSpPr>
        <p:grpSpPr>
          <a:xfrm>
            <a:off x="457200" y="1219200"/>
            <a:ext cx="5667375" cy="4265832"/>
            <a:chOff x="457200" y="1219200"/>
            <a:chExt cx="5667375" cy="4265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FC24B43-2E80-4505-8367-99AC2B4A00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1219200"/>
              <a:ext cx="5667375" cy="408312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1C1F63F-08FC-401C-A4EC-4940363CEED8}"/>
                    </a:ext>
                  </a:extLst>
                </p:cNvPr>
                <p:cNvSpPr txBox="1"/>
                <p:nvPr/>
              </p:nvSpPr>
              <p:spPr>
                <a:xfrm>
                  <a:off x="5029200" y="2241331"/>
                  <a:ext cx="4572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1C1F63F-08FC-401C-A4EC-4940363CEE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9200" y="2241331"/>
                  <a:ext cx="457200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3236225-98B6-41E3-B878-A2D35583B8DA}"/>
                    </a:ext>
                  </a:extLst>
                </p:cNvPr>
                <p:cNvSpPr txBox="1"/>
                <p:nvPr/>
              </p:nvSpPr>
              <p:spPr>
                <a:xfrm>
                  <a:off x="1371600" y="1828800"/>
                  <a:ext cx="457200" cy="3810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3236225-98B6-41E3-B878-A2D35583B8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1600" y="1828800"/>
                  <a:ext cx="457200" cy="381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A665A87-AFF4-4E98-8C87-B22A7EDB4063}"/>
                    </a:ext>
                  </a:extLst>
                </p:cNvPr>
                <p:cNvSpPr txBox="1"/>
                <p:nvPr/>
              </p:nvSpPr>
              <p:spPr>
                <a:xfrm>
                  <a:off x="3886200" y="1563560"/>
                  <a:ext cx="4572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A665A87-AFF4-4E98-8C87-B22A7EDB40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6200" y="1563560"/>
                  <a:ext cx="45720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4991DC9-E66E-480B-88A8-2D003FAAD325}"/>
                    </a:ext>
                  </a:extLst>
                </p:cNvPr>
                <p:cNvSpPr txBox="1"/>
                <p:nvPr/>
              </p:nvSpPr>
              <p:spPr>
                <a:xfrm>
                  <a:off x="5202936" y="1447800"/>
                  <a:ext cx="4572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4991DC9-E66E-480B-88A8-2D003FAAD3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2936" y="1447800"/>
                  <a:ext cx="45720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16B6045-99ED-4719-8047-37A4C51E62F4}"/>
                    </a:ext>
                  </a:extLst>
                </p:cNvPr>
                <p:cNvSpPr txBox="1"/>
                <p:nvPr/>
              </p:nvSpPr>
              <p:spPr>
                <a:xfrm>
                  <a:off x="4495800" y="3497580"/>
                  <a:ext cx="457200" cy="3810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16B6045-99ED-4719-8047-37A4C51E62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5800" y="3497580"/>
                  <a:ext cx="457200" cy="3810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F9C7001-BA83-4FF9-8CB9-502B1693EE1E}"/>
                    </a:ext>
                  </a:extLst>
                </p:cNvPr>
                <p:cNvSpPr txBox="1"/>
                <p:nvPr/>
              </p:nvSpPr>
              <p:spPr>
                <a:xfrm>
                  <a:off x="4590288" y="4396010"/>
                  <a:ext cx="4572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b="0" dirty="0"/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F9C7001-BA83-4FF9-8CB9-502B1693EE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0288" y="4396010"/>
                  <a:ext cx="457200" cy="6463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07C0DFC-E3AF-475E-A847-79012710F580}"/>
                    </a:ext>
                  </a:extLst>
                </p:cNvPr>
                <p:cNvSpPr txBox="1"/>
                <p:nvPr/>
              </p:nvSpPr>
              <p:spPr>
                <a:xfrm>
                  <a:off x="5623560" y="3785616"/>
                  <a:ext cx="457200" cy="3810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07C0DFC-E3AF-475E-A847-79012710F5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3560" y="3785616"/>
                  <a:ext cx="457200" cy="3810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F3F8DCC-94FF-47EC-A8F2-1692FD595ED9}"/>
                    </a:ext>
                  </a:extLst>
                </p:cNvPr>
                <p:cNvSpPr txBox="1"/>
                <p:nvPr/>
              </p:nvSpPr>
              <p:spPr>
                <a:xfrm>
                  <a:off x="5496747" y="4838701"/>
                  <a:ext cx="4572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en-US" b="0" dirty="0"/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F3F8DCC-94FF-47EC-A8F2-1692FD595E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6747" y="4838701"/>
                  <a:ext cx="457200" cy="64633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6C36072-6A52-4A22-95CB-DE43B618E89A}"/>
                    </a:ext>
                  </a:extLst>
                </p:cNvPr>
                <p:cNvSpPr txBox="1"/>
                <p:nvPr/>
              </p:nvSpPr>
              <p:spPr>
                <a:xfrm>
                  <a:off x="609600" y="2688336"/>
                  <a:ext cx="457200" cy="3810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6C36072-6A52-4A22-95CB-DE43B618E8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" y="2688336"/>
                  <a:ext cx="457200" cy="38100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D8481B-0CDC-493D-B5A1-0EFC21FD75E0}"/>
                    </a:ext>
                  </a:extLst>
                </p:cNvPr>
                <p:cNvSpPr txBox="1"/>
                <p:nvPr/>
              </p:nvSpPr>
              <p:spPr>
                <a:xfrm>
                  <a:off x="1627632" y="2852928"/>
                  <a:ext cx="457200" cy="3810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D8481B-0CDC-493D-B5A1-0EFC21FD75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7632" y="2852928"/>
                  <a:ext cx="457200" cy="38100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D33F969-116D-4894-9045-4BF91FE6D377}"/>
                    </a:ext>
                  </a:extLst>
                </p:cNvPr>
                <p:cNvSpPr txBox="1"/>
                <p:nvPr/>
              </p:nvSpPr>
              <p:spPr>
                <a:xfrm>
                  <a:off x="2514600" y="2414016"/>
                  <a:ext cx="457200" cy="3810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D33F969-116D-4894-9045-4BF91FE6D3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2414016"/>
                  <a:ext cx="457200" cy="38100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AB4F4AD-95D3-4DBA-971C-1710AE6DC962}"/>
                    </a:ext>
                  </a:extLst>
                </p:cNvPr>
                <p:cNvSpPr txBox="1"/>
                <p:nvPr/>
              </p:nvSpPr>
              <p:spPr>
                <a:xfrm>
                  <a:off x="2543175" y="3453962"/>
                  <a:ext cx="4572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AB4F4AD-95D3-4DBA-971C-1710AE6DC9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3175" y="3453962"/>
                  <a:ext cx="457200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75852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16FBD-F1D5-401C-BE8E-CE7AD7126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57594E-C347-44AA-8E7E-A0DE60E22CC2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If the input is an undirected graph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components</a:t>
                </a:r>
              </a:p>
              <a:p>
                <a:pPr lvl="1"/>
                <a:r>
                  <a:rPr lang="en-US" dirty="0"/>
                  <a:t>then line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of the </a:t>
                </a:r>
                <a:r>
                  <a:rPr lang="en-US" dirty="0" err="1"/>
                  <a:t>full_bfs</a:t>
                </a:r>
                <a:r>
                  <a:rPr lang="en-US" dirty="0"/>
                  <a:t>() algorithm (namely, calling </a:t>
                </a:r>
                <a:r>
                  <a:rPr lang="en-US" dirty="0" err="1"/>
                  <a:t>bfs</a:t>
                </a:r>
                <a:r>
                  <a:rPr lang="en-US" dirty="0"/>
                  <a:t>) will be executed exactly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times.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57594E-C347-44AA-8E7E-A0DE60E22C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D89991D-A0ED-4D95-B049-B570422CC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12" y="2681287"/>
            <a:ext cx="8486775" cy="149542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154770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535A7-51FB-43FE-BFD5-0F9CF5E8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0F7E4-B8C3-49E4-9E4E-1DEC452E5B5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Analyzing full-BFS is conceptually easier than BFS </a:t>
            </a:r>
          </a:p>
          <a:p>
            <a:pPr lvl="1"/>
            <a:r>
              <a:rPr lang="en-US" dirty="0"/>
              <a:t>We can use a global argument to count the operations </a:t>
            </a:r>
          </a:p>
          <a:p>
            <a:pPr lvl="1"/>
            <a:endParaRPr lang="en-US" dirty="0"/>
          </a:p>
          <a:p>
            <a:r>
              <a:rPr lang="en-US" dirty="0"/>
              <a:t>Note that time complexity on full-BFS obviously will be upper-bound for the time complexity of BFS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256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B1026-7CD6-4A11-8F37-3A2F2CF30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algorithms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72DE09-7365-4D17-B4CE-AAC129417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59" y="1166648"/>
            <a:ext cx="7858125" cy="141922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32A0221-319E-4931-B4C6-2CE3E5544F68}"/>
              </a:ext>
            </a:extLst>
          </p:cNvPr>
          <p:cNvGrpSpPr/>
          <p:nvPr/>
        </p:nvGrpSpPr>
        <p:grpSpPr>
          <a:xfrm>
            <a:off x="491359" y="2743200"/>
            <a:ext cx="7892284" cy="3709822"/>
            <a:chOff x="457200" y="2843378"/>
            <a:chExt cx="7892284" cy="370982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807D192-3A7C-4D91-B464-C515BB5A50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9829" y="2843378"/>
              <a:ext cx="7388772" cy="1269548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1BB5919-ECEF-4CC1-9650-6558E4AB8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6441" y="3768839"/>
              <a:ext cx="4876800" cy="2784361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DEE7849-F50E-4E5D-806E-8E191CDEDAD1}"/>
                </a:ext>
              </a:extLst>
            </p:cNvPr>
            <p:cNvSpPr/>
            <p:nvPr/>
          </p:nvSpPr>
          <p:spPr>
            <a:xfrm>
              <a:off x="457200" y="2843378"/>
              <a:ext cx="7892284" cy="370982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09178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3A37B-4D94-44D3-B061-C2888EF74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complexity for full-BFS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A19B81-CA6F-4AB3-9299-6BA6891E1C4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5105400"/>
              </a:xfrm>
            </p:spPr>
            <p:txBody>
              <a:bodyPr/>
              <a:lstStyle/>
              <a:p>
                <a:r>
                  <a:rPr lang="en-US" dirty="0"/>
                  <a:t>Each node can be added to the queue </a:t>
                </a:r>
                <a:r>
                  <a:rPr lang="en-US" dirty="0">
                    <a:solidFill>
                      <a:srgbClr val="700000"/>
                    </a:solidFill>
                  </a:rPr>
                  <a:t>exactly once</a:t>
                </a:r>
              </a:p>
              <a:p>
                <a:r>
                  <a:rPr lang="en-US" dirty="0"/>
                  <a:t>Each edge will be explored </a:t>
                </a:r>
                <a:r>
                  <a:rPr lang="en-US" dirty="0">
                    <a:solidFill>
                      <a:srgbClr val="700000"/>
                    </a:solidFill>
                  </a:rPr>
                  <a:t>exactly</a:t>
                </a:r>
                <a:r>
                  <a:rPr lang="en-US" dirty="0"/>
                  <a:t> 	</a:t>
                </a:r>
              </a:p>
              <a:p>
                <a:pPr lvl="1"/>
                <a:r>
                  <a:rPr lang="en-US" dirty="0">
                    <a:solidFill>
                      <a:srgbClr val="700000"/>
                    </a:solidFill>
                  </a:rPr>
                  <a:t>twice</a:t>
                </a:r>
                <a:r>
                  <a:rPr lang="en-US" dirty="0"/>
                  <a:t> if the input is a undirected graph</a:t>
                </a:r>
              </a:p>
              <a:p>
                <a:pPr lvl="1"/>
                <a:r>
                  <a:rPr lang="en-US" dirty="0">
                    <a:solidFill>
                      <a:srgbClr val="700000"/>
                    </a:solidFill>
                  </a:rPr>
                  <a:t>once</a:t>
                </a:r>
                <a:r>
                  <a:rPr lang="en-US" dirty="0"/>
                  <a:t> if the input is a directed graph</a:t>
                </a:r>
              </a:p>
              <a:p>
                <a:r>
                  <a:rPr lang="en-US" dirty="0"/>
                  <a:t>Initializing status takes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 at the beginning</a:t>
                </a:r>
              </a:p>
              <a:p>
                <a:endParaRPr lang="en-US" dirty="0"/>
              </a:p>
              <a:p>
                <a:r>
                  <a:rPr lang="en-US" dirty="0"/>
                  <a:t>Hence overall: </a:t>
                </a:r>
              </a:p>
              <a:p>
                <a:pPr lvl="1"/>
                <a:r>
                  <a:rPr lang="en-US" dirty="0"/>
                  <a:t>Time complexity of full-BFS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  then the time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</m:oMath>
                </a14:m>
                <a:r>
                  <a:rPr lang="en-US" dirty="0"/>
                  <a:t> then the time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A19B81-CA6F-4AB3-9299-6BA6891E1C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5105400"/>
              </a:xfrm>
              <a:blipFill>
                <a:blip r:embed="rId2"/>
                <a:stretch>
                  <a:fillRect l="-667" t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6136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E159F-3305-4564-A019-34A23C224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796973-FDBC-4F97-9D1B-1875CB8D8273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As a graph traversal strategy (namely we want to have a way to systematically visit all nodes in the graph)</a:t>
                </a:r>
              </a:p>
              <a:p>
                <a:pPr lvl="1"/>
                <a:r>
                  <a:rPr lang="en-US" dirty="0"/>
                  <a:t>The time complexity is </a:t>
                </a:r>
                <a:r>
                  <a:rPr lang="en-US" dirty="0">
                    <a:solidFill>
                      <a:srgbClr val="C00000"/>
                    </a:solidFill>
                  </a:rPr>
                  <a:t>optimal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as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/>
                  <a:t> is the size needed to even represent input graph. 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796973-FDBC-4F97-9D1B-1875CB8D82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74974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B4B0A-08AB-4A4B-9DBA-A2E3FA646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complexity for BFS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D28487-4BA6-49C4-ACCE-F41CDB3EAFE9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Only for BFS(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Time complexity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#</m:t>
                    </m:r>
                  </m:oMath>
                </a14:m>
                <a:r>
                  <a:rPr lang="en-US" dirty="0"/>
                  <a:t>edges in the component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containing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Note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</a:p>
              <a:p>
                <a:pPr lvl="1"/>
                <a:r>
                  <a:rPr lang="en-US" dirty="0"/>
                  <a:t>Hence the time complexity for BFS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D28487-4BA6-49C4-ACCE-F41CDB3EAF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6642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76400"/>
            <a:ext cx="8229600" cy="990600"/>
          </a:xfrm>
        </p:spPr>
        <p:txBody>
          <a:bodyPr/>
          <a:lstStyle/>
          <a:p>
            <a:pPr algn="ctr"/>
            <a:r>
              <a:rPr lang="en-US" sz="3600" dirty="0"/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5370834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YUSU@WQEIJCNFUVWXY5M7" val="3343"/>
  <p:tag name="FIRSTYUSU@YOW8PJOFUVWXY5L9" val="3347"/>
  <p:tag name="DEFAULTDISPLAYSOURCE" val="\documentclass{article}\pagestyle{empty}&#10;\begin{document}&#10;&#10;\end{document}&#10;"/>
  <p:tag name="EMBEDFONTS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20335</TotalTime>
  <Words>1030</Words>
  <Application>Microsoft Office PowerPoint</Application>
  <PresentationFormat>On-screen Show (4:3)</PresentationFormat>
  <Paragraphs>152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23</vt:i4>
      </vt:variant>
    </vt:vector>
  </HeadingPairs>
  <TitlesOfParts>
    <vt:vector size="35" baseType="lpstr">
      <vt:lpstr>Gill Sans MT</vt:lpstr>
      <vt:lpstr>Calibri</vt:lpstr>
      <vt:lpstr>Wingdings 3</vt:lpstr>
      <vt:lpstr>Wingdings</vt:lpstr>
      <vt:lpstr>Times</vt:lpstr>
      <vt:lpstr>Arial</vt:lpstr>
      <vt:lpstr>Bookman Old Style</vt:lpstr>
      <vt:lpstr>Cambria Math</vt:lpstr>
      <vt:lpstr>Calibri Light</vt:lpstr>
      <vt:lpstr>Origin</vt:lpstr>
      <vt:lpstr>1_Custom Design</vt:lpstr>
      <vt:lpstr>Custom Design</vt:lpstr>
      <vt:lpstr>DSC40B: Theoretical Foundations of Data Science II </vt:lpstr>
      <vt:lpstr>Graph search strategies</vt:lpstr>
      <vt:lpstr>General high-level ideas</vt:lpstr>
      <vt:lpstr>PowerPoint Presentation</vt:lpstr>
      <vt:lpstr>Breadth-first search (BFS):  the algorithm</vt:lpstr>
      <vt:lpstr>Breadth-first search</vt:lpstr>
      <vt:lpstr>Example</vt:lpstr>
      <vt:lpstr>How to implement the idea? </vt:lpstr>
      <vt:lpstr>Pseudocode of BFS</vt:lpstr>
      <vt:lpstr>Implementation of BFS in python</vt:lpstr>
      <vt:lpstr>Python code for BFS</vt:lpstr>
      <vt:lpstr>Remarks</vt:lpstr>
      <vt:lpstr>Full BFS and analysis </vt:lpstr>
      <vt:lpstr>PowerPoint Presentation</vt:lpstr>
      <vt:lpstr>Full-BFS to visit all nodes</vt:lpstr>
      <vt:lpstr>Example</vt:lpstr>
      <vt:lpstr>Observation</vt:lpstr>
      <vt:lpstr>Time complexity analysis</vt:lpstr>
      <vt:lpstr>Overall algorithms</vt:lpstr>
      <vt:lpstr>Time complexity for full-BFS</vt:lpstr>
      <vt:lpstr>PowerPoint Presentation</vt:lpstr>
      <vt:lpstr>Time complexity for BFS</vt:lpstr>
      <vt:lpstr>FIN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wang, yusu</dc:creator>
  <cp:lastModifiedBy>enid wang</cp:lastModifiedBy>
  <cp:revision>1276</cp:revision>
  <dcterms:created xsi:type="dcterms:W3CDTF">2006-08-16T00:00:00Z</dcterms:created>
  <dcterms:modified xsi:type="dcterms:W3CDTF">2021-02-11T17:23:42Z</dcterms:modified>
</cp:coreProperties>
</file>