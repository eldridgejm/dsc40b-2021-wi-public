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45"/>
  </p:notesMasterIdLst>
  <p:sldIdLst>
    <p:sldId id="256" r:id="rId4"/>
    <p:sldId id="785" r:id="rId5"/>
    <p:sldId id="812" r:id="rId6"/>
    <p:sldId id="813" r:id="rId7"/>
    <p:sldId id="817" r:id="rId8"/>
    <p:sldId id="814" r:id="rId9"/>
    <p:sldId id="815" r:id="rId10"/>
    <p:sldId id="816" r:id="rId11"/>
    <p:sldId id="818" r:id="rId12"/>
    <p:sldId id="819" r:id="rId13"/>
    <p:sldId id="820" r:id="rId14"/>
    <p:sldId id="821" r:id="rId15"/>
    <p:sldId id="822" r:id="rId16"/>
    <p:sldId id="824" r:id="rId17"/>
    <p:sldId id="823" r:id="rId18"/>
    <p:sldId id="832" r:id="rId19"/>
    <p:sldId id="826" r:id="rId20"/>
    <p:sldId id="827" r:id="rId21"/>
    <p:sldId id="828" r:id="rId22"/>
    <p:sldId id="829" r:id="rId23"/>
    <p:sldId id="830" r:id="rId24"/>
    <p:sldId id="831" r:id="rId25"/>
    <p:sldId id="833" r:id="rId26"/>
    <p:sldId id="834" r:id="rId27"/>
    <p:sldId id="835" r:id="rId28"/>
    <p:sldId id="836" r:id="rId29"/>
    <p:sldId id="838" r:id="rId30"/>
    <p:sldId id="837" r:id="rId31"/>
    <p:sldId id="839" r:id="rId32"/>
    <p:sldId id="840" r:id="rId33"/>
    <p:sldId id="841" r:id="rId34"/>
    <p:sldId id="843" r:id="rId35"/>
    <p:sldId id="842" r:id="rId36"/>
    <p:sldId id="844" r:id="rId37"/>
    <p:sldId id="779" r:id="rId38"/>
    <p:sldId id="811" r:id="rId39"/>
    <p:sldId id="846" r:id="rId40"/>
    <p:sldId id="847" r:id="rId41"/>
    <p:sldId id="848" r:id="rId42"/>
    <p:sldId id="849" r:id="rId43"/>
    <p:sldId id="845" r:id="rId44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46"/>
      <p:bold r:id="rId47"/>
      <p:italic r:id="rId48"/>
      <p:boldItalic r:id="rId49"/>
    </p:embeddedFont>
    <p:embeddedFont>
      <p:font typeface="Bookman Old Style" panose="02050604050505020204" pitchFamily="18" charset="0"/>
      <p:regular r:id="rId50"/>
      <p:bold r:id="rId51"/>
      <p:italic r:id="rId52"/>
      <p:boldItalic r:id="rId53"/>
    </p:embeddedFon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libri Light" panose="020F0302020204030204" pitchFamily="34" charset="0"/>
      <p:regular r:id="rId58"/>
      <p:italic r:id="rId59"/>
    </p:embeddedFont>
    <p:embeddedFont>
      <p:font typeface="Cambria Math" panose="02040503050406030204" pitchFamily="18" charset="0"/>
      <p:regular r:id="rId60"/>
    </p:embeddedFont>
    <p:embeddedFont>
      <p:font typeface="Gill Sans MT" panose="020B0502020104020203" pitchFamily="34" charset="0"/>
      <p:regular r:id="rId61"/>
      <p:bold r:id="rId62"/>
      <p:italic r:id="rId63"/>
      <p:boldItalic r:id="rId64"/>
    </p:embeddedFont>
    <p:embeddedFont>
      <p:font typeface="Wingdings 3" panose="05040102010807070707" pitchFamily="18" charset="2"/>
      <p:regular r:id="rId65"/>
    </p:embeddedFont>
  </p:embeddedFontLst>
  <p:custDataLst>
    <p:tags r:id="rId6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006600"/>
    <a:srgbClr val="0E12BE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0" autoAdjust="0"/>
    <p:restoredTop sz="90909" autoAdjust="0"/>
  </p:normalViewPr>
  <p:slideViewPr>
    <p:cSldViewPr>
      <p:cViewPr varScale="1">
        <p:scale>
          <a:sx n="61" d="100"/>
          <a:sy n="61" d="100"/>
        </p:scale>
        <p:origin x="7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font" Target="fonts/font2.fntdata"/><Relationship Id="rId63" Type="http://schemas.openxmlformats.org/officeDocument/2006/relationships/font" Target="fonts/font18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tags" Target="tags/tag1.xml"/><Relationship Id="rId5" Type="http://schemas.openxmlformats.org/officeDocument/2006/relationships/slide" Target="slides/slide2.xml"/><Relationship Id="rId61" Type="http://schemas.openxmlformats.org/officeDocument/2006/relationships/font" Target="fonts/font1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font" Target="fonts/font19.fntdata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font" Target="fonts/font2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font" Target="fonts/font5.fntdata"/><Relationship Id="rId5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5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many ways to compute this. We will see other solutions later.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22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 sum </a:t>
            </a:r>
          </a:p>
          <a:p>
            <a:r>
              <a:rPr lang="en-US" dirty="0"/>
              <a:t>We could have also analyzed this in another way –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1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2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07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1/6/2021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1/6/2021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1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8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2:   </a:t>
            </a:r>
            <a:r>
              <a:rPr lang="en-US" sz="2800" i="1" dirty="0"/>
              <a:t>Nested loops and asymptotic time complexity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More examples: Nest loops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A23C-ADE1-4DE1-87EB-8B6AED5B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median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8A77-4BDC-4500-94B0-834ED21B658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Design an algorithm for the following problem</a:t>
                </a:r>
              </a:p>
              <a:p>
                <a:pPr lvl="1"/>
                <a:r>
                  <a:rPr lang="en-US" dirty="0"/>
                  <a:t>Input:     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 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minimizing the total absolute loss: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Recall from DSC40A</a:t>
                </a:r>
              </a:p>
              <a:p>
                <a:pPr lvl="1"/>
                <a:r>
                  <a:rPr lang="en-US" dirty="0"/>
                  <a:t>Solution: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700000"/>
                    </a:solidFill>
                  </a:rPr>
                  <a:t> </a:t>
                </a:r>
                <a:r>
                  <a:rPr lang="en-US" dirty="0"/>
                  <a:t>is a median of numbers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 err="1"/>
                  <a:t>i.e</a:t>
                </a:r>
                <a:r>
                  <a:rPr lang="en-US" dirty="0"/>
                  <a:t>,  the number whose order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(if sorted)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Question: </a:t>
                </a:r>
              </a:p>
              <a:p>
                <a:pPr lvl="1"/>
                <a:r>
                  <a:rPr lang="en-US" dirty="0"/>
                  <a:t>How to compute this median?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8A77-4BDC-4500-94B0-834ED21B6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89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B732-5BB4-4852-AB37-6F03D728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A5684A-B4E9-44E5-9A6B-7DEFF74AEDC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Idea: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dirty="0"/>
                  <a:t>has to be one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compute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return the one whose loss is smallest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A5684A-B4E9-44E5-9A6B-7DEFF74AE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48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5C23-0CBC-419E-BEC9-BB00BB50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DD57F-F3DD-434D-92EF-A9F94B0ABE3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5638800" cy="5029200"/>
              </a:xfrm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def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E12BE"/>
                    </a:solidFill>
                  </a:rPr>
                  <a:t>median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):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min_h</a:t>
                </a:r>
                <a:r>
                  <a:rPr lang="en-US" sz="2400" dirty="0"/>
                  <a:t> = </a:t>
                </a:r>
                <a:r>
                  <a:rPr lang="en-US" sz="2400" dirty="0">
                    <a:solidFill>
                      <a:srgbClr val="006600"/>
                    </a:solidFill>
                    <a:latin typeface="Arial Narrow" panose="020B0606020202030204" pitchFamily="34" charset="0"/>
                  </a:rPr>
                  <a:t>None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min_value</a:t>
                </a:r>
                <a:r>
                  <a:rPr lang="en-US" sz="2400" dirty="0"/>
                  <a:t> = </a:t>
                </a:r>
                <a:r>
                  <a:rPr lang="en-US" sz="2400" dirty="0">
                    <a:solidFill>
                      <a:srgbClr val="006600"/>
                    </a:solidFill>
                  </a:rPr>
                  <a:t>float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C00000"/>
                    </a:solidFill>
                  </a:rPr>
                  <a:t>'inf’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for</a:t>
                </a:r>
                <a:r>
                  <a:rPr lang="en-US" sz="2400" dirty="0"/>
                  <a:t> h </a:t>
                </a:r>
                <a:r>
                  <a:rPr lang="en-US" sz="2400" dirty="0">
                    <a:solidFill>
                      <a:srgbClr val="7030A0"/>
                    </a:solidFill>
                  </a:rPr>
                  <a:t>in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</a:t>
                </a:r>
                <a:r>
                  <a:rPr lang="en-US" sz="2400" dirty="0" err="1"/>
                  <a:t>total_abs_loss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= 0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      for</a:t>
                </a:r>
                <a:r>
                  <a:rPr lang="en-US" sz="2400" dirty="0"/>
                  <a:t> x </a:t>
                </a:r>
                <a:r>
                  <a:rPr lang="en-US" sz="2400" dirty="0">
                    <a:solidFill>
                      <a:srgbClr val="7030A0"/>
                    </a:solidFill>
                  </a:rPr>
                  <a:t>in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	</a:t>
                </a:r>
                <a:r>
                  <a:rPr lang="en-US" sz="2400" dirty="0" err="1"/>
                  <a:t>total_abs_loss</a:t>
                </a:r>
                <a:r>
                  <a:rPr lang="en-US" sz="2400" dirty="0"/>
                  <a:t> += </a:t>
                </a:r>
                <a:r>
                  <a:rPr lang="en-US" sz="2400" dirty="0">
                    <a:solidFill>
                      <a:srgbClr val="006600"/>
                    </a:solidFill>
                  </a:rPr>
                  <a:t>abs</a:t>
                </a:r>
                <a:r>
                  <a:rPr lang="en-US" sz="2400" dirty="0"/>
                  <a:t>(x - h)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      if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total_abs_loss</a:t>
                </a:r>
                <a:r>
                  <a:rPr lang="en-US" sz="2400" dirty="0"/>
                  <a:t> &lt; </a:t>
                </a:r>
                <a:r>
                  <a:rPr lang="en-US" sz="2400" dirty="0" err="1"/>
                  <a:t>min_value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	</a:t>
                </a:r>
                <a:r>
                  <a:rPr lang="en-US" sz="2400" dirty="0" err="1"/>
                  <a:t>min_value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total_abs_loss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:r>
                  <a:rPr lang="en-US" sz="2400" dirty="0" err="1"/>
                  <a:t>min_h</a:t>
                </a:r>
                <a:r>
                  <a:rPr lang="en-US" sz="2400" dirty="0"/>
                  <a:t> = h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return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min_h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DD57F-F3DD-434D-92EF-A9F94B0AB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5638800" cy="5029200"/>
              </a:xfrm>
              <a:blipFill>
                <a:blip r:embed="rId2"/>
                <a:stretch>
                  <a:fillRect l="-1509" t="-845"/>
                </a:stretch>
              </a:blipFill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B4AF2A3-E28B-42AD-8398-F643B577D03E}"/>
              </a:ext>
            </a:extLst>
          </p:cNvPr>
          <p:cNvSpPr/>
          <p:nvPr/>
        </p:nvSpPr>
        <p:spPr>
          <a:xfrm>
            <a:off x="6019800" y="13716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Inner-for loop: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7F1F7C-2B3D-43FD-9090-495FFC9309AA}"/>
              </a:ext>
            </a:extLst>
          </p:cNvPr>
          <p:cNvSpPr/>
          <p:nvPr/>
        </p:nvSpPr>
        <p:spPr>
          <a:xfrm>
            <a:off x="6019800" y="34290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Outer-for loop: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EE2C2-986F-49D3-8C14-90A000B6D0F8}"/>
              </a:ext>
            </a:extLst>
          </p:cNvPr>
          <p:cNvSpPr/>
          <p:nvPr/>
        </p:nvSpPr>
        <p:spPr>
          <a:xfrm>
            <a:off x="6017172" y="52578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Total: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649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5C23-0CBC-419E-BEC9-BB00BB50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DD57F-F3DD-434D-92EF-A9F94B0ABE3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5638800" cy="5029200"/>
              </a:xfrm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def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E12BE"/>
                    </a:solidFill>
                  </a:rPr>
                  <a:t>median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):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min_h</a:t>
                </a:r>
                <a:r>
                  <a:rPr lang="en-US" sz="2400" dirty="0"/>
                  <a:t> = </a:t>
                </a:r>
                <a:r>
                  <a:rPr lang="en-US" sz="2400" dirty="0">
                    <a:solidFill>
                      <a:srgbClr val="006600"/>
                    </a:solidFill>
                    <a:latin typeface="Arial Narrow" panose="020B0606020202030204" pitchFamily="34" charset="0"/>
                  </a:rPr>
                  <a:t>None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min_value</a:t>
                </a:r>
                <a:r>
                  <a:rPr lang="en-US" sz="2400" dirty="0"/>
                  <a:t> = </a:t>
                </a:r>
                <a:r>
                  <a:rPr lang="en-US" sz="2400" dirty="0">
                    <a:solidFill>
                      <a:srgbClr val="006600"/>
                    </a:solidFill>
                  </a:rPr>
                  <a:t>float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C00000"/>
                    </a:solidFill>
                  </a:rPr>
                  <a:t>'inf’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for</a:t>
                </a:r>
                <a:r>
                  <a:rPr lang="en-US" sz="2400" dirty="0"/>
                  <a:t> h </a:t>
                </a:r>
                <a:r>
                  <a:rPr lang="en-US" sz="2400" dirty="0">
                    <a:solidFill>
                      <a:srgbClr val="7030A0"/>
                    </a:solidFill>
                  </a:rPr>
                  <a:t>in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</a:t>
                </a:r>
                <a:r>
                  <a:rPr lang="en-US" sz="2400" dirty="0" err="1"/>
                  <a:t>total_abs_loss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= 0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      for</a:t>
                </a:r>
                <a:r>
                  <a:rPr lang="en-US" sz="2400" dirty="0"/>
                  <a:t> x </a:t>
                </a:r>
                <a:r>
                  <a:rPr lang="en-US" sz="2400" dirty="0">
                    <a:solidFill>
                      <a:srgbClr val="7030A0"/>
                    </a:solidFill>
                  </a:rPr>
                  <a:t>in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	</a:t>
                </a:r>
                <a:r>
                  <a:rPr lang="en-US" sz="2400" dirty="0" err="1"/>
                  <a:t>total_abs_loss</a:t>
                </a:r>
                <a:r>
                  <a:rPr lang="en-US" sz="2400" dirty="0"/>
                  <a:t> += </a:t>
                </a:r>
                <a:r>
                  <a:rPr lang="en-US" sz="2400" dirty="0">
                    <a:solidFill>
                      <a:srgbClr val="006600"/>
                    </a:solidFill>
                  </a:rPr>
                  <a:t>abs</a:t>
                </a:r>
                <a:r>
                  <a:rPr lang="en-US" sz="2400" dirty="0"/>
                  <a:t>(x - h)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      if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total_abs_loss</a:t>
                </a:r>
                <a:r>
                  <a:rPr lang="en-US" sz="2400" dirty="0"/>
                  <a:t> &lt; </a:t>
                </a:r>
                <a:r>
                  <a:rPr lang="en-US" sz="2400" dirty="0" err="1"/>
                  <a:t>min_value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	</a:t>
                </a:r>
                <a:r>
                  <a:rPr lang="en-US" sz="2400" dirty="0" err="1"/>
                  <a:t>min_value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total_abs_loss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:r>
                  <a:rPr lang="en-US" sz="2400" dirty="0" err="1"/>
                  <a:t>min_h</a:t>
                </a:r>
                <a:r>
                  <a:rPr lang="en-US" sz="2400" dirty="0"/>
                  <a:t> = h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6600"/>
                    </a:solidFill>
                  </a:rPr>
                  <a:t>	return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min_h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DD57F-F3DD-434D-92EF-A9F94B0AB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5638800" cy="5029200"/>
              </a:xfrm>
              <a:blipFill>
                <a:blip r:embed="rId2"/>
                <a:stretch>
                  <a:fillRect l="-1509" t="-845"/>
                </a:stretch>
              </a:blipFill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9023B-EB56-4D0C-9EE8-11FDFB602657}"/>
                  </a:ext>
                </a:extLst>
              </p:cNvPr>
              <p:cNvSpPr/>
              <p:nvPr/>
            </p:nvSpPr>
            <p:spPr>
              <a:xfrm>
                <a:off x="6477000" y="1868214"/>
                <a:ext cx="21336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9023B-EB56-4D0C-9EE8-11FDFB602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868214"/>
                <a:ext cx="2133600" cy="990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33345C0-F5EE-4AA1-927D-05BCA68978FF}"/>
              </a:ext>
            </a:extLst>
          </p:cNvPr>
          <p:cNvSpPr/>
          <p:nvPr/>
        </p:nvSpPr>
        <p:spPr>
          <a:xfrm>
            <a:off x="6477000" y="3657600"/>
            <a:ext cx="21336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We will see how to do better later in class. </a:t>
            </a:r>
          </a:p>
        </p:txBody>
      </p:sp>
    </p:spTree>
    <p:extLst>
      <p:ext uri="{BB962C8B-B14F-4D97-AF65-F5344CB8AC3E}">
        <p14:creationId xmlns:p14="http://schemas.microsoft.com/office/powerpoint/2010/main" val="225600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51D7-4D93-4ADB-9066-1D68FCFC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39B098-47A4-4DBE-8305-DE6C2332087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0"/>
              </a:xfrm>
            </p:spPr>
            <p:txBody>
              <a:bodyPr/>
              <a:lstStyle/>
              <a:p>
                <a:r>
                  <a:rPr lang="en-US" dirty="0"/>
                  <a:t>Not all nested loop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39B098-47A4-4DBE-8305-DE6C23320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0"/>
              </a:xfrm>
              <a:blipFill>
                <a:blip r:embed="rId2"/>
                <a:stretch>
                  <a:fillRect l="-667" t="-1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BFEA240-5E78-4B7F-861E-2BCEB7D4FF0E}"/>
              </a:ext>
            </a:extLst>
          </p:cNvPr>
          <p:cNvSpPr txBox="1"/>
          <p:nvPr/>
        </p:nvSpPr>
        <p:spPr>
          <a:xfrm>
            <a:off x="685800" y="2066835"/>
            <a:ext cx="4419600" cy="1569660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def </a:t>
            </a:r>
            <a:r>
              <a:rPr lang="en-US" sz="2400" b="0" i="0" u="none" strike="noStrike" baseline="0" dirty="0">
                <a:solidFill>
                  <a:srgbClr val="0000FF"/>
                </a:solidFill>
                <a:latin typeface="FiraMono-Regular-Identity-H"/>
              </a:rPr>
              <a:t>foo_1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(n):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        for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x </a:t>
            </a:r>
            <a:r>
              <a:rPr lang="en-US" sz="2400" b="0" i="0" u="none" strike="noStrike" baseline="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(n):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        	for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y </a:t>
            </a:r>
            <a:r>
              <a:rPr lang="en-US" sz="2400" b="0" i="0" u="none" strike="noStrike" baseline="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</a:t>
            </a:r>
            <a:r>
              <a:rPr lang="en-US" sz="2400" b="0" i="0" u="none" strike="noStrike" baseline="0" dirty="0">
                <a:latin typeface="FiraMono-Regular-Identity-H"/>
              </a:rPr>
              <a:t>n, n+10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):</a:t>
            </a:r>
          </a:p>
          <a:p>
            <a:pPr algn="l"/>
            <a:r>
              <a:rPr lang="en-US" sz="2400" dirty="0">
                <a:solidFill>
                  <a:srgbClr val="008000"/>
                </a:solidFill>
                <a:latin typeface="FiraMono-Regular-Identity-H"/>
              </a:rPr>
              <a:t>        	     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print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(x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+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y)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D5712-B9BD-4D92-9372-E379710CBC3B}"/>
              </a:ext>
            </a:extLst>
          </p:cNvPr>
          <p:cNvSpPr txBox="1"/>
          <p:nvPr/>
        </p:nvSpPr>
        <p:spPr>
          <a:xfrm>
            <a:off x="685800" y="4032354"/>
            <a:ext cx="4419600" cy="1569660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def </a:t>
            </a:r>
            <a:r>
              <a:rPr lang="en-US" sz="2400" b="0" i="0" u="none" strike="noStrike" baseline="0" dirty="0">
                <a:solidFill>
                  <a:srgbClr val="0000FF"/>
                </a:solidFill>
                <a:latin typeface="FiraMono-Regular-Identity-H"/>
              </a:rPr>
              <a:t>foo_2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(n):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        for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x </a:t>
            </a:r>
            <a:r>
              <a:rPr lang="en-US" sz="2400" b="0" i="0" u="none" strike="noStrike" baseline="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(n):</a:t>
            </a:r>
          </a:p>
          <a:p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        	for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y </a:t>
            </a:r>
            <a:r>
              <a:rPr lang="en-US" sz="2400" b="0" i="0" u="none" strike="noStrike" baseline="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</a:t>
            </a:r>
            <a:r>
              <a:rPr lang="en-US" sz="2400" b="0" i="0" u="none" strike="noStrike" baseline="0" dirty="0">
                <a:latin typeface="FiraMono-Regular-Identity-H"/>
              </a:rPr>
              <a:t>n, 2n</a:t>
            </a:r>
            <a:r>
              <a:rPr lang="en-US" sz="2400" dirty="0">
                <a:latin typeface="FiraMono-Regular-Identity-H"/>
              </a:rPr>
              <a:t>-10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):</a:t>
            </a:r>
          </a:p>
          <a:p>
            <a:pPr algn="l"/>
            <a:r>
              <a:rPr lang="en-US" sz="2400" dirty="0">
                <a:solidFill>
                  <a:srgbClr val="008000"/>
                </a:solidFill>
                <a:latin typeface="FiraMono-Regular-Identity-H"/>
              </a:rPr>
              <a:t>        	     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print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(x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+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y)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73D05D-2578-417C-BD40-89B6E02A088E}"/>
                  </a:ext>
                </a:extLst>
              </p:cNvPr>
              <p:cNvSpPr/>
              <p:nvPr/>
            </p:nvSpPr>
            <p:spPr>
              <a:xfrm>
                <a:off x="5486400" y="2356365"/>
                <a:ext cx="21336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73D05D-2578-417C-BD40-89B6E02A0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356365"/>
                <a:ext cx="2133600" cy="990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3477E7-F02B-477E-AC52-AACCB2704336}"/>
                  </a:ext>
                </a:extLst>
              </p:cNvPr>
              <p:cNvSpPr/>
              <p:nvPr/>
            </p:nvSpPr>
            <p:spPr>
              <a:xfrm>
                <a:off x="5489028" y="4267200"/>
                <a:ext cx="21336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3477E7-F02B-477E-AC52-AACCB2704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28" y="4267200"/>
                <a:ext cx="2133600" cy="990600"/>
              </a:xfrm>
              <a:prstGeom prst="rect">
                <a:avLst/>
              </a:prstGeom>
              <a:blipFill>
                <a:blip r:embed="rId4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17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DB23-F538-4028-B874-D09B5A5C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D7467-5DF9-4B8C-A30E-74B383FC190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242243"/>
                <a:ext cx="8229600" cy="5013838"/>
              </a:xfrm>
            </p:spPr>
            <p:txBody>
              <a:bodyPr/>
              <a:lstStyle/>
              <a:p>
                <a:r>
                  <a:rPr lang="en-US" sz="2400" dirty="0"/>
                  <a:t>Alex is given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sticks.  He needs to design an algorithm to compute the tallest pole he can make by stacking two sticks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8"/>
                <a:endParaRPr lang="en-US" sz="1000" dirty="0"/>
              </a:p>
              <a:p>
                <a:r>
                  <a:rPr lang="en-US" sz="2400" dirty="0"/>
                  <a:t>How many times does line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5−7</m:t>
                    </m:r>
                  </m:oMath>
                </a14:m>
                <a:r>
                  <a:rPr lang="en-US" sz="2400" dirty="0"/>
                  <a:t> (inner body) run?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D7467-5DF9-4B8C-A30E-74B383FC19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242243"/>
                <a:ext cx="8229600" cy="5013838"/>
              </a:xfrm>
              <a:blipFill>
                <a:blip r:embed="rId2"/>
                <a:stretch>
                  <a:fillRect l="-519" t="-973" b="-2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6163AD-8AF8-4AC8-9C71-FEEB685E4FF1}"/>
              </a:ext>
            </a:extLst>
          </p:cNvPr>
          <p:cNvSpPr txBox="1"/>
          <p:nvPr/>
        </p:nvSpPr>
        <p:spPr>
          <a:xfrm>
            <a:off x="152400" y="2230766"/>
            <a:ext cx="4419600" cy="3416320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def </a:t>
            </a:r>
            <a:r>
              <a:rPr lang="en-US" sz="2400" dirty="0" err="1">
                <a:solidFill>
                  <a:srgbClr val="0000FF"/>
                </a:solidFill>
                <a:latin typeface="FiraMono-Regular-Identity-H"/>
              </a:rPr>
              <a:t>tallest_pole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(heights):</a:t>
            </a:r>
          </a:p>
          <a:p>
            <a:r>
              <a:rPr lang="en-US" sz="2000" dirty="0">
                <a:latin typeface="FiraMono-Regular-Identity-H"/>
              </a:rPr>
              <a:t>1.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  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max_height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= -</a:t>
            </a: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(</a:t>
            </a:r>
            <a:r>
              <a:rPr lang="en-US" sz="2400" dirty="0">
                <a:solidFill>
                  <a:srgbClr val="C00000"/>
                </a:solidFill>
                <a:latin typeface="FiraMono-Regular-Identity-H"/>
              </a:rPr>
              <a:t>‘inf’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)</a:t>
            </a:r>
            <a:endParaRPr lang="en-US" dirty="0"/>
          </a:p>
          <a:p>
            <a:r>
              <a:rPr lang="en-US" sz="2000" b="0" i="0" u="none" strike="noStrike" dirty="0">
                <a:solidFill>
                  <a:srgbClr val="000000"/>
                </a:solidFill>
                <a:latin typeface="FiraMono-Regular-Identity-H"/>
              </a:rPr>
              <a:t>2.</a:t>
            </a:r>
            <a:r>
              <a:rPr lang="en-US" sz="2400" b="0" i="0" u="none" strike="noStrike" dirty="0">
                <a:solidFill>
                  <a:srgbClr val="000000"/>
                </a:solidFill>
                <a:latin typeface="FiraMono-Regular-Identity-H"/>
              </a:rPr>
              <a:t>    n = </a:t>
            </a:r>
            <a:r>
              <a:rPr lang="en-US" sz="2400" dirty="0" err="1">
                <a:solidFill>
                  <a:srgbClr val="008000"/>
                </a:solidFill>
                <a:latin typeface="FiraMono-Medium-Identity-H"/>
              </a:rPr>
              <a:t>len</a:t>
            </a:r>
            <a:r>
              <a:rPr lang="en-US" sz="2400" b="0" i="0" u="none" strike="noStrike" dirty="0">
                <a:solidFill>
                  <a:srgbClr val="000000"/>
                </a:solidFill>
                <a:latin typeface="FiraMono-Regular-Identity-H"/>
              </a:rPr>
              <a:t>(heights)</a:t>
            </a:r>
            <a:endParaRPr lang="en-US" sz="2400" dirty="0">
              <a:solidFill>
                <a:srgbClr val="000000"/>
              </a:solidFill>
              <a:latin typeface="FiraMono-Regular-Identity-H"/>
            </a:endParaRPr>
          </a:p>
          <a:p>
            <a:pPr algn="l"/>
            <a:r>
              <a:rPr lang="en-US" sz="2000" b="0" i="0" u="none" strike="noStrike" baseline="0" dirty="0">
                <a:latin typeface="FiraMono-Medium-Identity-H"/>
              </a:rPr>
              <a:t>3.</a:t>
            </a:r>
            <a:r>
              <a:rPr lang="en-US" sz="2400" b="0" i="0" u="none" strike="noStrike" baseline="0" dirty="0">
                <a:latin typeface="FiraMono-Medium-Identity-H"/>
              </a:rPr>
              <a:t>   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for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b="0" i="0" u="none" strike="noStrike" baseline="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(n):</a:t>
            </a:r>
          </a:p>
          <a:p>
            <a:pPr algn="l"/>
            <a:r>
              <a:rPr lang="en-US" sz="2000" b="0" i="0" u="none" strike="noStrike" baseline="0" dirty="0">
                <a:latin typeface="FiraMono-Medium-Identity-H"/>
              </a:rPr>
              <a:t>4.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Medium-Identity-H"/>
              </a:rPr>
              <a:t>        for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j </a:t>
            </a:r>
            <a:r>
              <a:rPr lang="en-US" sz="2400" b="0" i="0" u="none" strike="noStrike" baseline="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b="0" i="0" u="none" strike="noStrike" baseline="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</a:t>
            </a:r>
            <a:r>
              <a:rPr lang="en-US" sz="2400" b="0" i="0" u="none" strike="noStrike" baseline="0" dirty="0">
                <a:latin typeface="FiraMono-Regular-Identity-H"/>
              </a:rPr>
              <a:t>i+1, 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):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FiraMono-Regular-Identity-H"/>
              </a:rPr>
              <a:t>5.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           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h = heights[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] + heights[j]</a:t>
            </a:r>
          </a:p>
          <a:p>
            <a:r>
              <a:rPr lang="en-US" sz="2000" dirty="0">
                <a:solidFill>
                  <a:srgbClr val="000000"/>
                </a:solidFill>
                <a:latin typeface="FiraMono-Regular-Identity-H"/>
              </a:rPr>
              <a:t>6.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            </a:t>
            </a: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if </a:t>
            </a:r>
            <a:r>
              <a:rPr lang="en-US" sz="2400" dirty="0">
                <a:latin typeface="FiraMono-Medium-Identity-H"/>
              </a:rPr>
              <a:t>h &gt; </a:t>
            </a:r>
            <a:r>
              <a:rPr lang="en-US" sz="2400" dirty="0" err="1">
                <a:latin typeface="FiraMono-Medium-Identity-H"/>
              </a:rPr>
              <a:t>max_height</a:t>
            </a:r>
            <a:endParaRPr lang="en-US" sz="2400" dirty="0"/>
          </a:p>
          <a:p>
            <a:r>
              <a:rPr lang="en-US" sz="2000" b="0" i="0" u="none" strike="noStrike" dirty="0">
                <a:solidFill>
                  <a:srgbClr val="000000"/>
                </a:solidFill>
                <a:latin typeface="FiraMono-Regular-Identity-H"/>
              </a:rPr>
              <a:t>7.</a:t>
            </a:r>
            <a:r>
              <a:rPr lang="en-US" sz="2400" b="0" i="0" u="none" strike="noStrike" dirty="0">
                <a:solidFill>
                  <a:srgbClr val="000000"/>
                </a:solidFill>
                <a:latin typeface="FiraMono-Regular-Identity-H"/>
              </a:rPr>
              <a:t>    	       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FiraMono-Regular-Identity-H"/>
              </a:rPr>
              <a:t>max_height</a:t>
            </a:r>
            <a:r>
              <a:rPr lang="en-US" sz="2400" b="0" i="0" u="none" strike="noStrike" dirty="0">
                <a:solidFill>
                  <a:srgbClr val="000000"/>
                </a:solidFill>
                <a:latin typeface="FiraMono-Regular-Identity-H"/>
              </a:rPr>
              <a:t> = h</a:t>
            </a:r>
          </a:p>
          <a:p>
            <a:r>
              <a:rPr lang="en-US" sz="2000" dirty="0">
                <a:solidFill>
                  <a:srgbClr val="000000"/>
                </a:solidFill>
                <a:latin typeface="FiraMono-Regular-Identity-H"/>
              </a:rPr>
              <a:t>8.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   </a:t>
            </a: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max_height</a:t>
            </a:r>
            <a:endParaRPr lang="en-US" sz="2400" b="0" i="0" u="none" strike="noStrike" baseline="0" dirty="0">
              <a:solidFill>
                <a:srgbClr val="000000"/>
              </a:solidFill>
              <a:latin typeface="FiraMono-Regular-Identity-H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0A7B8-D67A-4158-AD24-0D0CEC5496A1}"/>
              </a:ext>
            </a:extLst>
          </p:cNvPr>
          <p:cNvSpPr txBox="1"/>
          <p:nvPr/>
        </p:nvSpPr>
        <p:spPr>
          <a:xfrm>
            <a:off x="4572000" y="2438400"/>
            <a:ext cx="4419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On outer iter.#1, inner body runs ____ times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1E246-BDC5-4DFB-90B5-F7073807DCD0}"/>
              </a:ext>
            </a:extLst>
          </p:cNvPr>
          <p:cNvSpPr txBox="1"/>
          <p:nvPr/>
        </p:nvSpPr>
        <p:spPr>
          <a:xfrm>
            <a:off x="4572000" y="2792343"/>
            <a:ext cx="4419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On outer iter.#2, inner body runs ____ times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FF48B-E8A8-4B89-9891-1E06EB0100D3}"/>
              </a:ext>
            </a:extLst>
          </p:cNvPr>
          <p:cNvSpPr txBox="1"/>
          <p:nvPr/>
        </p:nvSpPr>
        <p:spPr>
          <a:xfrm>
            <a:off x="4564118" y="3151257"/>
            <a:ext cx="4419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On outer iter.#3, inner body runs ____ times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CA1CB-25E7-4691-AA18-972104A3AF57}"/>
              </a:ext>
            </a:extLst>
          </p:cNvPr>
          <p:cNvSpPr txBox="1"/>
          <p:nvPr/>
        </p:nvSpPr>
        <p:spPr>
          <a:xfrm>
            <a:off x="4572000" y="3989457"/>
            <a:ext cx="4419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On outer </a:t>
            </a:r>
            <a:r>
              <a:rPr lang="en-US" sz="1700" dirty="0" err="1"/>
              <a:t>iter</a:t>
            </a:r>
            <a:r>
              <a:rPr lang="en-US" sz="1700" dirty="0"/>
              <a:t>.#n, inner body runs ____ times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82B3F2-52F3-439C-8A29-BE294878F6DF}"/>
              </a:ext>
            </a:extLst>
          </p:cNvPr>
          <p:cNvSpPr/>
          <p:nvPr/>
        </p:nvSpPr>
        <p:spPr>
          <a:xfrm>
            <a:off x="5410200" y="3505200"/>
            <a:ext cx="76200" cy="9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D968EB-88B0-4416-BA0A-22120D860ABD}"/>
              </a:ext>
            </a:extLst>
          </p:cNvPr>
          <p:cNvSpPr/>
          <p:nvPr/>
        </p:nvSpPr>
        <p:spPr>
          <a:xfrm>
            <a:off x="5410200" y="3657600"/>
            <a:ext cx="76200" cy="9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22083D-8155-4C7C-850B-AD8B224BB8D7}"/>
              </a:ext>
            </a:extLst>
          </p:cNvPr>
          <p:cNvSpPr/>
          <p:nvPr/>
        </p:nvSpPr>
        <p:spPr>
          <a:xfrm>
            <a:off x="5410200" y="3870838"/>
            <a:ext cx="76200" cy="9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423868B-B7A4-4DA6-B398-7CA338FE4BA6}"/>
                  </a:ext>
                </a:extLst>
              </p:cNvPr>
              <p:cNvSpPr/>
              <p:nvPr/>
            </p:nvSpPr>
            <p:spPr>
              <a:xfrm>
                <a:off x="4724400" y="4556436"/>
                <a:ext cx="41148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For the k-</a:t>
                </a:r>
                <a:r>
                  <a:rPr lang="en-US" dirty="0" err="1"/>
                  <a:t>th</a:t>
                </a:r>
                <a:r>
                  <a:rPr lang="en-US" dirty="0"/>
                  <a:t> iteration of outer loop, the inner loop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423868B-B7A4-4DA6-B398-7CA338FE4B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556436"/>
                <a:ext cx="41148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0" grpId="0"/>
      <p:bldP spid="11" grpId="0" animBg="1"/>
      <p:bldP spid="12" grpId="0" animBg="1"/>
      <p:bldP spid="1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7A64F-C047-4EA5-81A7-DE128144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Tallest_pole</a:t>
            </a:r>
            <a:r>
              <a:rPr lang="en-US" dirty="0"/>
              <a:t>, cont.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23BB2-CBAA-4E74-9A6E-A38CC06C18C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Total times line 5-7 (inner body) is executed: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100" dirty="0"/>
              </a:p>
              <a:p>
                <a:r>
                  <a:rPr lang="en-US" dirty="0"/>
                  <a:t>Algorithm </a:t>
                </a:r>
                <a:r>
                  <a:rPr lang="en-US" sz="2800" dirty="0" err="1">
                    <a:solidFill>
                      <a:srgbClr val="0000FF"/>
                    </a:solidFill>
                    <a:latin typeface="FiraMono-Regular-Identity-H"/>
                  </a:rPr>
                  <a:t>tallest_pole</a:t>
                </a:r>
                <a:r>
                  <a:rPr lang="en-US" sz="2800" dirty="0">
                    <a:solidFill>
                      <a:srgbClr val="0000FF"/>
                    </a:solidFill>
                    <a:latin typeface="FiraMono-Regular-Identity-H"/>
                  </a:rPr>
                  <a:t> </a:t>
                </a:r>
                <a:r>
                  <a:rPr lang="en-US" sz="2800" dirty="0">
                    <a:latin typeface="FiraMono-Regular-Identity-H"/>
                  </a:rPr>
                  <a:t>has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Another way to see the time complexity:</a:t>
                </a:r>
              </a:p>
              <a:p>
                <a:pPr lvl="1"/>
                <a:r>
                  <a:rPr lang="en-US" dirty="0"/>
                  <a:t>Number of pairs of n objects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23BB2-CBAA-4E74-9A6E-A38CC06C1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85A2457-F3FC-4166-A1CA-090D582B3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2" y="1752600"/>
            <a:ext cx="7023538" cy="22206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832DA4-D4FA-4AC4-BBAF-CA5CB33160DE}"/>
              </a:ext>
            </a:extLst>
          </p:cNvPr>
          <p:cNvSpPr/>
          <p:nvPr/>
        </p:nvSpPr>
        <p:spPr>
          <a:xfrm>
            <a:off x="838200" y="5791200"/>
            <a:ext cx="7239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Exercise:   </a:t>
            </a:r>
            <a:r>
              <a:rPr lang="en-US" sz="2200" dirty="0"/>
              <a:t>Find a linear-time algorithm for this problem. </a:t>
            </a:r>
          </a:p>
        </p:txBody>
      </p:sp>
    </p:spTree>
    <p:extLst>
      <p:ext uri="{BB962C8B-B14F-4D97-AF65-F5344CB8AC3E}">
        <p14:creationId xmlns:p14="http://schemas.microsoft.com/office/powerpoint/2010/main" val="338282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Linear vs quadratic growth</a:t>
            </a:r>
          </a:p>
        </p:txBody>
      </p:sp>
    </p:spTree>
    <p:extLst>
      <p:ext uri="{BB962C8B-B14F-4D97-AF65-F5344CB8AC3E}">
        <p14:creationId xmlns:p14="http://schemas.microsoft.com/office/powerpoint/2010/main" val="2362406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A9FC-2AD7-4D0D-88D1-2FE352CB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C8760-A48B-437B-BFA0-911A4BF91C2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0" y="1937384"/>
                <a:ext cx="4114800" cy="421957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means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grows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”</a:t>
                </a:r>
              </a:p>
              <a:p>
                <a:pPr lvl="1"/>
                <a:r>
                  <a:rPr lang="en-US" dirty="0"/>
                  <a:t>linear growth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means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grows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”</a:t>
                </a:r>
              </a:p>
              <a:p>
                <a:pPr lvl="1"/>
                <a:r>
                  <a:rPr lang="en-US" dirty="0"/>
                  <a:t>quadratic growth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C8760-A48B-437B-BFA0-911A4BF91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0" y="1937384"/>
                <a:ext cx="4114800" cy="4219576"/>
              </a:xfrm>
              <a:blipFill>
                <a:blip r:embed="rId2"/>
                <a:stretch>
                  <a:fillRect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2CEA78C-C285-41D7-9107-BFF58EAF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3" y="1752600"/>
            <a:ext cx="42862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40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CCAD-3AED-42A3-A810-E5E0F438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47871-A716-4BF2-84D5-8C2A3C72644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your algorithm runs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sec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points</a:t>
                </a:r>
              </a:p>
              <a:p>
                <a:endParaRPr lang="en-US" dirty="0"/>
              </a:p>
              <a:p>
                <a:r>
                  <a:rPr lang="en-US" dirty="0"/>
                  <a:t>Linear growth</a:t>
                </a:r>
              </a:p>
              <a:p>
                <a:pPr lvl="1"/>
                <a:r>
                  <a:rPr lang="en-US" dirty="0"/>
                  <a:t>If the input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en-US" dirty="0"/>
                  <a:t> points, then it 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dirty="0"/>
                  <a:t> seconds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8.3</m:t>
                    </m:r>
                  </m:oMath>
                </a14:m>
                <a:r>
                  <a:rPr lang="en-US" dirty="0"/>
                  <a:t> min)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Quadratic growth</a:t>
                </a:r>
              </a:p>
              <a:p>
                <a:pPr lvl="1"/>
                <a:r>
                  <a:rPr lang="en-US" dirty="0"/>
                  <a:t>If the input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en-US" dirty="0"/>
                  <a:t> points, then it will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50,000</m:t>
                    </m:r>
                  </m:oMath>
                </a14:m>
                <a:r>
                  <a:rPr lang="en-US" dirty="0"/>
                  <a:t> seconds (~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dirty="0"/>
                  <a:t> hours)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47871-A716-4BF2-84D5-8C2A3C7264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62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F257-2D60-4008-9B8C-379BE10D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growth 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1FA02-2225-413B-82BF-C48D51292FD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	    </a:t>
                </a:r>
                <a:r>
                  <a:rPr lang="en-US" dirty="0">
                    <a:solidFill>
                      <a:srgbClr val="0B0E8F"/>
                    </a:solidFill>
                  </a:rPr>
                  <a:t>constant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	    </a:t>
                </a:r>
                <a:r>
                  <a:rPr lang="en-US" dirty="0">
                    <a:solidFill>
                      <a:srgbClr val="0B0E8F"/>
                    </a:solidFill>
                  </a:rPr>
                  <a:t>logarithmic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	    </a:t>
                </a:r>
                <a:r>
                  <a:rPr lang="en-US" dirty="0">
                    <a:solidFill>
                      <a:srgbClr val="0B0E8F"/>
                    </a:solidFill>
                  </a:rPr>
                  <a:t>linear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  </a:t>
                </a:r>
                <a:r>
                  <a:rPr lang="en-US" dirty="0">
                    <a:solidFill>
                      <a:srgbClr val="0B0E8F"/>
                    </a:solidFill>
                  </a:rPr>
                  <a:t>linearithmic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dirty="0"/>
                  <a:t>	    </a:t>
                </a:r>
                <a:r>
                  <a:rPr lang="en-US" dirty="0">
                    <a:solidFill>
                      <a:srgbClr val="0B0E8F"/>
                    </a:solidFill>
                  </a:rPr>
                  <a:t>quadratic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dirty="0"/>
                  <a:t>	    </a:t>
                </a:r>
                <a:r>
                  <a:rPr lang="en-US" dirty="0">
                    <a:solidFill>
                      <a:srgbClr val="0B0E8F"/>
                    </a:solidFill>
                  </a:rPr>
                  <a:t>cubic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	    </a:t>
                </a:r>
                <a:r>
                  <a:rPr lang="en-US" dirty="0">
                    <a:solidFill>
                      <a:srgbClr val="0B0E8F"/>
                    </a:solidFill>
                  </a:rPr>
                  <a:t>exponential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1FA02-2225-413B-82BF-C48D51292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EAB0D3EA-C80B-45C5-94C6-43E9BFC863BE}"/>
              </a:ext>
            </a:extLst>
          </p:cNvPr>
          <p:cNvSpPr/>
          <p:nvPr/>
        </p:nvSpPr>
        <p:spPr>
          <a:xfrm>
            <a:off x="7162800" y="1371600"/>
            <a:ext cx="76200" cy="3276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7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Asymptotic notations</a:t>
            </a:r>
          </a:p>
        </p:txBody>
      </p:sp>
    </p:spTree>
    <p:extLst>
      <p:ext uri="{BB962C8B-B14F-4D97-AF65-F5344CB8AC3E}">
        <p14:creationId xmlns:p14="http://schemas.microsoft.com/office/powerpoint/2010/main" val="350840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F664-2643-48BC-92C3-FDDC2E7F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3182A-0962-4C73-9DFA-FD5EB8403E5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We have seen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allows us to ignore unnecessary details and focus on dominating terms of growth. </a:t>
                </a:r>
              </a:p>
              <a:p>
                <a:pPr lvl="1"/>
                <a:r>
                  <a:rPr lang="en-US" dirty="0">
                    <a:solidFill>
                      <a:srgbClr val="006600"/>
                    </a:solidFill>
                  </a:rPr>
                  <a:t>Simpler, easier to analyze, and focus on key growth rate</a:t>
                </a:r>
              </a:p>
              <a:p>
                <a:pPr lvl="1"/>
                <a:r>
                  <a:rPr lang="en-US" dirty="0">
                    <a:solidFill>
                      <a:srgbClr val="700000"/>
                    </a:solidFill>
                  </a:rPr>
                  <a:t>What exactly are we ignoring?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Before we introduce this formally</a:t>
                </a:r>
              </a:p>
              <a:p>
                <a:pPr lvl="1"/>
                <a:r>
                  <a:rPr lang="en-US" dirty="0"/>
                  <a:t>First introduce big-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and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notations</a:t>
                </a:r>
              </a:p>
              <a:p>
                <a:pPr lvl="1"/>
                <a:r>
                  <a:rPr lang="en-US" dirty="0"/>
                  <a:t>Then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Intuitively, big-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and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“roughly” corresponds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≤, ≥, 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, respectively (</a:t>
                </a:r>
                <a:r>
                  <a:rPr lang="en-US" dirty="0" err="1"/>
                  <a:t>upto</a:t>
                </a:r>
                <a:r>
                  <a:rPr lang="en-US" dirty="0"/>
                  <a:t> constants)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3182A-0962-4C73-9DFA-FD5EB8403E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86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Big-O notation</a:t>
            </a:r>
          </a:p>
        </p:txBody>
      </p:sp>
    </p:spTree>
    <p:extLst>
      <p:ext uri="{BB962C8B-B14F-4D97-AF65-F5344CB8AC3E}">
        <p14:creationId xmlns:p14="http://schemas.microsoft.com/office/powerpoint/2010/main" val="870835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D70C-49D6-432E-A68A-AA948E20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Definition</a:t>
                </a:r>
              </a:p>
              <a:p>
                <a:pPr marL="0" indent="0"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are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such that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2"/>
                <a:stretch>
                  <a:fillRect l="-1181" t="-2121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99FD06-7F8D-4A04-8A1B-5CD00867E17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3423745"/>
                <a:ext cx="8229600" cy="2651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latin typeface="Cambria Math" panose="02040503050406030204" pitchFamily="18" charset="0"/>
                  </a:rPr>
                  <a:t>More precisely, should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</a:rPr>
                  <a:t>Intuitively,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means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grows at most as fast as 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(up to multiplicative constant factor)</a:t>
                </a:r>
              </a:p>
              <a:p>
                <a:pPr lvl="1"/>
                <a:r>
                  <a:rPr lang="en-US" sz="2000" dirty="0">
                    <a:latin typeface="Cambria Math" panose="02040503050406030204" pitchFamily="18" charset="0"/>
                  </a:rPr>
                  <a:t>We also say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is </a:t>
                </a:r>
                <a:r>
                  <a:rPr lang="en-US" sz="2000" dirty="0">
                    <a:solidFill>
                      <a:srgbClr val="700000"/>
                    </a:solidFill>
                    <a:latin typeface="Cambria Math" panose="02040503050406030204" pitchFamily="18" charset="0"/>
                  </a:rPr>
                  <a:t>an asymptotic upper bound</a:t>
                </a:r>
                <a:r>
                  <a:rPr lang="en-US" sz="2000" dirty="0">
                    <a:latin typeface="Cambria Math" panose="020405030504060302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in this case</a:t>
                </a:r>
              </a:p>
              <a:p>
                <a:pPr lvl="1"/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99FD06-7F8D-4A04-8A1B-5CD00867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3423745"/>
                <a:ext cx="8229600" cy="2651760"/>
              </a:xfrm>
              <a:prstGeom prst="rect">
                <a:avLst/>
              </a:prstGeom>
              <a:blipFill>
                <a:blip r:embed="rId3"/>
                <a:stretch>
                  <a:fillRect l="-519" t="-114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100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D70C-49D6-432E-A68A-AA948E20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Definition</a:t>
                </a:r>
              </a:p>
              <a:p>
                <a:pPr marL="0" indent="0"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are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such that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2"/>
                <a:stretch>
                  <a:fillRect l="-1181" t="-2121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88E4D0FD-8489-47D5-86BE-B57000AC3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434255"/>
            <a:ext cx="3243262" cy="2964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8345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AEE5-814E-428C-8833-6182542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EE6AB-1D01-4859-85F5-B487AC3F5DE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Proof: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+6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+8=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Proof: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EE6AB-1D01-4859-85F5-B487AC3F5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37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2F67-DE13-4195-9FC0-01725EA9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9BDC7-A319-4BB3-B9B6-10D38984DF3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+7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+3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+7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+3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9BDC7-A319-4BB3-B9B6-10D38984DF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346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74A0-8BC3-4501-85E0-39D3307C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useful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C79A1-36D5-457D-A292-98EFABBEB6B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Lemma [Upper Bound]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en-US" dirty="0"/>
                  <a:t> exists,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700000"/>
                    </a:solidFill>
                  </a:rPr>
                  <a:t>if and only if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a positive constant.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C79A1-36D5-457D-A292-98EFABBEB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blipFill>
                <a:blip r:embed="rId3"/>
                <a:stretch>
                  <a:fillRect l="-1182" t="-2047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CBF24D-6DC6-4469-9346-65F99510348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657600"/>
                <a:ext cx="8229600" cy="2057400"/>
              </a:xfrm>
              <a:prstGeom prst="rect">
                <a:avLst/>
              </a:prstGeom>
              <a:noFill/>
              <a:ln w="25400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Corollary [Upper Bound]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</m:e>
                    </m:func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. 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=+∞, </m:t>
                        </m:r>
                      </m:e>
                    </m:func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700000"/>
                    </a:solidFill>
                  </a:rPr>
                  <a:t>does not </a:t>
                </a:r>
                <a:r>
                  <a:rPr lang="en-US" dirty="0"/>
                  <a:t>hold.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CBF24D-6DC6-4469-9346-65F995103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657600"/>
                <a:ext cx="8229600" cy="2057400"/>
              </a:xfrm>
              <a:prstGeom prst="rect">
                <a:avLst/>
              </a:prstGeom>
              <a:blipFill>
                <a:blip r:embed="rId4"/>
                <a:stretch>
                  <a:fillRect l="-1182" t="-2047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00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2F67-DE13-4195-9FC0-01725EA9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9BDC7-A319-4BB3-B9B6-10D38984DF3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9BDC7-A319-4BB3-B9B6-10D38984DF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601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4AD14C-6D94-4048-8030-AF3B00C6AD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0" y="2590800"/>
                <a:ext cx="8229600" cy="990600"/>
              </a:xfrm>
            </p:spPr>
            <p:txBody>
              <a:bodyPr/>
              <a:lstStyle/>
              <a:p>
                <a:pPr algn="ctr"/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4AD14C-6D94-4048-8030-AF3B00C6A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0" y="2590800"/>
                <a:ext cx="8229600" cy="990600"/>
              </a:xfrm>
              <a:blipFill>
                <a:blip r:embed="rId2"/>
                <a:stretch>
                  <a:fillRect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623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Definition</a:t>
                </a:r>
              </a:p>
              <a:p>
                <a:pPr marL="0" indent="0"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are </a:t>
                </a:r>
                <a:r>
                  <a:rPr lang="en-US" dirty="0">
                    <a:solidFill>
                      <a:srgbClr val="700000"/>
                    </a:solidFill>
                  </a:rPr>
                  <a:t>positive</a:t>
                </a:r>
                <a:r>
                  <a:rPr lang="en-US" dirty="0"/>
                  <a:t>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such that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3"/>
                <a:stretch>
                  <a:fillRect l="-1181" t="-2121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99FD06-7F8D-4A04-8A1B-5CD00867E17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3423745"/>
                <a:ext cx="8229600" cy="2651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latin typeface="Cambria Math" panose="02040503050406030204" pitchFamily="18" charset="0"/>
                  </a:rPr>
                  <a:t>More precisely, should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</a:rPr>
                  <a:t>Intuitively,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means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grows at least as fast as 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(up to multiplicative constant factor)</a:t>
                </a:r>
              </a:p>
              <a:p>
                <a:pPr lvl="1"/>
                <a:r>
                  <a:rPr lang="en-US" sz="2000" dirty="0">
                    <a:latin typeface="Cambria Math" panose="02040503050406030204" pitchFamily="18" charset="0"/>
                  </a:rPr>
                  <a:t>We also say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is </a:t>
                </a:r>
                <a:r>
                  <a:rPr lang="en-US" sz="2000" dirty="0">
                    <a:solidFill>
                      <a:srgbClr val="700000"/>
                    </a:solidFill>
                    <a:latin typeface="Cambria Math" panose="02040503050406030204" pitchFamily="18" charset="0"/>
                  </a:rPr>
                  <a:t>an asymptotic lower bound</a:t>
                </a:r>
                <a:r>
                  <a:rPr lang="en-US" sz="2000" dirty="0">
                    <a:latin typeface="Cambria Math" panose="020405030504060302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in this case</a:t>
                </a:r>
              </a:p>
              <a:p>
                <a:pPr lvl="1"/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99FD06-7F8D-4A04-8A1B-5CD00867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3423745"/>
                <a:ext cx="8229600" cy="2651760"/>
              </a:xfrm>
              <a:prstGeom prst="rect">
                <a:avLst/>
              </a:prstGeom>
              <a:blipFill>
                <a:blip r:embed="rId4"/>
                <a:stretch>
                  <a:fillRect l="-519" t="-114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068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BBB7046A-5F9E-449F-A388-3FBDB5553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276600"/>
            <a:ext cx="3576637" cy="3256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B2713B-B741-4E90-97F6-FDFBD3C03A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9D7F6FE-986A-450C-8D6A-BFF1C1B8F4E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19200"/>
                <a:ext cx="8229600" cy="1981200"/>
              </a:xfrm>
              <a:prstGeom prst="rect">
                <a:avLst/>
              </a:prstGeom>
              <a:noFill/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Definition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are </a:t>
                </a:r>
                <a:r>
                  <a:rPr lang="en-US" dirty="0">
                    <a:solidFill>
                      <a:srgbClr val="700000"/>
                    </a:solidFill>
                  </a:rPr>
                  <a:t>positive</a:t>
                </a:r>
                <a:r>
                  <a:rPr lang="en-US" dirty="0"/>
                  <a:t>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such that for all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dirty="0"/>
              </a:p>
              <a:p>
                <a:pPr marL="0" indent="0">
                  <a:buFont typeface="Wingdings 3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9D7F6FE-986A-450C-8D6A-BFF1C1B8F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1981200"/>
              </a:xfrm>
              <a:prstGeom prst="rect">
                <a:avLst/>
              </a:prstGeom>
              <a:blipFill>
                <a:blip r:embed="rId4"/>
                <a:stretch>
                  <a:fillRect l="-1181" t="-2121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386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AEE5-814E-428C-8833-6182542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EE6AB-1D01-4859-85F5-B487AC3F5DE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95400"/>
                <a:ext cx="8229600" cy="493776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</a:t>
                </a:r>
              </a:p>
              <a:p>
                <a:r>
                  <a:rPr lang="en-US" dirty="0"/>
                  <a:t>Proof: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EE6AB-1D01-4859-85F5-B487AC3F5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95400"/>
                <a:ext cx="8229600" cy="4937760"/>
              </a:xfrm>
              <a:blipFill>
                <a:blip r:embed="rId2"/>
                <a:stretch>
                  <a:fillRect l="-66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392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74A0-8BC3-4501-85E0-39D3307C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useful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C79A1-36D5-457D-A292-98EFABBEB6B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Lemma [Lower Bound]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en-US" dirty="0"/>
                  <a:t> exists,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if and only if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rgbClr val="700000"/>
                    </a:solidFill>
                  </a:rPr>
                  <a:t>positive</a:t>
                </a:r>
                <a:r>
                  <a:rPr lang="en-US" dirty="0"/>
                  <a:t> constant.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C79A1-36D5-457D-A292-98EFABBEB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blipFill>
                <a:blip r:embed="rId3"/>
                <a:stretch>
                  <a:fillRect l="-1182" t="-2047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CBF24D-6DC6-4469-9346-65F99510348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657600"/>
                <a:ext cx="8229600" cy="2057400"/>
              </a:xfrm>
              <a:prstGeom prst="rect">
                <a:avLst/>
              </a:prstGeom>
              <a:noFill/>
              <a:ln w="25400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Corollary [Lower Bound]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=+∞, </m:t>
                        </m:r>
                      </m:e>
                    </m:func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. 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</m:e>
                    </m:func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cannot hold.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CBF24D-6DC6-4469-9346-65F995103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657600"/>
                <a:ext cx="8229600" cy="2057400"/>
              </a:xfrm>
              <a:prstGeom prst="rect">
                <a:avLst/>
              </a:prstGeom>
              <a:blipFill>
                <a:blip r:embed="rId4"/>
                <a:stretch>
                  <a:fillRect l="-1182" t="-2047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430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D2E-FB61-41E4-9A66-76BCFA9F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9829B2-C248-4E6E-A439-76FDCEB83CC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+6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+8=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+6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+8=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7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+3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1.5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9829B2-C248-4E6E-A439-76FDCEB83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001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4AD14C-6D94-4048-8030-AF3B00C6AD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0" y="2590800"/>
                <a:ext cx="8229600" cy="990600"/>
              </a:xfrm>
            </p:spPr>
            <p:txBody>
              <a:bodyPr/>
              <a:lstStyle/>
              <a:p>
                <a:pPr algn="ctr"/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4AD14C-6D94-4048-8030-AF3B00C6A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0" y="2590800"/>
                <a:ext cx="8229600" cy="990600"/>
              </a:xfrm>
              <a:blipFill>
                <a:blip r:embed="rId2"/>
                <a:stretch>
                  <a:fillRect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811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Definition</a:t>
                </a:r>
              </a:p>
              <a:p>
                <a:pPr marL="0" indent="0"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are </a:t>
                </a:r>
                <a:r>
                  <a:rPr lang="en-US" dirty="0">
                    <a:solidFill>
                      <a:srgbClr val="700000"/>
                    </a:solidFill>
                  </a:rPr>
                  <a:t>positive</a:t>
                </a:r>
                <a:r>
                  <a:rPr lang="en-US" dirty="0"/>
                  <a:t>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5742C-3318-4576-B00F-D4FE742E5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3"/>
                <a:stretch>
                  <a:fillRect l="-1181" t="-2121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99FD06-7F8D-4A04-8A1B-5CD00867E17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3423745"/>
                <a:ext cx="8229600" cy="2651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latin typeface="Cambria Math" panose="02040503050406030204" pitchFamily="18" charset="0"/>
                  </a:rPr>
                  <a:t>More precisely, should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</a:rPr>
                  <a:t>Intuitively,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means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grows like 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(up to multiplicative constant factor)</a:t>
                </a:r>
              </a:p>
              <a:p>
                <a:pPr lvl="1"/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99FD06-7F8D-4A04-8A1B-5CD00867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3423745"/>
                <a:ext cx="8229600" cy="2651760"/>
              </a:xfrm>
              <a:prstGeom prst="rect">
                <a:avLst/>
              </a:prstGeom>
              <a:blipFill>
                <a:blip r:embed="rId4"/>
                <a:stretch>
                  <a:fillRect l="-519" t="-114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232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3D70C-49D6-432E-A68A-AA948E20D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C1FF41F2-98DE-48FF-A5FD-2CEF27151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05200"/>
            <a:ext cx="3200400" cy="306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B6E779-C7F0-4D9A-9B63-243E422003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D0B0F72-B4B4-4C32-89D0-96CB6D21CD7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19200"/>
                <a:ext cx="8229600" cy="1981200"/>
              </a:xfrm>
              <a:prstGeom prst="rect">
                <a:avLst/>
              </a:prstGeom>
              <a:noFill/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Definition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are </a:t>
                </a:r>
                <a:r>
                  <a:rPr lang="en-US" dirty="0">
                    <a:solidFill>
                      <a:srgbClr val="700000"/>
                    </a:solidFill>
                  </a:rPr>
                  <a:t>positive</a:t>
                </a:r>
                <a:r>
                  <a:rPr lang="en-US" dirty="0"/>
                  <a:t>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for all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dirty="0"/>
              </a:p>
              <a:p>
                <a:pPr marL="0" indent="0">
                  <a:buFont typeface="Wingdings 3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D0B0F72-B4B4-4C32-89D0-96CB6D21C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1981200"/>
              </a:xfrm>
              <a:prstGeom prst="rect">
                <a:avLst/>
              </a:prstGeom>
              <a:blipFill>
                <a:blip r:embed="rId4"/>
                <a:stretch>
                  <a:fillRect l="-1181" t="-2121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750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74A0-8BC3-4501-85E0-39D3307C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useful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C79A1-36D5-457D-A292-98EFABBEB6B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382000" cy="2057400"/>
              </a:xfrm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Lemma [Big-Theta]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en-US" dirty="0"/>
                  <a:t> exists,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if and only if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dirty="0">
                    <a:solidFill>
                      <a:srgbClr val="700000"/>
                    </a:solidFill>
                  </a:rPr>
                  <a:t>positive</a:t>
                </a:r>
                <a:r>
                  <a:rPr lang="en-US" dirty="0"/>
                  <a:t> constants.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C79A1-36D5-457D-A292-98EFABBEB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382000" cy="2057400"/>
              </a:xfrm>
              <a:blipFill>
                <a:blip r:embed="rId3"/>
                <a:stretch>
                  <a:fillRect l="-1160" t="-2047" r="-1885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CBF24D-6DC6-4469-9346-65F99510348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657600"/>
                <a:ext cx="8382000" cy="2057400"/>
              </a:xfrm>
              <a:prstGeom prst="rect">
                <a:avLst/>
              </a:prstGeom>
              <a:noFill/>
              <a:ln w="25400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dirty="0">
                    <a:solidFill>
                      <a:srgbClr val="0B0E8F"/>
                    </a:solidFill>
                  </a:rPr>
                  <a:t>Corollary [Big-Theta]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func>
                  </m:oMath>
                </a14:m>
                <a:r>
                  <a:rPr lang="en-US" dirty="0"/>
                  <a:t> for some positive constant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.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7CBF24D-6DC6-4469-9346-65F995103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657600"/>
                <a:ext cx="8382000" cy="2057400"/>
              </a:xfrm>
              <a:prstGeom prst="rect">
                <a:avLst/>
              </a:prstGeom>
              <a:blipFill>
                <a:blip r:embed="rId4"/>
                <a:stretch>
                  <a:fillRect l="-1160" t="-2047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088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AEE5-814E-428C-8833-6182542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EE6AB-1D01-4859-85F5-B487AC3F5DE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Proof: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EE6AB-1D01-4859-85F5-B487AC3F5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79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263A-CB18-4A6C-95EB-26E08331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560782-D786-4CEA-B134-05421522599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+6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+8=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7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+3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1.5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?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560782-D786-4CEA-B134-054215225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762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summary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B83DCB-26B5-4A84-83A4-925BA9971CF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1434" y="1271752"/>
                <a:ext cx="6111766" cy="1547648"/>
              </a:xfrm>
              <a:prstGeom prst="rect">
                <a:avLst/>
              </a:prstGeom>
              <a:noFill/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sz="2400" dirty="0">
                    <a:solidFill>
                      <a:srgbClr val="0B0E8F"/>
                    </a:solidFill>
                  </a:rPr>
                  <a:t>Big-O (upper bounded)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sz="2000" dirty="0"/>
                  <a:t>We write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if there are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such that for all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sz="2000" dirty="0"/>
              </a:p>
              <a:p>
                <a:pPr marL="0" indent="0">
                  <a:buFont typeface="Wingdings 3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7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B83DCB-26B5-4A84-83A4-925BA9971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434" y="1271752"/>
                <a:ext cx="6111766" cy="1547648"/>
              </a:xfrm>
              <a:prstGeom prst="rect">
                <a:avLst/>
              </a:prstGeom>
              <a:blipFill>
                <a:blip r:embed="rId2"/>
                <a:stretch>
                  <a:fillRect l="-794" t="-2317" r="-1587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2DB9B88-3046-46DE-B0CA-3B1C7EE0656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179" y="3012528"/>
                <a:ext cx="6111766" cy="1547648"/>
              </a:xfrm>
              <a:prstGeom prst="rect">
                <a:avLst/>
              </a:prstGeom>
              <a:noFill/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sz="2400" dirty="0">
                    <a:solidFill>
                      <a:srgbClr val="0B0E8F"/>
                    </a:solidFill>
                  </a:rPr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dirty="0">
                    <a:solidFill>
                      <a:srgbClr val="0B0E8F"/>
                    </a:solidFill>
                  </a:rPr>
                  <a:t> (lower bounded)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sz="2000" dirty="0"/>
                  <a:t>We write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if there are </a:t>
                </a:r>
                <a:r>
                  <a:rPr lang="en-US" sz="2000" dirty="0">
                    <a:solidFill>
                      <a:srgbClr val="700000"/>
                    </a:solidFill>
                  </a:rPr>
                  <a:t>positive</a:t>
                </a:r>
                <a:r>
                  <a:rPr lang="en-US" sz="2000" dirty="0"/>
                  <a:t>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such that for all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sz="2000" dirty="0"/>
              </a:p>
              <a:p>
                <a:pPr marL="0" indent="0">
                  <a:buFont typeface="Wingdings 3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7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2DB9B88-3046-46DE-B0CA-3B1C7EE06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179" y="3012528"/>
                <a:ext cx="6111766" cy="1547648"/>
              </a:xfrm>
              <a:prstGeom prst="rect">
                <a:avLst/>
              </a:prstGeom>
              <a:blipFill>
                <a:blip r:embed="rId3"/>
                <a:stretch>
                  <a:fillRect l="-894" t="-2317" r="-1490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E6B983C-871E-4083-8963-2DD681AB4D2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179" y="4753304"/>
                <a:ext cx="6111766" cy="1547648"/>
              </a:xfrm>
              <a:prstGeom prst="rect">
                <a:avLst/>
              </a:prstGeom>
              <a:noFill/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sz="2400" dirty="0">
                    <a:solidFill>
                      <a:srgbClr val="0B0E8F"/>
                    </a:solidFill>
                  </a:rPr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400" dirty="0">
                    <a:solidFill>
                      <a:srgbClr val="0B0E8F"/>
                    </a:solidFill>
                  </a:rPr>
                  <a:t> (asymptoticly the same)</a:t>
                </a:r>
              </a:p>
              <a:p>
                <a:pPr marL="0" indent="0">
                  <a:buFont typeface="Wingdings 3" pitchFamily="18" charset="2"/>
                  <a:buNone/>
                </a:pPr>
                <a:r>
                  <a:rPr lang="en-US" sz="2000" dirty="0"/>
                  <a:t>We write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if there are </a:t>
                </a:r>
                <a:r>
                  <a:rPr lang="en-US" sz="2000" dirty="0">
                    <a:solidFill>
                      <a:srgbClr val="700000"/>
                    </a:solidFill>
                  </a:rPr>
                  <a:t>positive</a:t>
                </a:r>
                <a:r>
                  <a:rPr lang="en-US" sz="2000" dirty="0"/>
                  <a:t>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 for all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sz="2000" dirty="0"/>
              </a:p>
              <a:p>
                <a:pPr marL="0" indent="0">
                  <a:buFont typeface="Wingdings 3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solidFill>
                            <a:srgbClr val="7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rgbClr val="7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E6B983C-871E-4083-8963-2DD681AB4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179" y="4753304"/>
                <a:ext cx="6111766" cy="1547648"/>
              </a:xfrm>
              <a:prstGeom prst="rect">
                <a:avLst/>
              </a:prstGeom>
              <a:blipFill>
                <a:blip r:embed="rId4"/>
                <a:stretch>
                  <a:fillRect l="-894" t="-2317" r="-1390"/>
                </a:stretch>
              </a:blipFill>
              <a:ln w="28575">
                <a:solidFill>
                  <a:schemeClr val="accent1">
                    <a:shade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F9178D25-85CE-42C8-9320-5BA551844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615" y="4697062"/>
            <a:ext cx="1984870" cy="190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A2F8D35-E3A3-401A-9A51-20DC82B25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030" y="2902465"/>
            <a:ext cx="2082040" cy="18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279F9A5-E01E-461A-A9EE-F059A4390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285" y="1101024"/>
            <a:ext cx="2082041" cy="19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More on nested loops analysis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A138-29B3-438E-A762-83F482F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pseudo-code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1E8677B-B0DF-47F9-A178-FB7F4F6398F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828800"/>
            <a:ext cx="3695700" cy="3867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55A339-E592-4418-B782-B1D86C1EEAE2}"/>
              </a:ext>
            </a:extLst>
          </p:cNvPr>
          <p:cNvCxnSpPr/>
          <p:nvPr/>
        </p:nvCxnSpPr>
        <p:spPr>
          <a:xfrm>
            <a:off x="4495800" y="1981200"/>
            <a:ext cx="396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40D69C-3484-434E-AF65-7DAD7CA1C6E7}"/>
              </a:ext>
            </a:extLst>
          </p:cNvPr>
          <p:cNvCxnSpPr/>
          <p:nvPr/>
        </p:nvCxnSpPr>
        <p:spPr>
          <a:xfrm>
            <a:off x="5562600" y="1371600"/>
            <a:ext cx="0" cy="432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899042-4368-495C-9326-B5F1074F4CD8}"/>
              </a:ext>
            </a:extLst>
          </p:cNvPr>
          <p:cNvCxnSpPr/>
          <p:nvPr/>
        </p:nvCxnSpPr>
        <p:spPr>
          <a:xfrm>
            <a:off x="7010400" y="1371600"/>
            <a:ext cx="0" cy="432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F1488B-F23D-4E99-8464-3443B8A02A8E}"/>
              </a:ext>
            </a:extLst>
          </p:cNvPr>
          <p:cNvSpPr txBox="1"/>
          <p:nvPr/>
        </p:nvSpPr>
        <p:spPr>
          <a:xfrm>
            <a:off x="4423560" y="1567934"/>
            <a:ext cx="119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#iteration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D3D3B-767F-4263-868D-6446E05434CE}"/>
              </a:ext>
            </a:extLst>
          </p:cNvPr>
          <p:cNvSpPr txBox="1"/>
          <p:nvPr/>
        </p:nvSpPr>
        <p:spPr>
          <a:xfrm>
            <a:off x="5621723" y="1589901"/>
            <a:ext cx="119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of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61835-AFEF-4EC2-9518-EE87BBA9C66E}"/>
              </a:ext>
            </a:extLst>
          </p:cNvPr>
          <p:cNvSpPr txBox="1"/>
          <p:nvPr/>
        </p:nvSpPr>
        <p:spPr>
          <a:xfrm>
            <a:off x="7010400" y="1371600"/>
            <a:ext cx="174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of this iteration</a:t>
            </a:r>
          </a:p>
        </p:txBody>
      </p:sp>
    </p:spTree>
    <p:extLst>
      <p:ext uri="{BB962C8B-B14F-4D97-AF65-F5344CB8AC3E}">
        <p14:creationId xmlns:p14="http://schemas.microsoft.com/office/powerpoint/2010/main" val="1962741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A138-29B3-438E-A762-83F482F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second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1E8677B-B0DF-47F9-A178-FB7F4F6398F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3695700" cy="3867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55A339-E592-4418-B782-B1D86C1EEAE2}"/>
              </a:ext>
            </a:extLst>
          </p:cNvPr>
          <p:cNvCxnSpPr/>
          <p:nvPr/>
        </p:nvCxnSpPr>
        <p:spPr>
          <a:xfrm>
            <a:off x="4495800" y="1981200"/>
            <a:ext cx="396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40D69C-3484-434E-AF65-7DAD7CA1C6E7}"/>
              </a:ext>
            </a:extLst>
          </p:cNvPr>
          <p:cNvCxnSpPr/>
          <p:nvPr/>
        </p:nvCxnSpPr>
        <p:spPr>
          <a:xfrm>
            <a:off x="5562600" y="1371600"/>
            <a:ext cx="0" cy="432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899042-4368-495C-9326-B5F1074F4CD8}"/>
              </a:ext>
            </a:extLst>
          </p:cNvPr>
          <p:cNvCxnSpPr/>
          <p:nvPr/>
        </p:nvCxnSpPr>
        <p:spPr>
          <a:xfrm>
            <a:off x="7010400" y="1371600"/>
            <a:ext cx="0" cy="432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F1488B-F23D-4E99-8464-3443B8A02A8E}"/>
              </a:ext>
            </a:extLst>
          </p:cNvPr>
          <p:cNvSpPr txBox="1"/>
          <p:nvPr/>
        </p:nvSpPr>
        <p:spPr>
          <a:xfrm>
            <a:off x="4423560" y="1567934"/>
            <a:ext cx="119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#iteration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D3D3B-767F-4263-868D-6446E05434CE}"/>
              </a:ext>
            </a:extLst>
          </p:cNvPr>
          <p:cNvSpPr txBox="1"/>
          <p:nvPr/>
        </p:nvSpPr>
        <p:spPr>
          <a:xfrm>
            <a:off x="5621723" y="1589901"/>
            <a:ext cx="119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of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61835-AFEF-4EC2-9518-EE87BBA9C66E}"/>
              </a:ext>
            </a:extLst>
          </p:cNvPr>
          <p:cNvSpPr txBox="1"/>
          <p:nvPr/>
        </p:nvSpPr>
        <p:spPr>
          <a:xfrm>
            <a:off x="7010400" y="1371600"/>
            <a:ext cx="174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of this iteration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9E7B8BB-B0CC-4179-88DC-086F5C18E5CD}"/>
                  </a:ext>
                </a:extLst>
              </p:cNvPr>
              <p:cNvSpPr/>
              <p:nvPr/>
            </p:nvSpPr>
            <p:spPr>
              <a:xfrm>
                <a:off x="1981200" y="4191000"/>
                <a:ext cx="283464" cy="30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9E7B8BB-B0CC-4179-88DC-086F5C18E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191000"/>
                <a:ext cx="283464" cy="304800"/>
              </a:xfrm>
              <a:prstGeom prst="rect">
                <a:avLst/>
              </a:prstGeom>
              <a:blipFill>
                <a:blip r:embed="rId3"/>
                <a:stretch>
                  <a:fillRect l="-17021" b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14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A138-29B3-438E-A762-83F482F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third example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1B97E90-0034-41D8-BE95-B2B5AF2224B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60" y="1447800"/>
            <a:ext cx="4067175" cy="4533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549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A138-29B3-438E-A762-83F482F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third example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1B97E90-0034-41D8-BE95-B2B5AF2224B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60" y="1447800"/>
            <a:ext cx="4067175" cy="4533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73C60A3-0556-4B2B-ACD9-964C9C1646C8}"/>
                  </a:ext>
                </a:extLst>
              </p:cNvPr>
              <p:cNvSpPr/>
              <p:nvPr/>
            </p:nvSpPr>
            <p:spPr>
              <a:xfrm>
                <a:off x="2524991" y="3276600"/>
                <a:ext cx="207818" cy="30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73C60A3-0556-4B2B-ACD9-964C9C1646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991" y="3276600"/>
                <a:ext cx="207818" cy="304800"/>
              </a:xfrm>
              <a:prstGeom prst="rect">
                <a:avLst/>
              </a:prstGeom>
              <a:blipFill>
                <a:blip r:embed="rId3"/>
                <a:stretch>
                  <a:fillRect l="-38235" b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2405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8418196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21004</TotalTime>
  <Words>1848</Words>
  <Application>Microsoft Office PowerPoint</Application>
  <PresentationFormat>On-screen Show (4:3)</PresentationFormat>
  <Paragraphs>277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5" baseType="lpstr">
      <vt:lpstr>Arial Narrow</vt:lpstr>
      <vt:lpstr>Arial</vt:lpstr>
      <vt:lpstr>Wingdings 3</vt:lpstr>
      <vt:lpstr>FiraMono-Regular-Identity-H</vt:lpstr>
      <vt:lpstr>Calibri</vt:lpstr>
      <vt:lpstr>FiraMono-Medium-Identity-H</vt:lpstr>
      <vt:lpstr>Wingdings</vt:lpstr>
      <vt:lpstr>Bookman Old Style</vt:lpstr>
      <vt:lpstr>Calibri Light</vt:lpstr>
      <vt:lpstr>Gill Sans MT</vt:lpstr>
      <vt:lpstr>Cambria Math</vt:lpstr>
      <vt:lpstr>Origin</vt:lpstr>
      <vt:lpstr>1_Custom Design</vt:lpstr>
      <vt:lpstr>Custom Design</vt:lpstr>
      <vt:lpstr>DSC40B: Theoretical Foundations of Data Science II </vt:lpstr>
      <vt:lpstr>More examples: Nest loops</vt:lpstr>
      <vt:lpstr>The median problem</vt:lpstr>
      <vt:lpstr>One algorithm </vt:lpstr>
      <vt:lpstr>One algorithm </vt:lpstr>
      <vt:lpstr>One algorithm </vt:lpstr>
      <vt:lpstr>Caution! </vt:lpstr>
      <vt:lpstr>Another example</vt:lpstr>
      <vt:lpstr>Tallest_pole, cont. </vt:lpstr>
      <vt:lpstr>Linear vs quadratic growth</vt:lpstr>
      <vt:lpstr>Scaling</vt:lpstr>
      <vt:lpstr>PowerPoint Presentation</vt:lpstr>
      <vt:lpstr>Some common growth rates</vt:lpstr>
      <vt:lpstr>Asymptotic notations</vt:lpstr>
      <vt:lpstr>PowerPoint Presentation</vt:lpstr>
      <vt:lpstr>Big-O notation</vt:lpstr>
      <vt:lpstr>Big-O notation</vt:lpstr>
      <vt:lpstr>Big-O notation</vt:lpstr>
      <vt:lpstr>Examples</vt:lpstr>
      <vt:lpstr>More examples</vt:lpstr>
      <vt:lpstr>A useful result</vt:lpstr>
      <vt:lpstr>More examples</vt:lpstr>
      <vt:lpstr>Big-Ω notation</vt:lpstr>
      <vt:lpstr>Big-Ω notation</vt:lpstr>
      <vt:lpstr>Big-Ω notation</vt:lpstr>
      <vt:lpstr>Examples</vt:lpstr>
      <vt:lpstr>A useful result</vt:lpstr>
      <vt:lpstr>More Examples</vt:lpstr>
      <vt:lpstr>Big-Θ notation</vt:lpstr>
      <vt:lpstr>Big-Θ notation</vt:lpstr>
      <vt:lpstr>Big-Θ notation</vt:lpstr>
      <vt:lpstr>A useful result</vt:lpstr>
      <vt:lpstr>Examples</vt:lpstr>
      <vt:lpstr>More Examples</vt:lpstr>
      <vt:lpstr>In summary</vt:lpstr>
      <vt:lpstr>More on nested loops analysis</vt:lpstr>
      <vt:lpstr>A pseudo-code example</vt:lpstr>
      <vt:lpstr>A second example</vt:lpstr>
      <vt:lpstr>A third example</vt:lpstr>
      <vt:lpstr>A third example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1292</cp:revision>
  <dcterms:created xsi:type="dcterms:W3CDTF">2006-08-16T00:00:00Z</dcterms:created>
  <dcterms:modified xsi:type="dcterms:W3CDTF">2021-01-07T00:30:49Z</dcterms:modified>
</cp:coreProperties>
</file>