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32"/>
  </p:notesMasterIdLst>
  <p:sldIdLst>
    <p:sldId id="256" r:id="rId4"/>
    <p:sldId id="779" r:id="rId5"/>
    <p:sldId id="785" r:id="rId6"/>
    <p:sldId id="813" r:id="rId7"/>
    <p:sldId id="814" r:id="rId8"/>
    <p:sldId id="815" r:id="rId9"/>
    <p:sldId id="812" r:id="rId10"/>
    <p:sldId id="816" r:id="rId11"/>
    <p:sldId id="817" r:id="rId12"/>
    <p:sldId id="818" r:id="rId13"/>
    <p:sldId id="820" r:id="rId14"/>
    <p:sldId id="821" r:id="rId15"/>
    <p:sldId id="822" r:id="rId16"/>
    <p:sldId id="823" r:id="rId17"/>
    <p:sldId id="819" r:id="rId18"/>
    <p:sldId id="824" r:id="rId19"/>
    <p:sldId id="825" r:id="rId20"/>
    <p:sldId id="833" r:id="rId21"/>
    <p:sldId id="826" r:id="rId22"/>
    <p:sldId id="827" r:id="rId23"/>
    <p:sldId id="828" r:id="rId24"/>
    <p:sldId id="829" r:id="rId25"/>
    <p:sldId id="830" r:id="rId26"/>
    <p:sldId id="831" r:id="rId27"/>
    <p:sldId id="832" r:id="rId28"/>
    <p:sldId id="835" r:id="rId29"/>
    <p:sldId id="834" r:id="rId30"/>
    <p:sldId id="811" r:id="rId31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33"/>
      <p:bold r:id="rId34"/>
      <p:italic r:id="rId35"/>
      <p:boldItalic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mbria Math" panose="02040503050406030204" pitchFamily="18" charset="0"/>
      <p:regular r:id="rId43"/>
    </p:embeddedFont>
    <p:embeddedFont>
      <p:font typeface="Gill Sans MT" panose="020B0502020104020203" pitchFamily="34" charset="0"/>
      <p:regular r:id="rId44"/>
      <p:bold r:id="rId45"/>
      <p:italic r:id="rId46"/>
      <p:boldItalic r:id="rId47"/>
    </p:embeddedFont>
    <p:embeddedFont>
      <p:font typeface="Wingdings 3" panose="05040102010807070707" pitchFamily="18" charset="2"/>
      <p:regular r:id="rId48"/>
    </p:embeddedFont>
  </p:embeddedFontLst>
  <p:custDataLst>
    <p:tags r:id="rId4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E8F"/>
    <a:srgbClr val="700000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0909" autoAdjust="0"/>
  </p:normalViewPr>
  <p:slideViewPr>
    <p:cSldViewPr>
      <p:cViewPr varScale="1">
        <p:scale>
          <a:sx n="61" d="100"/>
          <a:sy n="61" d="100"/>
        </p:scale>
        <p:origin x="14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7.fntdata"/><Relationship Id="rId21" Type="http://schemas.openxmlformats.org/officeDocument/2006/relationships/slide" Target="slides/slide18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2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7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4.fntdata"/><Relationship Id="rId4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2/16/2021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2/16/2021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13:   </a:t>
            </a:r>
            <a:r>
              <a:rPr lang="en-US" sz="2800" i="1" dirty="0"/>
              <a:t>Depth-First Search (DFS)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40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Previously,  </a:t>
                </a:r>
                <a:r>
                  <a:rPr lang="en-US" sz="2400" dirty="0">
                    <a:solidFill>
                      <a:srgbClr val="0B0E8F"/>
                    </a:solidFill>
                  </a:rPr>
                  <a:t>Search strategy </a:t>
                </a:r>
                <a:r>
                  <a:rPr lang="en-US" sz="2400" dirty="0"/>
                  <a:t>: </a:t>
                </a:r>
                <a:r>
                  <a:rPr lang="en-US" sz="2000" dirty="0"/>
                  <a:t> </a:t>
                </a:r>
              </a:p>
              <a:p>
                <a:r>
                  <a:rPr lang="en-US" sz="2300" dirty="0"/>
                  <a:t>How to decide which is the next node to explore? </a:t>
                </a:r>
              </a:p>
              <a:p>
                <a:pPr lvl="1"/>
                <a:r>
                  <a:rPr lang="en-US" sz="2000" dirty="0">
                    <a:solidFill>
                      <a:srgbClr val="0B0E8F"/>
                    </a:solidFill>
                  </a:rPr>
                  <a:t>BFS (Breadth-first search): </a:t>
                </a:r>
              </a:p>
              <a:p>
                <a:pPr lvl="2"/>
                <a:r>
                  <a:rPr lang="en-US" sz="1800" dirty="0"/>
                  <a:t>choose the ``</a:t>
                </a:r>
                <a:r>
                  <a:rPr lang="en-US" sz="1800" dirty="0">
                    <a:solidFill>
                      <a:srgbClr val="C00000"/>
                    </a:solidFill>
                  </a:rPr>
                  <a:t>oldest</a:t>
                </a:r>
                <a:r>
                  <a:rPr lang="en-US" sz="1800" dirty="0"/>
                  <a:t>” pending node to explore and expand</a:t>
                </a:r>
              </a:p>
              <a:p>
                <a:pPr lvl="2"/>
                <a:r>
                  <a:rPr lang="en-US" sz="1800" dirty="0"/>
                  <a:t>consequently,  it explores as wide as possible before goes any ``deeper” (in terms of distance to the source) </a:t>
                </a:r>
              </a:p>
              <a:p>
                <a:pPr lvl="3"/>
                <a:r>
                  <a:rPr lang="en-US" sz="1800" dirty="0" err="1"/>
                  <a:t>i.e</a:t>
                </a:r>
                <a:r>
                  <a:rPr lang="en-US" sz="1800" dirty="0"/>
                  <a:t>, it visits all nodes at distance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to the source before moving to any node at distance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1800" dirty="0"/>
                  <a:t> from the source.  </a:t>
                </a:r>
              </a:p>
              <a:p>
                <a:pPr lvl="4"/>
                <a:endParaRPr lang="en-US" dirty="0"/>
              </a:p>
              <a:p>
                <a:r>
                  <a:rPr lang="en-US" sz="2400" dirty="0"/>
                  <a:t>Today:  </a:t>
                </a:r>
                <a:r>
                  <a:rPr lang="en-US" sz="2000" dirty="0">
                    <a:solidFill>
                      <a:srgbClr val="0B0E8F"/>
                    </a:solidFill>
                  </a:rPr>
                  <a:t>Depth-first search (DFS):</a:t>
                </a:r>
                <a:endParaRPr lang="en-US" dirty="0">
                  <a:solidFill>
                    <a:srgbClr val="0B0E8F"/>
                  </a:solidFill>
                </a:endParaRPr>
              </a:p>
              <a:p>
                <a:pPr lvl="1"/>
                <a:r>
                  <a:rPr lang="en-US" sz="2000" dirty="0"/>
                  <a:t>Choose the ``</a:t>
                </a:r>
                <a:r>
                  <a:rPr lang="en-US" sz="2000" dirty="0">
                    <a:solidFill>
                      <a:srgbClr val="C00000"/>
                    </a:solidFill>
                  </a:rPr>
                  <a:t>newest</a:t>
                </a:r>
                <a:r>
                  <a:rPr lang="en-US" sz="2000" dirty="0"/>
                  <a:t>” pending node to explore</a:t>
                </a:r>
              </a:p>
              <a:p>
                <a:pPr lvl="1"/>
                <a:r>
                  <a:rPr lang="en-US" sz="2000" dirty="0"/>
                  <a:t>Consequently, it will go as deep (farther away from source) as possible during exploration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DFS algorithm and time complexity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165EB-B832-46CB-A529-1EA366AB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(DFS)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FA441B-FF62-4217-BAAA-4264D5092A5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DFS(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 will perform depth-first search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starting from a graph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called the </a:t>
                </a:r>
                <a:r>
                  <a:rPr lang="en-US" i="1" dirty="0"/>
                  <a:t>source</a:t>
                </a:r>
                <a:r>
                  <a:rPr lang="en-US" dirty="0"/>
                  <a:t> node. </a:t>
                </a:r>
              </a:p>
              <a:p>
                <a:endParaRPr lang="en-US" sz="1200" dirty="0"/>
              </a:p>
              <a:p>
                <a:r>
                  <a:rPr lang="en-US" dirty="0"/>
                  <a:t>Idea: </a:t>
                </a:r>
              </a:p>
              <a:p>
                <a:pPr lvl="1"/>
                <a:r>
                  <a:rPr lang="en-US" dirty="0"/>
                  <a:t>All nodes are initialized as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, other than the source node, which is initialized as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(</a:t>
                </a:r>
                <a:r>
                  <a:rPr lang="en-US" dirty="0" err="1"/>
                  <a:t>i.e</a:t>
                </a:r>
                <a:r>
                  <a:rPr lang="en-US" dirty="0"/>
                  <a:t>, discovered, and to be processed) </a:t>
                </a:r>
              </a:p>
              <a:p>
                <a:pPr lvl="1"/>
                <a:r>
                  <a:rPr lang="en-US" dirty="0"/>
                  <a:t>At each step: </a:t>
                </a:r>
              </a:p>
              <a:p>
                <a:pPr lvl="2"/>
                <a:r>
                  <a:rPr lang="en-US" dirty="0"/>
                  <a:t>take the </a:t>
                </a:r>
                <a:r>
                  <a:rPr lang="en-US" dirty="0">
                    <a:solidFill>
                      <a:srgbClr val="0B0E8F"/>
                    </a:solidFill>
                  </a:rPr>
                  <a:t>newest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node to explore</a:t>
                </a:r>
              </a:p>
              <a:p>
                <a:pPr lvl="2"/>
                <a:r>
                  <a:rPr lang="en-US" i="1" dirty="0"/>
                  <a:t>explore all undiscovered nodes reachable from this node</a:t>
                </a:r>
                <a:endParaRPr lang="en-US" i="1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lvl="2"/>
                <a:r>
                  <a:rPr lang="en-US" dirty="0"/>
                  <a:t>then mark this node to be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Repeat till there is no more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nodes to explore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FA441B-FF62-4217-BAAA-4264D5092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185" b="-4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54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783CF-CCD1-46C3-A9D2-A061131B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47C39-B22D-4D96-B9A5-9B8DB02845E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be able to extract the “</a:t>
            </a:r>
            <a:r>
              <a:rPr lang="en-US" dirty="0">
                <a:solidFill>
                  <a:srgbClr val="0B0E8F"/>
                </a:solidFill>
              </a:rPr>
              <a:t>newest</a:t>
            </a:r>
            <a:r>
              <a:rPr lang="en-US" dirty="0"/>
              <a:t>” pending node</a:t>
            </a:r>
          </a:p>
          <a:p>
            <a:pPr lvl="1"/>
            <a:r>
              <a:rPr lang="en-US" dirty="0"/>
              <a:t>we need a standard </a:t>
            </a:r>
            <a:r>
              <a:rPr lang="en-US" dirty="0">
                <a:solidFill>
                  <a:srgbClr val="0B0E8F"/>
                </a:solidFill>
              </a:rPr>
              <a:t>stack</a:t>
            </a:r>
            <a:r>
              <a:rPr lang="en-US" dirty="0"/>
              <a:t> data structure to provide </a:t>
            </a:r>
            <a:r>
              <a:rPr lang="en-US" dirty="0">
                <a:solidFill>
                  <a:srgbClr val="0B0E8F"/>
                </a:solidFill>
              </a:rPr>
              <a:t>FILO (first-in-last-out)</a:t>
            </a:r>
          </a:p>
          <a:p>
            <a:pPr lvl="1"/>
            <a:endParaRPr lang="en-US" dirty="0"/>
          </a:p>
          <a:p>
            <a:r>
              <a:rPr lang="en-US" dirty="0"/>
              <a:t>In algorithm implementation, </a:t>
            </a:r>
          </a:p>
          <a:p>
            <a:pPr lvl="1"/>
            <a:r>
              <a:rPr lang="en-US" dirty="0"/>
              <a:t>we use </a:t>
            </a:r>
            <a:r>
              <a:rPr lang="en-US" dirty="0">
                <a:solidFill>
                  <a:srgbClr val="0B0E8F"/>
                </a:solidFill>
              </a:rPr>
              <a:t>recursive algorithm</a:t>
            </a:r>
            <a:r>
              <a:rPr lang="en-US" dirty="0"/>
              <a:t> to achieve this </a:t>
            </a:r>
            <a:r>
              <a:rPr lang="en-US" dirty="0">
                <a:solidFill>
                  <a:srgbClr val="0B0E8F"/>
                </a:solidFill>
              </a:rPr>
              <a:t>FILO/stack</a:t>
            </a:r>
            <a:r>
              <a:rPr lang="en-US" dirty="0"/>
              <a:t> idea implicitly</a:t>
            </a:r>
          </a:p>
        </p:txBody>
      </p:sp>
    </p:spTree>
    <p:extLst>
      <p:ext uri="{BB962C8B-B14F-4D97-AF65-F5344CB8AC3E}">
        <p14:creationId xmlns:p14="http://schemas.microsoft.com/office/powerpoint/2010/main" val="198112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12908-EC0A-4325-BB70-B2549322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3CC3B-DC84-4879-AA18-642DD5698A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D510D-52FD-4CF1-B9E4-E3E43AEE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39108"/>
            <a:ext cx="8458200" cy="34138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577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B507-DA68-4E03-905B-271E587E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F9B3E-66A4-4DC6-A4C8-19623F46A4E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000500"/>
                <a:ext cx="8229600" cy="2156460"/>
              </a:xfrm>
            </p:spPr>
            <p:txBody>
              <a:bodyPr/>
              <a:lstStyle/>
              <a:p>
                <a:r>
                  <a:rPr lang="en-US" dirty="0"/>
                  <a:t>Call </a:t>
                </a:r>
                <a:r>
                  <a:rPr lang="en-US" dirty="0" err="1">
                    <a:solidFill>
                      <a:srgbClr val="0070C0"/>
                    </a:solidFill>
                  </a:rPr>
                  <a:t>dfs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7F9B3E-66A4-4DC6-A4C8-19623F46A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000500"/>
                <a:ext cx="8229600" cy="2156460"/>
              </a:xfrm>
              <a:blipFill>
                <a:blip r:embed="rId2"/>
                <a:stretch>
                  <a:fillRect l="-667" t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1F422FE-364C-4D20-99E0-05A7930730E8}"/>
              </a:ext>
            </a:extLst>
          </p:cNvPr>
          <p:cNvGrpSpPr/>
          <p:nvPr/>
        </p:nvGrpSpPr>
        <p:grpSpPr>
          <a:xfrm>
            <a:off x="514350" y="1305910"/>
            <a:ext cx="5581650" cy="2552700"/>
            <a:chOff x="76200" y="1305910"/>
            <a:chExt cx="558165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FC245B-CDA4-4EDC-89FC-C189AFF1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C36F5CD-AE1D-44B8-8D07-1247B0662951}"/>
                    </a:ext>
                  </a:extLst>
                </p:cNvPr>
                <p:cNvSpPr txBox="1"/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C36F5CD-AE1D-44B8-8D07-1247B0662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blipFill>
                  <a:blip r:embed="rId4"/>
                  <a:stretch>
                    <a:fillRect b="-119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358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87A8-1070-4EE4-A81F-A0DA960B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4D9F7-F596-48E6-BC9E-09EFFE46754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DFS will visit all nodes reachable from the source node</a:t>
            </a:r>
          </a:p>
          <a:p>
            <a:pPr lvl="1"/>
            <a:r>
              <a:rPr lang="en-US" dirty="0"/>
              <a:t>If the input graph is connected, then it will visit all nodes in the same connected component as the source</a:t>
            </a:r>
          </a:p>
          <a:p>
            <a:r>
              <a:rPr lang="en-US" dirty="0"/>
              <a:t>To visit all nodes in a graph</a:t>
            </a:r>
          </a:p>
          <a:p>
            <a:pPr lvl="1"/>
            <a:r>
              <a:rPr lang="en-US" dirty="0"/>
              <a:t>Needs full-DFS </a:t>
            </a:r>
          </a:p>
          <a:p>
            <a:pPr lvl="2"/>
            <a:r>
              <a:rPr lang="en-US" dirty="0"/>
              <a:t>which requires we restart from undiscovered nodes.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4D9EF-334D-4501-AF53-C2F728431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150660"/>
            <a:ext cx="8534400" cy="14566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970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9B28-2BB9-4AA0-9835-2572ADD0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7B17-BA83-4CEC-8434-03F40E6D8E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E89F4-E62B-4183-9192-9571FC0E3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99597"/>
            <a:ext cx="8458199" cy="14436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AAA413-539B-45D6-9159-9DE720247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34508"/>
            <a:ext cx="8458200" cy="34138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578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083C-7549-42E5-AB67-0CB8EC97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150EB-17A9-422B-B491-30BF57E3910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(similar to BFS):  for full-DFS</a:t>
                </a:r>
              </a:p>
              <a:p>
                <a:pPr lvl="1"/>
                <a:r>
                  <a:rPr lang="en-US" dirty="0"/>
                  <a:t>Each node will be explored exactly once </a:t>
                </a:r>
              </a:p>
              <a:p>
                <a:pPr lvl="2"/>
                <a:r>
                  <a:rPr lang="en-US" dirty="0"/>
                  <a:t>Each edge will be traversed (visited) twice for undirected graphs</a:t>
                </a:r>
              </a:p>
              <a:p>
                <a:pPr lvl="2"/>
                <a:r>
                  <a:rPr lang="en-US" dirty="0"/>
                  <a:t>Each edge will be traversed (visited) once will for directed graphs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Hence total time complexity of full-DFS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150EB-17A9-422B-B491-30BF57E39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51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Nesting properties in DFS</a:t>
            </a:r>
          </a:p>
        </p:txBody>
      </p:sp>
    </p:spTree>
    <p:extLst>
      <p:ext uri="{BB962C8B-B14F-4D97-AF65-F5344CB8AC3E}">
        <p14:creationId xmlns:p14="http://schemas.microsoft.com/office/powerpoint/2010/main" val="1128314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5511-288B-44FC-9E3D-BED04BB8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79B4C-8EE8-4325-854A-8949963A17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Between marking a node as </a:t>
            </a:r>
            <a:r>
              <a:rPr lang="en-US" dirty="0">
                <a:solidFill>
                  <a:srgbClr val="FFC000"/>
                </a:solidFill>
              </a:rPr>
              <a:t>pending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, many other nodes are marked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pending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visited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FD58BA-F106-4854-87C4-6B6B66329580}"/>
              </a:ext>
            </a:extLst>
          </p:cNvPr>
          <p:cNvGrpSpPr/>
          <p:nvPr/>
        </p:nvGrpSpPr>
        <p:grpSpPr>
          <a:xfrm>
            <a:off x="609600" y="2819400"/>
            <a:ext cx="5581650" cy="2552700"/>
            <a:chOff x="76200" y="1305910"/>
            <a:chExt cx="558165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588D761-0C0E-4246-A30B-E1C652D6A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36592D5-02F8-4E30-AE53-BECE1F4C038F}"/>
                    </a:ext>
                  </a:extLst>
                </p:cNvPr>
                <p:cNvSpPr txBox="1"/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36592D5-02F8-4E30-AE53-BECE1F4C0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blipFill>
                  <a:blip r:embed="rId3"/>
                  <a:stretch>
                    <a:fillRect b="-130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555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5511-288B-44FC-9E3D-BED04BB8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and Finish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E79B4C-8EE8-4325-854A-8949963A178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node status changed</a:t>
                </a:r>
              </a:p>
              <a:p>
                <a:pPr lvl="1"/>
                <a:r>
                  <a:rPr lang="en-US" dirty="0"/>
                  <a:t>from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:  </a:t>
                </a:r>
              </a:p>
              <a:p>
                <a:pPr lvl="2"/>
                <a:r>
                  <a:rPr lang="en-US" dirty="0"/>
                  <a:t>first time this node is discovered </a:t>
                </a:r>
              </a:p>
              <a:p>
                <a:pPr lvl="1"/>
                <a:r>
                  <a:rPr lang="en-US" dirty="0"/>
                  <a:t>from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exploration of this node is finished</a:t>
                </a:r>
              </a:p>
              <a:p>
                <a:pPr lvl="2"/>
                <a:endParaRPr lang="en-US" sz="900" dirty="0"/>
              </a:p>
              <a:p>
                <a:r>
                  <a:rPr lang="en-US" dirty="0"/>
                  <a:t>Keep an integer running clock</a:t>
                </a:r>
              </a:p>
              <a:p>
                <a:r>
                  <a:rPr lang="en-US" dirty="0"/>
                  <a:t>For each node: 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Start time</a:t>
                </a:r>
                <a:r>
                  <a:rPr lang="en-US" dirty="0"/>
                  <a:t>:   status changes from </a:t>
                </a:r>
                <a:r>
                  <a:rPr lang="en-US" dirty="0">
                    <a:solidFill>
                      <a:srgbClr val="00B050"/>
                    </a:solidFill>
                  </a:rPr>
                  <a:t>undiscovered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</a:rPr>
                  <a:t>Finish time</a:t>
                </a:r>
                <a:r>
                  <a:rPr lang="en-US" dirty="0"/>
                  <a:t>:  status changes from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 to </a:t>
                </a:r>
                <a:r>
                  <a:rPr lang="en-US" dirty="0">
                    <a:solidFill>
                      <a:srgbClr val="C00000"/>
                    </a:solidFill>
                  </a:rPr>
                  <a:t>visited</a:t>
                </a:r>
              </a:p>
              <a:p>
                <a:r>
                  <a:rPr lang="en-US" dirty="0"/>
                  <a:t>Clock increments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whenever some node is marked </a:t>
                </a:r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pending</a:t>
                </a:r>
                <a:r>
                  <a:rPr lang="en-US" dirty="0"/>
                  <a:t>/</a:t>
                </a:r>
                <a:r>
                  <a:rPr lang="en-US" dirty="0">
                    <a:solidFill>
                      <a:srgbClr val="C00000"/>
                    </a:solidFill>
                  </a:rPr>
                  <a:t>visiting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E79B4C-8EE8-4325-854A-8949963A1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21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C0BA-806D-4242-8C1B-F0302937E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“Parent” (Predecessor)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50A36-F6CE-4DBB-95E5-AFA0ADC8BF5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 to BFS, for each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its </a:t>
                </a:r>
                <a:r>
                  <a:rPr lang="en-US" dirty="0">
                    <a:solidFill>
                      <a:srgbClr val="0070C0"/>
                    </a:solidFill>
                  </a:rPr>
                  <a:t>predecessor</a:t>
                </a:r>
                <a:r>
                  <a:rPr lang="en-US" dirty="0"/>
                  <a:t> is the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where through exploring edge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the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was first discovered (status changed to pending).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Collection of edges of the form (predecessor(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will give a tree</a:t>
                </a:r>
              </a:p>
              <a:p>
                <a:pPr lvl="1"/>
                <a:r>
                  <a:rPr lang="en-US" dirty="0"/>
                  <a:t>called </a:t>
                </a:r>
                <a:r>
                  <a:rPr lang="en-US" dirty="0">
                    <a:solidFill>
                      <a:srgbClr val="0070C0"/>
                    </a:solidFill>
                  </a:rPr>
                  <a:t>DFS-tree</a:t>
                </a:r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Predecessor(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is the parent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this DFS-tree.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A50A36-F6CE-4DBB-95E5-AFA0ADC8B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456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C140-EA98-4F06-B66B-A8A7744C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full_DFS_times</a:t>
            </a:r>
            <a:r>
              <a:rPr lang="en-US" dirty="0"/>
              <a:t>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D7949-EE3A-4EA3-84AF-BEFAEBAAE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73" y="1161393"/>
            <a:ext cx="3011805" cy="315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4D7250-373A-48C2-B302-0DAB3F9C6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9" y="1447800"/>
            <a:ext cx="1659731" cy="1020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56533-E33F-4F31-9520-6DF303AD9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41" y="2514600"/>
            <a:ext cx="5246370" cy="174879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AF9D9A-3AB1-4245-AD8C-B7F16E36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413" y="4374111"/>
            <a:ext cx="5043964" cy="23398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7014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5E161-017D-41E2-BB59-44F30B36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5A9C1-AEA4-4300-8CA5-4EF4391A505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CA9379-AFA8-48FA-95DE-6677A1C790EB}"/>
              </a:ext>
            </a:extLst>
          </p:cNvPr>
          <p:cNvGrpSpPr/>
          <p:nvPr/>
        </p:nvGrpSpPr>
        <p:grpSpPr>
          <a:xfrm>
            <a:off x="457200" y="1219200"/>
            <a:ext cx="5581650" cy="2552700"/>
            <a:chOff x="76200" y="1305910"/>
            <a:chExt cx="5581650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2A2FAE8-29A9-4E61-92EF-27A44AC337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B07592-1CA5-4AA2-9C9E-028844F1AEB9}"/>
                    </a:ext>
                  </a:extLst>
                </p:cNvPr>
                <p:cNvSpPr txBox="1"/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B07592-1CA5-4AA2-9C9E-028844F1A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" y="2209800"/>
                  <a:ext cx="609600" cy="513282"/>
                </a:xfrm>
                <a:prstGeom prst="rect">
                  <a:avLst/>
                </a:prstGeom>
                <a:blipFill>
                  <a:blip r:embed="rId3"/>
                  <a:stretch>
                    <a:fillRect b="-130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4738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FC0E-98D6-4048-9305-3610C50E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Property of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A304C-5DC1-4CF7-BCB8-4143152C406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75593" y="1164020"/>
                <a:ext cx="8229600" cy="2264979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Claim A: </a:t>
                </a:r>
              </a:p>
              <a:p>
                <a:r>
                  <a:rPr lang="en-US" dirty="0"/>
                  <a:t>Take any two nodes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Assume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</a:t>
                </a:r>
              </a:p>
              <a:p>
                <a:r>
                  <a:rPr lang="en-US" dirty="0"/>
                  <a:t>Exactly one of the following two is true:</a:t>
                </a:r>
              </a:p>
              <a:p>
                <a:pPr lvl="1"/>
                <a:r>
                  <a:rPr lang="en-US" dirty="0"/>
                  <a:t>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r>
                  <a:rPr lang="en-US" dirty="0"/>
                  <a:t>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A304C-5DC1-4CF7-BCB8-4143152C4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75593" y="1164020"/>
                <a:ext cx="8229600" cy="2264979"/>
              </a:xfrm>
              <a:blipFill>
                <a:blip r:embed="rId2"/>
                <a:stretch>
                  <a:fillRect l="-592" t="-2145" b="-5362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866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FC0E-98D6-4048-9305-3610C50E5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Property of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A304C-5DC1-4CF7-BCB8-4143152C406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46690" y="4388069"/>
                <a:ext cx="8229600" cy="990600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Claim B:  If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then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9A304C-5DC1-4CF7-BCB8-4143152C4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46690" y="4388069"/>
                <a:ext cx="8229600" cy="990600"/>
              </a:xfrm>
              <a:blipFill>
                <a:blip r:embed="rId2"/>
                <a:stretch>
                  <a:fillRect l="-592" t="-4878" b="-3659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1E73D3-75B3-4BEA-95F1-A8BC25253CD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6690" y="1447800"/>
                <a:ext cx="8229600" cy="23622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Take any two nodes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], meaning we visit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first. </a:t>
                </a:r>
              </a:p>
              <a:p>
                <a:pPr lvl="2"/>
                <a:r>
                  <a:rPr lang="en-US" dirty="0"/>
                  <a:t>then start[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start[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2"/>
                <a:r>
                  <a:rPr lang="en-US" dirty="0"/>
                  <a:t>Intuitively, when exploring a node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we will explore all reachable nodes from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(if they are not yet discovered) before we finish exploring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91E73D3-75B3-4BEA-95F1-A8BC25253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690" y="1447800"/>
                <a:ext cx="8229600" cy="2362200"/>
              </a:xfrm>
              <a:prstGeom prst="rect">
                <a:avLst/>
              </a:prstGeom>
              <a:blipFill>
                <a:blip r:embed="rId3"/>
                <a:stretch>
                  <a:fillRect l="-592" t="-2314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95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DAGs and topological sort</a:t>
            </a:r>
          </a:p>
        </p:txBody>
      </p:sp>
    </p:spTree>
    <p:extLst>
      <p:ext uri="{BB962C8B-B14F-4D97-AF65-F5344CB8AC3E}">
        <p14:creationId xmlns:p14="http://schemas.microsoft.com/office/powerpoint/2010/main" val="675720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4EB7-57BC-4831-9FFB-EB9322334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DBC13-1BEC-4A4C-8CCE-141CA91AE67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Is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reachable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Is a undirected graph connected? </a:t>
                </a:r>
              </a:p>
              <a:p>
                <a:r>
                  <a:rPr lang="en-US" dirty="0"/>
                  <a:t>How many connected components are there in a undirected graph? </a:t>
                </a:r>
              </a:p>
              <a:p>
                <a:r>
                  <a:rPr lang="en-US" dirty="0"/>
                  <a:t>Is the input graph a tree? </a:t>
                </a:r>
              </a:p>
              <a:p>
                <a:r>
                  <a:rPr lang="en-US" dirty="0"/>
                  <a:t>Find the shortest path to a source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? 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NO !</a:t>
                </a:r>
              </a:p>
              <a:p>
                <a:pPr lvl="1"/>
                <a:r>
                  <a:rPr 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Unlike BFS. </a:t>
                </a:r>
              </a:p>
              <a:p>
                <a:endPara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EDBC13-1BEC-4A4C-8CCE-141CA91AE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876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0C259-CBDF-48C3-A29C-022F0EBB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 graphs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DF9D7-B332-4584-B7C4-CFC0C7857C5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3657600"/>
                <a:ext cx="8229600" cy="2499360"/>
              </a:xfrm>
            </p:spPr>
            <p:txBody>
              <a:bodyPr/>
              <a:lstStyle/>
              <a:p>
                <a:r>
                  <a:rPr lang="en-US" dirty="0"/>
                  <a:t>Note that this graph is a directed graph</a:t>
                </a:r>
              </a:p>
              <a:p>
                <a:pPr lvl="1"/>
                <a:r>
                  <a:rPr lang="en-US" dirty="0"/>
                  <a:t>edge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) means that course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prerequisite for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Goal: </a:t>
                </a:r>
              </a:p>
              <a:p>
                <a:pPr lvl="1"/>
                <a:r>
                  <a:rPr lang="en-US" dirty="0"/>
                  <a:t>Find an ordering so as to take these classes satisfying all prerequisite requirements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ADF9D7-B332-4584-B7C4-CFC0C7857C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3657600"/>
                <a:ext cx="8229600" cy="2499360"/>
              </a:xfrm>
              <a:blipFill>
                <a:blip r:embed="rId2"/>
                <a:stretch>
                  <a:fillRect l="-667" t="-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EB7DFAD-651D-4103-8122-C466A2452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6400"/>
            <a:ext cx="6922294" cy="163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00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C7970-E181-4F18-896F-0F45898B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Graphs (DAGs)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A319-1590-4345-99F0-EC80BB33F33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directed cycle </a:t>
            </a:r>
            <a:r>
              <a:rPr lang="en-US" dirty="0"/>
              <a:t>is a (directed) path from a node to itself.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directed acyclic graph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DAG</a:t>
            </a:r>
            <a:r>
              <a:rPr lang="en-US" dirty="0"/>
              <a:t>) is a directed graph that does not contain any directed cycles 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895F19-75C9-4A41-87F2-5FED4F06CEF0}"/>
              </a:ext>
            </a:extLst>
          </p:cNvPr>
          <p:cNvGrpSpPr/>
          <p:nvPr/>
        </p:nvGrpSpPr>
        <p:grpSpPr>
          <a:xfrm>
            <a:off x="457199" y="2743200"/>
            <a:ext cx="4114801" cy="1752600"/>
            <a:chOff x="76199" y="1305910"/>
            <a:chExt cx="5581651" cy="25527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401083A-D71C-44BC-91CE-8CBE3552C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E85855-E5F1-4A40-8FC4-E4C3AD93AD5A}"/>
                    </a:ext>
                  </a:extLst>
                </p:cNvPr>
                <p:cNvSpPr txBox="1"/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E85855-E5F1-4A40-8FC4-E4C3AD93A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blipFill>
                  <a:blip r:embed="rId3"/>
                  <a:stretch>
                    <a:fillRect l="-2174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7C5B37A-8B33-4D71-A342-34973D6720BA}"/>
              </a:ext>
            </a:extLst>
          </p:cNvPr>
          <p:cNvSpPr txBox="1"/>
          <p:nvPr/>
        </p:nvSpPr>
        <p:spPr>
          <a:xfrm>
            <a:off x="5029200" y="3200400"/>
            <a:ext cx="16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Not a DAG! 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788906-80EA-4E06-98AD-811786938376}"/>
              </a:ext>
            </a:extLst>
          </p:cNvPr>
          <p:cNvGrpSpPr/>
          <p:nvPr/>
        </p:nvGrpSpPr>
        <p:grpSpPr>
          <a:xfrm>
            <a:off x="457200" y="4642348"/>
            <a:ext cx="7793421" cy="1406284"/>
            <a:chOff x="457200" y="4642348"/>
            <a:chExt cx="7793421" cy="140628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F09A274-4184-43EB-AA63-5E30620FC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" y="4642348"/>
              <a:ext cx="5950607" cy="140628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732EBE-5C2D-402C-B9AC-528561817AFB}"/>
                </a:ext>
              </a:extLst>
            </p:cNvPr>
            <p:cNvSpPr txBox="1"/>
            <p:nvPr/>
          </p:nvSpPr>
          <p:spPr>
            <a:xfrm>
              <a:off x="6650421" y="5238690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A DAG! 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525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D55D-7E5D-47DB-983B-979C8FEAD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DD255-3FF2-4CBC-A83D-D96C2860E69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DAG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 </a:t>
                </a:r>
                <a:r>
                  <a:rPr lang="en-US" dirty="0">
                    <a:solidFill>
                      <a:srgbClr val="0070C0"/>
                    </a:solidFill>
                  </a:rPr>
                  <a:t>topological sort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an ordering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such that for any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comes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this ordering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Topological sorts of the same DAG are not unique.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EDD255-3FF2-4CBC-A83D-D96C2860E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b="-4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A6EB604-6F4C-4C2A-8A6C-BC20BA785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819400"/>
            <a:ext cx="5569607" cy="1316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F72BA9-3A81-4883-8C1F-9681A858345F}"/>
              </a:ext>
            </a:extLst>
          </p:cNvPr>
          <p:cNvSpPr txBox="1"/>
          <p:nvPr/>
        </p:nvSpPr>
        <p:spPr>
          <a:xfrm>
            <a:off x="677917" y="4191000"/>
            <a:ext cx="7543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topological sort: </a:t>
            </a:r>
          </a:p>
          <a:p>
            <a:r>
              <a:rPr lang="en-US" dirty="0"/>
              <a:t>DSC10, Math18, DSC20, DSC40A, DSC30, DSC40B, DSC80, DSC151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79A2E-0264-4EF2-BE03-5150848A591E}"/>
              </a:ext>
            </a:extLst>
          </p:cNvPr>
          <p:cNvSpPr txBox="1"/>
          <p:nvPr/>
        </p:nvSpPr>
        <p:spPr>
          <a:xfrm>
            <a:off x="677917" y="4953000"/>
            <a:ext cx="7543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Another topological sort: </a:t>
            </a:r>
          </a:p>
          <a:p>
            <a:r>
              <a:rPr lang="en-US" dirty="0"/>
              <a:t>Math18, DSC10, DSC20, DSC30, DSC40A, DSC40B, DSC80, DSC151</a:t>
            </a:r>
          </a:p>
        </p:txBody>
      </p:sp>
    </p:spTree>
    <p:extLst>
      <p:ext uri="{BB962C8B-B14F-4D97-AF65-F5344CB8AC3E}">
        <p14:creationId xmlns:p14="http://schemas.microsoft.com/office/powerpoint/2010/main" val="2550801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1E10-1467-453B-9442-EAC80635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DAG?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BF5A11-F99E-45CD-826E-D2BEF8002FB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295400"/>
              </a:xfrm>
            </p:spPr>
            <p:txBody>
              <a:bodyPr/>
              <a:lstStyle/>
              <a:p>
                <a:r>
                  <a:rPr lang="en-US" dirty="0"/>
                  <a:t>Claim: </a:t>
                </a:r>
              </a:p>
              <a:p>
                <a:pPr lvl="1"/>
                <a:r>
                  <a:rPr lang="en-US" dirty="0"/>
                  <a:t>A 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admit a topological sort </a:t>
                </a:r>
                <a:r>
                  <a:rPr lang="en-US" dirty="0">
                    <a:solidFill>
                      <a:srgbClr val="C00000"/>
                    </a:solidFill>
                  </a:rPr>
                  <a:t>if and only 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DAG!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BF5A11-F99E-45CD-826E-D2BEF8002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295400"/>
              </a:xfrm>
              <a:blipFill>
                <a:blip r:embed="rId2"/>
                <a:stretch>
                  <a:fillRect l="-667" t="-4225" r="-1852" b="-6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3CBB00-F291-413C-92C4-806C5CFA314C}"/>
              </a:ext>
            </a:extLst>
          </p:cNvPr>
          <p:cNvSpPr txBox="1">
            <a:spLocks/>
          </p:cNvSpPr>
          <p:nvPr/>
        </p:nvSpPr>
        <p:spPr bwMode="auto">
          <a:xfrm>
            <a:off x="609600" y="3200400"/>
            <a:ext cx="3886200" cy="3048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Why?</a:t>
            </a:r>
          </a:p>
          <a:p>
            <a:pPr lvl="1"/>
            <a:r>
              <a:rPr lang="en-US" dirty="0"/>
              <a:t>If there is a cycle, then there is no valid ordering for nodes in that cycle!  </a:t>
            </a:r>
          </a:p>
          <a:p>
            <a:pPr lvl="1"/>
            <a:r>
              <a:rPr lang="en-US" dirty="0"/>
              <a:t>If it is a DAG, then we will give an algorithm to show we can compute topological sort. </a:t>
            </a:r>
          </a:p>
          <a:p>
            <a:pPr lvl="1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712227-9EF3-4033-8E94-71D1C069ACAC}"/>
              </a:ext>
            </a:extLst>
          </p:cNvPr>
          <p:cNvGrpSpPr/>
          <p:nvPr/>
        </p:nvGrpSpPr>
        <p:grpSpPr>
          <a:xfrm>
            <a:off x="4571999" y="3733800"/>
            <a:ext cx="4114801" cy="1752600"/>
            <a:chOff x="76199" y="1305910"/>
            <a:chExt cx="5581651" cy="25527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806C95-8B36-4BCB-BFA6-D227CD90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1305910"/>
              <a:ext cx="4819650" cy="25527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6E556ED-0CCC-493A-90E3-5C73BEB6A3DB}"/>
                    </a:ext>
                  </a:extLst>
                </p:cNvPr>
                <p:cNvSpPr txBox="1"/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/>
                    <a:t>: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BE85855-E5F1-4A40-8FC4-E4C3AD93A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99" y="2209800"/>
                  <a:ext cx="761999" cy="660004"/>
                </a:xfrm>
                <a:prstGeom prst="rect">
                  <a:avLst/>
                </a:prstGeom>
                <a:blipFill>
                  <a:blip r:embed="rId4"/>
                  <a:stretch>
                    <a:fillRect l="-2174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0136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EC4F-F992-4638-92B5-61C95A66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algorithm to compute topo-sort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6FEEE0-144D-4190-8709-AD56A32D0E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438400"/>
              </a:xfrm>
            </p:spPr>
            <p:txBody>
              <a:bodyPr/>
              <a:lstStyle/>
              <a:p>
                <a:r>
                  <a:rPr lang="en-US" dirty="0"/>
                  <a:t>Recall Claim B:  If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then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]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finish[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] </a:t>
                </a:r>
              </a:p>
              <a:p>
                <a:pPr lvl="1"/>
                <a:endParaRPr lang="en-US" sz="8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should come before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any topological sort. </a:t>
                </a:r>
              </a:p>
              <a:p>
                <a:r>
                  <a:rPr lang="en-US" dirty="0"/>
                  <a:t>So nodes with later </a:t>
                </a:r>
                <a:r>
                  <a:rPr lang="en-US" dirty="0">
                    <a:solidFill>
                      <a:srgbClr val="0070C0"/>
                    </a:solidFill>
                  </a:rPr>
                  <a:t>finish-time</a:t>
                </a:r>
                <a:r>
                  <a:rPr lang="en-US" dirty="0"/>
                  <a:t> should come first </a:t>
                </a:r>
              </a:p>
              <a:p>
                <a:endParaRPr lang="en-US" sz="80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6FEEE0-144D-4190-8709-AD56A32D0E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438400"/>
              </a:xfrm>
              <a:blipFill>
                <a:blip r:embed="rId2"/>
                <a:stretch>
                  <a:fillRect l="-667" t="-2250" b="-5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6EC10B9-A53C-424F-8B33-171958ACFEC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0924" y="3855194"/>
                <a:ext cx="8229600" cy="147880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Topo-sort Algorithm: </a:t>
                </a:r>
              </a:p>
              <a:p>
                <a:pPr lvl="1"/>
                <a:r>
                  <a:rPr lang="en-US" dirty="0"/>
                  <a:t>First perform DFS on input graph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 the order in decreasing order of </a:t>
                </a:r>
                <a:r>
                  <a:rPr lang="en-US" dirty="0">
                    <a:solidFill>
                      <a:srgbClr val="0070C0"/>
                    </a:solidFill>
                  </a:rPr>
                  <a:t>finish-time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6EC10B9-A53C-424F-8B33-171958ACF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924" y="3855194"/>
                <a:ext cx="8229600" cy="1478806"/>
              </a:xfrm>
              <a:prstGeom prst="rect">
                <a:avLst/>
              </a:prstGeom>
              <a:blipFill>
                <a:blip r:embed="rId3"/>
                <a:stretch>
                  <a:fillRect l="-592" t="-3265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0BE833-4AA9-497A-941D-2C5C9AFC8391}"/>
              </a:ext>
            </a:extLst>
          </p:cNvPr>
          <p:cNvSpPr txBox="1">
            <a:spLocks/>
          </p:cNvSpPr>
          <p:nvPr/>
        </p:nvSpPr>
        <p:spPr bwMode="auto">
          <a:xfrm>
            <a:off x="381000" y="5607794"/>
            <a:ext cx="8229600" cy="147880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complexity: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EAA47-EBC7-429E-B473-A198B3B1EAF4}"/>
                  </a:ext>
                </a:extLst>
              </p:cNvPr>
              <p:cNvSpPr txBox="1"/>
              <p:nvPr/>
            </p:nvSpPr>
            <p:spPr>
              <a:xfrm>
                <a:off x="3266090" y="5670726"/>
                <a:ext cx="2971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EAA47-EBC7-429E-B473-A198B3B1E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090" y="5670726"/>
                <a:ext cx="297180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48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779F-2602-44B4-B239-83E3D144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E09E-0DCA-4AAA-9B7D-77D3F26AFB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There are many other ways to compute a topological sort for a DAG in the same time complexity, without using DFS. </a:t>
            </a:r>
          </a:p>
        </p:txBody>
      </p:sp>
    </p:spTree>
    <p:extLst>
      <p:ext uri="{BB962C8B-B14F-4D97-AF65-F5344CB8AC3E}">
        <p14:creationId xmlns:p14="http://schemas.microsoft.com/office/powerpoint/2010/main" val="3604419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D274-5D1B-4B47-AD9A-20913BB23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0313-5FA4-406C-AA44-ADCCC47DD0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DFS: </a:t>
            </a:r>
          </a:p>
          <a:p>
            <a:pPr lvl="1"/>
            <a:r>
              <a:rPr lang="en-US" dirty="0"/>
              <a:t>Yet another graph search strategy </a:t>
            </a:r>
          </a:p>
          <a:p>
            <a:pPr lvl="1"/>
            <a:r>
              <a:rPr lang="en-US" dirty="0"/>
              <a:t>Similarly to BFS, as a graph search strategy, can help solve many problems, such as checking for connectivity, reachability, finding a path and so on.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But has some different properties as BFS</a:t>
            </a:r>
          </a:p>
          <a:p>
            <a:pPr lvl="2"/>
            <a:r>
              <a:rPr lang="en-US" dirty="0"/>
              <a:t>BFS: useful for finding shortest path to the source</a:t>
            </a:r>
          </a:p>
          <a:p>
            <a:pPr lvl="2"/>
            <a:r>
              <a:rPr lang="en-US" dirty="0"/>
              <a:t>DFS: has nesting properties in terms of start/finish times. </a:t>
            </a:r>
          </a:p>
          <a:p>
            <a:pPr lvl="3"/>
            <a:r>
              <a:rPr lang="en-US" dirty="0"/>
              <a:t>An application: Topological sort in DAG </a:t>
            </a:r>
          </a:p>
        </p:txBody>
      </p:sp>
    </p:spTree>
    <p:extLst>
      <p:ext uri="{BB962C8B-B14F-4D97-AF65-F5344CB8AC3E}">
        <p14:creationId xmlns:p14="http://schemas.microsoft.com/office/powerpoint/2010/main" val="3256102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21053</TotalTime>
  <Words>1229</Words>
  <Application>Microsoft Office PowerPoint</Application>
  <PresentationFormat>On-screen Show (4:3)</PresentationFormat>
  <Paragraphs>162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Bookman Old Style</vt:lpstr>
      <vt:lpstr>Cambria Math</vt:lpstr>
      <vt:lpstr>Calibri Light</vt:lpstr>
      <vt:lpstr>Gill Sans MT</vt:lpstr>
      <vt:lpstr>Calibri</vt:lpstr>
      <vt:lpstr>Wingdings 3</vt:lpstr>
      <vt:lpstr>Wingdings</vt:lpstr>
      <vt:lpstr>Origin</vt:lpstr>
      <vt:lpstr>1_Custom Design</vt:lpstr>
      <vt:lpstr>Custom Design</vt:lpstr>
      <vt:lpstr>DSC40B: Theoretical Foundations of Data Science II </vt:lpstr>
      <vt:lpstr>Prelude</vt:lpstr>
      <vt:lpstr>DFS algorithm and time complexity</vt:lpstr>
      <vt:lpstr>Depth-first Search (DFS)</vt:lpstr>
      <vt:lpstr>PowerPoint Presentation</vt:lpstr>
      <vt:lpstr>Implementation in Python</vt:lpstr>
      <vt:lpstr>Example</vt:lpstr>
      <vt:lpstr>Full DFS</vt:lpstr>
      <vt:lpstr>Complete code</vt:lpstr>
      <vt:lpstr>Time complexity analysis</vt:lpstr>
      <vt:lpstr>Nesting properties in DFS</vt:lpstr>
      <vt:lpstr>Observations</vt:lpstr>
      <vt:lpstr>Start and Finish times</vt:lpstr>
      <vt:lpstr>“Parent” (Predecessor) information</vt:lpstr>
      <vt:lpstr>full_DFS_times implementation</vt:lpstr>
      <vt:lpstr>Example</vt:lpstr>
      <vt:lpstr>Nesting Property of DFS</vt:lpstr>
      <vt:lpstr>Nesting Property of DFS</vt:lpstr>
      <vt:lpstr>DAGs and topological sort</vt:lpstr>
      <vt:lpstr>Applications of DFS</vt:lpstr>
      <vt:lpstr>Prerequisite graphs </vt:lpstr>
      <vt:lpstr>Directed Acyclic Graphs (DAGs)</vt:lpstr>
      <vt:lpstr>Topological Sorts </vt:lpstr>
      <vt:lpstr>Why DAG? </vt:lpstr>
      <vt:lpstr>An algorithm to compute topo-sort</vt:lpstr>
      <vt:lpstr>Remark: </vt:lpstr>
      <vt:lpstr>Summary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1267</cp:revision>
  <dcterms:created xsi:type="dcterms:W3CDTF">2006-08-16T00:00:00Z</dcterms:created>
  <dcterms:modified xsi:type="dcterms:W3CDTF">2021-02-16T21:53:59Z</dcterms:modified>
</cp:coreProperties>
</file>