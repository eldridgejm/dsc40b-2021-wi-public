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60" r:id="rId1"/>
    <p:sldMasterId id="2147483681" r:id="rId2"/>
    <p:sldMasterId id="2147483668" r:id="rId3"/>
  </p:sldMasterIdLst>
  <p:notesMasterIdLst>
    <p:notesMasterId r:id="rId27"/>
  </p:notesMasterIdLst>
  <p:sldIdLst>
    <p:sldId id="256" r:id="rId4"/>
    <p:sldId id="779" r:id="rId5"/>
    <p:sldId id="812" r:id="rId6"/>
    <p:sldId id="813" r:id="rId7"/>
    <p:sldId id="814" r:id="rId8"/>
    <p:sldId id="815" r:id="rId9"/>
    <p:sldId id="816" r:id="rId10"/>
    <p:sldId id="785" r:id="rId11"/>
    <p:sldId id="831" r:id="rId12"/>
    <p:sldId id="817" r:id="rId13"/>
    <p:sldId id="818" r:id="rId14"/>
    <p:sldId id="819" r:id="rId15"/>
    <p:sldId id="820" r:id="rId16"/>
    <p:sldId id="821" r:id="rId17"/>
    <p:sldId id="822" r:id="rId18"/>
    <p:sldId id="823" r:id="rId19"/>
    <p:sldId id="824" r:id="rId20"/>
    <p:sldId id="825" r:id="rId21"/>
    <p:sldId id="826" r:id="rId22"/>
    <p:sldId id="827" r:id="rId23"/>
    <p:sldId id="828" r:id="rId24"/>
    <p:sldId id="829" r:id="rId25"/>
    <p:sldId id="811" r:id="rId26"/>
  </p:sldIdLst>
  <p:sldSz cx="9144000" cy="6858000" type="screen4x3"/>
  <p:notesSz cx="6858000" cy="9144000"/>
  <p:embeddedFontLst>
    <p:embeddedFont>
      <p:font typeface="Bookman Old Style" panose="02050604050505020204" pitchFamily="18" charset="0"/>
      <p:regular r:id="rId28"/>
      <p:bold r:id="rId29"/>
      <p:italic r:id="rId30"/>
      <p:boldItalic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Calibri Light" panose="020F0302020204030204" pitchFamily="34" charset="0"/>
      <p:regular r:id="rId36"/>
      <p:italic r:id="rId37"/>
    </p:embeddedFont>
    <p:embeddedFont>
      <p:font typeface="Cambria Math" panose="02040503050406030204" pitchFamily="18" charset="0"/>
      <p:regular r:id="rId38"/>
    </p:embeddedFont>
    <p:embeddedFont>
      <p:font typeface="Gill Sans MT" panose="020B0502020104020203" pitchFamily="34" charset="0"/>
      <p:regular r:id="rId39"/>
      <p:bold r:id="rId40"/>
      <p:italic r:id="rId41"/>
      <p:boldItalic r:id="rId42"/>
    </p:embeddedFont>
    <p:embeddedFont>
      <p:font typeface="Times" panose="02020603050405020304" pitchFamily="18" charset="0"/>
      <p:regular r:id="rId43"/>
      <p:bold r:id="rId44"/>
      <p:italic r:id="rId45"/>
      <p:boldItalic r:id="rId46"/>
    </p:embeddedFont>
    <p:embeddedFont>
      <p:font typeface="Wingdings 3" panose="05040102010807070707" pitchFamily="18" charset="2"/>
      <p:regular r:id="rId47"/>
    </p:embeddedFont>
  </p:embeddedFontLst>
  <p:custDataLst>
    <p:tags r:id="rId4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000"/>
    <a:srgbClr val="0B0E8F"/>
    <a:srgbClr val="FF9900"/>
    <a:srgbClr val="FFFFCC"/>
    <a:srgbClr val="46464C"/>
    <a:srgbClr val="6E7792"/>
    <a:srgbClr val="1F0C64"/>
    <a:srgbClr val="9FA5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44" autoAdjust="0"/>
    <p:restoredTop sz="90909" autoAdjust="0"/>
  </p:normalViewPr>
  <p:slideViewPr>
    <p:cSldViewPr>
      <p:cViewPr varScale="1">
        <p:scale>
          <a:sx n="61" d="100"/>
          <a:sy n="61" d="100"/>
        </p:scale>
        <p:origin x="142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font" Target="fonts/font12.fntdata"/><Relationship Id="rId21" Type="http://schemas.openxmlformats.org/officeDocument/2006/relationships/slide" Target="slides/slide18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font" Target="fonts/font2.fntdata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tags" Target="tags/tag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7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C45A928-D252-4E73-BA6C-5EBB50EA9974}" type="datetimeFigureOut">
              <a:rPr lang="en-US"/>
              <a:pPr>
                <a:defRPr/>
              </a:pPr>
              <a:t>1/13/2021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DE926EA-2410-44E1-B457-BBA54A1622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734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They’ve seen in 40A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DE926EA-2410-44E1-B457-BBA54A16221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75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0"/>
          <p:cNvSpPr/>
          <p:nvPr/>
        </p:nvSpPr>
        <p:spPr>
          <a:xfrm>
            <a:off x="904875" y="3648075"/>
            <a:ext cx="7315200" cy="1279525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21"/>
          <p:cNvSpPr/>
          <p:nvPr/>
        </p:nvSpPr>
        <p:spPr>
          <a:xfrm>
            <a:off x="904875" y="3648075"/>
            <a:ext cx="228600" cy="1279525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4763"/>
            <a:ext cx="2286000" cy="366712"/>
          </a:xfrm>
        </p:spPr>
        <p:txBody>
          <a:bodyPr/>
          <a:lstStyle>
            <a:lvl1pPr>
              <a:defRPr sz="1400" smtClean="0"/>
            </a:lvl1pPr>
          </a:lstStyle>
          <a:p>
            <a:pPr>
              <a:defRPr/>
            </a:pPr>
            <a:fld id="{E16C4EF9-5865-4A6A-9380-B94D95EDFBB1}" type="datetime1">
              <a:rPr lang="en-US"/>
              <a:pPr>
                <a:defRPr/>
              </a:pPr>
              <a:t>1/13/2021</a:t>
            </a:fld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1"/>
          </p:nvPr>
        </p:nvSpPr>
        <p:spPr>
          <a:xfrm>
            <a:off x="1216025" y="6354763"/>
            <a:ext cx="1219200" cy="3667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DE774B-0244-43AE-81AE-949E2AED0B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D8D4EC-B919-4B7F-AD2C-08A3936481C2}" type="datetime1">
              <a:rPr lang="en-US"/>
              <a:pPr>
                <a:defRPr/>
              </a:pPr>
              <a:t>1/13/2021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1FFA5E-D537-4A8C-B688-12FAF7CC1F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278A1A-418A-4889-8466-7277E8543661}" type="datetime1">
              <a:rPr lang="en-US"/>
              <a:pPr>
                <a:defRPr/>
              </a:pPr>
              <a:t>1/13/2021</a:t>
            </a:fld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451084-9ADD-481F-8E3A-A4A104A158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7207B-C772-46C0-AF6B-C696C628ECD6}" type="datetime1">
              <a:rPr lang="en-US"/>
              <a:pPr>
                <a:defRPr/>
              </a:pPr>
              <a:t>1/13/2021</a:t>
            </a:fld>
            <a:endParaRPr lang="en-US"/>
          </a:p>
        </p:txBody>
      </p:sp>
      <p:sp>
        <p:nvSpPr>
          <p:cNvPr id="8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0823A-D158-4554-9F4D-D1401680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890D1A-9AF0-4373-9C19-31BA056F18D0}" type="datetime1">
              <a:rPr lang="en-US"/>
              <a:pPr>
                <a:defRPr/>
              </a:pPr>
              <a:t>1/13/2021</a:t>
            </a:fld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02858-B2E8-4CEF-AB5E-E0718287C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CEBB1-9625-48F6-B3A4-11D228BFD397}" type="datetime1">
              <a:rPr lang="en-US"/>
              <a:pPr>
                <a:defRPr/>
              </a:pPr>
              <a:t>1/13/2021</a:t>
            </a:fld>
            <a:endParaRPr lang="en-US"/>
          </a:p>
        </p:txBody>
      </p:sp>
      <p:sp>
        <p:nvSpPr>
          <p:cNvPr id="3" name="Slide Number Placeholder 2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D8101-5309-4DFF-AB2A-546F31B41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195152B-B4E1-457A-BC5F-3AB91570D542}" type="datetime1">
              <a:rPr lang="en-US" smtClean="0"/>
              <a:pPr>
                <a:defRPr/>
              </a:pPr>
              <a:t>1/13/2021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EE41-09A9-4372-AA29-C508F4A5354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516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504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8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71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998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9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67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413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52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3827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44494C4-6097-4BA9-B81C-8FE8D10E85BA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69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8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092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431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241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69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8732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151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6902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250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9575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7D500-1223-4445-9EB2-2C72C770F9EB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30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457200" y="1219200"/>
            <a:ext cx="82296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175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smtClean="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D195152B-B4E1-457A-BC5F-3AB91570D542}" type="datetime1">
              <a:rPr lang="en-US"/>
              <a:pPr>
                <a:defRPr/>
              </a:pPr>
              <a:t>1/13/2021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775" y="6356350"/>
            <a:ext cx="1981200" cy="365125"/>
          </a:xfrm>
          <a:prstGeom prst="rect">
            <a:avLst/>
          </a:prstGeom>
        </p:spPr>
        <p:txBody>
          <a:bodyPr vert="horz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1BDBEE41-09A9-4372-AA29-C508F4A535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246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500" cy="120650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80" r:id="rId7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pitchFamily="18" charset="2"/>
        <a:buChar char="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pitchFamily="18" charset="2"/>
        <a:buChar char=""/>
        <a:defRPr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pitchFamily="18" charset="2"/>
        <a:buChar char="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8BA2B4"/>
        </a:buClr>
        <a:buSzPct val="70000"/>
        <a:buFont typeface="Wingdings" pitchFamily="2" charset="2"/>
        <a:buChar char="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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377FD-0449-4D16-847C-E7FCD0D445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36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F7D500-1223-4445-9EB2-2C72C770F9EB}" type="datetimeFigureOut">
              <a:rPr lang="en-US" smtClean="0"/>
              <a:t>1/13/2021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A2B7C0-2BFE-4B93-8D6A-346114099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49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38200" y="1447800"/>
            <a:ext cx="7467600" cy="2057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1219200" y="1823484"/>
            <a:ext cx="6858000" cy="1295400"/>
          </a:xfrm>
        </p:spPr>
        <p:txBody>
          <a:bodyPr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DSC40B:</a:t>
            </a:r>
            <a:br>
              <a:rPr lang="en-US" sz="28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Theoretical Foundations of Data Science II </a:t>
            </a:r>
            <a:endParaRPr lang="en-US" sz="2800" i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962400"/>
            <a:ext cx="6858000" cy="188595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Lecture 4:   </a:t>
            </a:r>
            <a:r>
              <a:rPr lang="en-US" sz="2800" i="1" dirty="0"/>
              <a:t>Expected time complexity</a:t>
            </a:r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800" i="1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1600" dirty="0"/>
          </a:p>
          <a:p>
            <a:pPr algn="ctr" eaLnBrk="1" fontAlgn="auto" hangingPunct="1">
              <a:spcAft>
                <a:spcPts val="0"/>
              </a:spcAft>
              <a:buFont typeface="Wingdings 3"/>
              <a:buNone/>
              <a:defRPr/>
            </a:pPr>
            <a:r>
              <a:rPr lang="en-US" sz="2800" dirty="0"/>
              <a:t>Instructor: Yusu Wang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447800"/>
            <a:ext cx="304800" cy="2057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6649-5A64-45D6-A6CA-8E8A3A6B0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Previously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94781-9569-4BCE-B3A3-2C8EB0F996BF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Worst-case and best-case time complexity analysis</a:t>
            </a:r>
          </a:p>
          <a:p>
            <a:pPr lvl="1"/>
            <a:r>
              <a:rPr lang="en-US" dirty="0"/>
              <a:t>Worst-case time complexity analysis</a:t>
            </a:r>
          </a:p>
          <a:p>
            <a:pPr lvl="2"/>
            <a:r>
              <a:rPr lang="en-US" dirty="0"/>
              <a:t>Most commonly used. Guarantees performance even in the worst case</a:t>
            </a:r>
          </a:p>
          <a:p>
            <a:r>
              <a:rPr lang="en-US" dirty="0"/>
              <a:t>However, both worst- and best-case time can be caused by just some specific input </a:t>
            </a:r>
          </a:p>
          <a:p>
            <a:endParaRPr lang="en-US" dirty="0"/>
          </a:p>
          <a:p>
            <a:r>
              <a:rPr lang="en-US" dirty="0"/>
              <a:t>How about average time complexity</a:t>
            </a:r>
          </a:p>
          <a:p>
            <a:pPr lvl="1"/>
            <a:r>
              <a:rPr lang="en-US" dirty="0"/>
              <a:t>Intuitively measures how the algorithm works on a typical input? </a:t>
            </a:r>
          </a:p>
        </p:txBody>
      </p:sp>
    </p:spTree>
    <p:extLst>
      <p:ext uri="{BB962C8B-B14F-4D97-AF65-F5344CB8AC3E}">
        <p14:creationId xmlns:p14="http://schemas.microsoft.com/office/powerpoint/2010/main" val="275050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0AA98-B94F-46E0-80B1-69C9252DA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404C7-F6B5-4B3B-8C5D-33909694E7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en-US" dirty="0"/>
              <a:t>Probabilistic method:</a:t>
            </a:r>
          </a:p>
          <a:p>
            <a:pPr lvl="1"/>
            <a:r>
              <a:rPr lang="en-US" altLang="en-US" dirty="0"/>
              <a:t>Given a distribution for all possible inputs</a:t>
            </a:r>
          </a:p>
          <a:p>
            <a:pPr lvl="1"/>
            <a:r>
              <a:rPr lang="en-US" altLang="en-US" dirty="0"/>
              <a:t>Derive expected time based on distribution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Randomized algorithm:</a:t>
            </a:r>
          </a:p>
          <a:p>
            <a:pPr lvl="1"/>
            <a:r>
              <a:rPr lang="en-US" altLang="en-US" dirty="0"/>
              <a:t>Add randomness in the algorithm</a:t>
            </a:r>
          </a:p>
          <a:p>
            <a:pPr lvl="1"/>
            <a:r>
              <a:rPr lang="en-US" altLang="en-US" dirty="0"/>
              <a:t>Analyze the expected behavior of the algorithm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424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53A7E-1519-4885-AAC9-AF4BED15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54162-9195-4D11-8BDC-3F5AE93A24C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3870960"/>
            <a:ext cx="8229600" cy="2285999"/>
          </a:xfrm>
        </p:spPr>
        <p:txBody>
          <a:bodyPr/>
          <a:lstStyle/>
          <a:p>
            <a:r>
              <a:rPr lang="en-US" sz="2400" dirty="0"/>
              <a:t>What is worst case time complexity?</a:t>
            </a:r>
          </a:p>
          <a:p>
            <a:endParaRPr lang="en-US" sz="2400" dirty="0"/>
          </a:p>
          <a:p>
            <a:r>
              <a:rPr lang="en-US" sz="2400" dirty="0"/>
              <a:t>What is expected / average time complexity? 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B5AEE52-FA29-4C47-8831-91D76CF587B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09800" y="1295400"/>
                <a:ext cx="4191000" cy="228599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def </a:t>
                </a:r>
                <a:r>
                  <a:rPr lang="en-US" sz="2400" b="0" i="0" u="none" strike="noStrike" baseline="0" dirty="0" err="1">
                    <a:solidFill>
                      <a:srgbClr val="0000FF"/>
                    </a:solidFill>
                    <a:latin typeface="FiraMono-Regular-Identity-H"/>
                  </a:rPr>
                  <a:t>linear_search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):</a:t>
                </a:r>
              </a:p>
              <a:p>
                <a:pPr marL="0" indent="0" algn="l">
                  <a:buNone/>
                </a:pPr>
                <a:r>
                  <a:rPr lang="it-IT" sz="24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for </a:t>
                </a:r>
                <a14:m>
                  <m:oMath xmlns:m="http://schemas.openxmlformats.org/officeDocument/2006/math">
                    <m:r>
                      <a:rPr lang="it-IT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400" b="0" i="0" u="none" strike="noStrike" baseline="0" dirty="0">
                    <a:solidFill>
                      <a:srgbClr val="AC21FF"/>
                    </a:solidFill>
                    <a:latin typeface="FiraMono-Medium-Identity-H"/>
                  </a:rPr>
                  <a:t>in </a:t>
                </a:r>
                <a:r>
                  <a:rPr lang="it-IT" sz="2400" b="0" i="0" u="none" strike="noStrike" baseline="0" dirty="0">
                    <a:solidFill>
                      <a:srgbClr val="008000"/>
                    </a:solidFill>
                    <a:latin typeface="FiraMono-Regular-Identity-H"/>
                  </a:rPr>
                  <a:t>enumerate</a:t>
                </a:r>
                <a:r>
                  <a:rPr lang="it-IT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it-IT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it-IT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):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        if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== 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	    return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400" b="0" i="0" u="none" strike="noStrike" baseline="0" dirty="0">
                  <a:solidFill>
                    <a:srgbClr val="000000"/>
                  </a:solidFill>
                  <a:latin typeface="FiraMono-Regular-Identity-H"/>
                </a:endParaRP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return None</a:t>
                </a:r>
                <a:endParaRPr lang="en-US" sz="32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B5AEE52-FA29-4C47-8831-91D76CF58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9800" y="1295400"/>
                <a:ext cx="4191000" cy="2285999"/>
              </a:xfrm>
              <a:prstGeom prst="rect">
                <a:avLst/>
              </a:prstGeom>
              <a:blipFill>
                <a:blip r:embed="rId2"/>
                <a:stretch>
                  <a:fillRect l="-2174" t="-1857" b="-2918"/>
                </a:stretch>
              </a:blip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6413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3969F-7B72-4388-AB50-784EBC326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Running Time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ADF0E3-1DB0-4968-9C2E-E851AAEECE2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Expected / average 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/>
                          </a:rPr>
                          <m:t>𝐼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𝐼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𝑖𝑚𝑒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𝐼</m:t>
                            </m:r>
                          </m:e>
                        </m:d>
                      </m:e>
                    </m:nary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𝐼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= probability of input type </a:t>
                </a:r>
                <a:r>
                  <a:rPr lang="en-US" i="1" dirty="0"/>
                  <a:t>I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𝑖𝑚𝑒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𝐼</m:t>
                        </m:r>
                      </m:e>
                    </m:d>
                  </m:oMath>
                </a14:m>
                <a:r>
                  <a:rPr lang="en-US" dirty="0"/>
                  <a:t> = running time given input type </a:t>
                </a:r>
                <a:r>
                  <a:rPr lang="en-US" i="1" dirty="0"/>
                  <a:t>I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To analyze, </a:t>
                </a:r>
                <a:r>
                  <a:rPr lang="en-US" b="1" dirty="0">
                    <a:solidFill>
                      <a:srgbClr val="700000"/>
                    </a:solidFill>
                  </a:rPr>
                  <a:t>need to assume </a:t>
                </a:r>
                <a:r>
                  <a:rPr lang="en-US" dirty="0"/>
                  <a:t>a probabilistic distribution for all inputs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ADF0E3-1DB0-4968-9C2E-E851AAEECE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6006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929F6-6CF5-4CE1-A5A5-5A18F595E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Linear-search algorithm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3996C-7493-437C-8F76-95E003119B98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Expected running time </a:t>
                </a:r>
                <a:r>
                  <a:rPr lang="en-US" dirty="0"/>
                  <a:t>=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200" b="0" i="0" smtClean="0">
                          <a:latin typeface="Cambria Math"/>
                        </a:rPr>
                        <m:t>Pr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/>
                            </a:rPr>
                            <m:t>K</m:t>
                          </m:r>
                          <m:r>
                            <a:rPr lang="en-US" sz="2200" b="0" i="0" smtClean="0">
                              <a:latin typeface="Cambria Math"/>
                            </a:rPr>
                            <m:t> 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∉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/>
                            </a:rP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sz="2200" b="0" i="0" smtClean="0"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latin typeface="Cambria Math" panose="02040503050406030204" pitchFamily="18" charset="0"/>
                        </a:rPr>
                        <m:t>ime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/>
                            </a:rPr>
                            <m:t>K</m:t>
                          </m:r>
                          <m:r>
                            <a:rPr lang="en-US" sz="2200" i="1">
                              <a:latin typeface="Cambria Math"/>
                            </a:rPr>
                            <m:t>∉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/>
                            </a:rPr>
                            <m:t>A</m:t>
                          </m:r>
                        </m:e>
                      </m:d>
                      <m:r>
                        <a:rPr lang="en-US" sz="2200" b="0" i="0" smtClean="0">
                          <a:latin typeface="Cambria Math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func>
                            <m:func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/>
                                    </a:rPr>
                                    <m:t>𝐴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</m:e>
                                  </m:d>
                                  <m:r>
                                    <a:rPr lang="en-US" sz="2200" b="0" i="1" smtClean="0">
                                      <a:latin typeface="Cambria Math"/>
                                    </a:rPr>
                                    <m:t>=</m:t>
                                  </m:r>
                                  <m:r>
                                    <a:rPr lang="en-US" sz="2200" b="0" i="1" smtClean="0">
                                      <a:latin typeface="Cambria Math"/>
                                    </a:rPr>
                                    <m:t>𝐾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200" b="0" i="1" smtClean="0">
                              <a:latin typeface="Cambria Math"/>
                            </a:rPr>
                            <m:t>𝑡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𝑖𝑚𝑒</m:t>
                          </m:r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/>
                                </a:rPr>
                                <m:t>𝐴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b="0" i="1" smtClean="0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d>
                              <m:r>
                                <a:rPr lang="en-US" sz="2200" b="0" i="1" smtClean="0"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200" b="0" i="1" smtClean="0">
                                  <a:latin typeface="Cambria Math"/>
                                </a:rPr>
                                <m:t>𝐾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sz="2200" dirty="0"/>
              </a:p>
              <a:p>
                <a:r>
                  <a:rPr lang="en-US" sz="2400" dirty="0"/>
                  <a:t>If we assume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>
                        <a:latin typeface="Cambria Math"/>
                      </a:rPr>
                      <m:t>Pr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00">
                            <a:latin typeface="Cambria Math"/>
                          </a:rPr>
                          <m:t>K</m:t>
                        </m:r>
                        <m:r>
                          <a:rPr lang="en-US" sz="2200">
                            <a:latin typeface="Cambria Math"/>
                          </a:rPr>
                          <m:t> </m:t>
                        </m:r>
                        <m:r>
                          <a:rPr lang="en-US" sz="2200" i="1">
                            <a:latin typeface="Cambria Math"/>
                          </a:rPr>
                          <m:t>∉</m:t>
                        </m:r>
                        <m:r>
                          <m:rPr>
                            <m:sty m:val="p"/>
                          </m:rPr>
                          <a:rPr lang="en-US" sz="2200">
                            <a:latin typeface="Cambria Math"/>
                          </a:rPr>
                          <m:t>A</m:t>
                        </m:r>
                      </m:e>
                    </m:d>
                  </m:oMath>
                </a14:m>
                <a:r>
                  <a:rPr lang="en-US" sz="2200" dirty="0"/>
                  <a:t> = 0</a:t>
                </a:r>
              </a:p>
              <a:p>
                <a:pPr lvl="1"/>
                <a:r>
                  <a:rPr lang="en-US" sz="2200" dirty="0"/>
                  <a:t>All permutations are equally likely</a:t>
                </a:r>
              </a:p>
              <a:p>
                <a:pPr lvl="2"/>
                <a:r>
                  <a:rPr lang="en-US" sz="2200" dirty="0"/>
                  <a:t>implies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/>
                              </a:rPr>
                              <m:t>𝐴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sz="2200" i="1">
                                <a:latin typeface="Cambria Math"/>
                              </a:rPr>
                              <m:t>=</m:t>
                            </m:r>
                            <m:r>
                              <a:rPr lang="en-US" sz="2200" i="1">
                                <a:latin typeface="Cambria Math"/>
                              </a:rPr>
                              <m:t>𝐾</m:t>
                            </m:r>
                          </m:e>
                        </m:d>
                      </m:e>
                    </m:func>
                    <m:r>
                      <a:rPr lang="en-US" sz="22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200" dirty="0"/>
                  <a:t> </a:t>
                </a:r>
              </a:p>
              <a:p>
                <a:pPr lvl="8"/>
                <a:endParaRPr lang="en-US" sz="1000" b="0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𝑖𝑚𝑒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sz="2400" b="0" i="1" smtClean="0">
                            <a:latin typeface="Cambria Math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𝐾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𝑐𝑖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Then expected running time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r>
                          <a:rPr lang="en-US" sz="2400" i="1">
                            <a:latin typeface="Cambria Math"/>
                          </a:rPr>
                          <m:t>∗</m:t>
                        </m:r>
                        <m:r>
                          <a:rPr lang="en-US" sz="2400" i="1">
                            <a:latin typeface="Cambria Math"/>
                          </a:rPr>
                          <m:t>𝑐𝑖</m:t>
                        </m:r>
                      </m:e>
                    </m:nary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CD3996C-7493-437C-8F76-95E003119B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6514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57EC-C0F4-483A-A4BE-C74FC1D57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201F4-430A-46FA-8BAA-04BFC5C416B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For probabilistic analysis</a:t>
            </a:r>
          </a:p>
          <a:p>
            <a:pPr lvl="1"/>
            <a:r>
              <a:rPr lang="en-US" sz="2000" dirty="0"/>
              <a:t>An input probabilistic distribution input model </a:t>
            </a:r>
            <a:r>
              <a:rPr lang="en-US" sz="2000" b="1" dirty="0">
                <a:solidFill>
                  <a:srgbClr val="700000"/>
                </a:solidFill>
              </a:rPr>
              <a:t>has to be assumed</a:t>
            </a:r>
            <a:r>
              <a:rPr lang="en-US" sz="2000" dirty="0"/>
              <a:t>! </a:t>
            </a:r>
          </a:p>
          <a:p>
            <a:pPr lvl="1"/>
            <a:r>
              <a:rPr lang="en-US" sz="2000" dirty="0"/>
              <a:t>For a fixed input, the running time is fixed. </a:t>
            </a:r>
          </a:p>
          <a:p>
            <a:pPr lvl="1"/>
            <a:r>
              <a:rPr lang="en-US" sz="2000" dirty="0"/>
              <a:t>The average / expected time complexity is for if we consider running it for a range of inputs, what the average behavior is.</a:t>
            </a:r>
          </a:p>
          <a:p>
            <a:endParaRPr lang="en-US" sz="2400" dirty="0"/>
          </a:p>
          <a:p>
            <a:r>
              <a:rPr lang="en-US" sz="2400" dirty="0"/>
              <a:t>Randomized algorithm</a:t>
            </a:r>
          </a:p>
          <a:p>
            <a:pPr lvl="1"/>
            <a:r>
              <a:rPr lang="en-US" sz="2000" dirty="0"/>
              <a:t>No assumption in input distribution! </a:t>
            </a:r>
          </a:p>
          <a:p>
            <a:pPr lvl="1"/>
            <a:r>
              <a:rPr lang="en-US" sz="2000" dirty="0"/>
              <a:t>Randomness is added in the algorithm</a:t>
            </a:r>
          </a:p>
          <a:p>
            <a:pPr lvl="2"/>
            <a:r>
              <a:rPr lang="en-US" dirty="0"/>
              <a:t>For a fixed input, the running time is </a:t>
            </a:r>
            <a:r>
              <a:rPr lang="en-US" b="1" dirty="0">
                <a:solidFill>
                  <a:srgbClr val="700000"/>
                </a:solidFill>
              </a:rPr>
              <a:t>NOT</a:t>
            </a:r>
            <a:r>
              <a:rPr lang="en-US" dirty="0"/>
              <a:t> fixed. </a:t>
            </a:r>
          </a:p>
          <a:p>
            <a:pPr lvl="2"/>
            <a:r>
              <a:rPr lang="en-US" dirty="0"/>
              <a:t>The expected time is what we can expect when we run the algorithm on </a:t>
            </a:r>
            <a:r>
              <a:rPr lang="en-US" b="1" dirty="0">
                <a:solidFill>
                  <a:srgbClr val="700000"/>
                </a:solidFill>
              </a:rPr>
              <a:t>any single </a:t>
            </a:r>
            <a:r>
              <a:rPr lang="en-US" dirty="0">
                <a:solidFill>
                  <a:srgbClr val="700000"/>
                </a:solidFill>
              </a:rPr>
              <a:t>input</a:t>
            </a:r>
            <a:r>
              <a:rPr lang="en-US" dirty="0"/>
              <a:t>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456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Analyzing randomized algorithms</a:t>
            </a:r>
          </a:p>
        </p:txBody>
      </p:sp>
    </p:spTree>
    <p:extLst>
      <p:ext uri="{BB962C8B-B14F-4D97-AF65-F5344CB8AC3E}">
        <p14:creationId xmlns:p14="http://schemas.microsoft.com/office/powerpoint/2010/main" val="1929170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53A7E-1519-4885-AAC9-AF4BED15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Randomized linear search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454162-9195-4D11-8BDC-3F5AE93A24C1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49317" y="3947160"/>
                <a:ext cx="8229600" cy="2834640"/>
              </a:xfrm>
            </p:spPr>
            <p:txBody>
              <a:bodyPr/>
              <a:lstStyle/>
              <a:p>
                <a:r>
                  <a:rPr lang="en-US" sz="2400" dirty="0"/>
                  <a:t>What is expected / average time complexity?</a:t>
                </a:r>
              </a:p>
              <a:p>
                <a:pPr lvl="1"/>
                <a:r>
                  <a:rPr lang="en-US" sz="2100" dirty="0"/>
                  <a:t>Assuming we only search for keys already in A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</a:rPr>
                              <m:t>𝐴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210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ET</m:t>
                    </m:r>
                    <m:d>
                      <m:d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Pr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en-US" sz="2000" b="0" i="1" smtClean="0">
                            <a:latin typeface="Cambria Math"/>
                          </a:rPr>
                          <m:t>∉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A</m:t>
                        </m:r>
                      </m:e>
                    </m:d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t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ime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K</m:t>
                        </m:r>
                        <m:r>
                          <a:rPr lang="en-US" sz="2000" i="1">
                            <a:latin typeface="Cambria Math"/>
                          </a:rPr>
                          <m:t>∉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A</m:t>
                        </m:r>
                      </m:e>
                    </m:d>
                    <m:r>
                      <a:rPr lang="en-US" sz="2000" b="0" i="0" smtClean="0">
                        <a:latin typeface="Cambria Math"/>
                      </a:rPr>
                      <m:t>+ </m:t>
                    </m:r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𝐴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func>
                        <m:r>
                          <a:rPr lang="en-US" sz="2000" b="0" i="1" smtClean="0">
                            <a:latin typeface="Cambria Math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𝑖𝑚𝑒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𝐴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1800" b="0" dirty="0"/>
                  <a:t>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/>
                          </a:rPr>
                          <m:t>𝑖</m:t>
                        </m:r>
                      </m:sub>
                      <m:sup/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  <m:r>
                          <a:rPr lang="en-US" sz="2000" i="1">
                            <a:latin typeface="Cambria Math"/>
                          </a:rPr>
                          <m:t>∗</m:t>
                        </m:r>
                        <m:r>
                          <a:rPr lang="en-US" sz="2000" i="1">
                            <a:latin typeface="Cambria Math"/>
                          </a:rPr>
                          <m:t>𝑐𝑖</m:t>
                        </m:r>
                      </m:e>
                    </m:nary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endParaRPr lang="en-US" sz="200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454162-9195-4D11-8BDC-3F5AE93A24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49317" y="3947160"/>
                <a:ext cx="8229600" cy="2834640"/>
              </a:xfrm>
              <a:blipFill>
                <a:blip r:embed="rId2"/>
                <a:stretch>
                  <a:fillRect l="-519" t="-17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B5AEE52-FA29-4C47-8831-91D76CF587B5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209800" y="1371600"/>
                <a:ext cx="4953000" cy="247255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sz="22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def </a:t>
                </a:r>
                <a:r>
                  <a:rPr lang="en-US" sz="2200" b="0" i="0" u="none" strike="noStrike" baseline="0" dirty="0" err="1">
                    <a:solidFill>
                      <a:srgbClr val="0000FF"/>
                    </a:solidFill>
                    <a:latin typeface="FiraMono-Regular-Identity-H"/>
                  </a:rPr>
                  <a:t>rand_linear_search</a:t>
                </a:r>
                <a:r>
                  <a:rPr lang="en-US" sz="22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22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2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):</a:t>
                </a:r>
              </a:p>
              <a:p>
                <a:pPr marL="0" indent="0" algn="l">
                  <a:buNone/>
                </a:pPr>
                <a:r>
                  <a:rPr lang="en-US" sz="2200" dirty="0">
                    <a:solidFill>
                      <a:srgbClr val="000000"/>
                    </a:solidFill>
                    <a:latin typeface="FiraMono-Regular-Identity-H"/>
                  </a:rPr>
                  <a:t>	</a:t>
                </a:r>
                <a:r>
                  <a:rPr lang="it-IT" sz="2200" b="0" i="0" u="none" strike="noStrike" baseline="0" dirty="0">
                    <a:solidFill>
                      <a:srgbClr val="008000"/>
                    </a:solidFill>
                    <a:latin typeface="FiraMono-Regular-Identity-H"/>
                  </a:rPr>
                  <a:t>random.shuffle</a:t>
                </a:r>
                <a:r>
                  <a:rPr lang="it-IT" sz="2200" b="0" i="0" u="none" strike="noStrike" baseline="0" dirty="0">
                    <a:latin typeface="FiraMono-Regular-Identity-H"/>
                  </a:rPr>
                  <a:t>(</a:t>
                </a:r>
                <a:r>
                  <a:rPr lang="en-US" sz="2200" i="1" dirty="0">
                    <a:solidFill>
                      <a:srgbClr val="000000"/>
                    </a:solidFill>
                    <a:latin typeface="FiraMono-Regular-Identity-H"/>
                  </a:rPr>
                  <a:t>A</a:t>
                </a:r>
                <a:r>
                  <a:rPr lang="en-US" sz="2200" dirty="0">
                    <a:solidFill>
                      <a:srgbClr val="000000"/>
                    </a:solidFill>
                    <a:latin typeface="FiraMono-Regular-Identity-H"/>
                  </a:rPr>
                  <a:t>)</a:t>
                </a:r>
                <a:endParaRPr lang="en-US" sz="2200" b="0" i="0" u="none" strike="noStrike" baseline="0" dirty="0">
                  <a:solidFill>
                    <a:srgbClr val="000000"/>
                  </a:solidFill>
                  <a:latin typeface="FiraMono-Regular-Identity-H"/>
                </a:endParaRPr>
              </a:p>
              <a:p>
                <a:pPr marL="0" indent="0" algn="l">
                  <a:buNone/>
                </a:pPr>
                <a:r>
                  <a:rPr lang="it-IT" sz="22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for </a:t>
                </a:r>
                <a14:m>
                  <m:oMath xmlns:m="http://schemas.openxmlformats.org/officeDocument/2006/math">
                    <m:r>
                      <a:rPr lang="it-IT" sz="22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sz="22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22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2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200" b="0" i="0" u="none" strike="noStrike" baseline="0" dirty="0">
                    <a:solidFill>
                      <a:srgbClr val="AC21FF"/>
                    </a:solidFill>
                    <a:latin typeface="FiraMono-Medium-Identity-H"/>
                  </a:rPr>
                  <a:t>in </a:t>
                </a:r>
                <a:r>
                  <a:rPr lang="it-IT" sz="2200" b="0" i="0" u="none" strike="noStrike" baseline="0" dirty="0">
                    <a:solidFill>
                      <a:srgbClr val="008000"/>
                    </a:solidFill>
                    <a:latin typeface="FiraMono-Regular-Identity-H"/>
                  </a:rPr>
                  <a:t>enumerate</a:t>
                </a:r>
                <a:r>
                  <a:rPr lang="it-IT" sz="22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it-IT" sz="22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it-IT" sz="22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):</a:t>
                </a:r>
              </a:p>
              <a:p>
                <a:pPr marL="0" indent="0" algn="l">
                  <a:buNone/>
                </a:pPr>
                <a:r>
                  <a:rPr lang="en-US" sz="22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        if </a:t>
                </a:r>
                <a14:m>
                  <m:oMath xmlns:m="http://schemas.openxmlformats.org/officeDocument/2006/math">
                    <m:r>
                      <a:rPr lang="en-US" sz="22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== </m:t>
                    </m:r>
                    <m:r>
                      <a:rPr lang="en-US" sz="22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2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</a:p>
              <a:p>
                <a:pPr marL="0" indent="0" algn="l">
                  <a:buNone/>
                </a:pPr>
                <a:r>
                  <a:rPr lang="en-US" sz="22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	    return </a:t>
                </a:r>
                <a14:m>
                  <m:oMath xmlns:m="http://schemas.openxmlformats.org/officeDocument/2006/math">
                    <m:r>
                      <a:rPr lang="en-US" sz="22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200" b="0" i="0" u="none" strike="noStrike" baseline="0" dirty="0">
                  <a:solidFill>
                    <a:srgbClr val="000000"/>
                  </a:solidFill>
                  <a:latin typeface="FiraMono-Regular-Identity-H"/>
                </a:endParaRPr>
              </a:p>
              <a:p>
                <a:pPr marL="0" indent="0" algn="l">
                  <a:buNone/>
                </a:pPr>
                <a:r>
                  <a:rPr lang="en-US" sz="22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return None</a:t>
                </a:r>
                <a:endParaRPr lang="en-US" sz="2200" dirty="0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3B5AEE52-FA29-4C47-8831-91D76CF58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9800" y="1371600"/>
                <a:ext cx="4953000" cy="2472559"/>
              </a:xfrm>
              <a:prstGeom prst="rect">
                <a:avLst/>
              </a:prstGeom>
              <a:blipFill>
                <a:blip r:embed="rId3"/>
                <a:stretch>
                  <a:fillRect l="-1472" t="-1467" b="-4890"/>
                </a:stretch>
              </a:blip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876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A4254-DD66-449D-B298-7D0B2D96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of Expectation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9DFAED-5307-4C98-B780-B028C5FC6584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a random variable</a:t>
                </a:r>
              </a:p>
              <a:p>
                <a:r>
                  <a:rPr lang="en-US" dirty="0"/>
                  <a:t>The expectation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/>
                          </a:rPr>
                          <m:t>𝐼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𝐼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𝐼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E.g</a:t>
                </a:r>
                <a:r>
                  <a:rPr lang="en-US" dirty="0"/>
                  <a:t>, coin flip </a:t>
                </a:r>
              </a:p>
              <a:p>
                <a:endParaRPr lang="en-US" dirty="0"/>
              </a:p>
              <a:p>
                <a:r>
                  <a:rPr lang="en-US" dirty="0"/>
                  <a:t>Linearity of expectation: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+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Conditional expectation: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d>
                      <m:dPr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𝑌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𝑌</m:t>
                            </m:r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+</m:t>
                        </m:r>
                        <m:r>
                          <a:rPr lang="en-US" b="0" i="1" smtClean="0">
                            <a:latin typeface="Cambria Math"/>
                          </a:rPr>
                          <m:t>𝐸</m:t>
                        </m:r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𝑋</m:t>
                        </m:r>
                      </m:e>
                    </m:func>
                    <m:d>
                      <m:dPr>
                        <m:beg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𝑁𝑜𝑡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𝑌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1 −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𝑌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29DFAED-5307-4C98-B780-B028C5FC65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0388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7E4D4-D2F4-41B9-8921-C9033FEB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linearity of expectation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D60D0F-16AC-46BE-B39B-1DF7905F7D5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5029200"/>
                <a:ext cx="8229600" cy="112776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𝐸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= expected running time for func2</a:t>
                </a:r>
              </a:p>
              <a:p>
                <a:r>
                  <a:rPr lang="en-US" sz="2400" dirty="0"/>
                  <a:t>What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𝐸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D60D0F-16AC-46BE-B39B-1DF7905F7D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5029200"/>
                <a:ext cx="8229600" cy="1127760"/>
              </a:xfrm>
              <a:blipFill>
                <a:blip r:embed="rId2"/>
                <a:stretch>
                  <a:fillRect l="-519" t="-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2CC59A3-F3E9-4733-8B5B-902D8480E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71612"/>
            <a:ext cx="5191125" cy="33813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06C5199-4723-4247-8471-6A87808A55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29200" y="2743200"/>
                <a:ext cx="3657600" cy="685800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>
                <a:defPPr>
                  <a:defRPr lang="en-US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kern="1200">
                    <a:solidFill>
                      <a:schemeClr val="tx1"/>
                    </a:solidFill>
                    <a:latin typeface="Times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2400" b="1" kern="1200">
                    <a:solidFill>
                      <a:schemeClr val="tx1"/>
                    </a:solidFill>
                    <a:latin typeface="Times" charset="0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b="0" dirty="0"/>
                  <a:t> + </a:t>
                </a:r>
                <a:r>
                  <a:rPr lang="en-US" b="0" dirty="0" err="1"/>
                  <a:t>cn</a:t>
                </a:r>
                <a:endParaRPr lang="en-US" b="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806C5199-4723-4247-8471-6A87808A55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29200" y="2743200"/>
                <a:ext cx="3657600" cy="685800"/>
              </a:xfrm>
              <a:prstGeom prst="rect">
                <a:avLst/>
              </a:prstGeom>
              <a:blipFill>
                <a:blip r:embed="rId4"/>
                <a:stretch>
                  <a:fillRect l="-166" b="-2609"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2651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09D69-4357-41FD-956E-3F2CA44F7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of Conditional expectation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6C5416-9837-4E12-8577-FCA20660D869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4876800"/>
                <a:ext cx="8229600" cy="13716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𝐸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/>
                  <a:t> = expected running time of func2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𝐸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400" dirty="0"/>
                  <a:t> = expected running time of func3</a:t>
                </a:r>
              </a:p>
              <a:p>
                <a:r>
                  <a:rPr lang="en-US" sz="2400" dirty="0"/>
                  <a:t>What is the expected running time of func1?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6C5416-9837-4E12-8577-FCA20660D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4876800"/>
                <a:ext cx="8229600" cy="1371600"/>
              </a:xfrm>
              <a:blipFill>
                <a:blip r:embed="rId2"/>
                <a:stretch>
                  <a:fillRect l="-519" t="-3556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7D8C6336-E443-44E4-AE67-2DE5C8185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57" y="1395577"/>
            <a:ext cx="4133850" cy="32575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11">
                <a:extLst>
                  <a:ext uri="{FF2B5EF4-FFF2-40B4-BE49-F238E27FC236}">
                    <a16:creationId xmlns:a16="http://schemas.microsoft.com/office/drawing/2014/main" id="{676C791C-DC46-4E88-872D-99E9373B4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53000" y="2494893"/>
                <a:ext cx="4133850" cy="990600"/>
              </a:xfrm>
              <a:prstGeom prst="rect">
                <a:avLst/>
              </a:prstGeom>
              <a:solidFill>
                <a:srgbClr val="FFCC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h𝑒𝑎𝑑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/>
                        </a:rPr>
                        <m:t>𝐸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000" b="0" i="1" dirty="0"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      +(1 −</m:t>
                    </m:r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/>
                              </a:rPr>
                              <m:t>h𝑒𝑎𝑑</m:t>
                            </m:r>
                          </m:e>
                        </m:d>
                        <m:r>
                          <a:rPr lang="en-US" sz="2000" b="0" i="1" smtClean="0">
                            <a:latin typeface="Cambria Math"/>
                          </a:rPr>
                          <m:t>)</m:t>
                        </m:r>
                      </m:e>
                    </m:func>
                    <m:r>
                      <a:rPr lang="en-US" sz="2000" b="0" i="1" smtClean="0">
                        <a:latin typeface="Cambria Math"/>
                      </a:rPr>
                      <m:t>𝐸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/>
                          </a:rPr>
                          <m:t>𝑇</m:t>
                        </m:r>
                      </m:e>
                      <m:sub>
                        <m:r>
                          <a:rPr lang="en-US" sz="2000" b="0" i="1" smtClean="0">
                            <a:latin typeface="Cambria Math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000" b="0" dirty="0"/>
                  <a:t> </a:t>
                </a:r>
              </a:p>
            </p:txBody>
          </p:sp>
        </mc:Choice>
        <mc:Fallback xmlns="">
          <p:sp>
            <p:nvSpPr>
              <p:cNvPr id="5" name="Rectangle 11">
                <a:extLst>
                  <a:ext uri="{FF2B5EF4-FFF2-40B4-BE49-F238E27FC236}">
                    <a16:creationId xmlns:a16="http://schemas.microsoft.com/office/drawing/2014/main" id="{676C791C-DC46-4E88-872D-99E9373B4B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0" y="2494893"/>
                <a:ext cx="4133850" cy="9906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913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BA78C-6917-48A5-9CB1-91C5D40F4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Randomized 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E76B46-1C06-44D6-935C-E215B79CB342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5113168"/>
                <a:ext cx="8458200" cy="124153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𝑅𝑎𝑛𝑑𝑜𝑚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 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000" dirty="0"/>
                  <a:t>returns a number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s.t.</a:t>
                </a:r>
                <a:r>
                  <a:rPr lang="en-US" sz="2000" dirty="0"/>
                  <a:t> the probability that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 for any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E76B46-1C06-44D6-935C-E215B79CB3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5113168"/>
                <a:ext cx="8458200" cy="1241534"/>
              </a:xfrm>
              <a:blipFill>
                <a:blip r:embed="rId2"/>
                <a:stretch>
                  <a:fillRect l="-504" b="-1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>
            <a:extLst>
              <a:ext uri="{FF2B5EF4-FFF2-40B4-BE49-F238E27FC236}">
                <a16:creationId xmlns:a16="http://schemas.microsoft.com/office/drawing/2014/main" id="{38958A42-B8F8-4E5D-9D67-4A6F21B4D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1" y="1219200"/>
            <a:ext cx="4419600" cy="38309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9561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06C23-EE2D-4B94-9CB0-74F8B552A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E07337-E867-46EE-B98C-29CE0A15BC25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Worst Case: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Expected running time:</a:t>
                </a:r>
              </a:p>
              <a:p>
                <a:pPr lvl="1"/>
                <a:r>
                  <a:rPr lang="en-US" dirty="0"/>
                  <a:t>Step 1:  identify different possible cases</a:t>
                </a:r>
              </a:p>
              <a:p>
                <a:pPr lvl="1"/>
                <a:r>
                  <a:rPr lang="en-US" b="0" dirty="0"/>
                  <a:t>Step 2:  find the probability of each case</a:t>
                </a:r>
              </a:p>
              <a:p>
                <a:pPr lvl="1"/>
                <a:r>
                  <a:rPr lang="en-US" dirty="0"/>
                  <a:t>Step 3:  find the running time of each case </a:t>
                </a:r>
                <a:endParaRPr lang="en-US" b="0" dirty="0"/>
              </a:p>
              <a:p>
                <a:pPr lvl="1"/>
                <a:endParaRPr lang="en-US" b="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e>
                        </m:func>
                        <m:r>
                          <a:rPr lang="en-US" b="0" i="1" smtClean="0">
                            <a:latin typeface="Cambria Math"/>
                          </a:rPr>
                          <m:t>⋅(</m:t>
                        </m:r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den>
                        </m:f>
                        <m:r>
                          <a:rPr lang="en-US" i="1">
                            <a:latin typeface="Cambria Math"/>
                          </a:rPr>
                          <m:t>⋅(</m:t>
                        </m:r>
                        <m:r>
                          <a:rPr lang="en-US" i="1">
                            <a:latin typeface="Cambria Math"/>
                          </a:rPr>
                          <m:t>𝑐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i="1" dirty="0">
                  <a:latin typeface="Cambria Math"/>
                </a:endParaRPr>
              </a:p>
              <a:p>
                <a:pPr marL="457200" lvl="1" indent="0">
                  <a:buNone/>
                </a:pPr>
                <a:r>
                  <a:rPr lang="en-US" b="0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/>
                          </a:rPr>
                          <m:t>𝑖</m:t>
                        </m:r>
                        <m:r>
                          <a:rPr lang="en-US" i="1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/>
                              </a:rPr>
                              <m:t>𝑖</m:t>
                            </m:r>
                          </m:e>
                          <m:sup>
                            <m:r>
                              <a:rPr lang="en-US" i="1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E07337-E867-46EE-B98C-29CE0A15BC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58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CCCF5-CCC0-4E01-A285-0A89E8AE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Randomized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19C8E-2694-44DD-ACDE-211B9A6815E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4467225"/>
            <a:ext cx="8229600" cy="168973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054F0F-C678-480A-A92C-F7B74B81E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371600"/>
            <a:ext cx="5264203" cy="3686175"/>
          </a:xfrm>
          <a:prstGeom prst="rect">
            <a:avLst/>
          </a:prstGeom>
          <a:ln w="22225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188215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1F434-E5A4-4E0E-9727-93904E0F7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8A91F2-20A6-4A45-AF60-2A0417492A2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05400"/>
              </a:xfrm>
            </p:spPr>
            <p:txBody>
              <a:bodyPr/>
              <a:lstStyle/>
              <a:p>
                <a:r>
                  <a:rPr lang="en-US" dirty="0"/>
                  <a:t>Worst case running time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Best case? </a:t>
                </a:r>
              </a:p>
              <a:p>
                <a:r>
                  <a:rPr lang="en-US" dirty="0"/>
                  <a:t>Expected analysis</a:t>
                </a:r>
              </a:p>
              <a:p>
                <a:pPr lvl="1"/>
                <a:r>
                  <a:rPr lang="en-US" sz="2200" dirty="0"/>
                  <a:t>Step 1: </a:t>
                </a:r>
              </a:p>
              <a:p>
                <a:pPr lvl="2"/>
                <a:r>
                  <a:rPr lang="en-US" dirty="0"/>
                  <a:t>Identify there are two cases: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dirty="0"/>
              </a:p>
              <a:p>
                <a:pPr lvl="1"/>
                <a:r>
                  <a:rPr lang="en-US" sz="2200" dirty="0"/>
                  <a:t>Step 2: </a:t>
                </a:r>
              </a:p>
              <a:p>
                <a:pPr lvl="2"/>
                <a:r>
                  <a:rPr lang="en-US" b="0" dirty="0"/>
                  <a:t>Find probability of the two cases: 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func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sz="2200" dirty="0"/>
                  <a:t>Step 3: </a:t>
                </a:r>
              </a:p>
              <a:p>
                <a:pPr lvl="2"/>
                <a:r>
                  <a:rPr lang="en-US" dirty="0"/>
                  <a:t>Find time complexity for each case: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;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48A91F2-20A6-4A45-AF60-2A0417492A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05400"/>
              </a:xfrm>
              <a:blipFill>
                <a:blip r:embed="rId2"/>
                <a:stretch>
                  <a:fillRect l="-667" t="-1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2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78647-4ADA-46E9-8DF6-BEB2C2953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334BE-335B-4492-8934-01C3EF40292F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Expected 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</m:e>
                    </m:func>
                    <m:r>
                      <a:rPr lang="en-US" b="0" i="1" smtClean="0">
                        <a:latin typeface="Cambria Math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/>
                      </a:rPr>
                      <m:t>𝑖𝑚𝑒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)</m:t>
                    </m:r>
                    <m:r>
                      <a:rPr lang="en-US" i="1">
                        <a:latin typeface="Cambria Math"/>
                      </a:rPr>
                      <m:t>+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dirty="0"/>
                        <m:t>                   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e>
                          </m:d>
                        </m:e>
                      </m:func>
                      <m:r>
                        <a:rPr lang="en-US" i="1">
                          <a:latin typeface="Cambria Math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/>
                        </a:rPr>
                        <m:t>𝑖𝑚𝑒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              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/>
                        </a:rPr>
                        <m:t>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/>
                        </a:rPr>
                        <m:t>⋅(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⇒</m:t>
                    </m:r>
                    <m:r>
                      <a:rPr lang="en-US" b="0" i="1" smtClean="0">
                        <a:latin typeface="Cambria Math"/>
                      </a:rPr>
                      <m:t>𝐸𝑇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/>
                      </a:rPr>
                      <m:t>)=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/>
                      </a:rPr>
                      <m:t>) 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C334BE-335B-4492-8934-01C3EF4029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EFBB6EA-B2F3-4E59-97F6-5E20C817315E}"/>
              </a:ext>
            </a:extLst>
          </p:cNvPr>
          <p:cNvSpPr/>
          <p:nvPr/>
        </p:nvSpPr>
        <p:spPr>
          <a:xfrm>
            <a:off x="1181100" y="4267200"/>
            <a:ext cx="6781800" cy="1066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These are artificial examples. We will see later a randomized algorithm for the sorting problem. </a:t>
            </a:r>
          </a:p>
        </p:txBody>
      </p:sp>
    </p:spTree>
    <p:extLst>
      <p:ext uri="{BB962C8B-B14F-4D97-AF65-F5344CB8AC3E}">
        <p14:creationId xmlns:p14="http://schemas.microsoft.com/office/powerpoint/2010/main" val="2128004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590800"/>
            <a:ext cx="8229600" cy="990600"/>
          </a:xfrm>
        </p:spPr>
        <p:txBody>
          <a:bodyPr/>
          <a:lstStyle/>
          <a:p>
            <a:pPr algn="ctr"/>
            <a:r>
              <a:rPr lang="en-US" dirty="0"/>
              <a:t>Lower bound theory</a:t>
            </a:r>
          </a:p>
        </p:txBody>
      </p:sp>
    </p:spTree>
    <p:extLst>
      <p:ext uri="{BB962C8B-B14F-4D97-AF65-F5344CB8AC3E}">
        <p14:creationId xmlns:p14="http://schemas.microsoft.com/office/powerpoint/2010/main" val="2462298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D406E-1F18-4D89-976F-36AAFBD6E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and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DEFDC-43FA-4D5A-90A5-BCBE8864261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2400" dirty="0"/>
              <a:t>There can be many algorithms for solving the same problem.</a:t>
            </a:r>
          </a:p>
          <a:p>
            <a:pPr lvl="1"/>
            <a:r>
              <a:rPr lang="en-US" sz="2200" dirty="0"/>
              <a:t>Some have better time complexity than others.</a:t>
            </a:r>
          </a:p>
          <a:p>
            <a:pPr lvl="8"/>
            <a:endParaRPr lang="en-US" sz="1100" dirty="0"/>
          </a:p>
          <a:p>
            <a:r>
              <a:rPr lang="en-US" sz="2400" dirty="0"/>
              <a:t>An important question: </a:t>
            </a:r>
          </a:p>
          <a:p>
            <a:pPr lvl="1"/>
            <a:r>
              <a:rPr lang="en-US" sz="2200" dirty="0"/>
              <a:t>For a given problem,  what is the best possible time complexity?  </a:t>
            </a:r>
          </a:p>
          <a:p>
            <a:pPr lvl="8"/>
            <a:endParaRPr lang="en-US" sz="1400" dirty="0"/>
          </a:p>
          <a:p>
            <a:r>
              <a:rPr lang="en-US" sz="2400" dirty="0"/>
              <a:t>Such questions can be hard to answer</a:t>
            </a:r>
          </a:p>
          <a:p>
            <a:pPr lvl="1"/>
            <a:r>
              <a:rPr lang="en-US" sz="2200" dirty="0"/>
              <a:t>as typically we cannot ``enumerate” all possible algorithms </a:t>
            </a:r>
          </a:p>
          <a:p>
            <a:pPr lvl="8"/>
            <a:endParaRPr lang="en-US" sz="1100" dirty="0"/>
          </a:p>
          <a:p>
            <a:r>
              <a:rPr lang="en-US" sz="2400" dirty="0"/>
              <a:t>Often we try to provide a lower-bound </a:t>
            </a:r>
          </a:p>
          <a:p>
            <a:pPr lvl="1"/>
            <a:r>
              <a:rPr lang="en-US" sz="2200" dirty="0"/>
              <a:t>that is as tight as we can </a:t>
            </a:r>
          </a:p>
          <a:p>
            <a:pPr lvl="1"/>
            <a:r>
              <a:rPr lang="en-US" sz="2200" dirty="0"/>
              <a:t>Sometimes we know we have the right (tight) bound when there is an algorithm whose worst-case running time matches this lower bounds  </a:t>
            </a:r>
          </a:p>
        </p:txBody>
      </p:sp>
    </p:spTree>
    <p:extLst>
      <p:ext uri="{BB962C8B-B14F-4D97-AF65-F5344CB8AC3E}">
        <p14:creationId xmlns:p14="http://schemas.microsoft.com/office/powerpoint/2010/main" val="2219919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15B67-FE3B-4966-9BE9-9FFB928D5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Lower Bound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C961E-E0EB-4CBF-9221-87BA84D5A9E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1219200"/>
          </a:xfrm>
        </p:spPr>
        <p:txBody>
          <a:bodyPr/>
          <a:lstStyle/>
          <a:p>
            <a:r>
              <a:rPr lang="en-US" dirty="0"/>
              <a:t>No algorithm can have a better (worst case) time complexity than a </a:t>
            </a:r>
            <a:r>
              <a:rPr lang="en-US" dirty="0">
                <a:solidFill>
                  <a:srgbClr val="700000"/>
                </a:solidFill>
              </a:rPr>
              <a:t>theoretical lower bound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114393F-4A0B-4453-BAE1-2A690281E593}"/>
              </a:ext>
            </a:extLst>
          </p:cNvPr>
          <p:cNvSpPr txBox="1">
            <a:spLocks/>
          </p:cNvSpPr>
          <p:nvPr/>
        </p:nvSpPr>
        <p:spPr bwMode="auto">
          <a:xfrm>
            <a:off x="444062" y="2590799"/>
            <a:ext cx="8229600" cy="1524001"/>
          </a:xfrm>
          <a:prstGeom prst="rect">
            <a:avLst/>
          </a:prstGeom>
          <a:noFill/>
          <a:ln w="25400">
            <a:solidFill>
              <a:schemeClr val="accent1">
                <a:shade val="5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pitchFamily="18" charset="2"/>
              <a:buChar char="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pitchFamily="18" charset="2"/>
              <a:buChar char=""/>
              <a:defRPr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pitchFamily="18" charset="2"/>
              <a:buChar char="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8BA2B4"/>
              </a:buClr>
              <a:buSzPct val="70000"/>
              <a:buFont typeface="Wingdings" pitchFamily="2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Definition: </a:t>
            </a:r>
          </a:p>
          <a:p>
            <a:pPr marL="0" indent="0">
              <a:buNone/>
            </a:pPr>
            <a:r>
              <a:rPr lang="en-US" dirty="0"/>
              <a:t>𝑓(𝑛) is a </a:t>
            </a:r>
            <a:r>
              <a:rPr lang="en-US" dirty="0">
                <a:solidFill>
                  <a:srgbClr val="700000"/>
                </a:solidFill>
              </a:rPr>
              <a:t>theoretical lower bound </a:t>
            </a:r>
            <a:r>
              <a:rPr lang="en-US" dirty="0"/>
              <a:t>for a problem if every possible algorithm’s worst-case time complexity is Ω(𝑓(𝑛)).</a:t>
            </a:r>
          </a:p>
        </p:txBody>
      </p:sp>
    </p:spTree>
    <p:extLst>
      <p:ext uri="{BB962C8B-B14F-4D97-AF65-F5344CB8AC3E}">
        <p14:creationId xmlns:p14="http://schemas.microsoft.com/office/powerpoint/2010/main" val="835585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E2E57-E168-4F4B-AE2B-6DF4E5390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555D8-6629-4CBC-8DEF-3820E6C8D3A6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05400"/>
              </a:xfrm>
            </p:spPr>
            <p:txBody>
              <a:bodyPr/>
              <a:lstStyle/>
              <a:p>
                <a:r>
                  <a:rPr lang="en-US" dirty="0"/>
                  <a:t>The </a:t>
                </a:r>
                <a:r>
                  <a:rPr lang="en-US" dirty="0">
                    <a:solidFill>
                      <a:srgbClr val="700000"/>
                    </a:solidFill>
                  </a:rPr>
                  <a:t>Search</a:t>
                </a:r>
                <a:r>
                  <a:rPr lang="en-US" dirty="0"/>
                  <a:t> problem:</a:t>
                </a:r>
              </a:p>
              <a:p>
                <a:pPr lvl="1"/>
                <a:r>
                  <a:rPr lang="en-US" dirty="0"/>
                  <a:t>Input:      given an arbitrary array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numbers and a key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  return whether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or not</a:t>
                </a:r>
              </a:p>
              <a:p>
                <a:pPr lvl="7"/>
                <a:endParaRPr lang="en-US" dirty="0"/>
              </a:p>
              <a:p>
                <a:r>
                  <a:rPr lang="en-US" dirty="0"/>
                  <a:t>A trivial lower-bound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 wrong, but useless </a:t>
                </a:r>
              </a:p>
              <a:p>
                <a:pPr lvl="8"/>
                <a:endParaRPr lang="en-US" dirty="0"/>
              </a:p>
              <a:p>
                <a:r>
                  <a:rPr lang="en-US" dirty="0"/>
                  <a:t>A better lower-bound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as in the worst case, any algorithm will have to inspect every element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9555D8-6629-4CBC-8DEF-3820E6C8D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5105400"/>
              </a:xfrm>
              <a:blipFill>
                <a:blip r:embed="rId2"/>
                <a:stretch>
                  <a:fillRect l="-667" t="-1074" b="-20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DD53E7E-2921-4AE3-8819-EECB02F2CBC7}"/>
              </a:ext>
            </a:extLst>
          </p:cNvPr>
          <p:cNvSpPr/>
          <p:nvPr/>
        </p:nvSpPr>
        <p:spPr>
          <a:xfrm>
            <a:off x="5486400" y="3276600"/>
            <a:ext cx="2667000" cy="838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/>
              <a:t>Can we get a better lower-bound? </a:t>
            </a:r>
          </a:p>
        </p:txBody>
      </p:sp>
    </p:spTree>
    <p:extLst>
      <p:ext uri="{BB962C8B-B14F-4D97-AF65-F5344CB8AC3E}">
        <p14:creationId xmlns:p14="http://schemas.microsoft.com/office/powerpoint/2010/main" val="394390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7626C-5F7F-4EF4-8A78-38AFE73DF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Tight Lower bound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9BC07-62D0-413C-B8F7-B1DE6ED86BDE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724400"/>
              </a:xfrm>
            </p:spPr>
            <p:txBody>
              <a:bodyPr/>
              <a:lstStyle/>
              <a:p>
                <a:r>
                  <a:rPr lang="en-US" dirty="0"/>
                  <a:t>A lower-bound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for problem-P is </a:t>
                </a:r>
                <a:r>
                  <a:rPr lang="en-US" dirty="0">
                    <a:solidFill>
                      <a:srgbClr val="700000"/>
                    </a:solidFill>
                  </a:rPr>
                  <a:t>tight</a:t>
                </a:r>
                <a:r>
                  <a:rPr lang="en-US" dirty="0"/>
                  <a:t> if there exists an algorithm for problem-P whose worst-case running time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 </a:t>
                </a:r>
              </a:p>
              <a:p>
                <a:pPr lvl="1"/>
                <a:r>
                  <a:rPr lang="en-US" dirty="0"/>
                  <a:t>In some sense, this algorithm has </a:t>
                </a:r>
                <a:r>
                  <a:rPr lang="en-US" dirty="0">
                    <a:solidFill>
                      <a:srgbClr val="700000"/>
                    </a:solidFill>
                  </a:rPr>
                  <a:t>optimal</a:t>
                </a:r>
                <a:r>
                  <a:rPr lang="en-US" dirty="0"/>
                  <a:t> running time.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Back to the </a:t>
                </a:r>
                <a:r>
                  <a:rPr lang="en-US" dirty="0">
                    <a:solidFill>
                      <a:srgbClr val="700000"/>
                    </a:solidFill>
                  </a:rPr>
                  <a:t>Search</a:t>
                </a:r>
                <a:r>
                  <a:rPr lang="en-US" dirty="0"/>
                  <a:t> problem</a:t>
                </a:r>
              </a:p>
              <a:p>
                <a:pPr lvl="1"/>
                <a:r>
                  <a:rPr lang="en-US" dirty="0"/>
                  <a:t>There is an algorithm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Hence the lower bound </a:t>
                </a:r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tight 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19BC07-62D0-413C-B8F7-B1DE6ED86B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724400"/>
              </a:xfrm>
              <a:blipFill>
                <a:blip r:embed="rId2"/>
                <a:stretch>
                  <a:fillRect l="-667" t="-1161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57926F7-9D7C-4BCC-BD1D-B3234E49121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724400" y="3429000"/>
                <a:ext cx="4191000" cy="2285999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273050" indent="-273050" algn="l" rtl="0" eaLnBrk="0" fontAlgn="base" hangingPunct="0">
                  <a:spcBef>
                    <a:spcPts val="600"/>
                  </a:spcBef>
                  <a:spcAft>
                    <a:spcPct val="0"/>
                  </a:spcAft>
                  <a:buClr>
                    <a:schemeClr val="accent1"/>
                  </a:buClr>
                  <a:buSzPct val="76000"/>
                  <a:buFont typeface="Wingdings 3" pitchFamily="18" charset="2"/>
                  <a:buChar char=""/>
                  <a:defRPr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7688" indent="-27305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chemeClr val="accent2"/>
                  </a:buClr>
                  <a:buSzPct val="76000"/>
                  <a:buFont typeface="Wingdings 3" pitchFamily="18" charset="2"/>
                  <a:buChar char=""/>
                  <a:defRPr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325" indent="-228600" algn="l" rtl="0" eaLnBrk="0" fontAlgn="base" hangingPunct="0">
                  <a:spcBef>
                    <a:spcPts val="500"/>
                  </a:spcBef>
                  <a:spcAft>
                    <a:spcPct val="0"/>
                  </a:spcAft>
                  <a:buClr>
                    <a:srgbClr val="BCBCBC"/>
                  </a:buClr>
                  <a:buSzPct val="76000"/>
                  <a:buFont typeface="Wingdings 3" pitchFamily="18" charset="2"/>
                  <a:buChar char="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6963" indent="-228600" algn="l" rtl="0" eaLnBrk="0" fontAlgn="base" hangingPunct="0">
                  <a:spcBef>
                    <a:spcPts val="400"/>
                  </a:spcBef>
                  <a:spcAft>
                    <a:spcPct val="0"/>
                  </a:spcAft>
                  <a:buClr>
                    <a:srgbClr val="8BA2B4"/>
                  </a:buClr>
                  <a:buSzPct val="70000"/>
                  <a:buFont typeface="Wingdings" pitchFamily="2" charset="2"/>
                  <a:buChar char="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0" fontAlgn="base" hangingPunct="0">
                  <a:spcBef>
                    <a:spcPts val="3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itchFamily="2" charset="2"/>
                  <a:buChar char="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def </a:t>
                </a:r>
                <a:r>
                  <a:rPr lang="en-US" sz="2400" b="0" i="0" u="none" strike="noStrike" baseline="0" dirty="0" err="1">
                    <a:solidFill>
                      <a:srgbClr val="0000FF"/>
                    </a:solidFill>
                    <a:latin typeface="FiraMono-Regular-Identity-H"/>
                  </a:rPr>
                  <a:t>linear_search</a:t>
                </a:r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):</a:t>
                </a:r>
              </a:p>
              <a:p>
                <a:pPr marL="0" indent="0" algn="l">
                  <a:buNone/>
                </a:pPr>
                <a:r>
                  <a:rPr lang="it-IT" sz="24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for </a:t>
                </a:r>
                <a14:m>
                  <m:oMath xmlns:m="http://schemas.openxmlformats.org/officeDocument/2006/math">
                    <m:r>
                      <a:rPr lang="it-IT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it-IT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400" b="0" i="0" u="none" strike="noStrike" baseline="0" dirty="0">
                    <a:solidFill>
                      <a:srgbClr val="AC21FF"/>
                    </a:solidFill>
                    <a:latin typeface="FiraMono-Medium-Identity-H"/>
                  </a:rPr>
                  <a:t>in </a:t>
                </a:r>
                <a:r>
                  <a:rPr lang="it-IT" sz="2400" b="0" i="0" u="none" strike="noStrike" baseline="0" dirty="0">
                    <a:solidFill>
                      <a:srgbClr val="008000"/>
                    </a:solidFill>
                    <a:latin typeface="FiraMono-Regular-Identity-H"/>
                  </a:rPr>
                  <a:t>enumerate</a:t>
                </a:r>
                <a:r>
                  <a:rPr lang="it-IT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(</a:t>
                </a:r>
                <a14:m>
                  <m:oMath xmlns:m="http://schemas.openxmlformats.org/officeDocument/2006/math">
                    <m:r>
                      <a:rPr lang="it-IT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it-IT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):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        if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== </m:t>
                    </m:r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b="0" i="0" u="none" strike="noStrike" baseline="0" dirty="0">
                    <a:solidFill>
                      <a:srgbClr val="000000"/>
                    </a:solidFill>
                    <a:latin typeface="FiraMono-Regular-Identity-H"/>
                  </a:rPr>
                  <a:t>:</a:t>
                </a: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	    return </a:t>
                </a:r>
                <a14:m>
                  <m:oMath xmlns:m="http://schemas.openxmlformats.org/officeDocument/2006/math">
                    <m:r>
                      <a:rPr lang="en-US" sz="24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sz="2400" b="0" i="0" u="none" strike="noStrike" baseline="0" dirty="0">
                  <a:solidFill>
                    <a:srgbClr val="000000"/>
                  </a:solidFill>
                  <a:latin typeface="FiraMono-Regular-Identity-H"/>
                </a:endParaRPr>
              </a:p>
              <a:p>
                <a:pPr marL="0" indent="0" algn="l">
                  <a:buNone/>
                </a:pPr>
                <a:r>
                  <a:rPr lang="en-US" sz="2400" b="0" i="0" u="none" strike="noStrike" baseline="0" dirty="0">
                    <a:solidFill>
                      <a:srgbClr val="008000"/>
                    </a:solidFill>
                    <a:latin typeface="FiraMono-Medium-Identity-H"/>
                  </a:rPr>
                  <a:t>	return None</a:t>
                </a:r>
                <a:endParaRPr lang="en-US" sz="32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57926F7-9D7C-4BCC-BD1D-B3234E491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0" y="3429000"/>
                <a:ext cx="4191000" cy="2285999"/>
              </a:xfrm>
              <a:prstGeom prst="rect">
                <a:avLst/>
              </a:prstGeom>
              <a:blipFill>
                <a:blip r:embed="rId3"/>
                <a:stretch>
                  <a:fillRect l="-2026" t="-1857" b="-2918"/>
                </a:stretch>
              </a:blip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239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AD14C-6D94-4048-8030-AF3B00C6A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76400"/>
            <a:ext cx="8229600" cy="990600"/>
          </a:xfrm>
        </p:spPr>
        <p:txBody>
          <a:bodyPr/>
          <a:lstStyle/>
          <a:p>
            <a:pPr algn="ctr"/>
            <a:r>
              <a:rPr lang="en-US" sz="3600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5370834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YUSU@WQEIJCNFUVWXY5M7" val="3343"/>
  <p:tag name="FIRSTYUSU@YOW8PJOFUVWXY5L9" val="3347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20126</TotalTime>
  <Words>1082</Words>
  <Application>Microsoft Office PowerPoint</Application>
  <PresentationFormat>On-screen Show (4:3)</PresentationFormat>
  <Paragraphs>176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7" baseType="lpstr">
      <vt:lpstr>FiraMono-Regular-Identity-H</vt:lpstr>
      <vt:lpstr>Cambria Math</vt:lpstr>
      <vt:lpstr>Gill Sans MT</vt:lpstr>
      <vt:lpstr>Wingdings 3</vt:lpstr>
      <vt:lpstr>Arial</vt:lpstr>
      <vt:lpstr>FiraMono-Medium-Identity-H</vt:lpstr>
      <vt:lpstr>Calibri</vt:lpstr>
      <vt:lpstr>Bookman Old Style</vt:lpstr>
      <vt:lpstr>Calibri Light</vt:lpstr>
      <vt:lpstr>Times</vt:lpstr>
      <vt:lpstr>Wingdings</vt:lpstr>
      <vt:lpstr>Origin</vt:lpstr>
      <vt:lpstr>1_Custom Design</vt:lpstr>
      <vt:lpstr>Custom Design</vt:lpstr>
      <vt:lpstr>DSC40B: Theoretical Foundations of Data Science II </vt:lpstr>
      <vt:lpstr>Previously</vt:lpstr>
      <vt:lpstr>Expected Analysis</vt:lpstr>
      <vt:lpstr>A simple example</vt:lpstr>
      <vt:lpstr>Expected Running Time </vt:lpstr>
      <vt:lpstr>Linear-search algorithm </vt:lpstr>
      <vt:lpstr>Remark</vt:lpstr>
      <vt:lpstr>Analyzing randomized algorithms</vt:lpstr>
      <vt:lpstr>Randomized linear search example</vt:lpstr>
      <vt:lpstr>Review of Expectation</vt:lpstr>
      <vt:lpstr>Use of linearity of expectation</vt:lpstr>
      <vt:lpstr>Use of Conditional expectation</vt:lpstr>
      <vt:lpstr>Randomized example 1</vt:lpstr>
      <vt:lpstr>Running time analysis</vt:lpstr>
      <vt:lpstr>Randomized example 2</vt:lpstr>
      <vt:lpstr>Running time analysis</vt:lpstr>
      <vt:lpstr>Expected analysis</vt:lpstr>
      <vt:lpstr>Lower bound theory</vt:lpstr>
      <vt:lpstr>Problems and algorithms</vt:lpstr>
      <vt:lpstr>Lower Bound</vt:lpstr>
      <vt:lpstr>A simple example</vt:lpstr>
      <vt:lpstr>Tight Lower bound</vt:lpstr>
      <vt:lpstr>FIN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wang, yusu</dc:creator>
  <cp:lastModifiedBy>enid wang</cp:lastModifiedBy>
  <cp:revision>1264</cp:revision>
  <dcterms:created xsi:type="dcterms:W3CDTF">2006-08-16T00:00:00Z</dcterms:created>
  <dcterms:modified xsi:type="dcterms:W3CDTF">2021-01-13T18:19:03Z</dcterms:modified>
</cp:coreProperties>
</file>