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56"/>
  </p:notesMasterIdLst>
  <p:sldIdLst>
    <p:sldId id="256" r:id="rId4"/>
    <p:sldId id="779" r:id="rId5"/>
    <p:sldId id="785" r:id="rId6"/>
    <p:sldId id="812" r:id="rId7"/>
    <p:sldId id="813" r:id="rId8"/>
    <p:sldId id="814" r:id="rId9"/>
    <p:sldId id="816" r:id="rId10"/>
    <p:sldId id="818" r:id="rId11"/>
    <p:sldId id="815" r:id="rId12"/>
    <p:sldId id="819" r:id="rId13"/>
    <p:sldId id="820" r:id="rId14"/>
    <p:sldId id="821" r:id="rId15"/>
    <p:sldId id="822" r:id="rId16"/>
    <p:sldId id="824" r:id="rId17"/>
    <p:sldId id="825" r:id="rId18"/>
    <p:sldId id="828" r:id="rId19"/>
    <p:sldId id="826" r:id="rId20"/>
    <p:sldId id="827" r:id="rId21"/>
    <p:sldId id="841" r:id="rId22"/>
    <p:sldId id="849" r:id="rId23"/>
    <p:sldId id="850" r:id="rId24"/>
    <p:sldId id="842" r:id="rId25"/>
    <p:sldId id="843" r:id="rId26"/>
    <p:sldId id="833" r:id="rId27"/>
    <p:sldId id="834" r:id="rId28"/>
    <p:sldId id="835" r:id="rId29"/>
    <p:sldId id="831" r:id="rId30"/>
    <p:sldId id="832" r:id="rId31"/>
    <p:sldId id="836" r:id="rId32"/>
    <p:sldId id="837" r:id="rId33"/>
    <p:sldId id="839" r:id="rId34"/>
    <p:sldId id="840" r:id="rId35"/>
    <p:sldId id="845" r:id="rId36"/>
    <p:sldId id="846" r:id="rId37"/>
    <p:sldId id="838" r:id="rId38"/>
    <p:sldId id="851" r:id="rId39"/>
    <p:sldId id="852" r:id="rId40"/>
    <p:sldId id="853" r:id="rId41"/>
    <p:sldId id="854" r:id="rId42"/>
    <p:sldId id="856" r:id="rId43"/>
    <p:sldId id="857" r:id="rId44"/>
    <p:sldId id="858" r:id="rId45"/>
    <p:sldId id="859" r:id="rId46"/>
    <p:sldId id="860" r:id="rId47"/>
    <p:sldId id="867" r:id="rId48"/>
    <p:sldId id="847" r:id="rId49"/>
    <p:sldId id="861" r:id="rId50"/>
    <p:sldId id="863" r:id="rId51"/>
    <p:sldId id="865" r:id="rId52"/>
    <p:sldId id="864" r:id="rId53"/>
    <p:sldId id="866" r:id="rId54"/>
    <p:sldId id="811" r:id="rId55"/>
  </p:sldIdLst>
  <p:sldSz cx="9144000" cy="6858000" type="screen4x3"/>
  <p:notesSz cx="6858000" cy="9144000"/>
  <p:embeddedFontLst>
    <p:embeddedFont>
      <p:font typeface="Abadi" panose="020B0604020104020204" pitchFamily="34" charset="0"/>
      <p:regular r:id="rId57"/>
    </p:embeddedFont>
    <p:embeddedFont>
      <p:font typeface="Arial Nova Cond" panose="020B0506020202020204" pitchFamily="34" charset="0"/>
      <p:regular r:id="rId58"/>
      <p:bold r:id="rId59"/>
      <p:italic r:id="rId60"/>
      <p:boldItalic r:id="rId61"/>
    </p:embeddedFont>
    <p:embeddedFont>
      <p:font typeface="Bookman Old Style" panose="02050604050505020204" pitchFamily="18" charset="0"/>
      <p:regular r:id="rId62"/>
      <p:bold r:id="rId63"/>
      <p:italic r:id="rId64"/>
      <p:boldItalic r:id="rId65"/>
    </p:embeddedFont>
    <p:embeddedFont>
      <p:font typeface="Calibri" panose="020F0502020204030204" pitchFamily="34" charset="0"/>
      <p:regular r:id="rId66"/>
      <p:bold r:id="rId67"/>
      <p:italic r:id="rId68"/>
      <p:boldItalic r:id="rId69"/>
    </p:embeddedFont>
    <p:embeddedFont>
      <p:font typeface="Calibri Light" panose="020F0302020204030204" pitchFamily="34" charset="0"/>
      <p:regular r:id="rId70"/>
      <p:italic r:id="rId71"/>
    </p:embeddedFont>
    <p:embeddedFont>
      <p:font typeface="Cambria Math" panose="02040503050406030204" pitchFamily="18" charset="0"/>
      <p:regular r:id="rId72"/>
    </p:embeddedFont>
    <p:embeddedFont>
      <p:font typeface="Gill Sans MT" panose="020B0502020104020203" pitchFamily="34" charset="0"/>
      <p:regular r:id="rId73"/>
      <p:bold r:id="rId74"/>
      <p:italic r:id="rId75"/>
      <p:boldItalic r:id="rId76"/>
    </p:embeddedFont>
    <p:embeddedFont>
      <p:font typeface="Segoe UI" panose="020B0502040204020203" pitchFamily="34" charset="0"/>
      <p:regular r:id="rId77"/>
      <p:bold r:id="rId78"/>
      <p:italic r:id="rId79"/>
      <p:boldItalic r:id="rId80"/>
    </p:embeddedFont>
    <p:embeddedFont>
      <p:font typeface="Times" panose="02020603050405020304" pitchFamily="18" charset="0"/>
      <p:regular r:id="rId81"/>
      <p:bold r:id="rId82"/>
      <p:italic r:id="rId83"/>
      <p:boldItalic r:id="rId84"/>
    </p:embeddedFont>
    <p:embeddedFont>
      <p:font typeface="Wingdings 3" panose="05040102010807070707" pitchFamily="18" charset="2"/>
      <p:regular r:id="rId85"/>
    </p:embeddedFont>
  </p:embeddedFontLst>
  <p:custDataLst>
    <p:tags r:id="rId8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000"/>
    <a:srgbClr val="6E7792"/>
    <a:srgbClr val="0B0E8F"/>
    <a:srgbClr val="FF9900"/>
    <a:srgbClr val="FFFFCC"/>
    <a:srgbClr val="46464C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0909" autoAdjust="0"/>
  </p:normalViewPr>
  <p:slideViewPr>
    <p:cSldViewPr>
      <p:cViewPr varScale="1">
        <p:scale>
          <a:sx n="61" d="100"/>
          <a:sy n="61" d="100"/>
        </p:scale>
        <p:origin x="14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84" Type="http://schemas.openxmlformats.org/officeDocument/2006/relationships/font" Target="fonts/font28.fntdata"/><Relationship Id="rId89" Type="http://schemas.openxmlformats.org/officeDocument/2006/relationships/theme" Target="theme/theme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font" Target="fonts/font2.fntdata"/><Relationship Id="rId74" Type="http://schemas.openxmlformats.org/officeDocument/2006/relationships/font" Target="fonts/font18.fntdata"/><Relationship Id="rId79" Type="http://schemas.openxmlformats.org/officeDocument/2006/relationships/font" Target="fonts/font23.fntdata"/><Relationship Id="rId5" Type="http://schemas.openxmlformats.org/officeDocument/2006/relationships/slide" Target="slides/slide2.xml"/><Relationship Id="rId90" Type="http://schemas.openxmlformats.org/officeDocument/2006/relationships/tableStyles" Target="tableStyles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77" Type="http://schemas.openxmlformats.org/officeDocument/2006/relationships/font" Target="fonts/font21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16.fntdata"/><Relationship Id="rId80" Type="http://schemas.openxmlformats.org/officeDocument/2006/relationships/font" Target="fonts/font24.fntdata"/><Relationship Id="rId85" Type="http://schemas.openxmlformats.org/officeDocument/2006/relationships/font" Target="fonts/font29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font" Target="fonts/font19.fntdata"/><Relationship Id="rId83" Type="http://schemas.openxmlformats.org/officeDocument/2006/relationships/font" Target="fonts/font27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1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font" Target="fonts/font17.fntdata"/><Relationship Id="rId78" Type="http://schemas.openxmlformats.org/officeDocument/2006/relationships/font" Target="fonts/font22.fntdata"/><Relationship Id="rId81" Type="http://schemas.openxmlformats.org/officeDocument/2006/relationships/font" Target="fonts/font25.fntdata"/><Relationship Id="rId86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font" Target="fonts/font20.fntdata"/><Relationship Id="rId7" Type="http://schemas.openxmlformats.org/officeDocument/2006/relationships/slide" Target="slides/slide4.xml"/><Relationship Id="rId71" Type="http://schemas.openxmlformats.org/officeDocument/2006/relationships/font" Target="fonts/font1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font" Target="fonts/font10.fntdata"/><Relationship Id="rId87" Type="http://schemas.openxmlformats.org/officeDocument/2006/relationships/presProps" Target="presProps.xml"/><Relationship Id="rId61" Type="http://schemas.openxmlformats.org/officeDocument/2006/relationships/font" Target="fonts/font5.fntdata"/><Relationship Id="rId82" Type="http://schemas.openxmlformats.org/officeDocument/2006/relationships/font" Target="fonts/font26.fntdata"/><Relationship Id="rId19" Type="http://schemas.openxmlformats.org/officeDocument/2006/relationships/slide" Target="slides/slide1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5T23:48:59.24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524 115 15,'5'16'29,"-5"-16"2,0 0-6,0 0-6,-2-21-3,2 21-3,2-15-4,-2 15-1,1-21-3,-1 21 0,-6-24-1,6 24-1,-21-23 0,5 15-1,-10-1 0,-2 4-1,-6 3 1,-5 4-2,-2 3 1,-3 6 0,1 4-1,-2 7 0,7 4 0,1 4 0,6 1 0,3 3 0,5 1 0,8-2 0,4-6 0,8-1 0,1-3 0,9-3 1,7-4-1,9-2 1,6-2-1,6-2 0,5 0 1,3 1 0,6-4-1,-2 3 1,0-1-1,-2 1 1,-5 2-1,-2 0 1,-7 4-1,-1 1 0,-8 0 0,-5 9 1,-6-2 1,-2 4-2,-8 0 2,-1-1-2,-7 1 2,-3-2-2,-2-4 2,-2-5-2,-5-1 1,-4-6 0,-1-3 0,-6-2-1,-3-5 1,-5-1 0,-3-4-1,-5-4 0,1-3 1,2 1-1,0-1 0,6 0 0,6-1-1,5 2 2,8 3-2,18 8-1,-17-11-1,17 11-1,0 0-5,0 0-17,0 0-12,0 0-1,16-5 1,-16 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5T23:48:59.25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500 60 53,'-5'-17'35,"5"17"-1,-21-24-11,21 24-8,-34-11-5,16 11-2,-13-8-3,5 8-1,-10 0-1,1 8 0,-5 5-2,2 4 0,-1 4 0,3 6 0,1 3-1,4 4 1,5 1 0,5 3 0,4-6-1,8 1 1,7-4 0,8 4 0,2-5 0,10 0 0,2-4 0,8-2 0,2-3 0,8 4 0,0-6 0,9-3 0,2-4 0,1-1-1,4-6 1,1 2-2,3 0 1,-6-3-2,2 14-5,-25-13-32,7 6 1,-9-4-1,-8-2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5T23:48:59.25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7738 552 16,'-24'2'30,"24"-2"-1,0 0 3,-24-29-18,24 29-2,-16-21-4,16 21-1,-26-28-2,11 15-2,-11-3 0,0 6-1,-9 3-1,0 8 0,-1 6-1,-3 9 0,3 6 0,0 8 1,3 8-2,7 7 2,6 1 1,5 1-2,8-1 2,9-1-1,5-5 2,12-5-2,8-13 1,12-5-1,4-10 0,7-9 0,2-10 0,4-8 0,1-6-2,-1-11 1,-8-9-1,-2-8 1,-10-6-1,-6-6 0,-11-11 0,-7-10 0,-11-1 1,-6-5-1,-5 5 1,-2 7 0,-4 8 0,0 11 0,3 21 0,0 15 0,13 26 1,-15 7-1,8 19 0,3 17 1,1 12-1,-1 14 0,3 9 0,1 6 1,1 4-1,1 6 2,3-1-1,4-5 0,-2-3 1,3-11-1,3-5 1,0-5-2,0-11 2,1-10-2,-2-6 0,-2-6 0,-1-9-1,-2-6 1,-7-16-2,1 20 0,-1-20-4,0 0-8,-17 6-21,17-6 1,0 0-2,-22-11 2</inkml:trace>
  <inkml:trace contextRef="#ctx0" brushRef="#br0" timeOffset="1">5260-606 12,'-4'-19'28,"4"19"0,0 0-8,0 0-3,0 0-3,0 0-2,0 0-2,0 0-2,4 22-1,-4-22-2,-16 45 0,2-15 0,4 13-2,-6 3 0,6 10 0,-4-1-1,5 4-1,-3-8 0,5-1-1,0-6 0,4-10 1,1-5-2,-3-11-1,3-3-3,2-15-15,0 0-15,0 0 0,0 0-1,-7-24 1</inkml:trace>
  <inkml:trace contextRef="#ctx0" brushRef="#br0" timeOffset="2">2696-142 10,'0'0'30,"-4"-20"0,4 2-4,0 18-9,-14-38-2,14 38-4,-22-45-2,13 28-2,-15-10-2,1 11-1,-10-1-1,2 8-1,-7 6 0,0 8-1,-2 10 0,-2 6-1,2 10 0,2 4 0,3 6-1,4 1 1,3 1 0,6 2 0,4 0-1,8-2 1,5-2 0,8-6 0,6-4 0,6-4 1,8-8-1,6-7 1,4-12 0,6-5-1,4-14 1,4-3 0,0-9-1,-2-4 1,-2-6 0,-5-1-1,-5-3 1,-3 1-1,-11 4 1,-5 5 0,-5 4 1,-4 11-2,-5 20 1,-4-16 0,4 16 0,-15 28 0,6-1-1,0 10 1,2 2-1,2 8 0,3 1 0,8 2 1,2 2-1,6-4 0,4-1 1,4-6-1,4-3-1,-2-8-1,9 1-3,-13-23-11,2 6-20,2-5 0,-3-7-1,-2-4 0</inkml:trace>
  <inkml:trace contextRef="#ctx0" brushRef="#br0" timeOffset="3">849 2384 32,'0'16'28,"0"-16"2,-18 37 0,13 0-21,-11-8 0,13 18-1,-11-9-1,11 8 0,-10-3-2,12 8-1,-11-8 0,6-2-2,-6-3 0,7-5-2,-4-5 1,2-4-2,0-7 1,7-17-3,-5 21-4,5-21-10,0 0-16,0 0 0,-12-28-1,17 7 0</inkml:trace>
  <inkml:trace contextRef="#ctx0" brushRef="#br0" timeOffset="4">19 278 6,'-9'-19'26,"9"19"0,0 0-6,0-19-4,0 19-3,-3-21-2,3 21-2,0-24-2,0 24-2,1-31 0,6 14-2,-3-6 1,6 6-2,-1-6 1,3 8-1,0-8 0,4 11 1,-16 12-1,33-20-1,-18 9 1,5 10-1,0-1 1,3 4-2,-2-1 1,3 5 0,-3-1 0,0 7-1,-2 0 1,2 5-1,-9 4 1,0 1-1,-2 4 0,-3 2 1,-3 1-1,-4 2 1,-2 0-1,-3 0 0,-2-1 0,-4-1 1,1-1-1,-2 1 0,-2-1 0,-3-2 0,-1-1 0,-1 1 1,0-3-1,2-1 0,-2-1 1,0 3-1,-1-1 0,7-3 1,-1-1 0,0 2-1,0-4 1,2 2-1,0 0 1,12-19-1,-21 24 1,21-24-2,-19 19 1,19-19 0,-16 19 0,16-19 0,0 0 0,-17 18 0,17-18 0,0 0 0,0 0 0,0 0 1,0 0-1,0 0 0,0 0 0,0 0 1,0 0-1,0 0 1,0 0-1,0 0 0,3-19 1,-3 19-1,18-16 1,-18 16 0,29-12-1,-10 7 1,0 0-1,4 1 1,3 4-1,2 0 1,-1 4-1,1-1 0,0 1 0,-4 1 0,1 0 0,-3 0 0,-6-1 0,-16-4 0,22 8 1,-22-8-2,0 0 2,0 0-2,0 0 0,0 0-2,4 16-11,-4-16-21,-21 5-2,21-5 1,-30-7-2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5T23:48:59.25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124 124 7,'0'0'25,"0"0"2,0 0-7,-6-22-2,6 22-4,0 0-2,0 0-2,-4-25-2,4 25-2,0 0-1,7-17 0,-7 17-2,0 0 0,0-21-1,0 21 0,0 0 0,0 0 1,0-20-2,0 20 1,0 0 0,0 0 0,0-19-1,0 19 1,0 0-1,0 0 0,0 0 0,0 0 0,-9 24 1,4-5-1,-4 7 1,-3 7-1,0 6 1,-2 6-1,0 5 0,4 2 0,-2-2-1,3-2 1,2-4-2,2-7 2,3-7-2,0-8 0,4-4-2,-2-18-1,5 24-7,-5-24-15,0 0-10,0 0-1,0 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5T23:48:59.25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2655-2164 34,'-7'-33'31,"9"16"-1,-2 17-9,-8-33-4,8 33-5,0 0-3,0 0-2,-14 29-2,14 6-1,-7 1-2,5 14 1,-2 7-1,3 10 1,-1 4 0,4 3-1,-1-3 0,3 0-1,1-9 1,2-1-1,0-11 0,0-9 0,2-10-1,-2-10 0,-7-21 1,0 0-1,17 0 0,-10-17 0,-2-8 1,4-7-1,-1-5 0,3-2 0,1 1 0,2 1 0,2 6-1,1 4 1,4 6 0,0 9 0,5 5 1,1 9-1,-1 5 0,4 5 1,-1 8 0,-1 5 0,-2 2-1,-3 6 1,-8 2-1,-4 1 1,-6 2 0,-3-2 0,-7-3 0,-6-2 0,-6 0 0,-4 0 0,-5-5 0,-2 0 0,-5-7 0,-3 0 0,-2-9 0,-2-1 0,-2-9-1,2-10 0,0-6 0,4-6 0,4-3-2,5-4 0,9 3-2,-1-7-3,19 33-13,0-29-17,2 13-1,-2 16 1,7-22 1</inkml:trace>
  <inkml:trace contextRef="#ctx0" brushRef="#br0" timeOffset="1">3723-137 24,'0'-19'31,"0"19"0,0-19 1,-3 1-14,3 18-2,0 0-5,0 0-3,3-20-2,-3 20-1,0 0-1,0 0-1,0 0-1,0 0 1,0 0-1,3 17-1,-3-17 1,0 33 0,-1-9-1,1 10 1,0 4-1,0 9 0,0 0 1,0 6-1,1 2 0,1 2 0,0-5-1,0 0 0,1-6 0,1 1 0,-1-4 0,2-5 0,-1-5 1,1-5-2,-2-4 1,1-9-1,-4-15 0,5 16-2,-5-16-2,0 0-12,-5-17-20,5 17 0,-4-30-2,1 15 3</inkml:trace>
  <inkml:trace contextRef="#ctx0" brushRef="#br0" timeOffset="2">399 424 19,'21'8'33,"-21"-8"0,8-22 1,-8 22-13,-5-38-4,19 21-3,-21-16-5,10 7-3,-11-14-2,-1 4 0,-8-7-2,-1 1 0,-11-1 0,-1 5-1,-4 7 0,-3 14-1,-3 10 1,0 16-1,4 11 0,1 10 0,4 8-1,5 3 1,7-1 0,3-2 0,9-5-1,5-6 1,9-1 0,6-7 0,7 0 0,6-3 0,9-3 0,5 1 0,3 0 0,3 3 0,0 4 0,-4 7 0,-4-1 1,-3 6-1,-11 3 0,-5 2 0,-5 2 0,-7 3 1,-8-5-1,-3 4 0,-6 2 0,-6 0 0,-3-3 0,-9-5 0,-3-5-1,-4-5 1,-3-10 0,-2-9 0,-2-9 0,1-8 0,4-6 1,6-3-1,7-7 1,6-3-1,11-2 0,7-4 1,13-3-1,7-1 1,8-6 0,7-2 0,8-3 0,6 5 1,0 0-1,-1 4-1,-1 8-2,-9-5-7,4 16-27,-11 4-1,-8 1 0,-3 1-2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5T23:48:59.24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524 115 15,'5'16'29,"-5"-16"2,0 0-6,0 0-6,-2-21-3,2 21-3,2-15-4,-2 15-1,1-21-3,-1 21 0,-6-24-1,6 24-1,-21-23 0,5 15-1,-10-1 0,-2 4-1,-6 3 1,-5 4-2,-2 3 1,-3 6 0,1 4-1,-2 7 0,7 4 0,1 4 0,6 1 0,3 3 0,5 1 0,8-2 0,4-6 0,8-1 0,1-3 0,9-3 1,7-4-1,9-2 1,6-2-1,6-2 0,5 0 1,3 1 0,6-4-1,-2 3 1,0-1-1,-2 1 1,-5 2-1,-2 0 1,-7 4-1,-1 1 0,-8 0 0,-5 9 1,-6-2 1,-2 4-2,-8 0 2,-1-1-2,-7 1 2,-3-2-2,-2-4 2,-2-5-2,-5-1 1,-4-6 0,-1-3 0,-6-2-1,-3-5 1,-5-1 0,-3-4-1,-5-4 0,1-3 1,2 1-1,0-1 0,6 0 0,6-1-1,5 2 2,8 3-2,18 8-1,-17-11-1,17 11-1,0 0-5,0 0-17,0 0-12,0 0-1,16-5 1,-16 5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5T23:48:59.25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500 60 53,'-5'-17'35,"5"17"-1,-21-24-11,21 24-8,-34-11-5,16 11-2,-13-8-3,5 8-1,-10 0-1,1 8 0,-5 5-2,2 4 0,-1 4 0,3 6 0,1 3-1,4 4 1,5 1 0,5 3 0,4-6-1,8 1 1,7-4 0,8 4 0,2-5 0,10 0 0,2-4 0,8-2 0,2-3 0,8 4 0,0-6 0,9-3 0,2-4 0,1-1-1,4-6 1,1 2-2,3 0 1,-6-3-2,2 14-5,-25-13-32,7 6 1,-9-4-1,-8-2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5T23:48:59.25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7738 552 16,'-24'2'30,"24"-2"-1,0 0 3,-24-29-18,24 29-2,-16-21-4,16 21-1,-26-28-2,11 15-2,-11-3 0,0 6-1,-9 3-1,0 8 0,-1 6-1,-3 9 0,3 6 0,0 8 1,3 8-2,7 7 2,6 1 1,5 1-2,8-1 2,9-1-1,5-5 2,12-5-2,8-13 1,12-5-1,4-10 0,7-9 0,2-10 0,4-8 0,1-6-2,-1-11 1,-8-9-1,-2-8 1,-10-6-1,-6-6 0,-11-11 0,-7-10 0,-11-1 1,-6-5-1,-5 5 1,-2 7 0,-4 8 0,0 11 0,3 21 0,0 15 0,13 26 1,-15 7-1,8 19 0,3 17 1,1 12-1,-1 14 0,3 9 0,1 6 1,1 4-1,1 6 2,3-1-1,4-5 0,-2-3 1,3-11-1,3-5 1,0-5-2,0-11 2,1-10-2,-2-6 0,-2-6 0,-1-9-1,-2-6 1,-7-16-2,1 20 0,-1-20-4,0 0-8,-17 6-21,17-6 1,0 0-2,-22-11 2</inkml:trace>
  <inkml:trace contextRef="#ctx0" brushRef="#br0" timeOffset="1">5260-606 12,'-4'-19'28,"4"19"0,0 0-8,0 0-3,0 0-3,0 0-2,0 0-2,0 0-2,4 22-1,-4-22-2,-16 45 0,2-15 0,4 13-2,-6 3 0,6 10 0,-4-1-1,5 4-1,-3-8 0,5-1-1,0-6 0,4-10 1,1-5-2,-3-11-1,3-3-3,2-15-15,0 0-15,0 0 0,0 0-1,-7-24 1</inkml:trace>
  <inkml:trace contextRef="#ctx0" brushRef="#br0" timeOffset="2">2696-142 10,'0'0'30,"-4"-20"0,4 2-4,0 18-9,-14-38-2,14 38-4,-22-45-2,13 28-2,-15-10-2,1 11-1,-10-1-1,2 8-1,-7 6 0,0 8-1,-2 10 0,-2 6-1,2 10 0,2 4 0,3 6-1,4 1 1,3 1 0,6 2 0,4 0-1,8-2 1,5-2 0,8-6 0,6-4 0,6-4 1,8-8-1,6-7 1,4-12 0,6-5-1,4-14 1,4-3 0,0-9-1,-2-4 1,-2-6 0,-5-1-1,-5-3 1,-3 1-1,-11 4 1,-5 5 0,-5 4 1,-4 11-2,-5 20 1,-4-16 0,4 16 0,-15 28 0,6-1-1,0 10 1,2 2-1,2 8 0,3 1 0,8 2 1,2 2-1,6-4 0,4-1 1,4-6-1,4-3-1,-2-8-1,9 1-3,-13-23-11,2 6-20,2-5 0,-3-7-1,-2-4 0</inkml:trace>
  <inkml:trace contextRef="#ctx0" brushRef="#br0" timeOffset="3">849 2384 32,'0'16'28,"0"-16"2,-18 37 0,13 0-21,-11-8 0,13 18-1,-11-9-1,11 8 0,-10-3-2,12 8-1,-11-8 0,6-2-2,-6-3 0,7-5-2,-4-5 1,2-4-2,0-7 1,7-17-3,-5 21-4,5-21-10,0 0-16,0 0 0,-12-28-1,17 7 0</inkml:trace>
  <inkml:trace contextRef="#ctx0" brushRef="#br0" timeOffset="4">19 278 6,'-9'-19'26,"9"19"0,0 0-6,0-19-4,0 19-3,-3-21-2,3 21-2,0-24-2,0 24-2,1-31 0,6 14-2,-3-6 1,6 6-2,-1-6 1,3 8-1,0-8 0,4 11 1,-16 12-1,33-20-1,-18 9 1,5 10-1,0-1 1,3 4-2,-2-1 1,3 5 0,-3-1 0,0 7-1,-2 0 1,2 5-1,-9 4 1,0 1-1,-2 4 0,-3 2 1,-3 1-1,-4 2 1,-2 0-1,-3 0 0,-2-1 0,-4-1 1,1-1-1,-2 1 0,-2-1 0,-3-2 0,-1-1 0,-1 1 1,0-3-1,2-1 0,-2-1 1,0 3-1,-1-1 0,7-3 1,-1-1 0,0 2-1,0-4 1,2 2-1,0 0 1,12-19-1,-21 24 1,21-24-2,-19 19 1,19-19 0,-16 19 0,16-19 0,0 0 0,-17 18 0,17-18 0,0 0 0,0 0 0,0 0 1,0 0-1,0 0 0,0 0 0,0 0 1,0 0-1,0 0 1,0 0-1,0 0 0,3-19 1,-3 19-1,18-16 1,-18 16 0,29-12-1,-10 7 1,0 0-1,4 1 1,3 4-1,2 0 1,-1 4-1,1-1 0,0 1 0,-4 1 0,1 0 0,-3 0 0,-6-1 0,-16-4 0,22 8 1,-22-8-2,0 0 2,0 0-2,0 0 0,0 0-2,4 16-11,-4-16-21,-21 5-2,21-5 1,-30-7-2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5T23:48:59.25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124 124 7,'0'0'25,"0"0"2,0 0-7,-6-22-2,6 22-4,0 0-2,0 0-2,-4-25-2,4 25-2,0 0-1,7-17 0,-7 17-2,0 0 0,0-21-1,0 21 0,0 0 0,0 0 1,0-20-2,0 20 1,0 0 0,0 0 0,0-19-1,0 19 1,0 0-1,0 0 0,0 0 0,0 0 0,-9 24 1,4-5-1,-4 7 1,-3 7-1,0 6 1,-2 6-1,0 5 0,4 2 0,-2-2-1,3-2 1,2-4-2,2-7 2,3-7-2,0-8 0,4-4-2,-2-18-1,5 24-7,-5-24-15,0 0-10,0 0-1,0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5T23:48:59.25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2655-2164 34,'-7'-33'31,"9"16"-1,-2 17-9,-8-33-4,8 33-5,0 0-3,0 0-2,-14 29-2,14 6-1,-7 1-2,5 14 1,-2 7-1,3 10 1,-1 4 0,4 3-1,-1-3 0,3 0-1,1-9 1,2-1-1,0-11 0,0-9 0,2-10-1,-2-10 0,-7-21 1,0 0-1,17 0 0,-10-17 0,-2-8 1,4-7-1,-1-5 0,3-2 0,1 1 0,2 1 0,2 6-1,1 4 1,4 6 0,0 9 0,5 5 1,1 9-1,-1 5 0,4 5 1,-1 8 0,-1 5 0,-2 2-1,-3 6 1,-8 2-1,-4 1 1,-6 2 0,-3-2 0,-7-3 0,-6-2 0,-6 0 0,-4 0 0,-5-5 0,-2 0 0,-5-7 0,-3 0 0,-2-9 0,-2-1 0,-2-9-1,2-10 0,0-6 0,4-6 0,4-3-2,5-4 0,9 3-2,-1-7-3,19 33-13,0-29-17,2 13-1,-2 16 1,7-22 1</inkml:trace>
  <inkml:trace contextRef="#ctx0" brushRef="#br0" timeOffset="1">3723-137 24,'0'-19'31,"0"19"0,0-19 1,-3 1-14,3 18-2,0 0-5,0 0-3,3-20-2,-3 20-1,0 0-1,0 0-1,0 0-1,0 0 1,0 0-1,3 17-1,-3-17 1,0 33 0,-1-9-1,1 10 1,0 4-1,0 9 0,0 0 1,0 6-1,1 2 0,1 2 0,0-5-1,0 0 0,1-6 0,1 1 0,-1-4 0,2-5 0,-1-5 1,1-5-2,-2-4 1,1-9-1,-4-15 0,5 16-2,-5-16-2,0 0-12,-5-17-20,5 17 0,-4-30-2,1 15 3</inkml:trace>
  <inkml:trace contextRef="#ctx0" brushRef="#br0" timeOffset="2">399 424 19,'21'8'33,"-21"-8"0,8-22 1,-8 22-13,-5-38-4,19 21-3,-21-16-5,10 7-3,-11-14-2,-1 4 0,-8-7-2,-1 1 0,-11-1 0,-1 5-1,-4 7 0,-3 14-1,-3 10 1,0 16-1,4 11 0,1 10 0,4 8-1,5 3 1,7-1 0,3-2 0,9-5-1,5-6 1,9-1 0,6-7 0,7 0 0,6-3 0,9-3 0,5 1 0,3 0 0,3 3 0,0 4 0,-4 7 0,-4-1 1,-3 6-1,-11 3 0,-5 2 0,-5 2 0,-7 3 1,-8-5-1,-3 4 0,-6 2 0,-6 0 0,-3-3 0,-9-5 0,-3-5-1,-4-5 1,-3-10 0,-2-9 0,-2-9 0,1-8 0,4-6 1,6-3-1,7-7 1,6-3-1,11-2 0,7-4 1,13-3-1,7-1 1,8-6 0,7-2 0,8-3 0,6 5 1,0 0-1,-1 4-1,-1 8-2,-9-5-7,4 16-27,-11 4-1,-8 1 0,-3 1-2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0:52.733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524 115 15,'5'16'29,"-5"-16"2,0 0-6,0 0-6,-2-21-3,2 21-3,2-15-4,-2 15-1,1-21-3,-1 21 0,-6-24-1,6 24-1,-21-23 0,5 15-1,-10-1 0,-2 4-1,-6 3 1,-5 4-2,-2 3 1,-3 6 0,1 4-1,-2 7 0,7 4 0,1 4 0,6 1 0,3 3 0,5 1 0,8-2 0,4-6 0,8-1 0,1-3 0,9-3 1,7-4-1,9-2 1,6-2-1,6-2 0,5 0 1,3 1 0,6-4-1,-2 3 1,0-1-1,-2 1 1,-5 2-1,-2 0 1,-7 4-1,-1 1 0,-8 0 0,-5 9 1,-6-2 1,-2 4-2,-8 0 2,-1-1-2,-7 1 2,-3-2-2,-2-4 2,-2-5-2,-5-1 1,-4-6 0,-1-3 0,-6-2-1,-3-5 1,-5-1 0,-3-4-1,-5-4 0,1-3 1,2 1-1,0-1 0,6 0 0,6-1-1,5 2 2,8 3-2,18 8-1,-17-11-1,17 11-1,0 0-5,0 0-17,0 0-12,0 0-1,16-5 1,-16 5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0:52.73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500 60 53,'-5'-17'35,"5"17"-1,-21-24-11,21 24-8,-34-11-5,16 11-2,-13-8-3,5 8-1,-10 0-1,1 8 0,-5 5-2,2 4 0,-1 4 0,3 6 0,1 3-1,4 4 1,5 1 0,5 3 0,4-6-1,8 1 1,7-4 0,8 4 0,2-5 0,10 0 0,2-4 0,8-2 0,2-3 0,8 4 0,0-6 0,9-3 0,2-4 0,1-1-1,4-6 1,1 2-2,3 0 1,-6-3-2,2 14-5,-25-13-32,7 6 1,-9-4-1,-8-2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0:52.73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7738 552 16,'-24'2'30,"24"-2"-1,0 0 3,-24-29-18,24 29-2,-16-21-4,16 21-1,-26-28-2,11 15-2,-11-3 0,0 6-1,-9 3-1,0 8 0,-1 6-1,-3 9 0,3 6 0,0 8 1,3 8-2,7 7 2,6 1 1,5 1-2,8-1 2,9-1-1,5-5 2,12-5-2,8-13 1,12-5-1,4-10 0,7-9 0,2-10 0,4-8 0,1-6-2,-1-11 1,-8-9-1,-2-8 1,-10-6-1,-6-6 0,-11-11 0,-7-10 0,-11-1 1,-6-5-1,-5 5 1,-2 7 0,-4 8 0,0 11 0,3 21 0,0 15 0,13 26 1,-15 7-1,8 19 0,3 17 1,1 12-1,-1 14 0,3 9 0,1 6 1,1 4-1,1 6 2,3-1-1,4-5 0,-2-3 1,3-11-1,3-5 1,0-5-2,0-11 2,1-10-2,-2-6 0,-2-6 0,-1-9-1,-2-6 1,-7-16-2,1 20 0,-1-20-4,0 0-8,-17 6-21,17-6 1,0 0-2,-22-11 2</inkml:trace>
  <inkml:trace contextRef="#ctx0" brushRef="#br0" timeOffset="1">5260-606 12,'-4'-19'28,"4"19"0,0 0-8,0 0-3,0 0-3,0 0-2,0 0-2,0 0-2,4 22-1,-4-22-2,-16 45 0,2-15 0,4 13-2,-6 3 0,6 10 0,-4-1-1,5 4-1,-3-8 0,5-1-1,0-6 0,4-10 1,1-5-2,-3-11-1,3-3-3,2-15-15,0 0-15,0 0 0,0 0-1,-7-24 1</inkml:trace>
  <inkml:trace contextRef="#ctx0" brushRef="#br0" timeOffset="2">2696-142 10,'0'0'30,"-4"-20"0,4 2-4,0 18-9,-14-38-2,14 38-4,-22-45-2,13 28-2,-15-10-2,1 11-1,-10-1-1,2 8-1,-7 6 0,0 8-1,-2 10 0,-2 6-1,2 10 0,2 4 0,3 6-1,4 1 1,3 1 0,6 2 0,4 0-1,8-2 1,5-2 0,8-6 0,6-4 0,6-4 1,8-8-1,6-7 1,4-12 0,6-5-1,4-14 1,4-3 0,0-9-1,-2-4 1,-2-6 0,-5-1-1,-5-3 1,-3 1-1,-11 4 1,-5 5 0,-5 4 1,-4 11-2,-5 20 1,-4-16 0,4 16 0,-15 28 0,6-1-1,0 10 1,2 2-1,2 8 0,3 1 0,8 2 1,2 2-1,6-4 0,4-1 1,4-6-1,4-3-1,-2-8-1,9 1-3,-13-23-11,2 6-20,2-5 0,-3-7-1,-2-4 0</inkml:trace>
  <inkml:trace contextRef="#ctx0" brushRef="#br0" timeOffset="3">849 2384 32,'0'16'28,"0"-16"2,-18 37 0,13 0-21,-11-8 0,13 18-1,-11-9-1,11 8 0,-10-3-2,12 8-1,-11-8 0,6-2-2,-6-3 0,7-5-2,-4-5 1,2-4-2,0-7 1,7-17-3,-5 21-4,5-21-10,0 0-16,0 0 0,-12-28-1,17 7 0</inkml:trace>
  <inkml:trace contextRef="#ctx0" brushRef="#br0" timeOffset="4">19 278 6,'-9'-19'26,"9"19"0,0 0-6,0-19-4,0 19-3,-3-21-2,3 21-2,0-24-2,0 24-2,1-31 0,6 14-2,-3-6 1,6 6-2,-1-6 1,3 8-1,0-8 0,4 11 1,-16 12-1,33-20-1,-18 9 1,5 10-1,0-1 1,3 4-2,-2-1 1,3 5 0,-3-1 0,0 7-1,-2 0 1,2 5-1,-9 4 1,0 1-1,-2 4 0,-3 2 1,-3 1-1,-4 2 1,-2 0-1,-3 0 0,-2-1 0,-4-1 1,1-1-1,-2 1 0,-2-1 0,-3-2 0,-1-1 0,-1 1 1,0-3-1,2-1 0,-2-1 1,0 3-1,-1-1 0,7-3 1,-1-1 0,0 2-1,0-4 1,2 2-1,0 0 1,12-19-1,-21 24 1,21-24-2,-19 19 1,19-19 0,-16 19 0,16-19 0,0 0 0,-17 18 0,17-18 0,0 0 0,0 0 0,0 0 1,0 0-1,0 0 0,0 0 0,0 0 1,0 0-1,0 0 1,0 0-1,0 0 0,3-19 1,-3 19-1,18-16 1,-18 16 0,29-12-1,-10 7 1,0 0-1,4 1 1,3 4-1,2 0 1,-1 4-1,1-1 0,0 1 0,-4 1 0,1 0 0,-3 0 0,-6-1 0,-16-4 0,22 8 1,-22-8-2,0 0 2,0 0-2,0 0 0,0 0-2,4 16-11,-4-16-21,-21 5-2,21-5 1,-30-7-2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0:52.74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124 124 7,'0'0'25,"0"0"2,0 0-7,-6-22-2,6 22-4,0 0-2,0 0-2,-4-25-2,4 25-2,0 0-1,7-17 0,-7 17-2,0 0 0,0-21-1,0 21 0,0 0 0,0 0 1,0-20-2,0 20 1,0 0 0,0 0 0,0-19-1,0 19 1,0 0-1,0 0 0,0 0 0,0 0 0,-9 24 1,4-5-1,-4 7 1,-3 7-1,0 6 1,-2 6-1,0 5 0,4 2 0,-2-2-1,3-2 1,2-4-2,2-7 2,3-7-2,0-8 0,4-4-2,-2-18-1,5 24-7,-5-24-15,0 0-10,0 0-1,0 0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0:52.74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2655-2164 34,'-7'-33'31,"9"16"-1,-2 17-9,-8-33-4,8 33-5,0 0-3,0 0-2,-14 29-2,14 6-1,-7 1-2,5 14 1,-2 7-1,3 10 1,-1 4 0,4 3-1,-1-3 0,3 0-1,1-9 1,2-1-1,0-11 0,0-9 0,2-10-1,-2-10 0,-7-21 1,0 0-1,17 0 0,-10-17 0,-2-8 1,4-7-1,-1-5 0,3-2 0,1 1 0,2 1 0,2 6-1,1 4 1,4 6 0,0 9 0,5 5 1,1 9-1,-1 5 0,4 5 1,-1 8 0,-1 5 0,-2 2-1,-3 6 1,-8 2-1,-4 1 1,-6 2 0,-3-2 0,-7-3 0,-6-2 0,-6 0 0,-4 0 0,-5-5 0,-2 0 0,-5-7 0,-3 0 0,-2-9 0,-2-1 0,-2-9-1,2-10 0,0-6 0,4-6 0,4-3-2,5-4 0,9 3-2,-1-7-3,19 33-13,0-29-17,2 13-1,-2 16 1,7-22 1</inkml:trace>
  <inkml:trace contextRef="#ctx0" brushRef="#br0" timeOffset="1">3723-137 24,'0'-19'31,"0"19"0,0-19 1,-3 1-14,3 18-2,0 0-5,0 0-3,3-20-2,-3 20-1,0 0-1,0 0-1,0 0-1,0 0 1,0 0-1,3 17-1,-3-17 1,0 33 0,-1-9-1,1 10 1,0 4-1,0 9 0,0 0 1,0 6-1,1 2 0,1 2 0,0-5-1,0 0 0,1-6 0,1 1 0,-1-4 0,2-5 0,-1-5 1,1-5-2,-2-4 1,1-9-1,-4-15 0,5 16-2,-5-16-2,0 0-12,-5-17-20,5 17 0,-4-30-2,1 15 3</inkml:trace>
  <inkml:trace contextRef="#ctx0" brushRef="#br0" timeOffset="2">399 424 19,'21'8'33,"-21"-8"0,8-22 1,-8 22-13,-5-38-4,19 21-3,-21-16-5,10 7-3,-11-14-2,-1 4 0,-8-7-2,-1 1 0,-11-1 0,-1 5-1,-4 7 0,-3 14-1,-3 10 1,0 16-1,4 11 0,1 10 0,4 8-1,5 3 1,7-1 0,3-2 0,9-5-1,5-6 1,9-1 0,6-7 0,7 0 0,6-3 0,9-3 0,5 1 0,3 0 0,3 3 0,0 4 0,-4 7 0,-4-1 1,-3 6-1,-11 3 0,-5 2 0,-5 2 0,-7 3 1,-8-5-1,-3 4 0,-6 2 0,-6 0 0,-3-3 0,-9-5 0,-3-5-1,-4-5 1,-3-10 0,-2-9 0,-2-9 0,1-8 0,4-6 1,6-3-1,7-7 1,6-3-1,11-2 0,7-4 1,13-3-1,7-1 1,8-6 0,7-2 0,8-3 0,6 5 1,0 0-1,-1 4-1,-1 8-2,-9-5-7,4 16-27,-11 4-1,-8 1 0,-3 1-2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35.075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524 115 15,'5'16'29,"-5"-16"2,0 0-6,0 0-6,-2-21-3,2 21-3,2-15-4,-2 15-1,1-21-3,-1 21 0,-6-24-1,6 24-1,-21-23 0,5 15-1,-10-1 0,-2 4-1,-6 3 1,-5 4-2,-2 3 1,-3 6 0,1 4-1,-2 7 0,7 4 0,1 4 0,6 1 0,3 3 0,5 1 0,8-2 0,4-6 0,8-1 0,1-3 0,9-3 1,7-4-1,9-2 1,6-2-1,6-2 0,5 0 1,3 1 0,6-4-1,-2 3 1,0-1-1,-2 1 1,-5 2-1,-2 0 1,-7 4-1,-1 1 0,-8 0 0,-5 9 1,-6-2 1,-2 4-2,-8 0 2,-1-1-2,-7 1 2,-3-2-2,-2-4 2,-2-5-2,-5-1 1,-4-6 0,-1-3 0,-6-2-1,-3-5 1,-5-1 0,-3-4-1,-5-4 0,1-3 1,2 1-1,0-1 0,6 0 0,6-1-1,5 2 2,8 3-2,18 8-1,-17-11-1,17 11-1,0 0-5,0 0-17,0 0-12,0 0-1,16-5 1,-16 5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35.07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500 60 53,'-5'-17'35,"5"17"-1,-21-24-11,21 24-8,-34-11-5,16 11-2,-13-8-3,5 8-1,-10 0-1,1 8 0,-5 5-2,2 4 0,-1 4 0,3 6 0,1 3-1,4 4 1,5 1 0,5 3 0,4-6-1,8 1 1,7-4 0,8 4 0,2-5 0,10 0 0,2-4 0,8-2 0,2-3 0,8 4 0,0-6 0,9-3 0,2-4 0,1-1-1,4-6 1,1 2-2,3 0 1,-6-3-2,2 14-5,-25-13-32,7 6 1,-9-4-1,-8-2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35.07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7738 552 16,'-24'2'30,"24"-2"-1,0 0 3,-24-29-18,24 29-2,-16-21-4,16 21-1,-26-28-2,11 15-2,-11-3 0,0 6-1,-9 3-1,0 8 0,-1 6-1,-3 9 0,3 6 0,0 8 1,3 8-2,7 7 2,6 1 1,5 1-2,8-1 2,9-1-1,5-5 2,12-5-2,8-13 1,12-5-1,4-10 0,7-9 0,2-10 0,4-8 0,1-6-2,-1-11 1,-8-9-1,-2-8 1,-10-6-1,-6-6 0,-11-11 0,-7-10 0,-11-1 1,-6-5-1,-5 5 1,-2 7 0,-4 8 0,0 11 0,3 21 0,0 15 0,13 26 1,-15 7-1,8 19 0,3 17 1,1 12-1,-1 14 0,3 9 0,1 6 1,1 4-1,1 6 2,3-1-1,4-5 0,-2-3 1,3-11-1,3-5 1,0-5-2,0-11 2,1-10-2,-2-6 0,-2-6 0,-1-9-1,-2-6 1,-7-16-2,1 20 0,-1-20-4,0 0-8,-17 6-21,17-6 1,0 0-2,-22-11 2</inkml:trace>
  <inkml:trace contextRef="#ctx0" brushRef="#br0" timeOffset="1">5260-606 12,'-4'-19'28,"4"19"0,0 0-8,0 0-3,0 0-3,0 0-2,0 0-2,0 0-2,4 22-1,-4-22-2,-16 45 0,2-15 0,4 13-2,-6 3 0,6 10 0,-4-1-1,5 4-1,-3-8 0,5-1-1,0-6 0,4-10 1,1-5-2,-3-11-1,3-3-3,2-15-15,0 0-15,0 0 0,0 0-1,-7-24 1</inkml:trace>
  <inkml:trace contextRef="#ctx0" brushRef="#br0" timeOffset="2">2696-142 10,'0'0'30,"-4"-20"0,4 2-4,0 18-9,-14-38-2,14 38-4,-22-45-2,13 28-2,-15-10-2,1 11-1,-10-1-1,2 8-1,-7 6 0,0 8-1,-2 10 0,-2 6-1,2 10 0,2 4 0,3 6-1,4 1 1,3 1 0,6 2 0,4 0-1,8-2 1,5-2 0,8-6 0,6-4 0,6-4 1,8-8-1,6-7 1,4-12 0,6-5-1,4-14 1,4-3 0,0-9-1,-2-4 1,-2-6 0,-5-1-1,-5-3 1,-3 1-1,-11 4 1,-5 5 0,-5 4 1,-4 11-2,-5 20 1,-4-16 0,4 16 0,-15 28 0,6-1-1,0 10 1,2 2-1,2 8 0,3 1 0,8 2 1,2 2-1,6-4 0,4-1 1,4-6-1,4-3-1,-2-8-1,9 1-3,-13-23-11,2 6-20,2-5 0,-3-7-1,-2-4 0</inkml:trace>
  <inkml:trace contextRef="#ctx0" brushRef="#br0" timeOffset="3">849 2384 32,'0'16'28,"0"-16"2,-18 37 0,13 0-21,-11-8 0,13 18-1,-11-9-1,11 8 0,-10-3-2,12 8-1,-11-8 0,6-2-2,-6-3 0,7-5-2,-4-5 1,2-4-2,0-7 1,7-17-3,-5 21-4,5-21-10,0 0-16,0 0 0,-12-28-1,17 7 0</inkml:trace>
  <inkml:trace contextRef="#ctx0" brushRef="#br0" timeOffset="4">19 278 6,'-9'-19'26,"9"19"0,0 0-6,0-19-4,0 19-3,-3-21-2,3 21-2,0-24-2,0 24-2,1-31 0,6 14-2,-3-6 1,6 6-2,-1-6 1,3 8-1,0-8 0,4 11 1,-16 12-1,33-20-1,-18 9 1,5 10-1,0-1 1,3 4-2,-2-1 1,3 5 0,-3-1 0,0 7-1,-2 0 1,2 5-1,-9 4 1,0 1-1,-2 4 0,-3 2 1,-3 1-1,-4 2 1,-2 0-1,-3 0 0,-2-1 0,-4-1 1,1-1-1,-2 1 0,-2-1 0,-3-2 0,-1-1 0,-1 1 1,0-3-1,2-1 0,-2-1 1,0 3-1,-1-1 0,7-3 1,-1-1 0,0 2-1,0-4 1,2 2-1,0 0 1,12-19-1,-21 24 1,21-24-2,-19 19 1,19-19 0,-16 19 0,16-19 0,0 0 0,-17 18 0,17-18 0,0 0 0,0 0 0,0 0 1,0 0-1,0 0 0,0 0 0,0 0 1,0 0-1,0 0 1,0 0-1,0 0 0,3-19 1,-3 19-1,18-16 1,-18 16 0,29-12-1,-10 7 1,0 0-1,4 1 1,3 4-1,2 0 1,-1 4-1,1-1 0,0 1 0,-4 1 0,1 0 0,-3 0 0,-6-1 0,-16-4 0,22 8 1,-22-8-2,0 0 2,0 0-2,0 0 0,0 0-2,4 16-11,-4-16-21,-21 5-2,21-5 1,-30-7-2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35.08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124 124 7,'0'0'25,"0"0"2,0 0-7,-6-22-2,6 22-4,0 0-2,0 0-2,-4-25-2,4 25-2,0 0-1,7-17 0,-7 17-2,0 0 0,0-21-1,0 21 0,0 0 0,0 0 1,0-20-2,0 20 1,0 0 0,0 0 0,0-19-1,0 19 1,0 0-1,0 0 0,0 0 0,0 0 0,-9 24 1,4-5-1,-4 7 1,-3 7-1,0 6 1,-2 6-1,0 5 0,4 2 0,-2-2-1,3-2 1,2-4-2,2-7 2,3-7-2,0-8 0,4-4-2,-2-18-1,5 24-7,-5-24-15,0 0-10,0 0-1,0 0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35.08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2655-2164 34,'-7'-33'31,"9"16"-1,-2 17-9,-8-33-4,8 33-5,0 0-3,0 0-2,-14 29-2,14 6-1,-7 1-2,5 14 1,-2 7-1,3 10 1,-1 4 0,4 3-1,-1-3 0,3 0-1,1-9 1,2-1-1,0-11 0,0-9 0,2-10-1,-2-10 0,-7-21 1,0 0-1,17 0 0,-10-17 0,-2-8 1,4-7-1,-1-5 0,3-2 0,1 1 0,2 1 0,2 6-1,1 4 1,4 6 0,0 9 0,5 5 1,1 9-1,-1 5 0,4 5 1,-1 8 0,-1 5 0,-2 2-1,-3 6 1,-8 2-1,-4 1 1,-6 2 0,-3-2 0,-7-3 0,-6-2 0,-6 0 0,-4 0 0,-5-5 0,-2 0 0,-5-7 0,-3 0 0,-2-9 0,-2-1 0,-2-9-1,2-10 0,0-6 0,4-6 0,4-3-2,5-4 0,9 3-2,-1-7-3,19 33-13,0-29-17,2 13-1,-2 16 1,7-22 1</inkml:trace>
  <inkml:trace contextRef="#ctx0" brushRef="#br0" timeOffset="1">3723-137 24,'0'-19'31,"0"19"0,0-19 1,-3 1-14,3 18-2,0 0-5,0 0-3,3-20-2,-3 20-1,0 0-1,0 0-1,0 0-1,0 0 1,0 0-1,3 17-1,-3-17 1,0 33 0,-1-9-1,1 10 1,0 4-1,0 9 0,0 0 1,0 6-1,1 2 0,1 2 0,0-5-1,0 0 0,1-6 0,1 1 0,-1-4 0,2-5 0,-1-5 1,1-5-2,-2-4 1,1-9-1,-4-15 0,5 16-2,-5-16-2,0 0-12,-5-17-20,5 17 0,-4-30-2,1 15 3</inkml:trace>
  <inkml:trace contextRef="#ctx0" brushRef="#br0" timeOffset="2">399 424 19,'21'8'33,"-21"-8"0,8-22 1,-8 22-13,-5-38-4,19 21-3,-21-16-5,10 7-3,-11-14-2,-1 4 0,-8-7-2,-1 1 0,-11-1 0,-1 5-1,-4 7 0,-3 14-1,-3 10 1,0 16-1,4 11 0,1 10 0,4 8-1,5 3 1,7-1 0,3-2 0,9-5-1,5-6 1,9-1 0,6-7 0,7 0 0,6-3 0,9-3 0,5 1 0,3 0 0,3 3 0,0 4 0,-4 7 0,-4-1 1,-3 6-1,-11 3 0,-5 2 0,-5 2 0,-7 3 1,-8-5-1,-3 4 0,-6 2 0,-6 0 0,-3-3 0,-9-5 0,-3-5-1,-4-5 1,-3-10 0,-2-9 0,-2-9 0,1-8 0,4-6 1,6-3-1,7-7 1,6-3-1,11-2 0,7-4 1,13-3-1,7-1 1,8-6 0,7-2 0,8-3 0,6 5 1,0 0-1,-1 4-1,-1 8-2,-9-5-7,4 16-27,-11 4-1,-8 1 0,-3 1-2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47.641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524 115 15,'5'16'29,"-5"-16"2,0 0-6,0 0-6,-2-21-3,2 21-3,2-15-4,-2 15-1,1-21-3,-1 21 0,-6-24-1,6 24-1,-21-23 0,5 15-1,-10-1 0,-2 4-1,-6 3 1,-5 4-2,-2 3 1,-3 6 0,1 4-1,-2 7 0,7 4 0,1 4 0,6 1 0,3 3 0,5 1 0,8-2 0,4-6 0,8-1 0,1-3 0,9-3 1,7-4-1,9-2 1,6-2-1,6-2 0,5 0 1,3 1 0,6-4-1,-2 3 1,0-1-1,-2 1 1,-5 2-1,-2 0 1,-7 4-1,-1 1 0,-8 0 0,-5 9 1,-6-2 1,-2 4-2,-8 0 2,-1-1-2,-7 1 2,-3-2-2,-2-4 2,-2-5-2,-5-1 1,-4-6 0,-1-3 0,-6-2-1,-3-5 1,-5-1 0,-3-4-1,-5-4 0,1-3 1,2 1-1,0-1 0,6 0 0,6-1-1,5 2 2,8 3-2,18 8-1,-17-11-1,17 11-1,0 0-5,0 0-17,0 0-12,0 0-1,16-5 1,-16 5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47.64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500 60 53,'-5'-17'35,"5"17"-1,-21-24-11,21 24-8,-34-11-5,16 11-2,-13-8-3,5 8-1,-10 0-1,1 8 0,-5 5-2,2 4 0,-1 4 0,3 6 0,1 3-1,4 4 1,5 1 0,5 3 0,4-6-1,8 1 1,7-4 0,8 4 0,2-5 0,10 0 0,2-4 0,8-2 0,2-3 0,8 4 0,0-6 0,9-3 0,2-4 0,1-1-1,4-6 1,1 2-2,3 0 1,-6-3-2,2 14-5,-25-13-32,7 6 1,-9-4-1,-8-2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47.64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7738 552 16,'-24'2'30,"24"-2"-1,0 0 3,-24-29-18,24 29-2,-16-21-4,16 21-1,-26-28-2,11 15-2,-11-3 0,0 6-1,-9 3-1,0 8 0,-1 6-1,-3 9 0,3 6 0,0 8 1,3 8-2,7 7 2,6 1 1,5 1-2,8-1 2,9-1-1,5-5 2,12-5-2,8-13 1,12-5-1,4-10 0,7-9 0,2-10 0,4-8 0,1-6-2,-1-11 1,-8-9-1,-2-8 1,-10-6-1,-6-6 0,-11-11 0,-7-10 0,-11-1 1,-6-5-1,-5 5 1,-2 7 0,-4 8 0,0 11 0,3 21 0,0 15 0,13 26 1,-15 7-1,8 19 0,3 17 1,1 12-1,-1 14 0,3 9 0,1 6 1,1 4-1,1 6 2,3-1-1,4-5 0,-2-3 1,3-11-1,3-5 1,0-5-2,0-11 2,1-10-2,-2-6 0,-2-6 0,-1-9-1,-2-6 1,-7-16-2,1 20 0,-1-20-4,0 0-8,-17 6-21,17-6 1,0 0-2,-22-11 2</inkml:trace>
  <inkml:trace contextRef="#ctx0" brushRef="#br0" timeOffset="1">5260-606 12,'-4'-19'28,"4"19"0,0 0-8,0 0-3,0 0-3,0 0-2,0 0-2,0 0-2,4 22-1,-4-22-2,-16 45 0,2-15 0,4 13-2,-6 3 0,6 10 0,-4-1-1,5 4-1,-3-8 0,5-1-1,0-6 0,4-10 1,1-5-2,-3-11-1,3-3-3,2-15-15,0 0-15,0 0 0,0 0-1,-7-24 1</inkml:trace>
  <inkml:trace contextRef="#ctx0" brushRef="#br0" timeOffset="2">2696-142 10,'0'0'30,"-4"-20"0,4 2-4,0 18-9,-14-38-2,14 38-4,-22-45-2,13 28-2,-15-10-2,1 11-1,-10-1-1,2 8-1,-7 6 0,0 8-1,-2 10 0,-2 6-1,2 10 0,2 4 0,3 6-1,4 1 1,3 1 0,6 2 0,4 0-1,8-2 1,5-2 0,8-6 0,6-4 0,6-4 1,8-8-1,6-7 1,4-12 0,6-5-1,4-14 1,4-3 0,0-9-1,-2-4 1,-2-6 0,-5-1-1,-5-3 1,-3 1-1,-11 4 1,-5 5 0,-5 4 1,-4 11-2,-5 20 1,-4-16 0,4 16 0,-15 28 0,6-1-1,0 10 1,2 2-1,2 8 0,3 1 0,8 2 1,2 2-1,6-4 0,4-1 1,4-6-1,4-3-1,-2-8-1,9 1-3,-13-23-11,2 6-20,2-5 0,-3-7-1,-2-4 0</inkml:trace>
  <inkml:trace contextRef="#ctx0" brushRef="#br0" timeOffset="3">849 2384 32,'0'16'28,"0"-16"2,-18 37 0,13 0-21,-11-8 0,13 18-1,-11-9-1,11 8 0,-10-3-2,12 8-1,-11-8 0,6-2-2,-6-3 0,7-5-2,-4-5 1,2-4-2,0-7 1,7-17-3,-5 21-4,5-21-10,0 0-16,0 0 0,-12-28-1,17 7 0</inkml:trace>
  <inkml:trace contextRef="#ctx0" brushRef="#br0" timeOffset="4">19 278 6,'-9'-19'26,"9"19"0,0 0-6,0-19-4,0 19-3,-3-21-2,3 21-2,0-24-2,0 24-2,1-31 0,6 14-2,-3-6 1,6 6-2,-1-6 1,3 8-1,0-8 0,4 11 1,-16 12-1,33-20-1,-18 9 1,5 10-1,0-1 1,3 4-2,-2-1 1,3 5 0,-3-1 0,0 7-1,-2 0 1,2 5-1,-9 4 1,0 1-1,-2 4 0,-3 2 1,-3 1-1,-4 2 1,-2 0-1,-3 0 0,-2-1 0,-4-1 1,1-1-1,-2 1 0,-2-1 0,-3-2 0,-1-1 0,-1 1 1,0-3-1,2-1 0,-2-1 1,0 3-1,-1-1 0,7-3 1,-1-1 0,0 2-1,0-4 1,2 2-1,0 0 1,12-19-1,-21 24 1,21-24-2,-19 19 1,19-19 0,-16 19 0,16-19 0,0 0 0,-17 18 0,17-18 0,0 0 0,0 0 0,0 0 1,0 0-1,0 0 0,0 0 0,0 0 1,0 0-1,0 0 1,0 0-1,0 0 0,3-19 1,-3 19-1,18-16 1,-18 16 0,29-12-1,-10 7 1,0 0-1,4 1 1,3 4-1,2 0 1,-1 4-1,1-1 0,0 1 0,-4 1 0,1 0 0,-3 0 0,-6-1 0,-16-4 0,22 8 1,-22-8-2,0 0 2,0 0-2,0 0 0,0 0-2,4 16-11,-4-16-21,-21 5-2,21-5 1,-30-7-2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47.64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124 124 7,'0'0'25,"0"0"2,0 0-7,-6-22-2,6 22-4,0 0-2,0 0-2,-4-25-2,4 25-2,0 0-1,7-17 0,-7 17-2,0 0 0,0-21-1,0 21 0,0 0 0,0 0 1,0-20-2,0 20 1,0 0 0,0 0 0,0-19-1,0 19 1,0 0-1,0 0 0,0 0 0,0 0 0,-9 24 1,4-5-1,-4 7 1,-3 7-1,0 6 1,-2 6-1,0 5 0,4 2 0,-2-2-1,3-2 1,2-4-2,2-7 2,3-7-2,0-8 0,4-4-2,-2-18-1,5 24-7,-5-24-15,0 0-10,0 0-1,0 0 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47.64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2655-2164 34,'-7'-33'31,"9"16"-1,-2 17-9,-8-33-4,8 33-5,0 0-3,0 0-2,-14 29-2,14 6-1,-7 1-2,5 14 1,-2 7-1,3 10 1,-1 4 0,4 3-1,-1-3 0,3 0-1,1-9 1,2-1-1,0-11 0,0-9 0,2-10-1,-2-10 0,-7-21 1,0 0-1,17 0 0,-10-17 0,-2-8 1,4-7-1,-1-5 0,3-2 0,1 1 0,2 1 0,2 6-1,1 4 1,4 6 0,0 9 0,5 5 1,1 9-1,-1 5 0,4 5 1,-1 8 0,-1 5 0,-2 2-1,-3 6 1,-8 2-1,-4 1 1,-6 2 0,-3-2 0,-7-3 0,-6-2 0,-6 0 0,-4 0 0,-5-5 0,-2 0 0,-5-7 0,-3 0 0,-2-9 0,-2-1 0,-2-9-1,2-10 0,0-6 0,4-6 0,4-3-2,5-4 0,9 3-2,-1-7-3,19 33-13,0-29-17,2 13-1,-2 16 1,7-22 1</inkml:trace>
  <inkml:trace contextRef="#ctx0" brushRef="#br0" timeOffset="1">3723-137 24,'0'-19'31,"0"19"0,0-19 1,-3 1-14,3 18-2,0 0-5,0 0-3,3-20-2,-3 20-1,0 0-1,0 0-1,0 0-1,0 0 1,0 0-1,3 17-1,-3-17 1,0 33 0,-1-9-1,1 10 1,0 4-1,0 9 0,0 0 1,0 6-1,1 2 0,1 2 0,0-5-1,0 0 0,1-6 0,1 1 0,-1-4 0,2-5 0,-1-5 1,1-5-2,-2-4 1,1-9-1,-4-15 0,5 16-2,-5-16-2,0 0-12,-5-17-20,5 17 0,-4-30-2,1 15 3</inkml:trace>
  <inkml:trace contextRef="#ctx0" brushRef="#br0" timeOffset="2">399 424 19,'21'8'33,"-21"-8"0,8-22 1,-8 22-13,-5-38-4,19 21-3,-21-16-5,10 7-3,-11-14-2,-1 4 0,-8-7-2,-1 1 0,-11-1 0,-1 5-1,-4 7 0,-3 14-1,-3 10 1,0 16-1,4 11 0,1 10 0,4 8-1,5 3 1,7-1 0,3-2 0,9-5-1,5-6 1,9-1 0,6-7 0,7 0 0,6-3 0,9-3 0,5 1 0,3 0 0,3 3 0,0 4 0,-4 7 0,-4-1 1,-3 6-1,-11 3 0,-5 2 0,-5 2 0,-7 3 1,-8-5-1,-3 4 0,-6 2 0,-6 0 0,-3-3 0,-9-5 0,-3-5-1,-4-5 1,-3-10 0,-2-9 0,-2-9 0,1-8 0,4-6 1,6-3-1,7-7 1,6-3-1,11-2 0,7-4 1,13-3-1,7-1 1,8-6 0,7-2 0,8-3 0,6 5 1,0 0-1,-1 4-1,-1 8-2,-9-5-7,4 16-27,-11 4-1,-8 1 0,-3 1-2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47.641"/>
    </inkml:context>
    <inkml:brush xml:id="br0">
      <inkml:brushProperty name="width" value="0.06667" units="cm"/>
      <inkml:brushProperty name="height" value="0.06667" units="cm"/>
      <inkml:brushProperty name="color" value="#C00000"/>
      <inkml:brushProperty name="fitToCurve" value="1"/>
    </inkml:brush>
  </inkml:definitions>
  <inkml:trace contextRef="#ctx0" brushRef="#br0">524 115 15,'5'16'29,"-5"-16"2,0 0-6,0 0-6,-2-21-3,2 21-3,2-15-4,-2 15-1,1-21-3,-1 21 0,-6-24-1,6 24-1,-21-23 0,5 15-1,-10-1 0,-2 4-1,-6 3 1,-5 4-2,-2 3 1,-3 6 0,1 4-1,-2 7 0,7 4 0,1 4 0,6 1 0,3 3 0,5 1 0,8-2 0,4-6 0,8-1 0,1-3 0,9-3 1,7-4-1,9-2 1,6-2-1,6-2 0,5 0 1,3 1 0,6-4-1,-2 3 1,0-1-1,-2 1 1,-5 2-1,-2 0 1,-7 4-1,-1 1 0,-8 0 0,-5 9 1,-6-2 1,-2 4-2,-8 0 2,-1-1-2,-7 1 2,-3-2-2,-2-4 2,-2-5-2,-5-1 1,-4-6 0,-1-3 0,-6-2-1,-3-5 1,-5-1 0,-3-4-1,-5-4 0,1-3 1,2 1-1,0-1 0,6 0 0,6-1-1,5 2 2,8 3-2,18 8-1,-17-11-1,17 11-1,0 0-5,0 0-17,0 0-12,0 0-1,16-5 1,-16 5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47.64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500 60 53,'-5'-17'35,"5"17"-1,-21-24-11,21 24-8,-34-11-5,16 11-2,-13-8-3,5 8-1,-10 0-1,1 8 0,-5 5-2,2 4 0,-1 4 0,3 6 0,1 3-1,4 4 1,5 1 0,5 3 0,4-6-1,8 1 1,7-4 0,8 4 0,2-5 0,10 0 0,2-4 0,8-2 0,2-3 0,8 4 0,0-6 0,9-3 0,2-4 0,1-1-1,4-6 1,1 2-2,3 0 1,-6-3-2,2 14-5,-25-13-32,7 6 1,-9-4-1,-8-2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47.64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7738 552 16,'-24'2'30,"24"-2"-1,0 0 3,-24-29-18,24 29-2,-16-21-4,16 21-1,-26-28-2,11 15-2,-11-3 0,0 6-1,-9 3-1,0 8 0,-1 6-1,-3 9 0,3 6 0,0 8 1,3 8-2,7 7 2,6 1 1,5 1-2,8-1 2,9-1-1,5-5 2,12-5-2,8-13 1,12-5-1,4-10 0,7-9 0,2-10 0,4-8 0,1-6-2,-1-11 1,-8-9-1,-2-8 1,-10-6-1,-6-6 0,-11-11 0,-7-10 0,-11-1 1,-6-5-1,-5 5 1,-2 7 0,-4 8 0,0 11 0,3 21 0,0 15 0,13 26 1,-15 7-1,8 19 0,3 17 1,1 12-1,-1 14 0,3 9 0,1 6 1,1 4-1,1 6 2,3-1-1,4-5 0,-2-3 1,3-11-1,3-5 1,0-5-2,0-11 2,1-10-2,-2-6 0,-2-6 0,-1-9-1,-2-6 1,-7-16-2,1 20 0,-1-20-4,0 0-8,-17 6-21,17-6 1,0 0-2,-22-11 2</inkml:trace>
  <inkml:trace contextRef="#ctx0" brushRef="#br0" timeOffset="1">5260-606 12,'-4'-19'28,"4"19"0,0 0-8,0 0-3,0 0-3,0 0-2,0 0-2,0 0-2,4 22-1,-4-22-2,-16 45 0,2-15 0,4 13-2,-6 3 0,6 10 0,-4-1-1,5 4-1,-3-8 0,5-1-1,0-6 0,4-10 1,1-5-2,-3-11-1,3-3-3,2-15-15,0 0-15,0 0 0,0 0-1,-7-24 1</inkml:trace>
  <inkml:trace contextRef="#ctx0" brushRef="#br0" timeOffset="2">2696-142 10,'0'0'30,"-4"-20"0,4 2-4,0 18-9,-14-38-2,14 38-4,-22-45-2,13 28-2,-15-10-2,1 11-1,-10-1-1,2 8-1,-7 6 0,0 8-1,-2 10 0,-2 6-1,2 10 0,2 4 0,3 6-1,4 1 1,3 1 0,6 2 0,4 0-1,8-2 1,5-2 0,8-6 0,6-4 0,6-4 1,8-8-1,6-7 1,4-12 0,6-5-1,4-14 1,4-3 0,0-9-1,-2-4 1,-2-6 0,-5-1-1,-5-3 1,-3 1-1,-11 4 1,-5 5 0,-5 4 1,-4 11-2,-5 20 1,-4-16 0,4 16 0,-15 28 0,6-1-1,0 10 1,2 2-1,2 8 0,3 1 0,8 2 1,2 2-1,6-4 0,4-1 1,4-6-1,4-3-1,-2-8-1,9 1-3,-13-23-11,2 6-20,2-5 0,-3-7-1,-2-4 0</inkml:trace>
  <inkml:trace contextRef="#ctx0" brushRef="#br0" timeOffset="3">849 2384 32,'0'16'28,"0"-16"2,-18 37 0,13 0-21,-11-8 0,13 18-1,-11-9-1,11 8 0,-10-3-2,12 8-1,-11-8 0,6-2-2,-6-3 0,7-5-2,-4-5 1,2-4-2,0-7 1,7-17-3,-5 21-4,5-21-10,0 0-16,0 0 0,-12-28-1,17 7 0</inkml:trace>
  <inkml:trace contextRef="#ctx0" brushRef="#br0" timeOffset="4">19 278 6,'-9'-19'26,"9"19"0,0 0-6,0-19-4,0 19-3,-3-21-2,3 21-2,0-24-2,0 24-2,1-31 0,6 14-2,-3-6 1,6 6-2,-1-6 1,3 8-1,0-8 0,4 11 1,-16 12-1,33-20-1,-18 9 1,5 10-1,0-1 1,3 4-2,-2-1 1,3 5 0,-3-1 0,0 7-1,-2 0 1,2 5-1,-9 4 1,0 1-1,-2 4 0,-3 2 1,-3 1-1,-4 2 1,-2 0-1,-3 0 0,-2-1 0,-4-1 1,1-1-1,-2 1 0,-2-1 0,-3-2 0,-1-1 0,-1 1 1,0-3-1,2-1 0,-2-1 1,0 3-1,-1-1 0,7-3 1,-1-1 0,0 2-1,0-4 1,2 2-1,0 0 1,12-19-1,-21 24 1,21-24-2,-19 19 1,19-19 0,-16 19 0,16-19 0,0 0 0,-17 18 0,17-18 0,0 0 0,0 0 0,0 0 1,0 0-1,0 0 0,0 0 0,0 0 1,0 0-1,0 0 1,0 0-1,0 0 0,3-19 1,-3 19-1,18-16 1,-18 16 0,29-12-1,-10 7 1,0 0-1,4 1 1,3 4-1,2 0 1,-1 4-1,1-1 0,0 1 0,-4 1 0,1 0 0,-3 0 0,-6-1 0,-16-4 0,22 8 1,-22-8-2,0 0 2,0 0-2,0 0 0,0 0-2,4 16-11,-4-16-21,-21 5-2,21-5 1,-30-7-2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47.64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124 124 7,'0'0'25,"0"0"2,0 0-7,-6-22-2,6 22-4,0 0-2,0 0-2,-4-25-2,4 25-2,0 0-1,7-17 0,-7 17-2,0 0 0,0-21-1,0 21 0,0 0 0,0 0 1,0-20-2,0 20 1,0 0 0,0 0 0,0-19-1,0 19 1,0 0-1,0 0 0,0 0 0,0 0 0,-9 24 1,4-5-1,-4 7 1,-3 7-1,0 6 1,-2 6-1,0 5 0,4 2 0,-2-2-1,3-2 1,2-4-2,2-7 2,3-7-2,0-8 0,4-4-2,-2-18-1,5 24-7,-5-24-15,0 0-10,0 0-1,0 0 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08T03:56:47.64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2655-2164 34,'-7'-33'31,"9"16"-1,-2 17-9,-8-33-4,8 33-5,0 0-3,0 0-2,-14 29-2,14 6-1,-7 1-2,5 14 1,-2 7-1,3 10 1,-1 4 0,4 3-1,-1-3 0,3 0-1,1-9 1,2-1-1,0-11 0,0-9 0,2-10-1,-2-10 0,-7-21 1,0 0-1,17 0 0,-10-17 0,-2-8 1,4-7-1,-1-5 0,3-2 0,1 1 0,2 1 0,2 6-1,1 4 1,4 6 0,0 9 0,5 5 1,1 9-1,-1 5 0,4 5 1,-1 8 0,-1 5 0,-2 2-1,-3 6 1,-8 2-1,-4 1 1,-6 2 0,-3-2 0,-7-3 0,-6-2 0,-6 0 0,-4 0 0,-5-5 0,-2 0 0,-5-7 0,-3 0 0,-2-9 0,-2-1 0,-2-9-1,2-10 0,0-6 0,4-6 0,4-3-2,5-4 0,9 3-2,-1-7-3,19 33-13,0-29-17,2 13-1,-2 16 1,7-22 1</inkml:trace>
  <inkml:trace contextRef="#ctx0" brushRef="#br0" timeOffset="1">3723-137 24,'0'-19'31,"0"19"0,0-19 1,-3 1-14,3 18-2,0 0-5,0 0-3,3-20-2,-3 20-1,0 0-1,0 0-1,0 0-1,0 0 1,0 0-1,3 17-1,-3-17 1,0 33 0,-1-9-1,1 10 1,0 4-1,0 9 0,0 0 1,0 6-1,1 2 0,1 2 0,0-5-1,0 0 0,1-6 0,1 1 0,-1-4 0,2-5 0,-1-5 1,1-5-2,-2-4 1,1-9-1,-4-15 0,5 16-2,-5-16-2,0 0-12,-5-17-20,5 17 0,-4-30-2,1 15 3</inkml:trace>
  <inkml:trace contextRef="#ctx0" brushRef="#br0" timeOffset="2">399 424 19,'21'8'33,"-21"-8"0,8-22 1,-8 22-13,-5-38-4,19 21-3,-21-16-5,10 7-3,-11-14-2,-1 4 0,-8-7-2,-1 1 0,-11-1 0,-1 5-1,-4 7 0,-3 14-1,-3 10 1,0 16-1,4 11 0,1 10 0,4 8-1,5 3 1,7-1 0,3-2 0,9-5-1,5-6 1,9-1 0,6-7 0,7 0 0,6-3 0,9-3 0,5 1 0,3 0 0,3 3 0,0 4 0,-4 7 0,-4-1 1,-3 6-1,-11 3 0,-5 2 0,-5 2 0,-7 3 1,-8-5-1,-3 4 0,-6 2 0,-6 0 0,-3-3 0,-9-5 0,-3-5-1,-4-5 1,-3-10 0,-2-9 0,-2-9 0,1-8 0,4-6 1,6-3-1,7-7 1,6-3-1,11-2 0,7-4 1,13-3-1,7-1 1,8-6 0,7-2 0,8-3 0,6 5 1,0 0-1,-1 4-1,-1 8-2,-9-5-7,4 16-27,-11 4-1,-8 1 0,-3 1-2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2/22/2021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2/22/2021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2/22/2021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2/22/2021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2/22/2021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2/22/2021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2/22/2021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2/22/2021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2/22/2021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image" Target="../media/image25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2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1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2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1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12" Type="http://schemas.openxmlformats.org/officeDocument/2006/relationships/image" Target="../media/image2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customXml" Target="../ink/ink25.xml"/><Relationship Id="rId5" Type="http://schemas.openxmlformats.org/officeDocument/2006/relationships/customXml" Target="../ink/ink22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2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12" Type="http://schemas.openxmlformats.org/officeDocument/2006/relationships/image" Target="../media/image2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customXml" Target="../ink/ink30.xml"/><Relationship Id="rId5" Type="http://schemas.openxmlformats.org/officeDocument/2006/relationships/customXml" Target="../ink/ink27.xml"/><Relationship Id="rId10" Type="http://schemas.openxmlformats.org/officeDocument/2006/relationships/image" Target="../media/image23.png"/><Relationship Id="rId4" Type="http://schemas.openxmlformats.org/officeDocument/2006/relationships/image" Target="../media/image57.png"/><Relationship Id="rId9" Type="http://schemas.openxmlformats.org/officeDocument/2006/relationships/customXml" Target="../ink/ink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219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188595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Lecture 14:   </a:t>
            </a:r>
            <a:r>
              <a:rPr lang="en-US" sz="2800" i="1" dirty="0"/>
              <a:t>Shortest Path in Weighted Graphs – part I</a:t>
            </a:r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600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94781-9569-4BCE-B3A3-2C8EB0F996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Previously</a:t>
            </a:r>
          </a:p>
          <a:p>
            <a:pPr lvl="1"/>
            <a:r>
              <a:rPr lang="en-US" dirty="0"/>
              <a:t>Basics of graphs, representations, graph search strategies</a:t>
            </a:r>
          </a:p>
          <a:p>
            <a:pPr lvl="1"/>
            <a:r>
              <a:rPr lang="en-US" dirty="0"/>
              <a:t>BFS: also leads to shortest path distance in input graph</a:t>
            </a:r>
          </a:p>
          <a:p>
            <a:pPr lvl="2"/>
            <a:r>
              <a:rPr lang="en-US" dirty="0"/>
              <a:t>Note: graph is unweighted! </a:t>
            </a:r>
          </a:p>
          <a:p>
            <a:pPr lvl="2"/>
            <a:endParaRPr lang="en-US" dirty="0"/>
          </a:p>
          <a:p>
            <a:r>
              <a:rPr lang="en-US" dirty="0"/>
              <a:t>Today: </a:t>
            </a:r>
          </a:p>
          <a:p>
            <a:pPr lvl="1"/>
            <a:r>
              <a:rPr lang="en-US" dirty="0"/>
              <a:t>Weighted graphs </a:t>
            </a:r>
          </a:p>
          <a:p>
            <a:pPr lvl="2"/>
            <a:r>
              <a:rPr lang="en-US" dirty="0"/>
              <a:t>where each edge has an edge weight </a:t>
            </a:r>
          </a:p>
          <a:p>
            <a:pPr lvl="1"/>
            <a:r>
              <a:rPr lang="en-US" dirty="0"/>
              <a:t>Properties of shortest paths in weighted graphs </a:t>
            </a:r>
          </a:p>
          <a:p>
            <a:pPr lvl="1"/>
            <a:r>
              <a:rPr lang="en-US" dirty="0">
                <a:latin typeface="Arial Nova Cond" panose="020B0506020202020204" pitchFamily="34" charset="0"/>
              </a:rPr>
              <a:t>Bellman-Ford</a:t>
            </a:r>
            <a:r>
              <a:rPr lang="en-US" dirty="0"/>
              <a:t> algorithm for computing single-source shortest path for any weighted graphs</a:t>
            </a:r>
          </a:p>
        </p:txBody>
      </p:sp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1295400"/>
          </a:xfrm>
        </p:spPr>
        <p:txBody>
          <a:bodyPr/>
          <a:lstStyle/>
          <a:p>
            <a:pPr algn="ctr"/>
            <a:r>
              <a:rPr lang="en-US" dirty="0"/>
              <a:t>Weighted graphs, and shortest paths in them </a:t>
            </a:r>
          </a:p>
        </p:txBody>
      </p:sp>
    </p:spTree>
    <p:extLst>
      <p:ext uri="{BB962C8B-B14F-4D97-AF65-F5344CB8AC3E}">
        <p14:creationId xmlns:p14="http://schemas.microsoft.com/office/powerpoint/2010/main" val="1929170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37409-8979-46BF-9B5D-A5D5E65B9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E04ACD-2139-474B-8DD3-06B4AD87B95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Unweighted graph: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:endParaRPr lang="en-US" sz="800" dirty="0"/>
              </a:p>
              <a:p>
                <a:r>
                  <a:rPr lang="en-US" sz="2400" dirty="0"/>
                  <a:t>Nodes and edges can carry meaning, and thus can carry weights as well. </a:t>
                </a:r>
              </a:p>
              <a:p>
                <a:endParaRPr lang="en-US" sz="800" dirty="0"/>
              </a:p>
              <a:p>
                <a:r>
                  <a:rPr lang="en-US" sz="2400" dirty="0"/>
                  <a:t>Example:  transportation network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E04ACD-2139-474B-8DD3-06B4AD87B9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8931C66-5DFB-4B1B-8830-BFCE3255F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88080"/>
            <a:ext cx="2836192" cy="2843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DC6645-EED3-4F13-82DC-69FC057ED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3581400"/>
            <a:ext cx="2905930" cy="28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2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71CA7-18B4-4B19-A635-3C7F379D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D50C2F-2697-4A6C-81AC-B757493CC51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</p:spPr>
            <p:txBody>
              <a:bodyPr/>
              <a:lstStyle/>
              <a:p>
                <a:r>
                  <a:rPr lang="en-US" dirty="0"/>
                  <a:t>(Edge) </a:t>
                </a:r>
                <a:r>
                  <a:rPr lang="en-US" dirty="0">
                    <a:solidFill>
                      <a:srgbClr val="0070C0"/>
                    </a:solidFill>
                  </a:rPr>
                  <a:t>weighted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together with a edge weight assignment map: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i.e.,  a graph where each edge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has a weight (real value)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D50C2F-2697-4A6C-81AC-B757493CC5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  <a:blipFill>
                <a:blip r:embed="rId2"/>
                <a:stretch>
                  <a:fillRect l="-667" t="-2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B3788DA-CA89-493E-90F7-8A4E1C396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59" y="3276600"/>
            <a:ext cx="2905930" cy="284321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382474-B61F-4ABB-8C65-1B6683E03ECF}"/>
              </a:ext>
            </a:extLst>
          </p:cNvPr>
          <p:cNvSpPr txBox="1">
            <a:spLocks/>
          </p:cNvSpPr>
          <p:nvPr/>
        </p:nvSpPr>
        <p:spPr bwMode="auto">
          <a:xfrm>
            <a:off x="4038600" y="3048000"/>
            <a:ext cx="4724400" cy="313610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can be directed / undirected</a:t>
            </a:r>
          </a:p>
          <a:p>
            <a:pPr lvl="1"/>
            <a:r>
              <a:rPr lang="en-US" sz="2100" dirty="0"/>
              <a:t>weights can be positive/negative</a:t>
            </a:r>
          </a:p>
          <a:p>
            <a:r>
              <a:rPr lang="en-US" sz="2400" dirty="0"/>
              <a:t>useful in many applications</a:t>
            </a:r>
          </a:p>
          <a:p>
            <a:pPr lvl="1"/>
            <a:r>
              <a:rPr lang="en-US" sz="2000" dirty="0"/>
              <a:t>strength of connection in a social  network</a:t>
            </a:r>
          </a:p>
          <a:p>
            <a:pPr lvl="1"/>
            <a:r>
              <a:rPr lang="en-US" sz="2000" dirty="0"/>
              <a:t>distance in a transportation network</a:t>
            </a:r>
          </a:p>
          <a:p>
            <a:pPr lvl="1"/>
            <a:r>
              <a:rPr lang="en-US" sz="2000" dirty="0"/>
              <a:t>probability that two nodes interact in a protein-protein interaction network</a:t>
            </a:r>
          </a:p>
          <a:p>
            <a:pPr lvl="1"/>
            <a:endParaRPr lang="en-US" sz="20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7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4398-26DB-4068-AC3D-37EEF9670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lengths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AF7B1-0A6F-42BD-8F90-26D7B438EBB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Given a path in a weighted graph, its </a:t>
            </a:r>
            <a:r>
              <a:rPr lang="en-US" dirty="0">
                <a:solidFill>
                  <a:srgbClr val="0070C0"/>
                </a:solidFill>
              </a:rPr>
              <a:t>length</a:t>
            </a:r>
            <a:r>
              <a:rPr lang="en-US" dirty="0"/>
              <a:t> is the total weights of all edges in the path. </a:t>
            </a:r>
          </a:p>
          <a:p>
            <a:endParaRPr lang="en-US" sz="800" dirty="0"/>
          </a:p>
          <a:p>
            <a:r>
              <a:rPr lang="en-US" dirty="0"/>
              <a:t>Examples: </a:t>
            </a:r>
          </a:p>
          <a:p>
            <a:pPr lvl="1"/>
            <a:r>
              <a:rPr lang="en-US" sz="2000" dirty="0"/>
              <a:t>SF, LA, Bakersfield, Riverside</a:t>
            </a:r>
          </a:p>
          <a:p>
            <a:pPr lvl="2"/>
            <a:r>
              <a:rPr lang="en-US" sz="1800" dirty="0"/>
              <a:t>length = 728</a:t>
            </a:r>
          </a:p>
          <a:p>
            <a:pPr lvl="1"/>
            <a:r>
              <a:rPr lang="en-US" sz="2000" dirty="0"/>
              <a:t>SF, LA, Riverside</a:t>
            </a:r>
          </a:p>
          <a:p>
            <a:pPr lvl="2"/>
            <a:r>
              <a:rPr lang="en-US" sz="1800" dirty="0"/>
              <a:t>length = 490</a:t>
            </a:r>
          </a:p>
          <a:p>
            <a:pPr lvl="1"/>
            <a:r>
              <a:rPr lang="en-US" sz="2000" dirty="0"/>
              <a:t>LA, SD, Riverside, LA, SF </a:t>
            </a:r>
          </a:p>
          <a:p>
            <a:pPr lvl="2"/>
            <a:r>
              <a:rPr lang="en-US" sz="1700" dirty="0"/>
              <a:t>length = 688 </a:t>
            </a:r>
          </a:p>
          <a:p>
            <a:pPr lvl="1"/>
            <a:r>
              <a:rPr lang="en-US" sz="2000" dirty="0"/>
              <a:t>LA, SF</a:t>
            </a:r>
          </a:p>
          <a:p>
            <a:pPr lvl="2"/>
            <a:r>
              <a:rPr lang="en-US" sz="1800" dirty="0"/>
              <a:t>length = 409</a:t>
            </a:r>
          </a:p>
          <a:p>
            <a:pPr lvl="1"/>
            <a:r>
              <a:rPr lang="en-US" sz="2000" dirty="0"/>
              <a:t>LA, </a:t>
            </a:r>
            <a:r>
              <a:rPr lang="en-US" sz="2000" dirty="0" err="1"/>
              <a:t>Bakerfield</a:t>
            </a:r>
            <a:r>
              <a:rPr lang="en-US" sz="2000" dirty="0"/>
              <a:t>, SF</a:t>
            </a:r>
          </a:p>
          <a:p>
            <a:pPr lvl="2"/>
            <a:r>
              <a:rPr lang="en-US" sz="1800" dirty="0"/>
              <a:t>length = 302</a:t>
            </a:r>
          </a:p>
          <a:p>
            <a:pPr lvl="1"/>
            <a:r>
              <a:rPr lang="en-US" sz="2000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AEC3DB-0462-4E8A-88F6-E667A1C87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667000"/>
            <a:ext cx="2905930" cy="28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52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81C03-03D4-49D5-A442-2E442D65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7764E-A8C4-4A9F-BD06-9277115686B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dirty="0">
                    <a:solidFill>
                      <a:srgbClr val="0070C0"/>
                    </a:solidFill>
                  </a:rPr>
                  <a:t>shortest path </a:t>
                </a:r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a path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with minimum length.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Shortest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7764E-A8C4-4A9F-BD06-927711568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39348838-930F-4C13-98C4-E548564F8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438400"/>
            <a:ext cx="65151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88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96E92AB9-C6D1-4227-A183-D35A3D79A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659177"/>
            <a:ext cx="5729260" cy="2958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081C03-03D4-49D5-A442-2E442D65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7764E-A8C4-4A9F-BD06-9277115686B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dirty="0">
                    <a:solidFill>
                      <a:srgbClr val="0070C0"/>
                    </a:solidFill>
                  </a:rPr>
                  <a:t>shortest path </a:t>
                </a:r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a path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with minimum length. </a:t>
                </a:r>
              </a:p>
              <a:p>
                <a:r>
                  <a:rPr lang="en-US" dirty="0"/>
                  <a:t>The (shortest-path) </a:t>
                </a:r>
                <a:r>
                  <a:rPr lang="en-US" dirty="0">
                    <a:solidFill>
                      <a:srgbClr val="0070C0"/>
                    </a:solidFill>
                  </a:rPr>
                  <a:t>distance</a:t>
                </a:r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the length of the shortest path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 shortest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may not be unique</a:t>
                </a:r>
              </a:p>
              <a:p>
                <a:pPr lvl="1"/>
                <a:r>
                  <a:rPr lang="en-US" dirty="0"/>
                  <a:t>but all shortest paths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have same length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A7764E-A8C4-4A9F-BD06-927711568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667" t="-1111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892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A028-3795-47FF-8A67-7CE07FCD9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F76E4C-3861-4CDB-9789-AD03954051E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An unweighted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can be thought of as a weighted graph where all edges have the same unit weight, </a:t>
                </a:r>
                <a:r>
                  <a:rPr lang="en-US" dirty="0" err="1"/>
                  <a:t>i.e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for any edge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Hence, </a:t>
                </a:r>
              </a:p>
              <a:p>
                <a:pPr lvl="1"/>
                <a:r>
                  <a:rPr lang="en-US" dirty="0"/>
                  <a:t>BFS can compute the shortest path lengths (to the source) for an unweighted graph, or equivalently, a graph where all edges have </a:t>
                </a:r>
                <a:r>
                  <a:rPr lang="en-US" dirty="0">
                    <a:solidFill>
                      <a:srgbClr val="700000"/>
                    </a:solidFill>
                  </a:rPr>
                  <a:t>the same edge weights</a:t>
                </a:r>
                <a:r>
                  <a:rPr lang="en-US" dirty="0"/>
                  <a:t>!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F76E4C-3861-4CDB-9789-AD03954051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424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4B93B-069C-4D2C-B620-A984DFFB7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shortest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56E08-290F-4E58-8242-F13BADA7946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Shortest path is not well-defined if the input graph has “</a:t>
            </a:r>
            <a:r>
              <a:rPr lang="en-US" dirty="0">
                <a:solidFill>
                  <a:srgbClr val="700000"/>
                </a:solidFill>
              </a:rPr>
              <a:t>negative cycles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700000"/>
                </a:solidFill>
              </a:rPr>
              <a:t>negative cycle </a:t>
            </a:r>
            <a:r>
              <a:rPr lang="en-US" dirty="0"/>
              <a:t>is a cycle whose length is negative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BE14C7-2D61-47D3-B27D-82B1AABD812E}"/>
              </a:ext>
            </a:extLst>
          </p:cNvPr>
          <p:cNvSpPr/>
          <p:nvPr/>
        </p:nvSpPr>
        <p:spPr>
          <a:xfrm>
            <a:off x="5541420" y="3281590"/>
            <a:ext cx="2941540" cy="1654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Negative weights are usually okay. Negative cycles make shortest path not well-defined.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9D5A6F3-84B3-4C5B-940C-2C5388460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14650"/>
            <a:ext cx="395287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79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4B93B-069C-4D2C-B620-A984DFFB7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456E08-290F-4E58-8242-F13BADA7946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Shortest path is not well-defined if the input graph has “</a:t>
                </a:r>
                <a:r>
                  <a:rPr lang="en-US" sz="2400" dirty="0">
                    <a:solidFill>
                      <a:srgbClr val="700000"/>
                    </a:solidFill>
                  </a:rPr>
                  <a:t>negative cycles</a:t>
                </a:r>
                <a:r>
                  <a:rPr lang="en-US" sz="2400" dirty="0"/>
                  <a:t>”</a:t>
                </a:r>
              </a:p>
              <a:p>
                <a:pPr lvl="1"/>
                <a:r>
                  <a:rPr lang="en-US" sz="2000" dirty="0"/>
                  <a:t>A </a:t>
                </a:r>
                <a:r>
                  <a:rPr lang="en-US" sz="2000" dirty="0">
                    <a:solidFill>
                      <a:srgbClr val="700000"/>
                    </a:solidFill>
                  </a:rPr>
                  <a:t>negative cycle </a:t>
                </a:r>
                <a:r>
                  <a:rPr lang="en-US" sz="2000" dirty="0"/>
                  <a:t>is a cycle whose length is negative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Assume we have a graph with no negative cycle</a:t>
                </a:r>
              </a:p>
              <a:p>
                <a:pPr lvl="1"/>
                <a:r>
                  <a:rPr lang="en-US" sz="2000" dirty="0"/>
                  <a:t>Then for any pair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there is always a shortest path that is </a:t>
                </a:r>
                <a:r>
                  <a:rPr lang="en-US" sz="2000" dirty="0">
                    <a:solidFill>
                      <a:srgbClr val="0070C0"/>
                    </a:solidFill>
                  </a:rPr>
                  <a:t>simple</a:t>
                </a:r>
                <a:r>
                  <a:rPr lang="en-US" sz="2000" dirty="0"/>
                  <a:t>.  </a:t>
                </a:r>
              </a:p>
              <a:p>
                <a:pPr lvl="2"/>
                <a:r>
                  <a:rPr lang="en-US" sz="1800" dirty="0"/>
                  <a:t>If a path is not simple, there is a cycle inside, then removing this cycle can only make the path length shorter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456E08-290F-4E58-8242-F13BADA794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2" name="Picture 51">
            <a:extLst>
              <a:ext uri="{FF2B5EF4-FFF2-40B4-BE49-F238E27FC236}">
                <a16:creationId xmlns:a16="http://schemas.microsoft.com/office/drawing/2014/main" id="{1F250645-B18A-42FB-A5FF-E017FDDCF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3962400"/>
            <a:ext cx="344805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855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4B93B-069C-4D2C-B620-A984DFFB7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456E08-290F-4E58-8242-F13BADA7946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Shortest path is not well-defined if the input graph has “</a:t>
                </a:r>
                <a:r>
                  <a:rPr lang="en-US" sz="2400" dirty="0">
                    <a:solidFill>
                      <a:srgbClr val="700000"/>
                    </a:solidFill>
                  </a:rPr>
                  <a:t>negative cycles</a:t>
                </a:r>
                <a:r>
                  <a:rPr lang="en-US" sz="2400" dirty="0"/>
                  <a:t>”</a:t>
                </a:r>
              </a:p>
              <a:p>
                <a:pPr lvl="1"/>
                <a:r>
                  <a:rPr lang="en-US" sz="2000" dirty="0"/>
                  <a:t>A </a:t>
                </a:r>
                <a:r>
                  <a:rPr lang="en-US" sz="2000" dirty="0">
                    <a:solidFill>
                      <a:srgbClr val="700000"/>
                    </a:solidFill>
                  </a:rPr>
                  <a:t>negative cycle </a:t>
                </a:r>
                <a:r>
                  <a:rPr lang="en-US" sz="2000" dirty="0"/>
                  <a:t>is a cycle whose length is negative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Assume we have a graph with no negative cycle</a:t>
                </a:r>
              </a:p>
              <a:p>
                <a:pPr lvl="1"/>
                <a:r>
                  <a:rPr lang="en-US" sz="2000" dirty="0"/>
                  <a:t>Then for any pair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there is always a shortest path that is </a:t>
                </a:r>
                <a:r>
                  <a:rPr lang="en-US" sz="2000" dirty="0">
                    <a:solidFill>
                      <a:srgbClr val="0070C0"/>
                    </a:solidFill>
                  </a:rPr>
                  <a:t>simple</a:t>
                </a:r>
                <a:r>
                  <a:rPr lang="en-US" sz="2000" dirty="0"/>
                  <a:t>.  </a:t>
                </a:r>
              </a:p>
              <a:p>
                <a:pPr lvl="2"/>
                <a:r>
                  <a:rPr lang="en-US" sz="1800" dirty="0"/>
                  <a:t>If a path is not simple, there is a cycle inside, then removing this cycle can only make the path length shorter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Hence from now on, when we can assume that shortest paths are </a:t>
                </a:r>
                <a:r>
                  <a:rPr lang="en-US" sz="2400" dirty="0">
                    <a:solidFill>
                      <a:srgbClr val="0070C0"/>
                    </a:solidFill>
                  </a:rPr>
                  <a:t>simple</a:t>
                </a:r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456E08-290F-4E58-8242-F13BADA794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739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692B-99AA-48ED-A38D-1C667C84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shortest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6">
                <a:extLst>
                  <a:ext uri="{FF2B5EF4-FFF2-40B4-BE49-F238E27FC236}">
                    <a16:creationId xmlns:a16="http://schemas.microsoft.com/office/drawing/2014/main" id="{F0A44E88-B314-4260-AF5A-CA1960054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000" y="1340068"/>
                <a:ext cx="7543800" cy="1829851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sz="2400" b="0" dirty="0">
                    <a:solidFill>
                      <a:srgbClr val="0070C0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Optimal Substructure Property</a:t>
                </a:r>
                <a:r>
                  <a:rPr lang="en-US" sz="2000" b="0" dirty="0">
                    <a:solidFill>
                      <a:srgbClr val="0070C0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 </a:t>
                </a:r>
                <a:r>
                  <a:rPr lang="en-US" sz="2400" b="0" dirty="0">
                    <a:solidFill>
                      <a:srgbClr val="0070C0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(Theorem)</a:t>
                </a:r>
                <a:r>
                  <a:rPr lang="en-US" sz="2400" b="0" dirty="0">
                    <a:solidFill>
                      <a:srgbClr val="0070C0"/>
                    </a:solidFill>
                  </a:rPr>
                  <a:t>: </a:t>
                </a:r>
                <a:endParaRPr lang="en-US" sz="2000" b="0" dirty="0">
                  <a:solidFill>
                    <a:srgbClr val="0070C0"/>
                  </a:solidFill>
                </a:endParaRPr>
              </a:p>
              <a:p>
                <a:pPr algn="ctr"/>
                <a:r>
                  <a:rPr lang="en-US" sz="2400" b="0" dirty="0"/>
                  <a:t>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,…,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b="0" dirty="0"/>
                  <a:t> is a shortest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b="0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b="0" dirty="0"/>
                  <a:t>,</a:t>
                </a:r>
              </a:p>
              <a:p>
                <a:pPr algn="ctr"/>
                <a:r>
                  <a:rPr lang="en-US" sz="2400" b="0" dirty="0"/>
                  <a:t>then any sub-path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/>
                          </a:rPr>
                          <m:t>, …,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b="0" dirty="0"/>
                  <a:t> is also a shortest path. </a:t>
                </a:r>
              </a:p>
            </p:txBody>
          </p:sp>
        </mc:Choice>
        <mc:Fallback xmlns="">
          <p:sp>
            <p:nvSpPr>
              <p:cNvPr id="4" name="Rectangle 6">
                <a:extLst>
                  <a:ext uri="{FF2B5EF4-FFF2-40B4-BE49-F238E27FC236}">
                    <a16:creationId xmlns:a16="http://schemas.microsoft.com/office/drawing/2014/main" id="{F0A44E88-B314-4260-AF5A-CA19600548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" y="1340068"/>
                <a:ext cx="7543800" cy="18298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9F0AD5D-D52D-4E1C-B112-3FB98A27D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850" y="3688080"/>
            <a:ext cx="468630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2B35-CEDB-45D0-B58E-8021ABBC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of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88C76A-0289-4A15-BE7F-8B0A2507266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648200"/>
              </a:xfrm>
            </p:spPr>
            <p:txBody>
              <a:bodyPr/>
              <a:lstStyle/>
              <a:p>
                <a:r>
                  <a:rPr lang="en-US" dirty="0"/>
                  <a:t>From now on, 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denote the (shortest path) distance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Triangle inequality: </a:t>
                </a:r>
              </a:p>
              <a:p>
                <a:pPr lvl="1"/>
                <a:r>
                  <a:rPr lang="en-US" dirty="0"/>
                  <a:t>Suppose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 is an edge. Then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74638" lvl="1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dirty="0">
                    <a:solidFill>
                      <a:srgbClr val="0070C0"/>
                    </a:solidFill>
                  </a:rPr>
                  <a:t>predecessor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along a shortest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that is,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 is the last edge along a shortest path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88C76A-0289-4A15-BE7F-8B0A250726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648200"/>
              </a:xfrm>
              <a:blipFill>
                <a:blip r:embed="rId2"/>
                <a:stretch>
                  <a:fillRect l="-667" t="-1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8303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8458200" cy="1600200"/>
          </a:xfrm>
        </p:spPr>
        <p:txBody>
          <a:bodyPr/>
          <a:lstStyle/>
          <a:p>
            <a:pPr algn="ctr"/>
            <a:r>
              <a:rPr lang="en-US" dirty="0"/>
              <a:t>Single-source shortest paths (SSSP)</a:t>
            </a:r>
            <a:br>
              <a:rPr lang="en-US" dirty="0"/>
            </a:br>
            <a:r>
              <a:rPr lang="en-US" dirty="0"/>
              <a:t>and Does BFS work for weighted graphs?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38457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0702-DE11-4706-8A42-B2ACAA8E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5612AB-8628-4BE8-9300-5B825E66436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371600"/>
                <a:ext cx="8229600" cy="4800600"/>
              </a:xfrm>
            </p:spPr>
            <p:txBody>
              <a:bodyPr/>
              <a:lstStyle/>
              <a:p>
                <a:r>
                  <a:rPr lang="en-US" sz="2400" dirty="0">
                    <a:solidFill>
                      <a:srgbClr val="0070C0"/>
                    </a:solidFill>
                  </a:rPr>
                  <a:t>Single-source shortest path (SSSP) </a:t>
                </a:r>
                <a:r>
                  <a:rPr lang="en-US" sz="2400" dirty="0"/>
                  <a:t>problem: </a:t>
                </a:r>
              </a:p>
              <a:p>
                <a:pPr lvl="1"/>
                <a:r>
                  <a:rPr lang="en-US" sz="2000" dirty="0"/>
                  <a:t>Given a weighted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and a source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, compute the shortest path distance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all other nodes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2"/>
                <a:r>
                  <a:rPr lang="en-US" dirty="0" err="1"/>
                  <a:t>i.e</a:t>
                </a:r>
                <a:r>
                  <a:rPr lang="en-US" dirty="0"/>
                  <a:t>,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2"/>
                <a:endParaRPr lang="en-US" sz="1000" dirty="0"/>
              </a:p>
              <a:p>
                <a:r>
                  <a:rPr lang="en-US" sz="2400" dirty="0"/>
                  <a:t>Once we have an algorithm for SSSP, we can use it to solve for all-pairs shortest path problem (where we compute shortest path distance among all pairs of nodes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lvl="1"/>
                <a:r>
                  <a:rPr lang="en-US" sz="2000" dirty="0"/>
                  <a:t>by simply running SSSP once using each node as source </a:t>
                </a:r>
              </a:p>
              <a:p>
                <a:pPr lvl="1"/>
                <a:endParaRPr lang="en-US" sz="1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5612AB-8628-4BE8-9300-5B825E6643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371600"/>
                <a:ext cx="8229600" cy="4800600"/>
              </a:xfrm>
              <a:blipFill>
                <a:blip r:embed="rId2"/>
                <a:stretch>
                  <a:fillRect l="-519" t="-1015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305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EE3C-1A2A-4BB0-A107-FA112BC99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E5CCCA-45F0-4CDF-9DB8-C7BB067DA47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An unweighted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can be thought of as a weighted graph where all edges have the same unit weight, </a:t>
                </a:r>
                <a:r>
                  <a:rPr lang="en-US" dirty="0" err="1"/>
                  <a:t>i.e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for any edge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Hence, </a:t>
                </a:r>
              </a:p>
              <a:p>
                <a:pPr lvl="1"/>
                <a:r>
                  <a:rPr lang="en-US" dirty="0"/>
                  <a:t>BFS can compute the shortest path distance for an unweighted graph, or equivalently, a graph where all edges have </a:t>
                </a:r>
                <a:r>
                  <a:rPr lang="en-US" dirty="0">
                    <a:solidFill>
                      <a:srgbClr val="700000"/>
                    </a:solidFill>
                  </a:rPr>
                  <a:t>the same edge weights</a:t>
                </a:r>
                <a:r>
                  <a:rPr lang="en-US" dirty="0"/>
                  <a:t>!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E5CCCA-45F0-4CDF-9DB8-C7BB067DA4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0413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71BF9-92B6-40FC-B621-2AB1B7D1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BFS idea work?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BB1B5-CF91-4D63-9974-D3754500DC5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56230" y="1229640"/>
            <a:ext cx="3834770" cy="4937760"/>
          </a:xfrm>
        </p:spPr>
        <p:txBody>
          <a:bodyPr/>
          <a:lstStyle/>
          <a:p>
            <a:r>
              <a:rPr lang="en-US" dirty="0"/>
              <a:t>Not really</a:t>
            </a:r>
          </a:p>
          <a:p>
            <a:r>
              <a:rPr lang="en-US" dirty="0"/>
              <a:t>Example: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BC654A7-47B9-49BB-9168-B8F9F81EBF01}"/>
              </a:ext>
            </a:extLst>
          </p:cNvPr>
          <p:cNvGrpSpPr/>
          <p:nvPr/>
        </p:nvGrpSpPr>
        <p:grpSpPr>
          <a:xfrm>
            <a:off x="356230" y="2616869"/>
            <a:ext cx="3935160" cy="3519000"/>
            <a:chOff x="304800" y="2255400"/>
            <a:chExt cx="3935160" cy="3519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CFD7567-A08E-4F40-A599-67ECA79FBBD3}"/>
                </a:ext>
              </a:extLst>
            </p:cNvPr>
            <p:cNvSpPr/>
            <p:nvPr/>
          </p:nvSpPr>
          <p:spPr>
            <a:xfrm>
              <a:off x="304800" y="3210840"/>
              <a:ext cx="742320" cy="74268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F65E0E9-5091-4EE5-9066-72BE68CAEC4A}"/>
                    </a:ext>
                  </a:extLst>
                </p14:cNvPr>
                <p14:cNvContentPartPr/>
                <p14:nvPr/>
              </p14:nvContentPartPr>
              <p14:xfrm>
                <a:off x="547660" y="3413760"/>
                <a:ext cx="208440" cy="284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F65E0E9-5091-4EE5-9066-72BE68CAEC4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5800" y="3401895"/>
                  <a:ext cx="232159" cy="30849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53D5078-A26B-4A86-96D3-E7592C05B534}"/>
                </a:ext>
              </a:extLst>
            </p:cNvPr>
            <p:cNvCxnSpPr>
              <a:stCxn id="4" idx="7"/>
              <a:endCxn id="7" idx="2"/>
            </p:cNvCxnSpPr>
            <p:nvPr/>
          </p:nvCxnSpPr>
          <p:spPr>
            <a:xfrm flipV="1">
              <a:off x="938410" y="2617200"/>
              <a:ext cx="683270" cy="702403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D0BABAE-E98E-4156-B400-07639980F2BE}"/>
                </a:ext>
              </a:extLst>
            </p:cNvPr>
            <p:cNvSpPr/>
            <p:nvPr/>
          </p:nvSpPr>
          <p:spPr>
            <a:xfrm>
              <a:off x="1621680" y="2255400"/>
              <a:ext cx="723960" cy="72360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06CE848-8E02-4622-BA29-C81D6F592DBB}"/>
                </a:ext>
              </a:extLst>
            </p:cNvPr>
            <p:cNvSpPr/>
            <p:nvPr/>
          </p:nvSpPr>
          <p:spPr>
            <a:xfrm>
              <a:off x="1725000" y="3710880"/>
              <a:ext cx="712080" cy="71208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A7F1A6-8914-42D4-AB21-232DD4DDA753}"/>
                </a:ext>
              </a:extLst>
            </p:cNvPr>
            <p:cNvSpPr/>
            <p:nvPr/>
          </p:nvSpPr>
          <p:spPr>
            <a:xfrm>
              <a:off x="1730400" y="5044680"/>
              <a:ext cx="729720" cy="72972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95527D-333C-44CE-BB3F-490502792E5F}"/>
                    </a:ext>
                  </a:extLst>
                </p14:cNvPr>
                <p14:cNvContentPartPr/>
                <p14:nvPr/>
              </p14:nvContentPartPr>
              <p14:xfrm>
                <a:off x="1983340" y="5278200"/>
                <a:ext cx="258120" cy="214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95527D-333C-44CE-BB3F-490502792E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71460" y="5266360"/>
                  <a:ext cx="281880" cy="2378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EA386F5-50A3-4894-8C2C-575723B85ECC}"/>
                </a:ext>
              </a:extLst>
            </p:cNvPr>
            <p:cNvSpPr/>
            <p:nvPr/>
          </p:nvSpPr>
          <p:spPr>
            <a:xfrm>
              <a:off x="3491160" y="2422440"/>
              <a:ext cx="748800" cy="74844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5B245FC-3E35-44CD-B123-1A34A2FA9A50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2345640" y="2617200"/>
              <a:ext cx="1145520" cy="179460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2B43C-F10B-4230-92A8-7142FF60F135}"/>
                </a:ext>
              </a:extLst>
            </p:cNvPr>
            <p:cNvCxnSpPr>
              <a:stCxn id="11" idx="3"/>
              <a:endCxn id="8" idx="6"/>
            </p:cNvCxnSpPr>
            <p:nvPr/>
          </p:nvCxnSpPr>
          <p:spPr>
            <a:xfrm flipH="1">
              <a:off x="2437080" y="3061273"/>
              <a:ext cx="1163739" cy="1005647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4DA7BEE-84A4-4E0A-AD94-B1D045DA6C45}"/>
                </a:ext>
              </a:extLst>
            </p:cNvPr>
            <p:cNvCxnSpPr>
              <a:stCxn id="4" idx="5"/>
              <a:endCxn id="8" idx="1"/>
            </p:cNvCxnSpPr>
            <p:nvPr/>
          </p:nvCxnSpPr>
          <p:spPr>
            <a:xfrm flipV="1">
              <a:off x="938410" y="3815162"/>
              <a:ext cx="890872" cy="29595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5BDE67-1926-470C-BCBD-122858E5FB46}"/>
                </a:ext>
              </a:extLst>
            </p:cNvPr>
            <p:cNvCxnSpPr>
              <a:stCxn id="4" idx="4"/>
              <a:endCxn id="9" idx="1"/>
            </p:cNvCxnSpPr>
            <p:nvPr/>
          </p:nvCxnSpPr>
          <p:spPr>
            <a:xfrm>
              <a:off x="675960" y="3953520"/>
              <a:ext cx="1161305" cy="1198025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8FBED9-A4B9-4BCB-9010-A353C9CFB2B9}"/>
                    </a:ext>
                  </a:extLst>
                </p14:cNvPr>
                <p14:cNvContentPartPr/>
                <p14:nvPr/>
              </p14:nvContentPartPr>
              <p14:xfrm>
                <a:off x="1093060" y="2397120"/>
                <a:ext cx="2833200" cy="1287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8FBED9-A4B9-4BCB-9010-A353C9CFB2B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1178" y="2385273"/>
                  <a:ext cx="2856963" cy="1311414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FFD0CD6-E8FE-41BE-A009-F00A98C65D3C}"/>
                </a:ext>
              </a:extLst>
            </p:cNvPr>
            <p:cNvSpPr/>
            <p:nvPr/>
          </p:nvSpPr>
          <p:spPr>
            <a:xfrm>
              <a:off x="1518360" y="3508920"/>
              <a:ext cx="102960" cy="10296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C92BD4-A544-454A-8680-ED13095D3033}"/>
                    </a:ext>
                  </a:extLst>
                </p14:cNvPr>
                <p14:cNvContentPartPr/>
                <p14:nvPr/>
              </p14:nvContentPartPr>
              <p14:xfrm>
                <a:off x="2835460" y="3266520"/>
                <a:ext cx="45000" cy="202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C92BD4-A544-454A-8680-ED13095D30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23580" y="3254640"/>
                  <a:ext cx="68760" cy="22608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4F9A65-691B-47FE-B9F8-CB9ABF949EFF}"/>
                </a:ext>
              </a:extLst>
            </p:cNvPr>
            <p:cNvCxnSpPr>
              <a:stCxn id="8" idx="4"/>
              <a:endCxn id="9" idx="0"/>
            </p:cNvCxnSpPr>
            <p:nvPr/>
          </p:nvCxnSpPr>
          <p:spPr>
            <a:xfrm>
              <a:off x="2081040" y="4422960"/>
              <a:ext cx="14220" cy="621720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E03E94B-FDE8-4EC1-B43A-5CBAAF6446FD}"/>
                    </a:ext>
                  </a:extLst>
                </p14:cNvPr>
                <p14:cNvContentPartPr/>
                <p14:nvPr/>
              </p14:nvContentPartPr>
              <p14:xfrm>
                <a:off x="1072540" y="3850080"/>
                <a:ext cx="1355400" cy="1169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E03E94B-FDE8-4EC1-B43A-5CBAAF6446F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0673" y="3838211"/>
                  <a:ext cx="1379135" cy="1193378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583B8E-BFCF-419A-A493-EC304B5A0B8E}"/>
                </a:ext>
              </a:extLst>
            </p:cNvPr>
            <p:cNvSpPr/>
            <p:nvPr/>
          </p:nvSpPr>
          <p:spPr bwMode="auto">
            <a:xfrm>
              <a:off x="2330605" y="4495800"/>
              <a:ext cx="321360" cy="5239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6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937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71BF9-92B6-40FC-B621-2AB1B7D1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BFS idea work?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BB1B5-CF91-4D63-9974-D3754500DC5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56230" y="1229640"/>
            <a:ext cx="3834770" cy="4937760"/>
          </a:xfrm>
        </p:spPr>
        <p:txBody>
          <a:bodyPr/>
          <a:lstStyle/>
          <a:p>
            <a:r>
              <a:rPr lang="en-US" dirty="0"/>
              <a:t>Not really</a:t>
            </a:r>
          </a:p>
          <a:p>
            <a:r>
              <a:rPr lang="en-US" dirty="0"/>
              <a:t>Example: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BC654A7-47B9-49BB-9168-B8F9F81EBF01}"/>
              </a:ext>
            </a:extLst>
          </p:cNvPr>
          <p:cNvGrpSpPr/>
          <p:nvPr/>
        </p:nvGrpSpPr>
        <p:grpSpPr>
          <a:xfrm>
            <a:off x="356230" y="2616869"/>
            <a:ext cx="3935160" cy="3519000"/>
            <a:chOff x="304800" y="2255400"/>
            <a:chExt cx="3935160" cy="3519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CFD7567-A08E-4F40-A599-67ECA79FBBD3}"/>
                </a:ext>
              </a:extLst>
            </p:cNvPr>
            <p:cNvSpPr/>
            <p:nvPr/>
          </p:nvSpPr>
          <p:spPr>
            <a:xfrm>
              <a:off x="304800" y="3210840"/>
              <a:ext cx="742320" cy="74268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F65E0E9-5091-4EE5-9066-72BE68CAEC4A}"/>
                    </a:ext>
                  </a:extLst>
                </p14:cNvPr>
                <p14:cNvContentPartPr/>
                <p14:nvPr/>
              </p14:nvContentPartPr>
              <p14:xfrm>
                <a:off x="547660" y="3413760"/>
                <a:ext cx="208440" cy="284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F65E0E9-5091-4EE5-9066-72BE68CAEC4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5800" y="3401895"/>
                  <a:ext cx="232159" cy="30849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53D5078-A26B-4A86-96D3-E7592C05B534}"/>
                </a:ext>
              </a:extLst>
            </p:cNvPr>
            <p:cNvCxnSpPr>
              <a:stCxn id="4" idx="7"/>
              <a:endCxn id="7" idx="2"/>
            </p:cNvCxnSpPr>
            <p:nvPr/>
          </p:nvCxnSpPr>
          <p:spPr>
            <a:xfrm flipV="1">
              <a:off x="938410" y="2617200"/>
              <a:ext cx="683270" cy="702403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D0BABAE-E98E-4156-B400-07639980F2BE}"/>
                </a:ext>
              </a:extLst>
            </p:cNvPr>
            <p:cNvSpPr/>
            <p:nvPr/>
          </p:nvSpPr>
          <p:spPr>
            <a:xfrm>
              <a:off x="1621680" y="2255400"/>
              <a:ext cx="723960" cy="72360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06CE848-8E02-4622-BA29-C81D6F592DBB}"/>
                </a:ext>
              </a:extLst>
            </p:cNvPr>
            <p:cNvSpPr/>
            <p:nvPr/>
          </p:nvSpPr>
          <p:spPr>
            <a:xfrm>
              <a:off x="1725000" y="3710880"/>
              <a:ext cx="712080" cy="71208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A7F1A6-8914-42D4-AB21-232DD4DDA753}"/>
                </a:ext>
              </a:extLst>
            </p:cNvPr>
            <p:cNvSpPr/>
            <p:nvPr/>
          </p:nvSpPr>
          <p:spPr>
            <a:xfrm>
              <a:off x="1730400" y="5044680"/>
              <a:ext cx="729720" cy="72972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95527D-333C-44CE-BB3F-490502792E5F}"/>
                    </a:ext>
                  </a:extLst>
                </p14:cNvPr>
                <p14:cNvContentPartPr/>
                <p14:nvPr/>
              </p14:nvContentPartPr>
              <p14:xfrm>
                <a:off x="1983340" y="5278200"/>
                <a:ext cx="258120" cy="214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95527D-333C-44CE-BB3F-490502792E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71460" y="5266360"/>
                  <a:ext cx="281880" cy="2378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EA386F5-50A3-4894-8C2C-575723B85ECC}"/>
                </a:ext>
              </a:extLst>
            </p:cNvPr>
            <p:cNvSpPr/>
            <p:nvPr/>
          </p:nvSpPr>
          <p:spPr>
            <a:xfrm>
              <a:off x="3491160" y="2422440"/>
              <a:ext cx="748800" cy="74844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5B245FC-3E35-44CD-B123-1A34A2FA9A50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2345640" y="2617200"/>
              <a:ext cx="1145520" cy="179460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692B43C-F10B-4230-92A8-7142FF60F135}"/>
                </a:ext>
              </a:extLst>
            </p:cNvPr>
            <p:cNvCxnSpPr>
              <a:stCxn id="11" idx="3"/>
              <a:endCxn id="8" idx="6"/>
            </p:cNvCxnSpPr>
            <p:nvPr/>
          </p:nvCxnSpPr>
          <p:spPr>
            <a:xfrm flipH="1">
              <a:off x="2437080" y="3061273"/>
              <a:ext cx="1163739" cy="1005647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4DA7BEE-84A4-4E0A-AD94-B1D045DA6C45}"/>
                </a:ext>
              </a:extLst>
            </p:cNvPr>
            <p:cNvCxnSpPr>
              <a:stCxn id="4" idx="5"/>
              <a:endCxn id="8" idx="1"/>
            </p:cNvCxnSpPr>
            <p:nvPr/>
          </p:nvCxnSpPr>
          <p:spPr>
            <a:xfrm flipV="1">
              <a:off x="938410" y="3815162"/>
              <a:ext cx="890872" cy="29595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55BDE67-1926-470C-BCBD-122858E5FB46}"/>
                </a:ext>
              </a:extLst>
            </p:cNvPr>
            <p:cNvCxnSpPr>
              <a:stCxn id="4" idx="4"/>
              <a:endCxn id="9" idx="1"/>
            </p:cNvCxnSpPr>
            <p:nvPr/>
          </p:nvCxnSpPr>
          <p:spPr>
            <a:xfrm>
              <a:off x="675960" y="3953520"/>
              <a:ext cx="1161305" cy="1198025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8FBED9-A4B9-4BCB-9010-A353C9CFB2B9}"/>
                    </a:ext>
                  </a:extLst>
                </p14:cNvPr>
                <p14:cNvContentPartPr/>
                <p14:nvPr/>
              </p14:nvContentPartPr>
              <p14:xfrm>
                <a:off x="1093060" y="2397120"/>
                <a:ext cx="2833200" cy="1287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8FBED9-A4B9-4BCB-9010-A353C9CFB2B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1178" y="2385273"/>
                  <a:ext cx="2856963" cy="1311414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FFD0CD6-E8FE-41BE-A009-F00A98C65D3C}"/>
                </a:ext>
              </a:extLst>
            </p:cNvPr>
            <p:cNvSpPr/>
            <p:nvPr/>
          </p:nvSpPr>
          <p:spPr>
            <a:xfrm>
              <a:off x="1518360" y="3508920"/>
              <a:ext cx="102960" cy="10296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C92BD4-A544-454A-8680-ED13095D3033}"/>
                    </a:ext>
                  </a:extLst>
                </p14:cNvPr>
                <p14:cNvContentPartPr/>
                <p14:nvPr/>
              </p14:nvContentPartPr>
              <p14:xfrm>
                <a:off x="2835460" y="3266520"/>
                <a:ext cx="45000" cy="202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C92BD4-A544-454A-8680-ED13095D30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23580" y="3254640"/>
                  <a:ext cx="68760" cy="22608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4F9A65-691B-47FE-B9F8-CB9ABF949EFF}"/>
                </a:ext>
              </a:extLst>
            </p:cNvPr>
            <p:cNvCxnSpPr>
              <a:stCxn id="8" idx="4"/>
              <a:endCxn id="9" idx="0"/>
            </p:cNvCxnSpPr>
            <p:nvPr/>
          </p:nvCxnSpPr>
          <p:spPr>
            <a:xfrm>
              <a:off x="2081040" y="4422960"/>
              <a:ext cx="14220" cy="621720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E03E94B-FDE8-4EC1-B43A-5CBAAF6446FD}"/>
                    </a:ext>
                  </a:extLst>
                </p14:cNvPr>
                <p14:cNvContentPartPr/>
                <p14:nvPr/>
              </p14:nvContentPartPr>
              <p14:xfrm>
                <a:off x="1072540" y="3850080"/>
                <a:ext cx="1355400" cy="1169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E03E94B-FDE8-4EC1-B43A-5CBAAF6446F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0673" y="3838211"/>
                  <a:ext cx="1379135" cy="1193378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583B8E-BFCF-419A-A493-EC304B5A0B8E}"/>
                </a:ext>
              </a:extLst>
            </p:cNvPr>
            <p:cNvSpPr/>
            <p:nvPr/>
          </p:nvSpPr>
          <p:spPr bwMode="auto">
            <a:xfrm>
              <a:off x="2330605" y="4495800"/>
              <a:ext cx="321360" cy="5239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6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DCD36764-8814-4785-821C-2049E314B15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06310" y="2144040"/>
                <a:ext cx="4488430" cy="323714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Intuitively, what went wrong? </a:t>
                </a:r>
              </a:p>
              <a:p>
                <a:pPr lvl="1"/>
                <a:r>
                  <a:rPr lang="en-US" sz="2000" dirty="0"/>
                  <a:t>Recall BFS is a greedy algorithm and keeps exploring nodes in increasing distance to the source. </a:t>
                </a:r>
              </a:p>
              <a:p>
                <a:pPr lvl="1"/>
                <a:r>
                  <a:rPr lang="en-US" sz="2000" dirty="0"/>
                  <a:t>In BFS,  at the time we explore a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, we have found its correct distance to the source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already. </a:t>
                </a:r>
              </a:p>
              <a:p>
                <a:pPr lvl="1"/>
                <a:r>
                  <a:rPr lang="en-US" sz="2000" dirty="0"/>
                  <a:t>This however fails when edges have non-equal weights. </a:t>
                </a:r>
              </a:p>
            </p:txBody>
          </p:sp>
        </mc:Choice>
        <mc:Fallback xmlns="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DCD36764-8814-4785-821C-2049E314B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06310" y="2144040"/>
                <a:ext cx="4488430" cy="3237149"/>
              </a:xfrm>
              <a:prstGeom prst="rect">
                <a:avLst/>
              </a:prstGeom>
              <a:blipFill>
                <a:blip r:embed="rId12"/>
                <a:stretch>
                  <a:fillRect l="-812" t="-1313" r="-1353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6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D2C4-AAF7-4F00-A217-D62D3CBA5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use BFS to solve SSSP?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6FFDF-1B94-471C-B112-00869990876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Suppose edge weights are all positive integers</a:t>
                </a:r>
              </a:p>
              <a:p>
                <a:r>
                  <a:rPr lang="en-US" sz="2400" dirty="0"/>
                  <a:t>Then here is an idea to compute SSSP: </a:t>
                </a:r>
              </a:p>
              <a:p>
                <a:r>
                  <a:rPr lang="en-US" sz="2400" dirty="0"/>
                  <a:t>Input: 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/>
                  <a:t> gives integer weights, and a source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000" dirty="0"/>
              </a:p>
              <a:p>
                <a:r>
                  <a:rPr lang="en-US" sz="2400" dirty="0"/>
                  <a:t>Output: </a:t>
                </a:r>
              </a:p>
              <a:p>
                <a:pPr lvl="1"/>
                <a:r>
                  <a:rPr lang="en-US" sz="2000" dirty="0"/>
                  <a:t>The shortest path distance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all nodes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000" dirty="0"/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Approach #0: </a:t>
                </a:r>
              </a:p>
              <a:p>
                <a:pPr lvl="1"/>
                <a:r>
                  <a:rPr lang="en-US" sz="2000" dirty="0"/>
                  <a:t>Step 1:  For each edge with weight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, replace it by a path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edges, each of which has weight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.  Call the new graph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̂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000" dirty="0"/>
                  <a:t>. </a:t>
                </a:r>
              </a:p>
              <a:p>
                <a:pPr lvl="1"/>
                <a:r>
                  <a:rPr lang="en-US" sz="2000" dirty="0"/>
                  <a:t>Step 2:  Use BFS on the new graph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sz="2000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6FFDF-1B94-471C-B112-0086999087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020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61BE-7D93-4DF0-8A8C-E6B64DCA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Approach #0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6DB65-5AC3-4B79-8B6E-B600CFDDB05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/>
              <a:t>Only works when edges have positive integer weights</a:t>
            </a:r>
          </a:p>
          <a:p>
            <a:r>
              <a:rPr lang="en-US" dirty="0"/>
              <a:t>Even for integer-weighted graphs, it can be highly inefficient.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000" dirty="0"/>
          </a:p>
          <a:p>
            <a:r>
              <a:rPr lang="en-US" dirty="0">
                <a:solidFill>
                  <a:srgbClr val="700000"/>
                </a:solidFill>
              </a:rPr>
              <a:t>We need better algorithms for SSSP.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14D04-A5FC-41C9-9277-CB98E0EE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070" y="2438400"/>
            <a:ext cx="2905930" cy="28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3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8458200" cy="1600200"/>
          </a:xfrm>
        </p:spPr>
        <p:txBody>
          <a:bodyPr/>
          <a:lstStyle/>
          <a:p>
            <a:pPr algn="ctr"/>
            <a:r>
              <a:rPr lang="en-US" dirty="0"/>
              <a:t>Key operation for SSSP:</a:t>
            </a:r>
            <a:br>
              <a:rPr lang="en-US" dirty="0"/>
            </a:br>
            <a:r>
              <a:rPr lang="en-US" dirty="0"/>
              <a:t>Edge Update </a:t>
            </a:r>
            <a:br>
              <a:rPr lang="en-US" dirty="0"/>
            </a:b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26264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6557-9B55-4588-A864-2EE9DF5BB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algorithms for SSSP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35DAA-FA7C-48F4-8E39-4EEFBF6329A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95400"/>
                <a:ext cx="8229600" cy="4937760"/>
              </a:xfrm>
            </p:spPr>
            <p:txBody>
              <a:bodyPr/>
              <a:lstStyle/>
              <a:p>
                <a:r>
                  <a:rPr lang="en-US" sz="2400" dirty="0"/>
                  <a:t>Bellman-Ford algorithm</a:t>
                </a:r>
              </a:p>
              <a:p>
                <a:pPr lvl="1"/>
                <a:r>
                  <a:rPr lang="en-US" sz="2000" dirty="0"/>
                  <a:t>Works for any weighted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Has time complexity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endParaRPr lang="en-US" sz="1000" dirty="0"/>
              </a:p>
              <a:p>
                <a:r>
                  <a:rPr lang="en-US" sz="2400" dirty="0"/>
                  <a:t>Dijkstra algorithm</a:t>
                </a:r>
              </a:p>
              <a:p>
                <a:pPr lvl="1"/>
                <a:r>
                  <a:rPr lang="en-US" sz="2000" dirty="0"/>
                  <a:t>Works for graphs with </a:t>
                </a:r>
                <a:r>
                  <a:rPr lang="en-US" sz="2000" dirty="0">
                    <a:solidFill>
                      <a:srgbClr val="C00000"/>
                    </a:solidFill>
                  </a:rPr>
                  <a:t>positive edge weights</a:t>
                </a:r>
              </a:p>
              <a:p>
                <a:pPr lvl="1"/>
                <a:r>
                  <a:rPr lang="en-US" sz="2000" dirty="0"/>
                  <a:t>More efficient! Has time complexity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func>
                      <m:func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(which we will discuss in class), and can be made to run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func>
                      <m:func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time.  </a:t>
                </a:r>
              </a:p>
              <a:p>
                <a:endParaRPr lang="en-US" sz="1000" dirty="0"/>
              </a:p>
              <a:p>
                <a:r>
                  <a:rPr lang="en-US" sz="2400" dirty="0"/>
                  <a:t>Both algorithms</a:t>
                </a:r>
              </a:p>
              <a:p>
                <a:pPr lvl="1"/>
                <a:r>
                  <a:rPr lang="en-US" sz="2000" dirty="0"/>
                  <a:t>use an </a:t>
                </a:r>
                <a:r>
                  <a:rPr lang="en-US" sz="2000" dirty="0">
                    <a:solidFill>
                      <a:srgbClr val="C00000"/>
                    </a:solidFill>
                  </a:rPr>
                  <a:t>update</a:t>
                </a:r>
                <a:r>
                  <a:rPr lang="en-US" sz="2000" dirty="0"/>
                  <a:t>( ) operation to keep track of shortest path estimates </a:t>
                </a:r>
              </a:p>
              <a:p>
                <a:pPr lvl="1"/>
                <a:r>
                  <a:rPr lang="en-US" sz="2000" dirty="0"/>
                  <a:t>perform it repeatedly till all shortest path distances to source are round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35DAA-FA7C-48F4-8E39-4EEFBF6329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95400"/>
                <a:ext cx="8229600" cy="4937760"/>
              </a:xfrm>
              <a:blipFill>
                <a:blip r:embed="rId2"/>
                <a:stretch>
                  <a:fillRect l="-519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2D54C2D-EB83-466A-A046-4EB48CA5DC72}"/>
                  </a:ext>
                </a:extLst>
              </p:cNvPr>
              <p:cNvSpPr/>
              <p:nvPr/>
            </p:nvSpPr>
            <p:spPr>
              <a:xfrm>
                <a:off x="1371600" y="5715000"/>
                <a:ext cx="7086600" cy="762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/>
                  <a:t>From now on, for simplicity, we use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200" dirty="0"/>
                  <a:t> to denote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200" dirty="0"/>
                  <a:t> in time complexity.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2D54C2D-EB83-466A-A046-4EB48CA5DC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715000"/>
                <a:ext cx="7086600" cy="762000"/>
              </a:xfrm>
              <a:prstGeom prst="rect">
                <a:avLst/>
              </a:prstGeom>
              <a:blipFill>
                <a:blip r:embed="rId3"/>
                <a:stretch>
                  <a:fillRect t="-4688" b="-14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075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ABE2-4E0A-4D07-9A3B-01DEA751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shortest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06754-95A0-41F4-97C3-E413BC6C0D8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534400" cy="1828800"/>
              </a:xfrm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sz="2400" dirty="0"/>
                  <a:t>Fix the source node to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400" dirty="0"/>
              </a:p>
              <a:p>
                <a:pPr algn="l"/>
                <a:r>
                  <a:rPr lang="en-US" sz="2400" dirty="0"/>
                  <a:t>Both algorithms keep track of the shortest path found so far, </a:t>
                </a:r>
              </a:p>
              <a:p>
                <a:pPr lvl="1"/>
                <a:r>
                  <a:rPr lang="en-US" sz="2400" dirty="0"/>
                  <a:t>we call these </a:t>
                </a:r>
                <a:r>
                  <a:rPr lang="en-US" sz="2400" dirty="0">
                    <a:solidFill>
                      <a:srgbClr val="0070C0"/>
                    </a:solidFill>
                  </a:rPr>
                  <a:t>estimated shortest paths</a:t>
                </a:r>
              </a:p>
              <a:p>
                <a:pPr lvl="1"/>
                <a:r>
                  <a:rPr lang="en-US" sz="2400" dirty="0"/>
                  <a:t>set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400" dirty="0">
                    <a:solidFill>
                      <a:srgbClr val="0070C0"/>
                    </a:solidFill>
                  </a:rPr>
                  <a:t> = </a:t>
                </a:r>
                <a:r>
                  <a:rPr lang="en-US" sz="2400" dirty="0"/>
                  <a:t>the length of estimated shortest path source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dirty="0"/>
              </a:p>
              <a:p>
                <a:pPr algn="l"/>
                <a:endParaRPr lang="en-US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06754-95A0-41F4-97C3-E413BC6C0D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534400" cy="1828800"/>
              </a:xfrm>
              <a:blipFill>
                <a:blip r:embed="rId2"/>
                <a:stretch>
                  <a:fillRect l="-428" t="-2318" b="-3311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B7E9E1A-1343-45BF-B3D9-537BB4D7AC6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3581400"/>
                <a:ext cx="8534400" cy="2743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At the beginning,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400" dirty="0">
                    <a:solidFill>
                      <a:srgbClr val="0070C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400" dirty="0"/>
                  <a:t> for all nodes other than the source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4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est</m:t>
                    </m:r>
                    <m:r>
                      <a:rPr lang="en-US" sz="24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Then the algorithm will iteratively update shortest path estimates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400" dirty="0"/>
                  <a:t> when it finds better (shorter) path to reach it.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B7E9E1A-1343-45BF-B3D9-537BB4D7A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581400"/>
                <a:ext cx="8534400" cy="2743200"/>
              </a:xfrm>
              <a:prstGeom prst="rect">
                <a:avLst/>
              </a:prstGeom>
              <a:blipFill>
                <a:blip r:embed="rId3"/>
                <a:stretch>
                  <a:fillRect l="-500" t="-1778" r="-192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222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ABE2-4E0A-4D07-9A3B-01DEA751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shortest path so far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06754-95A0-41F4-97C3-E413BC6C0D8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75593" y="3276600"/>
                <a:ext cx="8534400" cy="3124200"/>
              </a:xfrm>
            </p:spPr>
            <p:txBody>
              <a:bodyPr/>
              <a:lstStyle/>
              <a:p>
                <a:r>
                  <a:rPr lang="en-US" sz="2400" b="0" u="sng" dirty="0"/>
                  <a:t>Key</a:t>
                </a:r>
                <a:r>
                  <a:rPr lang="en-US" sz="2400" b="0" dirty="0"/>
                  <a:t>:  </a:t>
                </a:r>
                <a:r>
                  <a:rPr lang="en-US" sz="2400" dirty="0"/>
                  <a:t>during the update process, at any moment, the estimated shortest path can only improve, is at least as long as the true shortest path (</a:t>
                </a:r>
                <a:r>
                  <a:rPr lang="en-US" sz="2400" dirty="0" err="1"/>
                  <a:t>i.e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2400" dirty="0"/>
                  <a:t>), and once it finds shortest distances, it will stay that way.  </a:t>
                </a:r>
              </a:p>
              <a:p>
                <a:pPr lvl="1"/>
                <a:endParaRPr lang="en-US" sz="1000" dirty="0">
                  <a:solidFill>
                    <a:srgbClr val="0070C0"/>
                  </a:solidFill>
                </a:endParaRPr>
              </a:p>
              <a:p>
                <a:r>
                  <a:rPr lang="en-US" sz="2400" dirty="0"/>
                  <a:t>For each node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, we will remember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’s</a:t>
                </a:r>
              </a:p>
              <a:p>
                <a:pPr lvl="1"/>
                <a:r>
                  <a:rPr lang="en-US" sz="2400" dirty="0"/>
                  <a:t>predecessor along the estimated shortest path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400" dirty="0"/>
                  <a:t>, the current estimated distance from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400" dirty="0"/>
              </a:p>
              <a:p>
                <a:pPr lvl="1"/>
                <a:endParaRPr lang="en-US" sz="21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algn="l"/>
                <a:endParaRPr lang="en-US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06754-95A0-41F4-97C3-E413BC6C0D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75593" y="3276600"/>
                <a:ext cx="8534400" cy="3124200"/>
              </a:xfrm>
              <a:blipFill>
                <a:blip r:embed="rId2"/>
                <a:stretch>
                  <a:fillRect l="-500" t="-1563" b="-2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6749387-2ACC-4E15-B8EA-B1322DDC027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1219200"/>
                <a:ext cx="8534400" cy="18288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Fix the source node to be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Both algorithms keep track of the shortest path found so far, </a:t>
                </a:r>
              </a:p>
              <a:p>
                <a:pPr lvl="1"/>
                <a:r>
                  <a:rPr lang="en-US" sz="2400" dirty="0"/>
                  <a:t>we call these </a:t>
                </a:r>
                <a:r>
                  <a:rPr lang="en-US" sz="2400" dirty="0">
                    <a:solidFill>
                      <a:srgbClr val="0070C0"/>
                    </a:solidFill>
                  </a:rPr>
                  <a:t>estimated shortest paths</a:t>
                </a:r>
              </a:p>
              <a:p>
                <a:pPr lvl="1"/>
                <a:r>
                  <a:rPr lang="en-US" sz="2400" dirty="0"/>
                  <a:t>set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400" dirty="0">
                    <a:solidFill>
                      <a:srgbClr val="0070C0"/>
                    </a:solidFill>
                  </a:rPr>
                  <a:t> = </a:t>
                </a:r>
                <a:r>
                  <a:rPr lang="en-US" sz="2400" dirty="0"/>
                  <a:t>the length of estimated shortest path source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6749387-2ACC-4E15-B8EA-B1322DDC0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219200"/>
                <a:ext cx="8534400" cy="1828800"/>
              </a:xfrm>
              <a:prstGeom prst="rect">
                <a:avLst/>
              </a:prstGeom>
              <a:blipFill>
                <a:blip r:embed="rId3"/>
                <a:stretch>
                  <a:fillRect l="-428" t="-2318" b="-3311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54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3C2B0-8A4B-4AB7-B11A-DB0323CA4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edges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4EF20-77EA-40FA-8936-D3AA12B9C31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05400"/>
              </a:xfrm>
            </p:spPr>
            <p:txBody>
              <a:bodyPr/>
              <a:lstStyle/>
              <a:p>
                <a:r>
                  <a:rPr lang="en-US" sz="2400" dirty="0"/>
                  <a:t>The way we update the estimates is via repeatedly performing “</a:t>
                </a:r>
                <a:r>
                  <a:rPr lang="en-US" sz="2400" dirty="0">
                    <a:solidFill>
                      <a:srgbClr val="C00000"/>
                    </a:solidFill>
                  </a:rPr>
                  <a:t>update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)” operation over 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has current predecessor</a:t>
                </a:r>
              </a:p>
              <a:p>
                <a:pPr lvl="1"/>
                <a:r>
                  <a:rPr lang="en-US" sz="2000" dirty="0"/>
                  <a:t>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a better predecessor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? </a:t>
                </a:r>
              </a:p>
              <a:p>
                <a:pPr lvl="1"/>
                <a:r>
                  <a:rPr lang="en-US" sz="2000" dirty="0"/>
                  <a:t>if yes,  then we should update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.</a:t>
                </a:r>
                <a:r>
                  <a:rPr lang="en-US" sz="20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/>
                  <a:t>s predecessor! 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In particular: </a:t>
                </a:r>
              </a:p>
              <a:p>
                <a:pPr marL="274638" lvl="1" indent="0">
                  <a:buNone/>
                </a:pPr>
                <a:r>
                  <a:rPr lang="en-US" sz="2200" dirty="0"/>
                  <a:t>Is the current shortest path from </a:t>
                </a:r>
              </a:p>
              <a:p>
                <a:pPr marL="593725" lvl="2" indent="0">
                  <a:buNone/>
                </a:pPr>
                <a:r>
                  <a:rPr lang="en-US" sz="2200" dirty="0"/>
                  <a:t>		source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  <a:p>
                <a:pPr marL="319088" lvl="1" indent="0">
                  <a:buNone/>
                </a:pPr>
                <a:r>
                  <a:rPr lang="en-US" sz="2200" dirty="0"/>
                  <a:t>shorter than the current shortest path from </a:t>
                </a:r>
              </a:p>
              <a:p>
                <a:pPr marL="319088" lvl="1" indent="0">
                  <a:buNone/>
                </a:pPr>
                <a:r>
                  <a:rPr lang="en-US" sz="2200" dirty="0"/>
                  <a:t>		</a:t>
                </a:r>
                <a:r>
                  <a:rPr lang="en-US" sz="2200" dirty="0">
                    <a:solidFill>
                      <a:schemeClr val="tx1"/>
                    </a:solidFill>
                  </a:rPr>
                  <a:t>source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 dirty="0"/>
                  <a:t>’s current predecessor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 dirty="0"/>
                  <a:t> ?</a:t>
                </a:r>
              </a:p>
              <a:p>
                <a:pPr marL="319088" lvl="1" indent="0">
                  <a:buNone/>
                </a:pPr>
                <a:r>
                  <a:rPr lang="en-US" sz="2200" dirty="0"/>
                  <a:t>If </a:t>
                </a:r>
                <a:r>
                  <a:rPr lang="en-US" sz="2200" dirty="0">
                    <a:solidFill>
                      <a:srgbClr val="00B050"/>
                    </a:solidFill>
                  </a:rPr>
                  <a:t>yes, </a:t>
                </a:r>
                <a:r>
                  <a:rPr lang="en-US" sz="2200" dirty="0"/>
                  <a:t>then we have discovered </a:t>
                </a:r>
                <a:r>
                  <a:rPr lang="en-US" sz="2200" dirty="0">
                    <a:solidFill>
                      <a:srgbClr val="00B050"/>
                    </a:solidFill>
                  </a:rPr>
                  <a:t>a shorter path to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200" dirty="0"/>
                  <a:t>and we change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 dirty="0"/>
                  <a:t>’s predecessor and estimated distance.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4EF20-77EA-40FA-8936-D3AA12B9C3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05400"/>
              </a:xfrm>
              <a:blipFill>
                <a:blip r:embed="rId2"/>
                <a:stretch>
                  <a:fillRect l="-519" t="-955" r="-519" b="-1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8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DF186-0EA3-4752-88C8-1BDB325CC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3AE80-BF24-4650-AD4B-C119C951DCB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270760"/>
          </a:xfrm>
        </p:spPr>
        <p:txBody>
          <a:bodyPr/>
          <a:lstStyle/>
          <a:p>
            <a:pPr lvl="1"/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C77E441-3B7F-44F0-8170-EEFE8B0B565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1371599"/>
                <a:ext cx="8229600" cy="261806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update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   </a:t>
                </a:r>
                <a:r>
                  <a:rPr lang="en-US" sz="2400" i="1" dirty="0"/>
                  <a:t>// where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i="1" dirty="0"/>
                  <a:t> is an edge in graph</a:t>
                </a:r>
                <a:endParaRPr lang="en-US" i="1" dirty="0"/>
              </a:p>
              <a:p>
                <a:pPr lvl="1"/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dirty="0">
                    <a:solidFill>
                      <a:srgbClr val="0070C0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Then we found a better path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3"/>
                <a:r>
                  <a:rPr lang="en-US" dirty="0"/>
                  <a:t>by first going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and then go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through edge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 we update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dirty="0">
                    <a:solidFill>
                      <a:srgbClr val="0070C0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’s predecessor</a:t>
                </a:r>
              </a:p>
              <a:p>
                <a:pPr lvl="1"/>
                <a:r>
                  <a:rPr lang="en-US" dirty="0"/>
                  <a:t>Otherwise, we do nothing.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C77E441-3B7F-44F0-8170-EEFE8B0B5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371599"/>
                <a:ext cx="8229600" cy="2618061"/>
              </a:xfrm>
              <a:prstGeom prst="rect">
                <a:avLst/>
              </a:prstGeom>
              <a:blipFill>
                <a:blip r:embed="rId2"/>
                <a:stretch>
                  <a:fillRect l="-1256" t="-1852" r="-517"/>
                </a:stretch>
              </a:blip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E83BE1A-2156-41FC-9AFD-702192CB6DAC}"/>
              </a:ext>
            </a:extLst>
          </p:cNvPr>
          <p:cNvGrpSpPr/>
          <p:nvPr/>
        </p:nvGrpSpPr>
        <p:grpSpPr>
          <a:xfrm>
            <a:off x="1847201" y="4191000"/>
            <a:ext cx="5315599" cy="2172209"/>
            <a:chOff x="1371608" y="4172515"/>
            <a:chExt cx="5315599" cy="217220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591C6F3-D198-4EA7-88CE-512182A51E09}"/>
                </a:ext>
              </a:extLst>
            </p:cNvPr>
            <p:cNvGrpSpPr/>
            <p:nvPr/>
          </p:nvGrpSpPr>
          <p:grpSpPr>
            <a:xfrm>
              <a:off x="1371608" y="4172515"/>
              <a:ext cx="3962392" cy="1187004"/>
              <a:chOff x="1371608" y="4172515"/>
              <a:chExt cx="3962392" cy="1187004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EC0B9A-F549-44FB-A615-21F08A7C30D1}"/>
                  </a:ext>
                </a:extLst>
              </p:cNvPr>
              <p:cNvSpPr/>
              <p:nvPr/>
            </p:nvSpPr>
            <p:spPr>
              <a:xfrm>
                <a:off x="1752600" y="5029200"/>
                <a:ext cx="152400" cy="152400"/>
              </a:xfrm>
              <a:prstGeom prst="ellipse">
                <a:avLst/>
              </a:prstGeom>
              <a:solidFill>
                <a:srgbClr val="7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E95A674-481B-4A06-A307-8C84A51702E0}"/>
                  </a:ext>
                </a:extLst>
              </p:cNvPr>
              <p:cNvSpPr/>
              <p:nvPr/>
            </p:nvSpPr>
            <p:spPr>
              <a:xfrm>
                <a:off x="4191000" y="4495800"/>
                <a:ext cx="152400" cy="1524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D5398D0-E7F4-4205-ABEB-4785ADC61C19}"/>
                  </a:ext>
                </a:extLst>
              </p:cNvPr>
              <p:cNvSpPr/>
              <p:nvPr/>
            </p:nvSpPr>
            <p:spPr>
              <a:xfrm>
                <a:off x="5181600" y="4724400"/>
                <a:ext cx="152400" cy="15240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D2CA3C2D-C950-45AC-BF67-7D4482E5C850}"/>
                  </a:ext>
                </a:extLst>
              </p:cNvPr>
              <p:cNvSpPr/>
              <p:nvPr/>
            </p:nvSpPr>
            <p:spPr>
              <a:xfrm>
                <a:off x="1902372" y="4172515"/>
                <a:ext cx="2312276" cy="872451"/>
              </a:xfrm>
              <a:custGeom>
                <a:avLst/>
                <a:gdLst>
                  <a:gd name="connsiteX0" fmla="*/ 0 w 2312276"/>
                  <a:gd name="connsiteY0" fmla="*/ 872451 h 872451"/>
                  <a:gd name="connsiteX1" fmla="*/ 10511 w 2312276"/>
                  <a:gd name="connsiteY1" fmla="*/ 819899 h 872451"/>
                  <a:gd name="connsiteX2" fmla="*/ 52552 w 2312276"/>
                  <a:gd name="connsiteY2" fmla="*/ 756837 h 872451"/>
                  <a:gd name="connsiteX3" fmla="*/ 84083 w 2312276"/>
                  <a:gd name="connsiteY3" fmla="*/ 651733 h 872451"/>
                  <a:gd name="connsiteX4" fmla="*/ 126125 w 2312276"/>
                  <a:gd name="connsiteY4" fmla="*/ 588671 h 872451"/>
                  <a:gd name="connsiteX5" fmla="*/ 178676 w 2312276"/>
                  <a:gd name="connsiteY5" fmla="*/ 546630 h 872451"/>
                  <a:gd name="connsiteX6" fmla="*/ 273269 w 2312276"/>
                  <a:gd name="connsiteY6" fmla="*/ 557140 h 872451"/>
                  <a:gd name="connsiteX7" fmla="*/ 336331 w 2312276"/>
                  <a:gd name="connsiteY7" fmla="*/ 588671 h 872451"/>
                  <a:gd name="connsiteX8" fmla="*/ 367862 w 2312276"/>
                  <a:gd name="connsiteY8" fmla="*/ 599182 h 872451"/>
                  <a:gd name="connsiteX9" fmla="*/ 504497 w 2312276"/>
                  <a:gd name="connsiteY9" fmla="*/ 588671 h 872451"/>
                  <a:gd name="connsiteX10" fmla="*/ 515007 w 2312276"/>
                  <a:gd name="connsiteY10" fmla="*/ 525609 h 872451"/>
                  <a:gd name="connsiteX11" fmla="*/ 536028 w 2312276"/>
                  <a:gd name="connsiteY11" fmla="*/ 462547 h 872451"/>
                  <a:gd name="connsiteX12" fmla="*/ 546538 w 2312276"/>
                  <a:gd name="connsiteY12" fmla="*/ 420506 h 872451"/>
                  <a:gd name="connsiteX13" fmla="*/ 567559 w 2312276"/>
                  <a:gd name="connsiteY13" fmla="*/ 357444 h 872451"/>
                  <a:gd name="connsiteX14" fmla="*/ 588580 w 2312276"/>
                  <a:gd name="connsiteY14" fmla="*/ 273361 h 872451"/>
                  <a:gd name="connsiteX15" fmla="*/ 599090 w 2312276"/>
                  <a:gd name="connsiteY15" fmla="*/ 231319 h 872451"/>
                  <a:gd name="connsiteX16" fmla="*/ 620111 w 2312276"/>
                  <a:gd name="connsiteY16" fmla="*/ 199788 h 872451"/>
                  <a:gd name="connsiteX17" fmla="*/ 672662 w 2312276"/>
                  <a:gd name="connsiteY17" fmla="*/ 115706 h 872451"/>
                  <a:gd name="connsiteX18" fmla="*/ 693683 w 2312276"/>
                  <a:gd name="connsiteY18" fmla="*/ 84175 h 872451"/>
                  <a:gd name="connsiteX19" fmla="*/ 756745 w 2312276"/>
                  <a:gd name="connsiteY19" fmla="*/ 31623 h 872451"/>
                  <a:gd name="connsiteX20" fmla="*/ 798787 w 2312276"/>
                  <a:gd name="connsiteY20" fmla="*/ 21113 h 872451"/>
                  <a:gd name="connsiteX21" fmla="*/ 830318 w 2312276"/>
                  <a:gd name="connsiteY21" fmla="*/ 92 h 872451"/>
                  <a:gd name="connsiteX22" fmla="*/ 935421 w 2312276"/>
                  <a:gd name="connsiteY22" fmla="*/ 21113 h 872451"/>
                  <a:gd name="connsiteX23" fmla="*/ 998483 w 2312276"/>
                  <a:gd name="connsiteY23" fmla="*/ 63154 h 872451"/>
                  <a:gd name="connsiteX24" fmla="*/ 1051035 w 2312276"/>
                  <a:gd name="connsiteY24" fmla="*/ 115706 h 872451"/>
                  <a:gd name="connsiteX25" fmla="*/ 1103587 w 2312276"/>
                  <a:gd name="connsiteY25" fmla="*/ 189278 h 872451"/>
                  <a:gd name="connsiteX26" fmla="*/ 1166649 w 2312276"/>
                  <a:gd name="connsiteY26" fmla="*/ 252340 h 872451"/>
                  <a:gd name="connsiteX27" fmla="*/ 1198180 w 2312276"/>
                  <a:gd name="connsiteY27" fmla="*/ 283871 h 872451"/>
                  <a:gd name="connsiteX28" fmla="*/ 1219200 w 2312276"/>
                  <a:gd name="connsiteY28" fmla="*/ 325913 h 872451"/>
                  <a:gd name="connsiteX29" fmla="*/ 1313794 w 2312276"/>
                  <a:gd name="connsiteY29" fmla="*/ 409995 h 872451"/>
                  <a:gd name="connsiteX30" fmla="*/ 1324304 w 2312276"/>
                  <a:gd name="connsiteY30" fmla="*/ 441526 h 872451"/>
                  <a:gd name="connsiteX31" fmla="*/ 1387366 w 2312276"/>
                  <a:gd name="connsiteY31" fmla="*/ 462547 h 872451"/>
                  <a:gd name="connsiteX32" fmla="*/ 1429407 w 2312276"/>
                  <a:gd name="connsiteY32" fmla="*/ 483568 h 872451"/>
                  <a:gd name="connsiteX33" fmla="*/ 1492469 w 2312276"/>
                  <a:gd name="connsiteY33" fmla="*/ 504588 h 872451"/>
                  <a:gd name="connsiteX34" fmla="*/ 1587062 w 2312276"/>
                  <a:gd name="connsiteY34" fmla="*/ 494078 h 872451"/>
                  <a:gd name="connsiteX35" fmla="*/ 1629104 w 2312276"/>
                  <a:gd name="connsiteY35" fmla="*/ 431016 h 872451"/>
                  <a:gd name="connsiteX36" fmla="*/ 1639614 w 2312276"/>
                  <a:gd name="connsiteY36" fmla="*/ 399485 h 872451"/>
                  <a:gd name="connsiteX37" fmla="*/ 1692166 w 2312276"/>
                  <a:gd name="connsiteY37" fmla="*/ 346933 h 872451"/>
                  <a:gd name="connsiteX38" fmla="*/ 1797269 w 2312276"/>
                  <a:gd name="connsiteY38" fmla="*/ 220809 h 872451"/>
                  <a:gd name="connsiteX39" fmla="*/ 1860331 w 2312276"/>
                  <a:gd name="connsiteY39" fmla="*/ 178768 h 872451"/>
                  <a:gd name="connsiteX40" fmla="*/ 1923394 w 2312276"/>
                  <a:gd name="connsiteY40" fmla="*/ 157747 h 872451"/>
                  <a:gd name="connsiteX41" fmla="*/ 1954925 w 2312276"/>
                  <a:gd name="connsiteY41" fmla="*/ 147237 h 872451"/>
                  <a:gd name="connsiteX42" fmla="*/ 2060028 w 2312276"/>
                  <a:gd name="connsiteY42" fmla="*/ 168257 h 872451"/>
                  <a:gd name="connsiteX43" fmla="*/ 2123090 w 2312276"/>
                  <a:gd name="connsiteY43" fmla="*/ 210299 h 872451"/>
                  <a:gd name="connsiteX44" fmla="*/ 2154621 w 2312276"/>
                  <a:gd name="connsiteY44" fmla="*/ 231319 h 872451"/>
                  <a:gd name="connsiteX45" fmla="*/ 2186152 w 2312276"/>
                  <a:gd name="connsiteY45" fmla="*/ 241830 h 872451"/>
                  <a:gd name="connsiteX46" fmla="*/ 2217683 w 2312276"/>
                  <a:gd name="connsiteY46" fmla="*/ 273361 h 872451"/>
                  <a:gd name="connsiteX47" fmla="*/ 2249214 w 2312276"/>
                  <a:gd name="connsiteY47" fmla="*/ 294382 h 872451"/>
                  <a:gd name="connsiteX48" fmla="*/ 2301766 w 2312276"/>
                  <a:gd name="connsiteY48" fmla="*/ 346933 h 872451"/>
                  <a:gd name="connsiteX49" fmla="*/ 2312276 w 2312276"/>
                  <a:gd name="connsiteY49" fmla="*/ 346933 h 872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2312276" h="872451">
                    <a:moveTo>
                      <a:pt x="0" y="872451"/>
                    </a:moveTo>
                    <a:cubicBezTo>
                      <a:pt x="3504" y="854934"/>
                      <a:pt x="3119" y="836162"/>
                      <a:pt x="10511" y="819899"/>
                    </a:cubicBezTo>
                    <a:cubicBezTo>
                      <a:pt x="20965" y="796900"/>
                      <a:pt x="52552" y="756837"/>
                      <a:pt x="52552" y="756837"/>
                    </a:cubicBezTo>
                    <a:cubicBezTo>
                      <a:pt x="58427" y="733334"/>
                      <a:pt x="73846" y="667089"/>
                      <a:pt x="84083" y="651733"/>
                    </a:cubicBezTo>
                    <a:lnTo>
                      <a:pt x="126125" y="588671"/>
                    </a:lnTo>
                    <a:cubicBezTo>
                      <a:pt x="153291" y="547921"/>
                      <a:pt x="135160" y="561135"/>
                      <a:pt x="178676" y="546630"/>
                    </a:cubicBezTo>
                    <a:cubicBezTo>
                      <a:pt x="210207" y="550133"/>
                      <a:pt x="241976" y="551924"/>
                      <a:pt x="273269" y="557140"/>
                    </a:cubicBezTo>
                    <a:cubicBezTo>
                      <a:pt x="312892" y="563744"/>
                      <a:pt x="300019" y="570515"/>
                      <a:pt x="336331" y="588671"/>
                    </a:cubicBezTo>
                    <a:cubicBezTo>
                      <a:pt x="346240" y="593626"/>
                      <a:pt x="357352" y="595678"/>
                      <a:pt x="367862" y="599182"/>
                    </a:cubicBezTo>
                    <a:cubicBezTo>
                      <a:pt x="413407" y="595678"/>
                      <a:pt x="463640" y="609100"/>
                      <a:pt x="504497" y="588671"/>
                    </a:cubicBezTo>
                    <a:cubicBezTo>
                      <a:pt x="523558" y="579141"/>
                      <a:pt x="509838" y="546283"/>
                      <a:pt x="515007" y="525609"/>
                    </a:cubicBezTo>
                    <a:cubicBezTo>
                      <a:pt x="520381" y="504113"/>
                      <a:pt x="530654" y="484043"/>
                      <a:pt x="536028" y="462547"/>
                    </a:cubicBezTo>
                    <a:cubicBezTo>
                      <a:pt x="539531" y="448533"/>
                      <a:pt x="542387" y="434342"/>
                      <a:pt x="546538" y="420506"/>
                    </a:cubicBezTo>
                    <a:cubicBezTo>
                      <a:pt x="552905" y="399283"/>
                      <a:pt x="563214" y="379172"/>
                      <a:pt x="567559" y="357444"/>
                    </a:cubicBezTo>
                    <a:cubicBezTo>
                      <a:pt x="588929" y="250588"/>
                      <a:pt x="567032" y="348780"/>
                      <a:pt x="588580" y="273361"/>
                    </a:cubicBezTo>
                    <a:cubicBezTo>
                      <a:pt x="592548" y="259472"/>
                      <a:pt x="593400" y="244596"/>
                      <a:pt x="599090" y="231319"/>
                    </a:cubicBezTo>
                    <a:cubicBezTo>
                      <a:pt x="604066" y="219708"/>
                      <a:pt x="613844" y="210756"/>
                      <a:pt x="620111" y="199788"/>
                    </a:cubicBezTo>
                    <a:cubicBezTo>
                      <a:pt x="676549" y="101021"/>
                      <a:pt x="600890" y="216186"/>
                      <a:pt x="672662" y="115706"/>
                    </a:cubicBezTo>
                    <a:cubicBezTo>
                      <a:pt x="680004" y="105427"/>
                      <a:pt x="685596" y="93879"/>
                      <a:pt x="693683" y="84175"/>
                    </a:cubicBezTo>
                    <a:cubicBezTo>
                      <a:pt x="707712" y="67340"/>
                      <a:pt x="735311" y="40809"/>
                      <a:pt x="756745" y="31623"/>
                    </a:cubicBezTo>
                    <a:cubicBezTo>
                      <a:pt x="770022" y="25933"/>
                      <a:pt x="784773" y="24616"/>
                      <a:pt x="798787" y="21113"/>
                    </a:cubicBezTo>
                    <a:cubicBezTo>
                      <a:pt x="809297" y="14106"/>
                      <a:pt x="817749" y="1349"/>
                      <a:pt x="830318" y="92"/>
                    </a:cubicBezTo>
                    <a:cubicBezTo>
                      <a:pt x="841830" y="-1059"/>
                      <a:pt x="913048" y="8683"/>
                      <a:pt x="935421" y="21113"/>
                    </a:cubicBezTo>
                    <a:cubicBezTo>
                      <a:pt x="957505" y="33382"/>
                      <a:pt x="998483" y="63154"/>
                      <a:pt x="998483" y="63154"/>
                    </a:cubicBezTo>
                    <a:cubicBezTo>
                      <a:pt x="1054539" y="147237"/>
                      <a:pt x="980966" y="45637"/>
                      <a:pt x="1051035" y="115706"/>
                    </a:cubicBezTo>
                    <a:cubicBezTo>
                      <a:pt x="1113725" y="178396"/>
                      <a:pt x="1055845" y="135569"/>
                      <a:pt x="1103587" y="189278"/>
                    </a:cubicBezTo>
                    <a:cubicBezTo>
                      <a:pt x="1123337" y="211497"/>
                      <a:pt x="1145628" y="231319"/>
                      <a:pt x="1166649" y="252340"/>
                    </a:cubicBezTo>
                    <a:lnTo>
                      <a:pt x="1198180" y="283871"/>
                    </a:lnTo>
                    <a:cubicBezTo>
                      <a:pt x="1205187" y="297885"/>
                      <a:pt x="1209412" y="313678"/>
                      <a:pt x="1219200" y="325913"/>
                    </a:cubicBezTo>
                    <a:cubicBezTo>
                      <a:pt x="1260341" y="377339"/>
                      <a:pt x="1270637" y="381226"/>
                      <a:pt x="1313794" y="409995"/>
                    </a:cubicBezTo>
                    <a:cubicBezTo>
                      <a:pt x="1317297" y="420505"/>
                      <a:pt x="1315289" y="435087"/>
                      <a:pt x="1324304" y="441526"/>
                    </a:cubicBezTo>
                    <a:cubicBezTo>
                      <a:pt x="1342334" y="454405"/>
                      <a:pt x="1367548" y="452638"/>
                      <a:pt x="1387366" y="462547"/>
                    </a:cubicBezTo>
                    <a:cubicBezTo>
                      <a:pt x="1401380" y="469554"/>
                      <a:pt x="1414860" y="477749"/>
                      <a:pt x="1429407" y="483568"/>
                    </a:cubicBezTo>
                    <a:cubicBezTo>
                      <a:pt x="1449980" y="491797"/>
                      <a:pt x="1492469" y="504588"/>
                      <a:pt x="1492469" y="504588"/>
                    </a:cubicBezTo>
                    <a:cubicBezTo>
                      <a:pt x="1524000" y="501085"/>
                      <a:pt x="1556284" y="501772"/>
                      <a:pt x="1587062" y="494078"/>
                    </a:cubicBezTo>
                    <a:cubicBezTo>
                      <a:pt x="1626856" y="484130"/>
                      <a:pt x="1619826" y="463488"/>
                      <a:pt x="1629104" y="431016"/>
                    </a:cubicBezTo>
                    <a:cubicBezTo>
                      <a:pt x="1632148" y="420363"/>
                      <a:pt x="1634659" y="409394"/>
                      <a:pt x="1639614" y="399485"/>
                    </a:cubicBezTo>
                    <a:cubicBezTo>
                      <a:pt x="1657131" y="364451"/>
                      <a:pt x="1660636" y="367953"/>
                      <a:pt x="1692166" y="346933"/>
                    </a:cubicBezTo>
                    <a:cubicBezTo>
                      <a:pt x="1723187" y="300400"/>
                      <a:pt x="1748713" y="253179"/>
                      <a:pt x="1797269" y="220809"/>
                    </a:cubicBezTo>
                    <a:cubicBezTo>
                      <a:pt x="1818290" y="206795"/>
                      <a:pt x="1836364" y="186757"/>
                      <a:pt x="1860331" y="178768"/>
                    </a:cubicBezTo>
                    <a:lnTo>
                      <a:pt x="1923394" y="157747"/>
                    </a:lnTo>
                    <a:lnTo>
                      <a:pt x="1954925" y="147237"/>
                    </a:lnTo>
                    <a:cubicBezTo>
                      <a:pt x="1973200" y="149848"/>
                      <a:pt x="2034630" y="154147"/>
                      <a:pt x="2060028" y="168257"/>
                    </a:cubicBezTo>
                    <a:cubicBezTo>
                      <a:pt x="2082113" y="180526"/>
                      <a:pt x="2102069" y="196285"/>
                      <a:pt x="2123090" y="210299"/>
                    </a:cubicBezTo>
                    <a:cubicBezTo>
                      <a:pt x="2133600" y="217306"/>
                      <a:pt x="2142638" y="227324"/>
                      <a:pt x="2154621" y="231319"/>
                    </a:cubicBezTo>
                    <a:lnTo>
                      <a:pt x="2186152" y="241830"/>
                    </a:lnTo>
                    <a:cubicBezTo>
                      <a:pt x="2196662" y="252340"/>
                      <a:pt x="2206264" y="263845"/>
                      <a:pt x="2217683" y="273361"/>
                    </a:cubicBezTo>
                    <a:cubicBezTo>
                      <a:pt x="2227387" y="281448"/>
                      <a:pt x="2240282" y="285450"/>
                      <a:pt x="2249214" y="294382"/>
                    </a:cubicBezTo>
                    <a:cubicBezTo>
                      <a:pt x="2291255" y="336423"/>
                      <a:pt x="2245712" y="318907"/>
                      <a:pt x="2301766" y="346933"/>
                    </a:cubicBezTo>
                    <a:cubicBezTo>
                      <a:pt x="2304899" y="348500"/>
                      <a:pt x="2308773" y="346933"/>
                      <a:pt x="2312276" y="346933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776A0B54-8292-4805-A459-F88A44C87A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3400" y="4603564"/>
                <a:ext cx="860518" cy="197036"/>
              </a:xfrm>
              <a:prstGeom prst="line">
                <a:avLst/>
              </a:prstGeom>
              <a:ln w="254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5719F7F-91BB-40A2-8419-C8D8887DB559}"/>
                      </a:ext>
                    </a:extLst>
                  </p:cNvPr>
                  <p:cNvSpPr txBox="1"/>
                  <p:nvPr/>
                </p:nvSpPr>
                <p:spPr>
                  <a:xfrm>
                    <a:off x="5079108" y="4897854"/>
                    <a:ext cx="2496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5719F7F-91BB-40A2-8419-C8D8887DB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9108" y="4897854"/>
                    <a:ext cx="249620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3414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8C1437D3-C7BE-4251-997C-892852F9AE71}"/>
                      </a:ext>
                    </a:extLst>
                  </p:cNvPr>
                  <p:cNvSpPr txBox="1"/>
                  <p:nvPr/>
                </p:nvSpPr>
                <p:spPr>
                  <a:xfrm>
                    <a:off x="4017580" y="4583496"/>
                    <a:ext cx="2496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8C1437D3-C7BE-4251-997C-892852F9AE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17580" y="4583496"/>
                    <a:ext cx="249620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390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20AA1D4-EDA6-4003-B80E-6BE93D3CFE11}"/>
                      </a:ext>
                    </a:extLst>
                  </p:cNvPr>
                  <p:cNvSpPr txBox="1"/>
                  <p:nvPr/>
                </p:nvSpPr>
                <p:spPr>
                  <a:xfrm>
                    <a:off x="1371608" y="4897854"/>
                    <a:ext cx="2496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E20AA1D4-EDA6-4003-B80E-6BE93D3CFE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1608" y="4897854"/>
                    <a:ext cx="249620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243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F5F968D-7A7B-47A4-B829-00262685C77F}"/>
                </a:ext>
              </a:extLst>
            </p:cNvPr>
            <p:cNvCxnSpPr/>
            <p:nvPr/>
          </p:nvCxnSpPr>
          <p:spPr>
            <a:xfrm>
              <a:off x="2438400" y="4876800"/>
              <a:ext cx="1143000" cy="1066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4F7654-906D-4E4E-B667-D4084794587F}"/>
                    </a:ext>
                  </a:extLst>
                </p:cNvPr>
                <p:cNvSpPr txBox="1"/>
                <p:nvPr/>
              </p:nvSpPr>
              <p:spPr>
                <a:xfrm>
                  <a:off x="3589283" y="5667616"/>
                  <a:ext cx="3097924" cy="677108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current estimated shortest path from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en-US" sz="2000" dirty="0"/>
                    <a:t> </a:t>
                  </a:r>
                  <a:r>
                    <a:rPr lang="en-US" dirty="0"/>
                    <a:t>to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94F7654-906D-4E4E-B667-D408479458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9283" y="5667616"/>
                  <a:ext cx="3097924" cy="677108"/>
                </a:xfrm>
                <a:prstGeom prst="rect">
                  <a:avLst/>
                </a:prstGeom>
                <a:blipFill>
                  <a:blip r:embed="rId6"/>
                  <a:stretch>
                    <a:fillRect l="-1569" t="-4425" b="-12389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2702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9518-C11B-4D55-8CF8-674E37DF0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EFE3AE-72A0-4D42-A5A3-1B2BFEBB0B9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Before </a:t>
                </a:r>
                <a:r>
                  <a:rPr lang="en-US" dirty="0">
                    <a:solidFill>
                      <a:srgbClr val="C00000"/>
                    </a:solidFill>
                  </a:rPr>
                  <a:t>update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EFE3AE-72A0-4D42-A5A3-1B2BFEBB0B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CF7959B-CF78-44FA-8864-00E07FD3F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743" y="2023110"/>
            <a:ext cx="5392103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88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50E0-BB4C-4E9C-9369-6A01AF8A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AA850B-A3B2-415A-81DF-E7CDF4971D5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update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AA850B-A3B2-415A-81DF-E7CDF4971D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78F7F87-2687-4A51-BF9A-15097F8B7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5695"/>
            <a:ext cx="4066626" cy="30832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564F12-B6E1-4D7F-941B-29446A0C5325}"/>
                  </a:ext>
                </a:extLst>
              </p:cNvPr>
              <p:cNvSpPr txBox="1"/>
              <p:nvPr/>
            </p:nvSpPr>
            <p:spPr>
              <a:xfrm>
                <a:off x="177104" y="5261640"/>
                <a:ext cx="4394895" cy="101566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 err="1"/>
                  <a:t>est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000" b="0" i="1" dirty="0">
                    <a:latin typeface="Cambria Math" panose="02040503050406030204" pitchFamily="18" charset="0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 err="1"/>
                  <a:t>est</a:t>
                </a:r>
                <a:r>
                  <a:rPr lang="en-US" sz="2000" dirty="0"/>
                  <a:t> = 4 ,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000" b="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 err="1"/>
                  <a:t>est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_2.</m:t>
                    </m:r>
                  </m:oMath>
                </a14:m>
                <a:r>
                  <a:rPr lang="en-US" sz="2000" dirty="0" err="1"/>
                  <a:t>est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000" b="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000" b="0" dirty="0"/>
                  <a:t>find a shorter path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b="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b="0" dirty="0"/>
                  <a:t> ! 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564F12-B6E1-4D7F-941B-29446A0C5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04" y="5261640"/>
                <a:ext cx="4394895" cy="1015663"/>
              </a:xfrm>
              <a:prstGeom prst="rect">
                <a:avLst/>
              </a:prstGeom>
              <a:blipFill>
                <a:blip r:embed="rId4"/>
                <a:stretch>
                  <a:fillRect t="-2367" b="-946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D5EBA5BC-43A5-46CA-AF91-452EAFD1FC0A}"/>
              </a:ext>
            </a:extLst>
          </p:cNvPr>
          <p:cNvGrpSpPr/>
          <p:nvPr/>
        </p:nvGrpSpPr>
        <p:grpSpPr>
          <a:xfrm>
            <a:off x="4653997" y="5308937"/>
            <a:ext cx="4193086" cy="1015663"/>
            <a:chOff x="4653997" y="5064442"/>
            <a:chExt cx="4193086" cy="1015663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34CF7FAB-E683-4AA2-A1DA-B793077FE219}"/>
                </a:ext>
              </a:extLst>
            </p:cNvPr>
            <p:cNvSpPr/>
            <p:nvPr/>
          </p:nvSpPr>
          <p:spPr>
            <a:xfrm>
              <a:off x="4653997" y="5491400"/>
              <a:ext cx="527603" cy="238602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28857E2-D972-4847-B66D-F6C007C4AD96}"/>
                    </a:ext>
                  </a:extLst>
                </p:cNvPr>
                <p:cNvSpPr txBox="1"/>
                <p:nvPr/>
              </p:nvSpPr>
              <p:spPr>
                <a:xfrm>
                  <a:off x="5257800" y="5064442"/>
                  <a:ext cx="3589283" cy="1015663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0" dirty="0"/>
                    <a:t>So we update </a:t>
                  </a:r>
                </a:p>
                <a:p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a14:m>
                  <a:r>
                    <a:rPr lang="en-US" sz="2000" dirty="0" err="1"/>
                    <a:t>est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_2.</m:t>
                      </m:r>
                    </m:oMath>
                  </a14:m>
                  <a:r>
                    <a:rPr lang="en-US" sz="2000" dirty="0" err="1"/>
                    <a:t>est</a:t>
                  </a:r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a14:m>
                  <a:endParaRPr lang="en-US" sz="2000" b="0" dirty="0"/>
                </a:p>
                <a:p>
                  <a:r>
                    <a:rPr lang="en-US" sz="2000" dirty="0"/>
                    <a:t>a</a:t>
                  </a:r>
                  <a:r>
                    <a:rPr lang="en-US" sz="2000" b="0" dirty="0"/>
                    <a:t>nd set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a14:m>
                  <a:r>
                    <a:rPr lang="en-US" sz="2000" b="0" dirty="0"/>
                    <a:t>’s predecessor 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000" b="0" dirty="0"/>
                    <a:t>  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28857E2-D972-4847-B66D-F6C007C4AD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7800" y="5064442"/>
                  <a:ext cx="3589283" cy="1015663"/>
                </a:xfrm>
                <a:prstGeom prst="rect">
                  <a:avLst/>
                </a:prstGeom>
                <a:blipFill>
                  <a:blip r:embed="rId5"/>
                  <a:stretch>
                    <a:fillRect l="-1695" t="-2367" b="-9467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ECA246C-81A3-42FE-AD59-DAEA53326171}"/>
              </a:ext>
            </a:extLst>
          </p:cNvPr>
          <p:cNvSpPr txBox="1"/>
          <p:nvPr/>
        </p:nvSpPr>
        <p:spPr>
          <a:xfrm>
            <a:off x="1248982" y="2005042"/>
            <a:ext cx="1676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Before update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550FC3-0238-4E71-999A-7554560B1335}"/>
              </a:ext>
            </a:extLst>
          </p:cNvPr>
          <p:cNvGrpSpPr/>
          <p:nvPr/>
        </p:nvGrpSpPr>
        <p:grpSpPr>
          <a:xfrm>
            <a:off x="4243731" y="2005042"/>
            <a:ext cx="4521201" cy="3303895"/>
            <a:chOff x="4243731" y="2005042"/>
            <a:chExt cx="4521201" cy="330389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B86D65C-8FDD-4C0B-BE3A-37A47E03219F}"/>
                </a:ext>
              </a:extLst>
            </p:cNvPr>
            <p:cNvGrpSpPr/>
            <p:nvPr/>
          </p:nvGrpSpPr>
          <p:grpSpPr>
            <a:xfrm>
              <a:off x="4243731" y="2322850"/>
              <a:ext cx="4521201" cy="2986087"/>
              <a:chOff x="4243731" y="2078355"/>
              <a:chExt cx="4521201" cy="298608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17F6F94-CC2B-4476-9C65-AC2F9F63B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74868" y="2078355"/>
                <a:ext cx="3890064" cy="2986087"/>
              </a:xfrm>
              <a:prstGeom prst="rect">
                <a:avLst/>
              </a:prstGeom>
            </p:spPr>
          </p:pic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6790BCC6-85A0-482F-91FE-0BF95243A12F}"/>
                  </a:ext>
                </a:extLst>
              </p:cNvPr>
              <p:cNvSpPr/>
              <p:nvPr/>
            </p:nvSpPr>
            <p:spPr>
              <a:xfrm>
                <a:off x="4243731" y="3309699"/>
                <a:ext cx="527603" cy="238602"/>
              </a:xfrm>
              <a:prstGeom prst="rightArrow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C4F9FC-86A4-438A-B1AC-41D94DF38F52}"/>
                </a:ext>
              </a:extLst>
            </p:cNvPr>
            <p:cNvSpPr txBox="1"/>
            <p:nvPr/>
          </p:nvSpPr>
          <p:spPr>
            <a:xfrm>
              <a:off x="6239640" y="2005042"/>
              <a:ext cx="144780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After update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358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D189414-22DD-43C1-86F8-8D8E62556A21}"/>
              </a:ext>
            </a:extLst>
          </p:cNvPr>
          <p:cNvGrpSpPr/>
          <p:nvPr/>
        </p:nvGrpSpPr>
        <p:grpSpPr>
          <a:xfrm>
            <a:off x="4243731" y="1891689"/>
            <a:ext cx="4655903" cy="3811643"/>
            <a:chOff x="4243731" y="1891689"/>
            <a:chExt cx="4655903" cy="381164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2A90425-9F2D-4C41-BE55-5E84B0D9A249}"/>
                </a:ext>
              </a:extLst>
            </p:cNvPr>
            <p:cNvGrpSpPr/>
            <p:nvPr/>
          </p:nvGrpSpPr>
          <p:grpSpPr>
            <a:xfrm>
              <a:off x="4990479" y="1891689"/>
              <a:ext cx="3909155" cy="3213711"/>
              <a:chOff x="228600" y="1891689"/>
              <a:chExt cx="3909155" cy="3213711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091D183-790B-4CA8-A664-D12199E272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8600" y="2076355"/>
                <a:ext cx="3909155" cy="3029045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39C3EA-5889-4D69-BCE6-E7DCBDA41539}"/>
                  </a:ext>
                </a:extLst>
              </p:cNvPr>
              <p:cNvSpPr txBox="1"/>
              <p:nvPr/>
            </p:nvSpPr>
            <p:spPr>
              <a:xfrm>
                <a:off x="1248982" y="1891689"/>
                <a:ext cx="1676400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After update</a:t>
                </a:r>
              </a:p>
            </p:txBody>
          </p:sp>
        </p:grp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5F734317-3F86-43A3-BFBB-561238D62E54}"/>
                </a:ext>
              </a:extLst>
            </p:cNvPr>
            <p:cNvSpPr/>
            <p:nvPr/>
          </p:nvSpPr>
          <p:spPr>
            <a:xfrm>
              <a:off x="4243731" y="3554194"/>
              <a:ext cx="527603" cy="238602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5C907B7-7FD7-4F48-B5DE-0FACF27D1079}"/>
                </a:ext>
              </a:extLst>
            </p:cNvPr>
            <p:cNvSpPr txBox="1"/>
            <p:nvPr/>
          </p:nvSpPr>
          <p:spPr>
            <a:xfrm>
              <a:off x="6019800" y="5334000"/>
              <a:ext cx="198120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Do Nothing! 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76F8EA-299C-47A4-9185-7D90BDF4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59F7F8-B5AE-4863-9280-05FF6B61A84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update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59F7F8-B5AE-4863-9280-05FF6B61A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22B87590-1977-450F-B4BC-1CF6C36A09CF}"/>
              </a:ext>
            </a:extLst>
          </p:cNvPr>
          <p:cNvGrpSpPr/>
          <p:nvPr/>
        </p:nvGrpSpPr>
        <p:grpSpPr>
          <a:xfrm>
            <a:off x="228600" y="1891689"/>
            <a:ext cx="3909155" cy="3213711"/>
            <a:chOff x="228600" y="1891689"/>
            <a:chExt cx="3909155" cy="321371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0A4BC10-9775-485D-A117-3C81130F1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600" y="2076355"/>
              <a:ext cx="3909155" cy="302904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77BBD8-5413-4944-9C40-73685C1FACBE}"/>
                </a:ext>
              </a:extLst>
            </p:cNvPr>
            <p:cNvSpPr txBox="1"/>
            <p:nvPr/>
          </p:nvSpPr>
          <p:spPr>
            <a:xfrm>
              <a:off x="1248982" y="1891689"/>
              <a:ext cx="1676400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Before update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8DE584-9AF9-43B6-94BB-B671DCED8941}"/>
                  </a:ext>
                </a:extLst>
              </p:cNvPr>
              <p:cNvSpPr txBox="1"/>
              <p:nvPr/>
            </p:nvSpPr>
            <p:spPr>
              <a:xfrm>
                <a:off x="228600" y="4953000"/>
                <a:ext cx="5029200" cy="132343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 err="1"/>
                  <a:t>est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2000" b="0" i="1" dirty="0">
                    <a:latin typeface="Cambria Math" panose="02040503050406030204" pitchFamily="18" charset="0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 err="1"/>
                  <a:t>est</a:t>
                </a:r>
                <a:r>
                  <a:rPr lang="en-US" sz="2000" dirty="0"/>
                  <a:t> = 9 ,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000" b="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 err="1"/>
                  <a:t>est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_2.</m:t>
                    </m:r>
                  </m:oMath>
                </a14:m>
                <a:r>
                  <a:rPr lang="en-US" sz="2000" dirty="0" err="1"/>
                  <a:t>est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000" b="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000" b="0" dirty="0"/>
                  <a:t>The path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b="0" dirty="0"/>
                  <a:t> to</a:t>
                </a:r>
                <a:r>
                  <a:rPr lang="en-US" sz="20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0" dirty="0"/>
                  <a:t> then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b="0" dirty="0"/>
                  <a:t> is </a:t>
                </a:r>
                <a:r>
                  <a:rPr lang="en-US" sz="2000" b="0" dirty="0">
                    <a:solidFill>
                      <a:srgbClr val="C00000"/>
                    </a:solidFill>
                  </a:rPr>
                  <a:t>not shorter</a:t>
                </a:r>
                <a:r>
                  <a:rPr lang="en-US" sz="2000" b="0" dirty="0"/>
                  <a:t> than what already discovered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b="0" dirty="0"/>
                  <a:t>! 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8DE584-9AF9-43B6-94BB-B671DCED8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953000"/>
                <a:ext cx="5029200" cy="1323439"/>
              </a:xfrm>
              <a:prstGeom prst="rect">
                <a:avLst/>
              </a:prstGeom>
              <a:blipFill>
                <a:blip r:embed="rId4"/>
                <a:stretch>
                  <a:fillRect l="-1209" t="-2283" r="-3265" b="-6849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35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B821-FECD-4E90-83FF-6D57BE182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update()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2DC2A-F197-4410-8DD2-225883C1A8F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implement </a:t>
            </a:r>
            <a:r>
              <a:rPr lang="en-US" dirty="0">
                <a:solidFill>
                  <a:srgbClr val="C00000"/>
                </a:solidFill>
              </a:rPr>
              <a:t>update</a:t>
            </a:r>
            <a:r>
              <a:rPr lang="en-US" dirty="0"/>
              <a:t>(</a:t>
            </a:r>
            <a:r>
              <a:rPr lang="en-US" dirty="0" err="1"/>
              <a:t>u,v</a:t>
            </a:r>
            <a:r>
              <a:rPr lang="en-US" dirty="0"/>
              <a:t>) in python,  let</a:t>
            </a:r>
          </a:p>
          <a:p>
            <a:pPr lvl="1"/>
            <a:r>
              <a:rPr lang="en-US" dirty="0" err="1">
                <a:solidFill>
                  <a:schemeClr val="tx1"/>
                </a:solidFill>
                <a:latin typeface="Abadi" panose="020B0604020104020204" pitchFamily="34" charset="0"/>
              </a:rPr>
              <a:t>est</a:t>
            </a:r>
            <a:r>
              <a:rPr lang="en-US" dirty="0"/>
              <a:t> be a dictionary of estimated shortest path distances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badi" panose="020B0604020104020204" pitchFamily="34" charset="0"/>
              </a:rPr>
              <a:t>predecessor</a:t>
            </a:r>
            <a:r>
              <a:rPr lang="en-US" dirty="0"/>
              <a:t> be a dictionary of estimated shortest path predecessors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Abadi" panose="020B0604020104020204" pitchFamily="34" charset="0"/>
              </a:rPr>
              <a:t>weights</a:t>
            </a:r>
            <a:r>
              <a:rPr lang="en-US" dirty="0"/>
              <a:t> be a function which returns edge weights</a:t>
            </a:r>
          </a:p>
        </p:txBody>
      </p:sp>
    </p:spTree>
    <p:extLst>
      <p:ext uri="{BB962C8B-B14F-4D97-AF65-F5344CB8AC3E}">
        <p14:creationId xmlns:p14="http://schemas.microsoft.com/office/powerpoint/2010/main" val="14407256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B821-FECD-4E90-83FF-6D57BE182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update() in python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CF1D3C-9DBD-4AB5-93F9-D5CA5A391F9E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85800" y="1447800"/>
            <a:ext cx="7248525" cy="2857500"/>
          </a:xfrm>
          <a:ln w="158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D5FFC1-516D-4F21-8333-A0E528D83972}"/>
              </a:ext>
            </a:extLst>
          </p:cNvPr>
          <p:cNvSpPr txBox="1"/>
          <p:nvPr/>
        </p:nvSpPr>
        <p:spPr>
          <a:xfrm>
            <a:off x="609600" y="50292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complexity:  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4272D8-C8D6-49E9-99E3-9A083F761AA3}"/>
                  </a:ext>
                </a:extLst>
              </p:cNvPr>
              <p:cNvSpPr txBox="1"/>
              <p:nvPr/>
            </p:nvSpPr>
            <p:spPr>
              <a:xfrm>
                <a:off x="3352800" y="4948535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4272D8-C8D6-49E9-99E3-9A083F761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4948535"/>
                <a:ext cx="685800" cy="461665"/>
              </a:xfrm>
              <a:prstGeom prst="rect">
                <a:avLst/>
              </a:prstGeom>
              <a:blipFill>
                <a:blip r:embed="rId3"/>
                <a:stretch>
                  <a:fillRect l="-1770" r="-24779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86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750A8A-7C2B-40CC-8B98-3F7E9EB01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66800"/>
            <a:ext cx="3890064" cy="2986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7D2D68-8ACE-4FC7-9E4A-1DE213556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/>
              <a:t>When does an update discover a shortest path?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E35BDB-DAF5-41D5-9FC3-955F63785E6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4105750"/>
                <a:ext cx="8229600" cy="2218850"/>
              </a:xfrm>
            </p:spPr>
            <p:txBody>
              <a:bodyPr/>
              <a:lstStyle/>
              <a:p>
                <a:r>
                  <a:rPr lang="en-US" dirty="0"/>
                  <a:t>So update(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 discovered a new estimated shortest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Is this the shortest path? 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Not necessarily: </a:t>
                </a:r>
                <a:r>
                  <a:rPr lang="en-US" dirty="0"/>
                  <a:t> We might discover a shorter path, say, reaching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E35BDB-DAF5-41D5-9FC3-955F63785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4105750"/>
                <a:ext cx="8229600" cy="2218850"/>
              </a:xfrm>
              <a:blipFill>
                <a:blip r:embed="rId3"/>
                <a:stretch>
                  <a:fillRect l="-667" t="-2747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20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21C97-FFAE-4431-A718-3BEB640B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/>
              <a:t>When does an update discover a shortest path?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DB4E99-DB35-424B-B8C9-B2ACB8FC6E8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581400"/>
              </a:xfrm>
              <a:ln w="22225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400" dirty="0"/>
                  <a:t>[</a:t>
                </a:r>
                <a:r>
                  <a:rPr lang="en-US" sz="2400" dirty="0">
                    <a:solidFill>
                      <a:srgbClr val="00B050"/>
                    </a:solidFill>
                  </a:rPr>
                  <a:t>Theorem Update</a:t>
                </a:r>
                <a:r>
                  <a:rPr lang="en-US" sz="2400" dirty="0"/>
                  <a:t>]</a:t>
                </a:r>
              </a:p>
              <a:p>
                <a:pPr marL="0" indent="0">
                  <a:buNone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be graph nodes</a:t>
                </a:r>
                <a:endParaRPr lang="en-US" sz="700" dirty="0"/>
              </a:p>
              <a:p>
                <a:pPr marL="0" indent="0">
                  <a:buNone/>
                </a:pPr>
                <a:r>
                  <a:rPr lang="en-US" sz="2400" dirty="0"/>
                  <a:t>Suppose: </a:t>
                </a:r>
              </a:p>
              <a:p>
                <a:pPr lvl="1"/>
                <a:r>
                  <a:rPr lang="en-US" sz="2000" dirty="0"/>
                  <a:t>(a) current shortest path distance estimate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000" dirty="0"/>
                  <a:t> is correct</a:t>
                </a:r>
              </a:p>
              <a:p>
                <a:pPr lvl="2"/>
                <a:r>
                  <a:rPr lang="en-US" sz="1800" dirty="0" err="1"/>
                  <a:t>i.e</a:t>
                </a:r>
                <a:r>
                  <a:rPr lang="en-US" sz="1800" dirty="0"/>
                  <a:t>,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8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1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lvl="1"/>
                <a:r>
                  <a:rPr lang="en-US" sz="2000" dirty="0"/>
                  <a:t>(b) there is a shortest path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being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’s predecessor </a:t>
                </a:r>
                <a:endParaRPr lang="en-US" sz="700" dirty="0"/>
              </a:p>
              <a:p>
                <a:pPr marL="0" indent="0">
                  <a:buNone/>
                </a:pPr>
                <a:r>
                  <a:rPr lang="en-US" sz="2400" dirty="0"/>
                  <a:t>Then,  after </a:t>
                </a:r>
                <a:r>
                  <a:rPr lang="en-US" sz="2400" dirty="0">
                    <a:solidFill>
                      <a:srgbClr val="C00000"/>
                    </a:solidFill>
                  </a:rPr>
                  <a:t>update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), the estimated shortest path distance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is correct</a:t>
                </a:r>
              </a:p>
              <a:p>
                <a:pPr lvl="1"/>
                <a:r>
                  <a:rPr lang="en-US" sz="2000" dirty="0"/>
                  <a:t>i.e.,  after update,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DB4E99-DB35-424B-B8C9-B2ACB8FC6E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581400"/>
              </a:xfrm>
              <a:blipFill>
                <a:blip r:embed="rId2"/>
                <a:stretch>
                  <a:fillRect l="-960" t="-1014" r="-1256" b="-2872"/>
                </a:stretch>
              </a:blipFill>
              <a:ln w="222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4120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E8EE78-5C25-4487-B0A3-5D19D29BE7F1}"/>
              </a:ext>
            </a:extLst>
          </p:cNvPr>
          <p:cNvSpPr txBox="1">
            <a:spLocks/>
          </p:cNvSpPr>
          <p:nvPr/>
        </p:nvSpPr>
        <p:spPr bwMode="auto">
          <a:xfrm>
            <a:off x="381000" y="2590800"/>
            <a:ext cx="8229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 algn="ctr"/>
            <a:r>
              <a:rPr lang="en-US" dirty="0"/>
              <a:t>Bellman-Ford shortest path algorithm</a:t>
            </a:r>
          </a:p>
        </p:txBody>
      </p:sp>
    </p:spTree>
    <p:extLst>
      <p:ext uri="{BB962C8B-B14F-4D97-AF65-F5344CB8AC3E}">
        <p14:creationId xmlns:p14="http://schemas.microsoft.com/office/powerpoint/2010/main" val="3067821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46AF-0DE4-4B8A-A7E0-FC7E20A50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D5D1F9-A6FA-40A9-A778-5BFF5893031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[</a:t>
                </a:r>
                <a:r>
                  <a:rPr lang="en-US" dirty="0">
                    <a:solidFill>
                      <a:srgbClr val="00B050"/>
                    </a:solidFill>
                  </a:rPr>
                  <a:t>Theorem Update</a:t>
                </a:r>
                <a:r>
                  <a:rPr lang="en-US" dirty="0"/>
                  <a:t>] implies that if we have already computed the shortest path distance from source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for those nodes whose shortest paths from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have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hops, then we can compute those shortest paths with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hops via the </a:t>
                </a:r>
                <a:r>
                  <a:rPr lang="en-US" dirty="0">
                    <a:solidFill>
                      <a:srgbClr val="C00000"/>
                    </a:solidFill>
                  </a:rPr>
                  <a:t>update</a:t>
                </a:r>
                <a:r>
                  <a:rPr lang="en-US" dirty="0"/>
                  <a:t>( ) operations. </a:t>
                </a:r>
              </a:p>
              <a:p>
                <a:endParaRPr lang="en-US" dirty="0"/>
              </a:p>
              <a:p>
                <a:r>
                  <a:rPr lang="en-US" dirty="0"/>
                  <a:t>[</a:t>
                </a:r>
                <a:r>
                  <a:rPr lang="en-US" dirty="0">
                    <a:solidFill>
                      <a:srgbClr val="00B050"/>
                    </a:solidFill>
                  </a:rPr>
                  <a:t>Observation</a:t>
                </a:r>
                <a:r>
                  <a:rPr lang="en-US" dirty="0"/>
                  <a:t>]:  </a:t>
                </a:r>
              </a:p>
              <a:p>
                <a:pPr lvl="1"/>
                <a:r>
                  <a:rPr lang="en-US" dirty="0"/>
                  <a:t>Any </a:t>
                </a:r>
                <a:r>
                  <a:rPr lang="en-US" dirty="0" err="1"/>
                  <a:t>any</a:t>
                </a:r>
                <a:r>
                  <a:rPr lang="en-US" dirty="0"/>
                  <a:t> moment,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 err="1"/>
                  <a:t>est</a:t>
                </a:r>
                <a:r>
                  <a:rPr lang="en-US" dirty="0"/>
                  <a:t> is already correct, then performing further update() on any edge will not change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est.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D5D1F9-A6FA-40A9-A778-5BFF58930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39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374E0-B486-4B72-BCA7-3019225F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specifically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DC488-9F25-42F7-811B-08D7B4AFF95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5124120"/>
                <a:ext cx="8229600" cy="1737360"/>
              </a:xfrm>
            </p:spPr>
            <p:txBody>
              <a:bodyPr/>
              <a:lstStyle/>
              <a:p>
                <a:r>
                  <a:rPr lang="en-US" sz="2400" dirty="0"/>
                  <a:t>At the beginning, we only know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est</m:t>
                    </m:r>
                    <m:r>
                      <a:rPr lang="en-US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For all other nodes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we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400" dirty="0">
                    <a:solidFill>
                      <a:srgbClr val="0070C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DC488-9F25-42F7-811B-08D7B4AFF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5124120"/>
                <a:ext cx="8229600" cy="1737360"/>
              </a:xfrm>
              <a:blipFill>
                <a:blip r:embed="rId2"/>
                <a:stretch>
                  <a:fillRect l="-519" t="-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F2C8F909-E60D-447F-A2F0-D8BFBD11EAA8}"/>
              </a:ext>
            </a:extLst>
          </p:cNvPr>
          <p:cNvGrpSpPr/>
          <p:nvPr/>
        </p:nvGrpSpPr>
        <p:grpSpPr>
          <a:xfrm>
            <a:off x="2286000" y="1371600"/>
            <a:ext cx="3935160" cy="3519000"/>
            <a:chOff x="2286000" y="1371600"/>
            <a:chExt cx="3935160" cy="3519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A842851-D788-4D70-85C0-CF39649B06D0}"/>
                </a:ext>
              </a:extLst>
            </p:cNvPr>
            <p:cNvSpPr/>
            <p:nvPr/>
          </p:nvSpPr>
          <p:spPr bwMode="auto">
            <a:xfrm>
              <a:off x="3051069" y="2980388"/>
              <a:ext cx="540400" cy="5239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-1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EA9358A-38C2-4FEB-BC84-CABCD5240317}"/>
                </a:ext>
              </a:extLst>
            </p:cNvPr>
            <p:cNvGrpSpPr/>
            <p:nvPr/>
          </p:nvGrpSpPr>
          <p:grpSpPr>
            <a:xfrm>
              <a:off x="2286000" y="1371600"/>
              <a:ext cx="3935160" cy="3519000"/>
              <a:chOff x="304800" y="2255400"/>
              <a:chExt cx="3935160" cy="3519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A77DF84-8484-49EC-91D7-C00BFAD9B791}"/>
                  </a:ext>
                </a:extLst>
              </p:cNvPr>
              <p:cNvSpPr/>
              <p:nvPr/>
            </p:nvSpPr>
            <p:spPr>
              <a:xfrm>
                <a:off x="304800" y="3210840"/>
                <a:ext cx="742320" cy="74268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F09DE0D9-A71F-4EE6-AC9C-2B120E5FA6DA}"/>
                      </a:ext>
                    </a:extLst>
                  </p14:cNvPr>
                  <p14:cNvContentPartPr/>
                  <p14:nvPr/>
                </p14:nvContentPartPr>
                <p14:xfrm>
                  <a:off x="547660" y="3413760"/>
                  <a:ext cx="208440" cy="284760"/>
                </p14:xfrm>
              </p:contentPart>
            </mc:Choice>
            <mc:Fallback xmlns=""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F09DE0D9-A71F-4EE6-AC9C-2B120E5FA6DA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35800" y="3401895"/>
                    <a:ext cx="232159" cy="308490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D2E8076-255D-4163-92B5-AD15835D106B}"/>
                  </a:ext>
                </a:extLst>
              </p:cNvPr>
              <p:cNvCxnSpPr>
                <a:stCxn id="9" idx="7"/>
                <a:endCxn id="12" idx="2"/>
              </p:cNvCxnSpPr>
              <p:nvPr/>
            </p:nvCxnSpPr>
            <p:spPr>
              <a:xfrm flipV="1">
                <a:off x="938410" y="2617200"/>
                <a:ext cx="683270" cy="702403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1CDE560-1B25-4C84-9946-58146D350C35}"/>
                  </a:ext>
                </a:extLst>
              </p:cNvPr>
              <p:cNvSpPr/>
              <p:nvPr/>
            </p:nvSpPr>
            <p:spPr>
              <a:xfrm>
                <a:off x="1621680" y="2255400"/>
                <a:ext cx="723960" cy="72360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E1532B8-03CD-45B0-9793-E97DC5B31388}"/>
                  </a:ext>
                </a:extLst>
              </p:cNvPr>
              <p:cNvSpPr/>
              <p:nvPr/>
            </p:nvSpPr>
            <p:spPr>
              <a:xfrm>
                <a:off x="1725000" y="3710880"/>
                <a:ext cx="712080" cy="71208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73E6BA5-5CBC-4229-AA12-EADB9B3B9842}"/>
                  </a:ext>
                </a:extLst>
              </p:cNvPr>
              <p:cNvSpPr/>
              <p:nvPr/>
            </p:nvSpPr>
            <p:spPr>
              <a:xfrm>
                <a:off x="1730400" y="5044680"/>
                <a:ext cx="729720" cy="72972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DA26CEF5-F808-47E3-92F9-00D2AD1D2510}"/>
                      </a:ext>
                    </a:extLst>
                  </p14:cNvPr>
                  <p14:cNvContentPartPr/>
                  <p14:nvPr/>
                </p14:nvContentPartPr>
                <p14:xfrm>
                  <a:off x="1983340" y="5278200"/>
                  <a:ext cx="258120" cy="21420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DA26CEF5-F808-47E3-92F9-00D2AD1D2510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971460" y="5266360"/>
                    <a:ext cx="281880" cy="23788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63E8F6A-9EEC-4C2F-9938-AA360A1DE15F}"/>
                  </a:ext>
                </a:extLst>
              </p:cNvPr>
              <p:cNvSpPr/>
              <p:nvPr/>
            </p:nvSpPr>
            <p:spPr>
              <a:xfrm>
                <a:off x="3491160" y="2422440"/>
                <a:ext cx="748800" cy="74844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F0D5612-0445-41BF-A1C6-79E2641104E4}"/>
                  </a:ext>
                </a:extLst>
              </p:cNvPr>
              <p:cNvCxnSpPr>
                <a:stCxn id="12" idx="6"/>
                <a:endCxn id="16" idx="2"/>
              </p:cNvCxnSpPr>
              <p:nvPr/>
            </p:nvCxnSpPr>
            <p:spPr>
              <a:xfrm>
                <a:off x="2345640" y="2617200"/>
                <a:ext cx="1145520" cy="179460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8476433-4C18-4353-87BE-790F070E6B00}"/>
                  </a:ext>
                </a:extLst>
              </p:cNvPr>
              <p:cNvCxnSpPr>
                <a:stCxn id="16" idx="3"/>
                <a:endCxn id="13" idx="6"/>
              </p:cNvCxnSpPr>
              <p:nvPr/>
            </p:nvCxnSpPr>
            <p:spPr>
              <a:xfrm flipH="1">
                <a:off x="2437080" y="3061273"/>
                <a:ext cx="1163739" cy="1005647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941D202-E58B-484B-8A8F-5A1252E91121}"/>
                  </a:ext>
                </a:extLst>
              </p:cNvPr>
              <p:cNvCxnSpPr>
                <a:cxnSpLocks/>
                <a:stCxn id="9" idx="6"/>
                <a:endCxn id="13" idx="1"/>
              </p:cNvCxnSpPr>
              <p:nvPr/>
            </p:nvCxnSpPr>
            <p:spPr>
              <a:xfrm>
                <a:off x="1047120" y="3582180"/>
                <a:ext cx="782162" cy="232982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0867470-2B82-4131-B8F9-0D6EE3D4AB3B}"/>
                  </a:ext>
                </a:extLst>
              </p:cNvPr>
              <p:cNvCxnSpPr>
                <a:stCxn id="9" idx="4"/>
                <a:endCxn id="14" idx="1"/>
              </p:cNvCxnSpPr>
              <p:nvPr/>
            </p:nvCxnSpPr>
            <p:spPr>
              <a:xfrm>
                <a:off x="675960" y="3953520"/>
                <a:ext cx="1161305" cy="1198025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C8603444-5527-4FE2-B83C-FCDC6DF951B3}"/>
                      </a:ext>
                    </a:extLst>
                  </p14:cNvPr>
                  <p14:cNvContentPartPr/>
                  <p14:nvPr/>
                </p14:nvContentPartPr>
                <p14:xfrm>
                  <a:off x="1093060" y="2397120"/>
                  <a:ext cx="2833200" cy="1287720"/>
                </p14:xfrm>
              </p:contentPart>
            </mc:Choice>
            <mc:Fallback xmlns=""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C8603444-5527-4FE2-B83C-FCDC6DF951B3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81178" y="2385273"/>
                    <a:ext cx="2856963" cy="1311414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16119BF-C3BF-4FF2-B533-58F5E7A84A0B}"/>
                  </a:ext>
                </a:extLst>
              </p:cNvPr>
              <p:cNvSpPr/>
              <p:nvPr/>
            </p:nvSpPr>
            <p:spPr>
              <a:xfrm>
                <a:off x="1518360" y="3508920"/>
                <a:ext cx="102960" cy="10296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3377EA3D-895A-4593-AAB9-33C56D1DF3CF}"/>
                      </a:ext>
                    </a:extLst>
                  </p14:cNvPr>
                  <p14:cNvContentPartPr/>
                  <p14:nvPr/>
                </p14:nvContentPartPr>
                <p14:xfrm>
                  <a:off x="2835460" y="3266520"/>
                  <a:ext cx="45000" cy="20232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3377EA3D-895A-4593-AAB9-33C56D1DF3CF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823580" y="3254640"/>
                    <a:ext cx="68760" cy="226080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34C7F66E-A53D-44B8-B8C9-29C473A3CA4B}"/>
                  </a:ext>
                </a:extLst>
              </p:cNvPr>
              <p:cNvCxnSpPr>
                <a:stCxn id="13" idx="4"/>
                <a:endCxn id="14" idx="0"/>
              </p:cNvCxnSpPr>
              <p:nvPr/>
            </p:nvCxnSpPr>
            <p:spPr>
              <a:xfrm>
                <a:off x="2081040" y="4422960"/>
                <a:ext cx="14220" cy="621720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EF2AC1A3-1EFE-448A-9F1B-9E3C0F1F43DE}"/>
                      </a:ext>
                    </a:extLst>
                  </p14:cNvPr>
                  <p14:cNvContentPartPr/>
                  <p14:nvPr/>
                </p14:nvContentPartPr>
                <p14:xfrm>
                  <a:off x="1072540" y="3850080"/>
                  <a:ext cx="1355400" cy="1169640"/>
                </p14:xfrm>
              </p:contentPart>
            </mc:Choice>
            <mc:Fallback xmlns=""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EF2AC1A3-1EFE-448A-9F1B-9E3C0F1F43DE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60673" y="3838211"/>
                    <a:ext cx="1379135" cy="1193378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E0F0680-AB4C-4664-84DE-37E0840284B1}"/>
                  </a:ext>
                </a:extLst>
              </p:cNvPr>
              <p:cNvSpPr/>
              <p:nvPr/>
            </p:nvSpPr>
            <p:spPr bwMode="auto">
              <a:xfrm>
                <a:off x="2189920" y="4443793"/>
                <a:ext cx="540400" cy="52392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charset="0"/>
                  </a:rPr>
                  <a:t>-6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p:grp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6A0D01F-D352-4981-9D12-2A3828CE9339}"/>
                </a:ext>
              </a:extLst>
            </p:cNvPr>
            <p:cNvSpPr/>
            <p:nvPr/>
          </p:nvSpPr>
          <p:spPr>
            <a:xfrm>
              <a:off x="2963917" y="2921876"/>
              <a:ext cx="714704" cy="199976"/>
            </a:xfrm>
            <a:custGeom>
              <a:avLst/>
              <a:gdLst>
                <a:gd name="connsiteX0" fmla="*/ 714704 w 714704"/>
                <a:gd name="connsiteY0" fmla="*/ 199696 h 199976"/>
                <a:gd name="connsiteX1" fmla="*/ 346842 w 714704"/>
                <a:gd name="connsiteY1" fmla="*/ 168165 h 199976"/>
                <a:gd name="connsiteX2" fmla="*/ 0 w 714704"/>
                <a:gd name="connsiteY2" fmla="*/ 0 h 19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704" h="199976">
                  <a:moveTo>
                    <a:pt x="714704" y="199696"/>
                  </a:moveTo>
                  <a:cubicBezTo>
                    <a:pt x="590331" y="200572"/>
                    <a:pt x="465959" y="201448"/>
                    <a:pt x="346842" y="168165"/>
                  </a:cubicBezTo>
                  <a:cubicBezTo>
                    <a:pt x="227725" y="134882"/>
                    <a:pt x="113862" y="67441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arrow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0945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374E0-B486-4B72-BCA7-3019225F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specifically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DC488-9F25-42F7-811B-08D7B4AFF95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4892040"/>
                <a:ext cx="8229600" cy="1737360"/>
              </a:xfrm>
            </p:spPr>
            <p:txBody>
              <a:bodyPr/>
              <a:lstStyle/>
              <a:p>
                <a:r>
                  <a:rPr lang="en-US" sz="2400" dirty="0"/>
                  <a:t>Now perform </a:t>
                </a:r>
                <a:r>
                  <a:rPr lang="en-US" sz="2400" dirty="0">
                    <a:solidFill>
                      <a:srgbClr val="C00000"/>
                    </a:solidFill>
                  </a:rPr>
                  <a:t>update</a:t>
                </a:r>
                <a:r>
                  <a:rPr lang="en-US" sz="2400" dirty="0"/>
                  <a:t> for </a:t>
                </a:r>
                <a:r>
                  <a:rPr lang="en-US" sz="2400" b="1" dirty="0"/>
                  <a:t>all edges </a:t>
                </a:r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Afterwards, all nodes whose shortest path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has only </a:t>
                </a:r>
                <a:r>
                  <a:rPr lang="en-US" sz="2400" dirty="0">
                    <a:solidFill>
                      <a:srgbClr val="700000"/>
                    </a:solidFill>
                  </a:rPr>
                  <a:t>one</a:t>
                </a:r>
                <a:r>
                  <a:rPr lang="en-US" sz="2400" dirty="0"/>
                  <a:t> edge are now guaranteed to be estimated </a:t>
                </a:r>
                <a:r>
                  <a:rPr lang="en-US" sz="2400" dirty="0">
                    <a:solidFill>
                      <a:srgbClr val="700000"/>
                    </a:solidFill>
                  </a:rPr>
                  <a:t>correctly</a:t>
                </a:r>
                <a:r>
                  <a:rPr lang="en-US" sz="2400" dirty="0"/>
                  <a:t>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DC488-9F25-42F7-811B-08D7B4AFF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4892040"/>
                <a:ext cx="8229600" cy="1737360"/>
              </a:xfrm>
              <a:blipFill>
                <a:blip r:embed="rId2"/>
                <a:stretch>
                  <a:fillRect l="-519" t="-2807" r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37F6776A-808C-46FA-A31F-72E2FF379569}"/>
              </a:ext>
            </a:extLst>
          </p:cNvPr>
          <p:cNvGrpSpPr/>
          <p:nvPr/>
        </p:nvGrpSpPr>
        <p:grpSpPr>
          <a:xfrm>
            <a:off x="2286000" y="1219200"/>
            <a:ext cx="3935160" cy="3519000"/>
            <a:chOff x="2286000" y="1371600"/>
            <a:chExt cx="3935160" cy="3519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88811B-6C48-40EC-AE7C-EF04C56ADD98}"/>
                </a:ext>
              </a:extLst>
            </p:cNvPr>
            <p:cNvSpPr/>
            <p:nvPr/>
          </p:nvSpPr>
          <p:spPr bwMode="auto">
            <a:xfrm>
              <a:off x="3051069" y="2980388"/>
              <a:ext cx="540400" cy="5239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-1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240174D-601D-4D7C-B21D-74297A5E0C6C}"/>
                </a:ext>
              </a:extLst>
            </p:cNvPr>
            <p:cNvGrpSpPr/>
            <p:nvPr/>
          </p:nvGrpSpPr>
          <p:grpSpPr>
            <a:xfrm>
              <a:off x="2286000" y="1371600"/>
              <a:ext cx="3935160" cy="3519000"/>
              <a:chOff x="304800" y="2255400"/>
              <a:chExt cx="3935160" cy="3519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3D93548-E738-493A-9255-54AC1C44D3B0}"/>
                  </a:ext>
                </a:extLst>
              </p:cNvPr>
              <p:cNvSpPr/>
              <p:nvPr/>
            </p:nvSpPr>
            <p:spPr>
              <a:xfrm>
                <a:off x="304800" y="3210840"/>
                <a:ext cx="742320" cy="74268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033CAE95-FC19-4B6B-8C77-6914864DF18E}"/>
                      </a:ext>
                    </a:extLst>
                  </p14:cNvPr>
                  <p14:cNvContentPartPr/>
                  <p14:nvPr/>
                </p14:nvContentPartPr>
                <p14:xfrm>
                  <a:off x="547660" y="3413760"/>
                  <a:ext cx="208440" cy="28476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033CAE95-FC19-4B6B-8C77-6914864DF18E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35800" y="3401895"/>
                    <a:ext cx="232159" cy="308490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3601680-1512-4CC8-BDBC-59521F53FCB2}"/>
                  </a:ext>
                </a:extLst>
              </p:cNvPr>
              <p:cNvCxnSpPr>
                <a:stCxn id="10" idx="7"/>
                <a:endCxn id="13" idx="2"/>
              </p:cNvCxnSpPr>
              <p:nvPr/>
            </p:nvCxnSpPr>
            <p:spPr>
              <a:xfrm flipV="1">
                <a:off x="938410" y="2617200"/>
                <a:ext cx="683270" cy="702403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D163059-4D1A-462E-8D0E-37A9B77FE1AF}"/>
                  </a:ext>
                </a:extLst>
              </p:cNvPr>
              <p:cNvSpPr/>
              <p:nvPr/>
            </p:nvSpPr>
            <p:spPr>
              <a:xfrm>
                <a:off x="1621680" y="2255400"/>
                <a:ext cx="723960" cy="72360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4258B253-6F88-43BE-A51D-B806AD7CCF02}"/>
                  </a:ext>
                </a:extLst>
              </p:cNvPr>
              <p:cNvSpPr/>
              <p:nvPr/>
            </p:nvSpPr>
            <p:spPr>
              <a:xfrm>
                <a:off x="1725000" y="3710880"/>
                <a:ext cx="712080" cy="71208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BB335F4-49A3-4F1D-BA64-E99FA250153B}"/>
                  </a:ext>
                </a:extLst>
              </p:cNvPr>
              <p:cNvSpPr/>
              <p:nvPr/>
            </p:nvSpPr>
            <p:spPr>
              <a:xfrm>
                <a:off x="1730400" y="5044680"/>
                <a:ext cx="729720" cy="72972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33924B16-CEC5-42C1-AD11-7A456E782344}"/>
                      </a:ext>
                    </a:extLst>
                  </p14:cNvPr>
                  <p14:cNvContentPartPr/>
                  <p14:nvPr/>
                </p14:nvContentPartPr>
                <p14:xfrm>
                  <a:off x="1983340" y="5278200"/>
                  <a:ext cx="258120" cy="21420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33924B16-CEC5-42C1-AD11-7A456E782344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971460" y="5266360"/>
                    <a:ext cx="281880" cy="23788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4F59D1E-BD0E-4BE2-B479-3041214EDC72}"/>
                  </a:ext>
                </a:extLst>
              </p:cNvPr>
              <p:cNvSpPr/>
              <p:nvPr/>
            </p:nvSpPr>
            <p:spPr>
              <a:xfrm>
                <a:off x="3491160" y="2422440"/>
                <a:ext cx="748800" cy="74844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9C65FE4-C388-41C1-932A-BEA4C17B001E}"/>
                  </a:ext>
                </a:extLst>
              </p:cNvPr>
              <p:cNvCxnSpPr>
                <a:stCxn id="13" idx="6"/>
                <a:endCxn id="17" idx="2"/>
              </p:cNvCxnSpPr>
              <p:nvPr/>
            </p:nvCxnSpPr>
            <p:spPr>
              <a:xfrm>
                <a:off x="2345640" y="2617200"/>
                <a:ext cx="1145520" cy="179460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4F77346-F708-4E85-B8D4-A2011D5E9EA8}"/>
                  </a:ext>
                </a:extLst>
              </p:cNvPr>
              <p:cNvCxnSpPr>
                <a:stCxn id="17" idx="3"/>
                <a:endCxn id="14" idx="6"/>
              </p:cNvCxnSpPr>
              <p:nvPr/>
            </p:nvCxnSpPr>
            <p:spPr>
              <a:xfrm flipH="1">
                <a:off x="2437080" y="3061273"/>
                <a:ext cx="1163739" cy="1005647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313CF9F-B899-498D-8FEE-03BC8D4974BD}"/>
                  </a:ext>
                </a:extLst>
              </p:cNvPr>
              <p:cNvCxnSpPr>
                <a:cxnSpLocks/>
                <a:stCxn id="10" idx="6"/>
                <a:endCxn id="14" idx="1"/>
              </p:cNvCxnSpPr>
              <p:nvPr/>
            </p:nvCxnSpPr>
            <p:spPr>
              <a:xfrm>
                <a:off x="1047120" y="3582180"/>
                <a:ext cx="782162" cy="232982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647F08F-308C-4075-9110-725650FAEEDA}"/>
                  </a:ext>
                </a:extLst>
              </p:cNvPr>
              <p:cNvCxnSpPr>
                <a:stCxn id="10" idx="4"/>
                <a:endCxn id="15" idx="1"/>
              </p:cNvCxnSpPr>
              <p:nvPr/>
            </p:nvCxnSpPr>
            <p:spPr>
              <a:xfrm>
                <a:off x="675960" y="3953520"/>
                <a:ext cx="1161305" cy="1198025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50070296-5429-433E-B7A1-40F5FD3DC198}"/>
                      </a:ext>
                    </a:extLst>
                  </p14:cNvPr>
                  <p14:cNvContentPartPr/>
                  <p14:nvPr/>
                </p14:nvContentPartPr>
                <p14:xfrm>
                  <a:off x="1093060" y="2397120"/>
                  <a:ext cx="2833200" cy="128772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50070296-5429-433E-B7A1-40F5FD3DC198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81178" y="2385273"/>
                    <a:ext cx="2856963" cy="1311414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C930E94-A883-41BA-AC06-7DDB0A3DFC05}"/>
                  </a:ext>
                </a:extLst>
              </p:cNvPr>
              <p:cNvSpPr/>
              <p:nvPr/>
            </p:nvSpPr>
            <p:spPr>
              <a:xfrm>
                <a:off x="1518360" y="3508920"/>
                <a:ext cx="102960" cy="10296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97924DE2-3E36-4FD1-A2F5-500F6E14D428}"/>
                      </a:ext>
                    </a:extLst>
                  </p14:cNvPr>
                  <p14:cNvContentPartPr/>
                  <p14:nvPr/>
                </p14:nvContentPartPr>
                <p14:xfrm>
                  <a:off x="2835460" y="3266520"/>
                  <a:ext cx="45000" cy="20232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97924DE2-3E36-4FD1-A2F5-500F6E14D428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823580" y="3254640"/>
                    <a:ext cx="68760" cy="226080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08EBD6B-80D0-4B3C-9C35-A55F534720A2}"/>
                  </a:ext>
                </a:extLst>
              </p:cNvPr>
              <p:cNvCxnSpPr>
                <a:stCxn id="14" idx="4"/>
                <a:endCxn id="15" idx="0"/>
              </p:cNvCxnSpPr>
              <p:nvPr/>
            </p:nvCxnSpPr>
            <p:spPr>
              <a:xfrm>
                <a:off x="2081040" y="4422960"/>
                <a:ext cx="14220" cy="621720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051F9CC4-046B-4F3B-9CCD-D9331D3788B9}"/>
                      </a:ext>
                    </a:extLst>
                  </p14:cNvPr>
                  <p14:cNvContentPartPr/>
                  <p14:nvPr/>
                </p14:nvContentPartPr>
                <p14:xfrm>
                  <a:off x="1072540" y="3850080"/>
                  <a:ext cx="1355400" cy="116964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051F9CC4-046B-4F3B-9CCD-D9331D3788B9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60673" y="3838211"/>
                    <a:ext cx="1379135" cy="1193378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93C831D-5F08-420A-9963-06617E6D553D}"/>
                  </a:ext>
                </a:extLst>
              </p:cNvPr>
              <p:cNvSpPr/>
              <p:nvPr/>
            </p:nvSpPr>
            <p:spPr bwMode="auto">
              <a:xfrm>
                <a:off x="2189920" y="4443793"/>
                <a:ext cx="540400" cy="52392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charset="0"/>
                  </a:rPr>
                  <a:t>-6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1BC0771-0CFB-4697-9D9C-E0533381EA5F}"/>
                </a:ext>
              </a:extLst>
            </p:cNvPr>
            <p:cNvSpPr/>
            <p:nvPr/>
          </p:nvSpPr>
          <p:spPr>
            <a:xfrm>
              <a:off x="2963917" y="2921876"/>
              <a:ext cx="714704" cy="199976"/>
            </a:xfrm>
            <a:custGeom>
              <a:avLst/>
              <a:gdLst>
                <a:gd name="connsiteX0" fmla="*/ 714704 w 714704"/>
                <a:gd name="connsiteY0" fmla="*/ 199696 h 199976"/>
                <a:gd name="connsiteX1" fmla="*/ 346842 w 714704"/>
                <a:gd name="connsiteY1" fmla="*/ 168165 h 199976"/>
                <a:gd name="connsiteX2" fmla="*/ 0 w 714704"/>
                <a:gd name="connsiteY2" fmla="*/ 0 h 19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704" h="199976">
                  <a:moveTo>
                    <a:pt x="714704" y="199696"/>
                  </a:moveTo>
                  <a:cubicBezTo>
                    <a:pt x="590331" y="200572"/>
                    <a:pt x="465959" y="201448"/>
                    <a:pt x="346842" y="168165"/>
                  </a:cubicBezTo>
                  <a:cubicBezTo>
                    <a:pt x="227725" y="134882"/>
                    <a:pt x="113862" y="67441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arrow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82462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374E0-B486-4B72-BCA7-3019225F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specifically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DC488-9F25-42F7-811B-08D7B4AFF95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4892040"/>
                <a:ext cx="8229600" cy="1737360"/>
              </a:xfrm>
            </p:spPr>
            <p:txBody>
              <a:bodyPr/>
              <a:lstStyle/>
              <a:p>
                <a:r>
                  <a:rPr lang="en-US" sz="2400" dirty="0"/>
                  <a:t>Now perform </a:t>
                </a:r>
                <a:r>
                  <a:rPr lang="en-US" sz="2400" dirty="0">
                    <a:solidFill>
                      <a:srgbClr val="C00000"/>
                    </a:solidFill>
                  </a:rPr>
                  <a:t>update</a:t>
                </a:r>
                <a:r>
                  <a:rPr lang="en-US" sz="2400" dirty="0"/>
                  <a:t> for </a:t>
                </a:r>
                <a:r>
                  <a:rPr lang="en-US" sz="2400" b="1" dirty="0"/>
                  <a:t>all edges </a:t>
                </a:r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700000"/>
                    </a:solidFill>
                  </a:rPr>
                  <a:t>again</a:t>
                </a:r>
              </a:p>
              <a:p>
                <a:r>
                  <a:rPr lang="en-US" sz="2400" dirty="0"/>
                  <a:t>Afterwards, all nodes whose shortest path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has at most </a:t>
                </a:r>
                <a:r>
                  <a:rPr lang="en-US" sz="2400" dirty="0">
                    <a:solidFill>
                      <a:srgbClr val="700000"/>
                    </a:solidFill>
                  </a:rPr>
                  <a:t>two</a:t>
                </a:r>
                <a:r>
                  <a:rPr lang="en-US" sz="2400" dirty="0"/>
                  <a:t> edges are now guaranteed to be estimated </a:t>
                </a:r>
                <a:r>
                  <a:rPr lang="en-US" sz="2400" dirty="0">
                    <a:solidFill>
                      <a:srgbClr val="700000"/>
                    </a:solidFill>
                  </a:rPr>
                  <a:t>correctly</a:t>
                </a:r>
                <a:r>
                  <a:rPr lang="en-US" sz="2400" dirty="0"/>
                  <a:t>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DC488-9F25-42F7-811B-08D7B4AFF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4892040"/>
                <a:ext cx="8229600" cy="1737360"/>
              </a:xfrm>
              <a:blipFill>
                <a:blip r:embed="rId2"/>
                <a:stretch>
                  <a:fillRect l="-519" t="-2807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783D7731-6131-4909-AA32-50C5EC6A9895}"/>
              </a:ext>
            </a:extLst>
          </p:cNvPr>
          <p:cNvGrpSpPr/>
          <p:nvPr/>
        </p:nvGrpSpPr>
        <p:grpSpPr>
          <a:xfrm>
            <a:off x="2286000" y="1219200"/>
            <a:ext cx="3935160" cy="3519000"/>
            <a:chOff x="2286000" y="1371600"/>
            <a:chExt cx="3935160" cy="3519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BE24CB-6827-4F3A-8F52-41CE58677CA2}"/>
                </a:ext>
              </a:extLst>
            </p:cNvPr>
            <p:cNvSpPr/>
            <p:nvPr/>
          </p:nvSpPr>
          <p:spPr bwMode="auto">
            <a:xfrm>
              <a:off x="3051069" y="2980388"/>
              <a:ext cx="540400" cy="5239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-1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F604F3-A27E-46DA-AB22-BD2E0555B6F5}"/>
                </a:ext>
              </a:extLst>
            </p:cNvPr>
            <p:cNvGrpSpPr/>
            <p:nvPr/>
          </p:nvGrpSpPr>
          <p:grpSpPr>
            <a:xfrm>
              <a:off x="2286000" y="1371600"/>
              <a:ext cx="3935160" cy="3519000"/>
              <a:chOff x="304800" y="2255400"/>
              <a:chExt cx="3935160" cy="3519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C390924-FF5A-4DD9-B420-4DA67B410646}"/>
                  </a:ext>
                </a:extLst>
              </p:cNvPr>
              <p:cNvSpPr/>
              <p:nvPr/>
            </p:nvSpPr>
            <p:spPr>
              <a:xfrm>
                <a:off x="304800" y="3210840"/>
                <a:ext cx="742320" cy="74268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C17A554B-3ED0-43FF-8B77-10EC2445BEF7}"/>
                      </a:ext>
                    </a:extLst>
                  </p14:cNvPr>
                  <p14:cNvContentPartPr/>
                  <p14:nvPr/>
                </p14:nvContentPartPr>
                <p14:xfrm>
                  <a:off x="547660" y="3413760"/>
                  <a:ext cx="208440" cy="28476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C17A554B-3ED0-43FF-8B77-10EC2445BEF7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35800" y="3401895"/>
                    <a:ext cx="232159" cy="308490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8615403-2DC4-4D84-ADA3-7F81D1380AD3}"/>
                  </a:ext>
                </a:extLst>
              </p:cNvPr>
              <p:cNvCxnSpPr>
                <a:stCxn id="10" idx="7"/>
                <a:endCxn id="13" idx="2"/>
              </p:cNvCxnSpPr>
              <p:nvPr/>
            </p:nvCxnSpPr>
            <p:spPr>
              <a:xfrm flipV="1">
                <a:off x="938410" y="2617200"/>
                <a:ext cx="683270" cy="702403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3F7346B-E2A7-4031-9AC9-E48C30BE7B1A}"/>
                  </a:ext>
                </a:extLst>
              </p:cNvPr>
              <p:cNvSpPr/>
              <p:nvPr/>
            </p:nvSpPr>
            <p:spPr>
              <a:xfrm>
                <a:off x="1621680" y="2255400"/>
                <a:ext cx="723960" cy="72360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1A49939-221C-4537-84F6-A1A3100F9A8B}"/>
                  </a:ext>
                </a:extLst>
              </p:cNvPr>
              <p:cNvSpPr/>
              <p:nvPr/>
            </p:nvSpPr>
            <p:spPr>
              <a:xfrm>
                <a:off x="1725000" y="3710880"/>
                <a:ext cx="712080" cy="71208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581EC9E-FC66-444A-AA88-9661EA34B431}"/>
                  </a:ext>
                </a:extLst>
              </p:cNvPr>
              <p:cNvSpPr/>
              <p:nvPr/>
            </p:nvSpPr>
            <p:spPr>
              <a:xfrm>
                <a:off x="1730400" y="5044680"/>
                <a:ext cx="729720" cy="72972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BB78902F-BC9E-4E0C-B257-3562B4530CF0}"/>
                      </a:ext>
                    </a:extLst>
                  </p14:cNvPr>
                  <p14:cNvContentPartPr/>
                  <p14:nvPr/>
                </p14:nvContentPartPr>
                <p14:xfrm>
                  <a:off x="1983340" y="5278200"/>
                  <a:ext cx="258120" cy="21420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BB78902F-BC9E-4E0C-B257-3562B4530CF0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971460" y="5266360"/>
                    <a:ext cx="281880" cy="23788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6DD537F-957B-49C2-A75F-061D90F4E1B7}"/>
                  </a:ext>
                </a:extLst>
              </p:cNvPr>
              <p:cNvSpPr/>
              <p:nvPr/>
            </p:nvSpPr>
            <p:spPr>
              <a:xfrm>
                <a:off x="3491160" y="2422440"/>
                <a:ext cx="748800" cy="74844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6F99956-D1B7-497C-85E1-D6E14ABFC98C}"/>
                  </a:ext>
                </a:extLst>
              </p:cNvPr>
              <p:cNvCxnSpPr>
                <a:stCxn id="13" idx="6"/>
                <a:endCxn id="17" idx="2"/>
              </p:cNvCxnSpPr>
              <p:nvPr/>
            </p:nvCxnSpPr>
            <p:spPr>
              <a:xfrm>
                <a:off x="2345640" y="2617200"/>
                <a:ext cx="1145520" cy="179460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FC443AB3-D418-4D9E-84E2-AC9559A957A3}"/>
                  </a:ext>
                </a:extLst>
              </p:cNvPr>
              <p:cNvCxnSpPr>
                <a:stCxn id="17" idx="3"/>
                <a:endCxn id="14" idx="6"/>
              </p:cNvCxnSpPr>
              <p:nvPr/>
            </p:nvCxnSpPr>
            <p:spPr>
              <a:xfrm flipH="1">
                <a:off x="2437080" y="3061273"/>
                <a:ext cx="1163739" cy="1005647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2ECF376-4A2A-4C58-9EC2-B036436A0AD0}"/>
                  </a:ext>
                </a:extLst>
              </p:cNvPr>
              <p:cNvCxnSpPr>
                <a:cxnSpLocks/>
                <a:stCxn id="10" idx="6"/>
                <a:endCxn id="14" idx="1"/>
              </p:cNvCxnSpPr>
              <p:nvPr/>
            </p:nvCxnSpPr>
            <p:spPr>
              <a:xfrm>
                <a:off x="1047120" y="3582180"/>
                <a:ext cx="782162" cy="232982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1887976-B811-420B-9DFF-D76E15843A66}"/>
                  </a:ext>
                </a:extLst>
              </p:cNvPr>
              <p:cNvCxnSpPr>
                <a:stCxn id="10" idx="4"/>
                <a:endCxn id="15" idx="1"/>
              </p:cNvCxnSpPr>
              <p:nvPr/>
            </p:nvCxnSpPr>
            <p:spPr>
              <a:xfrm>
                <a:off x="675960" y="3953520"/>
                <a:ext cx="1161305" cy="1198025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1501DD18-EA70-4003-A4A1-E017A49D9937}"/>
                      </a:ext>
                    </a:extLst>
                  </p14:cNvPr>
                  <p14:cNvContentPartPr/>
                  <p14:nvPr/>
                </p14:nvContentPartPr>
                <p14:xfrm>
                  <a:off x="1093060" y="2397120"/>
                  <a:ext cx="2833200" cy="128772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1501DD18-EA70-4003-A4A1-E017A49D9937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81178" y="2385273"/>
                    <a:ext cx="2856963" cy="1311414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9A6E797-FB8F-4C43-9103-6E5D2088833A}"/>
                  </a:ext>
                </a:extLst>
              </p:cNvPr>
              <p:cNvSpPr/>
              <p:nvPr/>
            </p:nvSpPr>
            <p:spPr>
              <a:xfrm>
                <a:off x="1518360" y="3508920"/>
                <a:ext cx="102960" cy="10296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4B79B450-1AF9-4D3A-ABE9-A88471343B0F}"/>
                      </a:ext>
                    </a:extLst>
                  </p14:cNvPr>
                  <p14:cNvContentPartPr/>
                  <p14:nvPr/>
                </p14:nvContentPartPr>
                <p14:xfrm>
                  <a:off x="2835460" y="3266520"/>
                  <a:ext cx="45000" cy="20232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4B79B450-1AF9-4D3A-ABE9-A88471343B0F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823580" y="3254640"/>
                    <a:ext cx="68760" cy="226080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3927EEB-7677-4B48-9663-1F8B009F4B6C}"/>
                  </a:ext>
                </a:extLst>
              </p:cNvPr>
              <p:cNvCxnSpPr>
                <a:stCxn id="14" idx="4"/>
                <a:endCxn id="15" idx="0"/>
              </p:cNvCxnSpPr>
              <p:nvPr/>
            </p:nvCxnSpPr>
            <p:spPr>
              <a:xfrm>
                <a:off x="2081040" y="4422960"/>
                <a:ext cx="14220" cy="621720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50FB6626-831A-4344-8AF2-58206972EC96}"/>
                      </a:ext>
                    </a:extLst>
                  </p14:cNvPr>
                  <p14:cNvContentPartPr/>
                  <p14:nvPr/>
                </p14:nvContentPartPr>
                <p14:xfrm>
                  <a:off x="1072540" y="3850080"/>
                  <a:ext cx="1355400" cy="116964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50FB6626-831A-4344-8AF2-58206972EC96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60673" y="3838211"/>
                    <a:ext cx="1379135" cy="1193378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B683360-3AC3-4200-91F5-8D397A87583E}"/>
                  </a:ext>
                </a:extLst>
              </p:cNvPr>
              <p:cNvSpPr/>
              <p:nvPr/>
            </p:nvSpPr>
            <p:spPr bwMode="auto">
              <a:xfrm>
                <a:off x="2189920" y="4443793"/>
                <a:ext cx="540400" cy="52392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charset="0"/>
                  </a:rPr>
                  <a:t>-6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AAE9F6-9D01-4D7A-876B-4B47E7EC3A42}"/>
                </a:ext>
              </a:extLst>
            </p:cNvPr>
            <p:cNvSpPr/>
            <p:nvPr/>
          </p:nvSpPr>
          <p:spPr>
            <a:xfrm>
              <a:off x="2963917" y="2921876"/>
              <a:ext cx="714704" cy="199976"/>
            </a:xfrm>
            <a:custGeom>
              <a:avLst/>
              <a:gdLst>
                <a:gd name="connsiteX0" fmla="*/ 714704 w 714704"/>
                <a:gd name="connsiteY0" fmla="*/ 199696 h 199976"/>
                <a:gd name="connsiteX1" fmla="*/ 346842 w 714704"/>
                <a:gd name="connsiteY1" fmla="*/ 168165 h 199976"/>
                <a:gd name="connsiteX2" fmla="*/ 0 w 714704"/>
                <a:gd name="connsiteY2" fmla="*/ 0 h 19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704" h="199976">
                  <a:moveTo>
                    <a:pt x="714704" y="199696"/>
                  </a:moveTo>
                  <a:cubicBezTo>
                    <a:pt x="590331" y="200572"/>
                    <a:pt x="465959" y="201448"/>
                    <a:pt x="346842" y="168165"/>
                  </a:cubicBezTo>
                  <a:cubicBezTo>
                    <a:pt x="227725" y="134882"/>
                    <a:pt x="113862" y="67441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arrow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56864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374E0-B486-4B72-BCA7-3019225F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specifically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DC488-9F25-42F7-811B-08D7B4AFF95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4892040"/>
                <a:ext cx="8229600" cy="1813560"/>
              </a:xfrm>
            </p:spPr>
            <p:txBody>
              <a:bodyPr/>
              <a:lstStyle/>
              <a:p>
                <a:r>
                  <a:rPr lang="en-US" sz="2400" dirty="0"/>
                  <a:t>Now perform </a:t>
                </a:r>
                <a:r>
                  <a:rPr lang="en-US" sz="2400" dirty="0">
                    <a:solidFill>
                      <a:srgbClr val="C00000"/>
                    </a:solidFill>
                  </a:rPr>
                  <a:t>update</a:t>
                </a:r>
                <a:r>
                  <a:rPr lang="en-US" sz="2400" dirty="0"/>
                  <a:t> for </a:t>
                </a:r>
                <a:r>
                  <a:rPr lang="en-US" sz="2400" b="1" dirty="0"/>
                  <a:t>all edges </a:t>
                </a:r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700000"/>
                    </a:solidFill>
                  </a:rPr>
                  <a:t>repeatedly … </a:t>
                </a:r>
              </a:p>
              <a:p>
                <a:r>
                  <a:rPr lang="en-US" sz="2400" dirty="0"/>
                  <a:t>Afterwards, all nodes whose shortest path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has at most </a:t>
                </a:r>
                <a:r>
                  <a:rPr lang="en-US" sz="2400" dirty="0">
                    <a:solidFill>
                      <a:srgbClr val="700000"/>
                    </a:solidFill>
                  </a:rPr>
                  <a:t>more and more</a:t>
                </a:r>
                <a:r>
                  <a:rPr lang="en-US" sz="2400" dirty="0"/>
                  <a:t> edges will be now guaranteed to be estimated </a:t>
                </a:r>
                <a:r>
                  <a:rPr lang="en-US" sz="2400" dirty="0">
                    <a:solidFill>
                      <a:srgbClr val="700000"/>
                    </a:solidFill>
                  </a:rPr>
                  <a:t>correctly</a:t>
                </a:r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5DC488-9F25-42F7-811B-08D7B4AFF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4892040"/>
                <a:ext cx="8229600" cy="1813560"/>
              </a:xfrm>
              <a:blipFill>
                <a:blip r:embed="rId2"/>
                <a:stretch>
                  <a:fillRect l="-519" t="-2694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783D7731-6131-4909-AA32-50C5EC6A9895}"/>
              </a:ext>
            </a:extLst>
          </p:cNvPr>
          <p:cNvGrpSpPr/>
          <p:nvPr/>
        </p:nvGrpSpPr>
        <p:grpSpPr>
          <a:xfrm>
            <a:off x="2286000" y="1219200"/>
            <a:ext cx="3935160" cy="3519000"/>
            <a:chOff x="2286000" y="1371600"/>
            <a:chExt cx="3935160" cy="3519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BE24CB-6827-4F3A-8F52-41CE58677CA2}"/>
                </a:ext>
              </a:extLst>
            </p:cNvPr>
            <p:cNvSpPr/>
            <p:nvPr/>
          </p:nvSpPr>
          <p:spPr bwMode="auto">
            <a:xfrm>
              <a:off x="3051069" y="2980388"/>
              <a:ext cx="540400" cy="5239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-1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F604F3-A27E-46DA-AB22-BD2E0555B6F5}"/>
                </a:ext>
              </a:extLst>
            </p:cNvPr>
            <p:cNvGrpSpPr/>
            <p:nvPr/>
          </p:nvGrpSpPr>
          <p:grpSpPr>
            <a:xfrm>
              <a:off x="2286000" y="1371600"/>
              <a:ext cx="3935160" cy="3519000"/>
              <a:chOff x="304800" y="2255400"/>
              <a:chExt cx="3935160" cy="3519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C390924-FF5A-4DD9-B420-4DA67B410646}"/>
                  </a:ext>
                </a:extLst>
              </p:cNvPr>
              <p:cNvSpPr/>
              <p:nvPr/>
            </p:nvSpPr>
            <p:spPr>
              <a:xfrm>
                <a:off x="304800" y="3210840"/>
                <a:ext cx="742320" cy="74268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C17A554B-3ED0-43FF-8B77-10EC2445BEF7}"/>
                      </a:ext>
                    </a:extLst>
                  </p14:cNvPr>
                  <p14:cNvContentPartPr/>
                  <p14:nvPr/>
                </p14:nvContentPartPr>
                <p14:xfrm>
                  <a:off x="547660" y="3413760"/>
                  <a:ext cx="208440" cy="284760"/>
                </p14:xfrm>
              </p:contentPart>
            </mc:Choice>
            <mc:Fallback xmlns=""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C17A554B-3ED0-43FF-8B77-10EC2445BEF7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35800" y="3401895"/>
                    <a:ext cx="232159" cy="308490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8615403-2DC4-4D84-ADA3-7F81D1380AD3}"/>
                  </a:ext>
                </a:extLst>
              </p:cNvPr>
              <p:cNvCxnSpPr>
                <a:stCxn id="10" idx="7"/>
                <a:endCxn id="13" idx="2"/>
              </p:cNvCxnSpPr>
              <p:nvPr/>
            </p:nvCxnSpPr>
            <p:spPr>
              <a:xfrm flipV="1">
                <a:off x="938410" y="2617200"/>
                <a:ext cx="683270" cy="702403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3F7346B-E2A7-4031-9AC9-E48C30BE7B1A}"/>
                  </a:ext>
                </a:extLst>
              </p:cNvPr>
              <p:cNvSpPr/>
              <p:nvPr/>
            </p:nvSpPr>
            <p:spPr>
              <a:xfrm>
                <a:off x="1621680" y="2255400"/>
                <a:ext cx="723960" cy="72360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1A49939-221C-4537-84F6-A1A3100F9A8B}"/>
                  </a:ext>
                </a:extLst>
              </p:cNvPr>
              <p:cNvSpPr/>
              <p:nvPr/>
            </p:nvSpPr>
            <p:spPr>
              <a:xfrm>
                <a:off x="1725000" y="3710880"/>
                <a:ext cx="712080" cy="71208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581EC9E-FC66-444A-AA88-9661EA34B431}"/>
                  </a:ext>
                </a:extLst>
              </p:cNvPr>
              <p:cNvSpPr/>
              <p:nvPr/>
            </p:nvSpPr>
            <p:spPr>
              <a:xfrm>
                <a:off x="1730400" y="5044680"/>
                <a:ext cx="729720" cy="72972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BB78902F-BC9E-4E0C-B257-3562B4530CF0}"/>
                      </a:ext>
                    </a:extLst>
                  </p14:cNvPr>
                  <p14:cNvContentPartPr/>
                  <p14:nvPr/>
                </p14:nvContentPartPr>
                <p14:xfrm>
                  <a:off x="1983340" y="5278200"/>
                  <a:ext cx="258120" cy="21420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BB78902F-BC9E-4E0C-B257-3562B4530CF0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971460" y="5266360"/>
                    <a:ext cx="281880" cy="23788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6DD537F-957B-49C2-A75F-061D90F4E1B7}"/>
                  </a:ext>
                </a:extLst>
              </p:cNvPr>
              <p:cNvSpPr/>
              <p:nvPr/>
            </p:nvSpPr>
            <p:spPr>
              <a:xfrm>
                <a:off x="3491160" y="2422440"/>
                <a:ext cx="748800" cy="74844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6F99956-D1B7-497C-85E1-D6E14ABFC98C}"/>
                  </a:ext>
                </a:extLst>
              </p:cNvPr>
              <p:cNvCxnSpPr>
                <a:stCxn id="13" idx="6"/>
                <a:endCxn id="17" idx="2"/>
              </p:cNvCxnSpPr>
              <p:nvPr/>
            </p:nvCxnSpPr>
            <p:spPr>
              <a:xfrm>
                <a:off x="2345640" y="2617200"/>
                <a:ext cx="1145520" cy="179460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FC443AB3-D418-4D9E-84E2-AC9559A957A3}"/>
                  </a:ext>
                </a:extLst>
              </p:cNvPr>
              <p:cNvCxnSpPr>
                <a:stCxn id="17" idx="3"/>
                <a:endCxn id="14" idx="6"/>
              </p:cNvCxnSpPr>
              <p:nvPr/>
            </p:nvCxnSpPr>
            <p:spPr>
              <a:xfrm flipH="1">
                <a:off x="2437080" y="3061273"/>
                <a:ext cx="1163739" cy="1005647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2ECF376-4A2A-4C58-9EC2-B036436A0AD0}"/>
                  </a:ext>
                </a:extLst>
              </p:cNvPr>
              <p:cNvCxnSpPr>
                <a:cxnSpLocks/>
                <a:stCxn id="10" idx="6"/>
                <a:endCxn id="14" idx="1"/>
              </p:cNvCxnSpPr>
              <p:nvPr/>
            </p:nvCxnSpPr>
            <p:spPr>
              <a:xfrm>
                <a:off x="1047120" y="3582180"/>
                <a:ext cx="782162" cy="232982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1887976-B811-420B-9DFF-D76E15843A66}"/>
                  </a:ext>
                </a:extLst>
              </p:cNvPr>
              <p:cNvCxnSpPr>
                <a:stCxn id="10" idx="4"/>
                <a:endCxn id="15" idx="1"/>
              </p:cNvCxnSpPr>
              <p:nvPr/>
            </p:nvCxnSpPr>
            <p:spPr>
              <a:xfrm>
                <a:off x="675960" y="3953520"/>
                <a:ext cx="1161305" cy="1198025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1501DD18-EA70-4003-A4A1-E017A49D9937}"/>
                      </a:ext>
                    </a:extLst>
                  </p14:cNvPr>
                  <p14:cNvContentPartPr/>
                  <p14:nvPr/>
                </p14:nvContentPartPr>
                <p14:xfrm>
                  <a:off x="1093060" y="2397120"/>
                  <a:ext cx="2833200" cy="128772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1501DD18-EA70-4003-A4A1-E017A49D9937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81178" y="2385273"/>
                    <a:ext cx="2856963" cy="1311414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9A6E797-FB8F-4C43-9103-6E5D2088833A}"/>
                  </a:ext>
                </a:extLst>
              </p:cNvPr>
              <p:cNvSpPr/>
              <p:nvPr/>
            </p:nvSpPr>
            <p:spPr>
              <a:xfrm>
                <a:off x="1518360" y="3508920"/>
                <a:ext cx="102960" cy="102960"/>
              </a:xfrm>
              <a:prstGeom prst="ellipse">
                <a:avLst/>
              </a:prstGeom>
              <a:noFill/>
              <a:ln w="24000">
                <a:solidFill>
                  <a:srgbClr val="00000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charset="0"/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4B79B450-1AF9-4D3A-ABE9-A88471343B0F}"/>
                      </a:ext>
                    </a:extLst>
                  </p14:cNvPr>
                  <p14:cNvContentPartPr/>
                  <p14:nvPr/>
                </p14:nvContentPartPr>
                <p14:xfrm>
                  <a:off x="2835460" y="3266520"/>
                  <a:ext cx="45000" cy="202320"/>
                </p14:xfrm>
              </p:contentPart>
            </mc:Choice>
            <mc:Fallback xmlns=""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4B79B450-1AF9-4D3A-ABE9-A88471343B0F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823580" y="3254640"/>
                    <a:ext cx="68760" cy="226080"/>
                  </a:xfrm>
                  <a:prstGeom prst="rect">
                    <a:avLst/>
                  </a:prstGeom>
                </p:spPr>
              </p:pic>
            </mc:Fallback>
          </mc:AlternateContent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3927EEB-7677-4B48-9663-1F8B009F4B6C}"/>
                  </a:ext>
                </a:extLst>
              </p:cNvPr>
              <p:cNvCxnSpPr>
                <a:stCxn id="14" idx="4"/>
                <a:endCxn id="15" idx="0"/>
              </p:cNvCxnSpPr>
              <p:nvPr/>
            </p:nvCxnSpPr>
            <p:spPr>
              <a:xfrm>
                <a:off x="2081040" y="4422960"/>
                <a:ext cx="14220" cy="621720"/>
              </a:xfrm>
              <a:prstGeom prst="line">
                <a:avLst/>
              </a:prstGeom>
              <a:ln w="24000">
                <a:solidFill>
                  <a:srgbClr val="000000"/>
                </a:solidFill>
                <a:tailEnd type="arrow" w="med" len="lg"/>
              </a:ln>
            </p:spPr>
          </p:cxnSp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50FB6626-831A-4344-8AF2-58206972EC96}"/>
                      </a:ext>
                    </a:extLst>
                  </p14:cNvPr>
                  <p14:cNvContentPartPr/>
                  <p14:nvPr/>
                </p14:nvContentPartPr>
                <p14:xfrm>
                  <a:off x="1072540" y="3850080"/>
                  <a:ext cx="1355400" cy="1169640"/>
                </p14:xfrm>
              </p:contentPart>
            </mc:Choice>
            <mc:Fallback xmlns="">
              <p:pic>
                <p:nvPicPr>
                  <p:cNvPr id="26" name="Ink 25">
                    <a:extLst>
                      <a:ext uri="{FF2B5EF4-FFF2-40B4-BE49-F238E27FC236}">
                        <a16:creationId xmlns:a16="http://schemas.microsoft.com/office/drawing/2014/main" id="{50FB6626-831A-4344-8AF2-58206972EC96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60673" y="3838211"/>
                    <a:ext cx="1379135" cy="1193378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B683360-3AC3-4200-91F5-8D397A87583E}"/>
                  </a:ext>
                </a:extLst>
              </p:cNvPr>
              <p:cNvSpPr/>
              <p:nvPr/>
            </p:nvSpPr>
            <p:spPr bwMode="auto">
              <a:xfrm>
                <a:off x="2189920" y="4443793"/>
                <a:ext cx="540400" cy="52392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charset="0"/>
                  </a:rPr>
                  <a:t>-6</a:t>
                </a:r>
                <a:endPara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endParaRP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AAE9F6-9D01-4D7A-876B-4B47E7EC3A42}"/>
                </a:ext>
              </a:extLst>
            </p:cNvPr>
            <p:cNvSpPr/>
            <p:nvPr/>
          </p:nvSpPr>
          <p:spPr>
            <a:xfrm>
              <a:off x="2963917" y="2921876"/>
              <a:ext cx="714704" cy="199976"/>
            </a:xfrm>
            <a:custGeom>
              <a:avLst/>
              <a:gdLst>
                <a:gd name="connsiteX0" fmla="*/ 714704 w 714704"/>
                <a:gd name="connsiteY0" fmla="*/ 199696 h 199976"/>
                <a:gd name="connsiteX1" fmla="*/ 346842 w 714704"/>
                <a:gd name="connsiteY1" fmla="*/ 168165 h 199976"/>
                <a:gd name="connsiteX2" fmla="*/ 0 w 714704"/>
                <a:gd name="connsiteY2" fmla="*/ 0 h 19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704" h="199976">
                  <a:moveTo>
                    <a:pt x="714704" y="199696"/>
                  </a:moveTo>
                  <a:cubicBezTo>
                    <a:pt x="590331" y="200572"/>
                    <a:pt x="465959" y="201448"/>
                    <a:pt x="346842" y="168165"/>
                  </a:cubicBezTo>
                  <a:cubicBezTo>
                    <a:pt x="227725" y="134882"/>
                    <a:pt x="113862" y="67441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arrow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4705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F1D4B-EEFA-4063-B3EC-D75DB2E4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Invariant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D20706-333D-4816-91A9-26BF11E8555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perform “update all edges”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times</a:t>
                </a:r>
              </a:p>
              <a:p>
                <a:r>
                  <a:rPr lang="en-US" dirty="0"/>
                  <a:t>Loop invariant: </a:t>
                </a:r>
              </a:p>
              <a:p>
                <a:pPr lvl="1"/>
                <a:r>
                  <a:rPr lang="en-US" dirty="0"/>
                  <a:t>Then all nodes whose shortest path from source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edges are guaranteed to be estimated correctly.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D20706-333D-4816-91A9-26BF11E855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57412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C0BC-1705-4D36-B778-797270D9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375DA2-7846-4E7F-9789-A0450971E17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How many times should we perform “update all edges” </a:t>
                </a:r>
              </a:p>
              <a:p>
                <a:pPr lvl="1"/>
                <a:r>
                  <a:rPr lang="en-US" dirty="0"/>
                  <a:t>in order to guarantee that we find shortest path for all nodes?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Note that shortest paths are </a:t>
                </a:r>
                <a:r>
                  <a:rPr lang="en-US" dirty="0">
                    <a:solidFill>
                      <a:srgbClr val="00B050"/>
                    </a:solidFill>
                  </a:rPr>
                  <a:t>simple</a:t>
                </a:r>
              </a:p>
              <a:p>
                <a:pPr lvl="1"/>
                <a:r>
                  <a:rPr lang="en-US" dirty="0"/>
                  <a:t>Hence a shortest path has at most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dirty="0"/>
                  <a:t>edges in it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Hence 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rounds of “update all edges”, </a:t>
                </a:r>
              </a:p>
              <a:p>
                <a:pPr lvl="1"/>
                <a:r>
                  <a:rPr lang="en-US" dirty="0"/>
                  <a:t>we can guarantee that the shortest path distances to </a:t>
                </a:r>
                <a:r>
                  <a:rPr lang="en-US" dirty="0">
                    <a:solidFill>
                      <a:srgbClr val="700000"/>
                    </a:solidFill>
                  </a:rPr>
                  <a:t>all nodes </a:t>
                </a:r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are estimated correctly.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375DA2-7846-4E7F-9789-A0450971E1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A041128-79CA-4058-B60D-802721B2F46B}"/>
              </a:ext>
            </a:extLst>
          </p:cNvPr>
          <p:cNvSpPr/>
          <p:nvPr/>
        </p:nvSpPr>
        <p:spPr>
          <a:xfrm>
            <a:off x="1447800" y="5410200"/>
            <a:ext cx="6400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This is the idea behind Bellman-Ford Algorithm ! </a:t>
            </a:r>
          </a:p>
        </p:txBody>
      </p:sp>
    </p:spTree>
    <p:extLst>
      <p:ext uri="{BB962C8B-B14F-4D97-AF65-F5344CB8AC3E}">
        <p14:creationId xmlns:p14="http://schemas.microsoft.com/office/powerpoint/2010/main" val="228809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1A1A-430D-4DE6-86DC-FBE272BE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6215A-03D1-4D9A-B9A9-6462A201A55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648202"/>
            <a:ext cx="8229600" cy="1752598"/>
          </a:xfrm>
        </p:spPr>
        <p:txBody>
          <a:bodyPr/>
          <a:lstStyle/>
          <a:p>
            <a:r>
              <a:rPr lang="en-US" sz="2400" dirty="0"/>
              <a:t>Setup takes ____________ time</a:t>
            </a:r>
          </a:p>
          <a:p>
            <a:r>
              <a:rPr lang="en-US" sz="2400" dirty="0"/>
              <a:t>Each update takes ____________ time</a:t>
            </a:r>
          </a:p>
          <a:p>
            <a:r>
              <a:rPr lang="en-US" sz="2400" dirty="0"/>
              <a:t>There are __________ numbers of updates</a:t>
            </a:r>
          </a:p>
          <a:p>
            <a:r>
              <a:rPr lang="en-US" sz="2400" dirty="0"/>
              <a:t>Total time complexity is ______________.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84A8A-475D-452E-90F5-D29EFBC8F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1"/>
            <a:ext cx="8046720" cy="3352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65085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1A1A-430D-4DE6-86DC-FBE272BE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Bellman-Ford Algorithm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6215A-03D1-4D9A-B9A9-6462A201A55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648202"/>
            <a:ext cx="8229600" cy="1752598"/>
          </a:xfrm>
        </p:spPr>
        <p:txBody>
          <a:bodyPr/>
          <a:lstStyle/>
          <a:p>
            <a:r>
              <a:rPr lang="en-US" sz="2400" dirty="0"/>
              <a:t>Setup takes ____________ time</a:t>
            </a:r>
          </a:p>
          <a:p>
            <a:r>
              <a:rPr lang="en-US" sz="2400" dirty="0"/>
              <a:t>Each update takes ____________ time</a:t>
            </a:r>
          </a:p>
          <a:p>
            <a:r>
              <a:rPr lang="en-US" sz="2400" dirty="0"/>
              <a:t>There are _____________ numbers of updates</a:t>
            </a:r>
          </a:p>
          <a:p>
            <a:r>
              <a:rPr lang="en-US" sz="2400" dirty="0"/>
              <a:t>Total time complexity is ______________.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84A8A-475D-452E-90F5-D29EFBC8F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1"/>
            <a:ext cx="8046720" cy="3352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2CB866-57A7-4129-8472-F8B470208DCA}"/>
                  </a:ext>
                </a:extLst>
              </p:cNvPr>
              <p:cNvSpPr txBox="1"/>
              <p:nvPr/>
            </p:nvSpPr>
            <p:spPr>
              <a:xfrm>
                <a:off x="2667000" y="4585139"/>
                <a:ext cx="1447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2CB866-57A7-4129-8472-F8B470208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4585139"/>
                <a:ext cx="1447800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30C707-9BBB-440E-94BB-437E03711BAF}"/>
                  </a:ext>
                </a:extLst>
              </p:cNvPr>
              <p:cNvSpPr txBox="1"/>
              <p:nvPr/>
            </p:nvSpPr>
            <p:spPr>
              <a:xfrm>
                <a:off x="3032760" y="5018166"/>
                <a:ext cx="1447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30C707-9BBB-440E-94BB-437E03711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760" y="5018166"/>
                <a:ext cx="1447800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7D45D8-8BC3-4242-B754-FB3E8F15BD1C}"/>
                  </a:ext>
                </a:extLst>
              </p:cNvPr>
              <p:cNvSpPr txBox="1"/>
              <p:nvPr/>
            </p:nvSpPr>
            <p:spPr>
              <a:xfrm>
                <a:off x="2086566" y="5492969"/>
                <a:ext cx="21806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⋅(</m:t>
                      </m:r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7D45D8-8BC3-4242-B754-FB3E8F15B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566" y="5492969"/>
                <a:ext cx="2180634" cy="4001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82B332-A446-46D6-976B-E98DF2400FDE}"/>
                  </a:ext>
                </a:extLst>
              </p:cNvPr>
              <p:cNvSpPr txBox="1"/>
              <p:nvPr/>
            </p:nvSpPr>
            <p:spPr>
              <a:xfrm>
                <a:off x="4267200" y="5936901"/>
                <a:ext cx="1905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82B332-A446-46D6-976B-E98DF2400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5936901"/>
                <a:ext cx="1905000" cy="461665"/>
              </a:xfrm>
              <a:prstGeom prst="rect">
                <a:avLst/>
              </a:prstGeom>
              <a:blipFill>
                <a:blip r:embed="rId6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67864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5F60-2593-45FF-BFB2-71D5592A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E1BC6-777E-4B63-B2F0-94A45155752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676400"/>
              </a:xfrm>
            </p:spPr>
            <p:txBody>
              <a:bodyPr/>
              <a:lstStyle/>
              <a:p>
                <a:r>
                  <a:rPr lang="en-US" dirty="0"/>
                  <a:t>Suppose </a:t>
                </a:r>
                <a:r>
                  <a:rPr lang="en-US" dirty="0" err="1">
                    <a:latin typeface="Arial Nova Cond" panose="020B0604020202020204" pitchFamily="34" charset="0"/>
                  </a:rPr>
                  <a:t>graph.edges</a:t>
                </a:r>
                <a:r>
                  <a:rPr lang="en-US" dirty="0"/>
                  <a:t> returns edges in the following order:</a:t>
                </a:r>
              </a:p>
              <a:p>
                <a:pPr lvl="1"/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),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),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),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),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),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),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E1BC6-777E-4B63-B2F0-94A4515575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676400"/>
              </a:xfrm>
              <a:blipFill>
                <a:blip r:embed="rId2"/>
                <a:stretch>
                  <a:fillRect l="-667" t="-3636" b="-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D4DC3C6-720D-4B1C-B02D-F386D3179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3124200"/>
            <a:ext cx="695325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6803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E8EE78-5C25-4487-B0A3-5D19D29BE7F1}"/>
              </a:ext>
            </a:extLst>
          </p:cNvPr>
          <p:cNvSpPr txBox="1">
            <a:spLocks/>
          </p:cNvSpPr>
          <p:nvPr/>
        </p:nvSpPr>
        <p:spPr bwMode="auto">
          <a:xfrm>
            <a:off x="381000" y="2590800"/>
            <a:ext cx="8229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 algn="ctr"/>
            <a:r>
              <a:rPr lang="en-US" dirty="0"/>
              <a:t>Early-stopping and negative cycles</a:t>
            </a:r>
          </a:p>
        </p:txBody>
      </p:sp>
    </p:spTree>
    <p:extLst>
      <p:ext uri="{BB962C8B-B14F-4D97-AF65-F5344CB8AC3E}">
        <p14:creationId xmlns:p14="http://schemas.microsoft.com/office/powerpoint/2010/main" val="30438311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2852-876B-4863-86C2-574E2436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Early-stopping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273145-5C62-4699-AE2F-598D5BA00C0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Bellman-Ford may not need to run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iterations</a:t>
                </a:r>
              </a:p>
              <a:p>
                <a:r>
                  <a:rPr lang="en-US" dirty="0"/>
                  <a:t>If there is no distance change after a round, we can stop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273145-5C62-4699-AE2F-598D5BA00C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886182C-3837-44AF-B9C8-4268B8ADC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362200"/>
            <a:ext cx="7543800" cy="3956538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76779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0361-5842-4BCC-98B3-49F7413F7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Cycles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B81FA-4F37-487A-A741-271225E843B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Recall: if a graph has negative cycle(s), then the shortest paths are not well-defined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05BF56-D74C-43E3-A3E7-B1B4884A7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066925"/>
            <a:ext cx="395287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185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0361-5842-4BCC-98B3-49F7413F7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Cycles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B81FA-4F37-487A-A741-271225E843B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Recall: if a graph has negative cycle(s), then the shortest paths are not well-defined</a:t>
                </a:r>
              </a:p>
              <a:p>
                <a:endParaRPr lang="en-US" dirty="0"/>
              </a:p>
              <a:p>
                <a:r>
                  <a:rPr lang="en-US" dirty="0"/>
                  <a:t>If a graph does not have any negative cycle, then the estimated distances </a:t>
                </a:r>
                <a:r>
                  <a:rPr lang="en-US" dirty="0">
                    <a:solidFill>
                      <a:srgbClr val="00B050"/>
                    </a:solidFill>
                  </a:rPr>
                  <a:t>stop changing </a:t>
                </a:r>
                <a:r>
                  <a:rPr lang="en-US" dirty="0"/>
                  <a:t>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iterations</a:t>
                </a:r>
              </a:p>
              <a:p>
                <a:pPr lvl="1"/>
                <a:r>
                  <a:rPr lang="en-US" dirty="0"/>
                  <a:t>Why?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But if a graph has negative cycle(s), then some estimated distances </a:t>
                </a:r>
                <a:r>
                  <a:rPr lang="en-US" dirty="0">
                    <a:solidFill>
                      <a:srgbClr val="C00000"/>
                    </a:solidFill>
                  </a:rPr>
                  <a:t>continue to decrease </a:t>
                </a:r>
                <a:r>
                  <a:rPr lang="en-US" dirty="0"/>
                  <a:t>even 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iterations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B81FA-4F37-487A-A741-271225E84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A99771C-1FE2-4026-9513-C17410C53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5037083"/>
            <a:ext cx="26536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4958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0361-5842-4BCC-98B3-49F7413F7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Cycles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B81FA-4F37-487A-A741-271225E843B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If a graph does not have any negative cycle, then the estimated distances </a:t>
                </a:r>
                <a:r>
                  <a:rPr lang="en-US" dirty="0">
                    <a:solidFill>
                      <a:srgbClr val="00B050"/>
                    </a:solidFill>
                  </a:rPr>
                  <a:t>stop changing </a:t>
                </a:r>
                <a:r>
                  <a:rPr lang="en-US" dirty="0"/>
                  <a:t>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iterations</a:t>
                </a:r>
              </a:p>
              <a:p>
                <a:r>
                  <a:rPr lang="en-US" dirty="0"/>
                  <a:t>But if a graph has negative cycle(s), then some estimated distances </a:t>
                </a:r>
                <a:r>
                  <a:rPr lang="en-US" dirty="0">
                    <a:solidFill>
                      <a:srgbClr val="C00000"/>
                    </a:solidFill>
                  </a:rPr>
                  <a:t>continue to decrease </a:t>
                </a:r>
                <a:r>
                  <a:rPr lang="en-US" dirty="0"/>
                  <a:t>even after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iterations</a:t>
                </a:r>
              </a:p>
              <a:p>
                <a:endParaRPr lang="en-US" dirty="0"/>
              </a:p>
              <a:p>
                <a:r>
                  <a:rPr lang="en-US" dirty="0"/>
                  <a:t>Hence Bellman-Ford can be modified to also detect negative cycles</a:t>
                </a:r>
              </a:p>
              <a:p>
                <a:pPr lvl="1"/>
                <a:r>
                  <a:rPr lang="en-US" dirty="0"/>
                  <a:t>Run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iteration of “update all edges”</a:t>
                </a:r>
              </a:p>
              <a:p>
                <a:pPr lvl="1"/>
                <a:r>
                  <a:rPr lang="en-US" dirty="0"/>
                  <a:t>If any estimated distance is still decreasing, a negative cycle exists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B81FA-4F37-487A-A741-271225E84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3897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5D00-9D6B-4A22-A0DF-28EF8ADF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dirty="0"/>
              <a:t>Modified Bellman-Ford with early stopping and negative cycle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FB30C-FA9C-45BF-A53D-813C7A88368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3E6CA-5006-453A-A639-FB0B1B7D4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76" y="1311662"/>
            <a:ext cx="8153400" cy="475283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11479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25554</TotalTime>
  <Words>2763</Words>
  <Application>Microsoft Office PowerPoint</Application>
  <PresentationFormat>On-screen Show (4:3)</PresentationFormat>
  <Paragraphs>336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52</vt:i4>
      </vt:variant>
    </vt:vector>
  </HeadingPairs>
  <TitlesOfParts>
    <vt:vector size="67" baseType="lpstr">
      <vt:lpstr>Arial</vt:lpstr>
      <vt:lpstr>Segoe UI</vt:lpstr>
      <vt:lpstr>Bookman Old Style</vt:lpstr>
      <vt:lpstr>Abadi</vt:lpstr>
      <vt:lpstr>Wingdings 3</vt:lpstr>
      <vt:lpstr>Gill Sans MT</vt:lpstr>
      <vt:lpstr>Cambria Math</vt:lpstr>
      <vt:lpstr>Calibri Light</vt:lpstr>
      <vt:lpstr>Wingdings</vt:lpstr>
      <vt:lpstr>Calibri</vt:lpstr>
      <vt:lpstr>Times</vt:lpstr>
      <vt:lpstr>Arial Nova Cond</vt:lpstr>
      <vt:lpstr>Origin</vt:lpstr>
      <vt:lpstr>1_Custom Design</vt:lpstr>
      <vt:lpstr>Custom Design</vt:lpstr>
      <vt:lpstr>DSC40B: Theoretical Foundations of Data Science II </vt:lpstr>
      <vt:lpstr>Prelude</vt:lpstr>
      <vt:lpstr>Weighted graphs, and shortest paths in them </vt:lpstr>
      <vt:lpstr>PowerPoint Presentation</vt:lpstr>
      <vt:lpstr>Weighted Graph</vt:lpstr>
      <vt:lpstr>Path lengths</vt:lpstr>
      <vt:lpstr>Shortest Paths</vt:lpstr>
      <vt:lpstr>Shortest Paths</vt:lpstr>
      <vt:lpstr>PowerPoint Presentation</vt:lpstr>
      <vt:lpstr>Properties of shortest paths</vt:lpstr>
      <vt:lpstr>Properties of shortest paths</vt:lpstr>
      <vt:lpstr>Properties of shortest paths</vt:lpstr>
      <vt:lpstr>Properties of shortest path</vt:lpstr>
      <vt:lpstr>Property of shortest paths</vt:lpstr>
      <vt:lpstr>Single-source shortest paths (SSSP) and Does BFS work for weighted graphs?</vt:lpstr>
      <vt:lpstr>PowerPoint Presentation</vt:lpstr>
      <vt:lpstr>Recall</vt:lpstr>
      <vt:lpstr>Can BFS idea work? </vt:lpstr>
      <vt:lpstr>Can BFS idea work? </vt:lpstr>
      <vt:lpstr>Can we use BFS to solve SSSP?</vt:lpstr>
      <vt:lpstr>Problem with Approach #0</vt:lpstr>
      <vt:lpstr>Key operation for SSSP: Edge Update  </vt:lpstr>
      <vt:lpstr>Two algorithms for SSSP</vt:lpstr>
      <vt:lpstr>Estimated shortest path</vt:lpstr>
      <vt:lpstr>Estimated shortest path so far</vt:lpstr>
      <vt:lpstr>Updating edges</vt:lpstr>
      <vt:lpstr>Updating edges</vt:lpstr>
      <vt:lpstr>Example</vt:lpstr>
      <vt:lpstr>Example</vt:lpstr>
      <vt:lpstr>Another Example</vt:lpstr>
      <vt:lpstr>Implementing update() in python</vt:lpstr>
      <vt:lpstr>Implementing update() in python</vt:lpstr>
      <vt:lpstr>When does an update discover a shortest path? </vt:lpstr>
      <vt:lpstr>When does an update discover a shortest path? </vt:lpstr>
      <vt:lpstr>PowerPoint Presentation</vt:lpstr>
      <vt:lpstr>PowerPoint Presentation</vt:lpstr>
      <vt:lpstr>More specifically </vt:lpstr>
      <vt:lpstr>More specifically </vt:lpstr>
      <vt:lpstr>More specifically </vt:lpstr>
      <vt:lpstr>More specifically </vt:lpstr>
      <vt:lpstr>Loop Invariant</vt:lpstr>
      <vt:lpstr>PowerPoint Presentation</vt:lpstr>
      <vt:lpstr>Bellman-Ford Algorithm in Python</vt:lpstr>
      <vt:lpstr>Bellman-Ford Algorithm in Python</vt:lpstr>
      <vt:lpstr>Example</vt:lpstr>
      <vt:lpstr>PowerPoint Presentation</vt:lpstr>
      <vt:lpstr>Early-stopping</vt:lpstr>
      <vt:lpstr>Negative Cycles </vt:lpstr>
      <vt:lpstr>Negative Cycles </vt:lpstr>
      <vt:lpstr>Negative Cycles </vt:lpstr>
      <vt:lpstr>Modified Bellman-Ford with early stopping and negative cycle detection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1334</cp:revision>
  <dcterms:created xsi:type="dcterms:W3CDTF">2006-08-16T00:00:00Z</dcterms:created>
  <dcterms:modified xsi:type="dcterms:W3CDTF">2021-02-23T21:55:10Z</dcterms:modified>
</cp:coreProperties>
</file>