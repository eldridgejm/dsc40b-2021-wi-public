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38"/>
  </p:notesMasterIdLst>
  <p:sldIdLst>
    <p:sldId id="256" r:id="rId4"/>
    <p:sldId id="779" r:id="rId5"/>
    <p:sldId id="785" r:id="rId6"/>
    <p:sldId id="825" r:id="rId7"/>
    <p:sldId id="896" r:id="rId8"/>
    <p:sldId id="827" r:id="rId9"/>
    <p:sldId id="897" r:id="rId10"/>
    <p:sldId id="898" r:id="rId11"/>
    <p:sldId id="899" r:id="rId12"/>
    <p:sldId id="826" r:id="rId13"/>
    <p:sldId id="901" r:id="rId14"/>
    <p:sldId id="902" r:id="rId15"/>
    <p:sldId id="903" r:id="rId16"/>
    <p:sldId id="904" r:id="rId17"/>
    <p:sldId id="905" r:id="rId18"/>
    <p:sldId id="906" r:id="rId19"/>
    <p:sldId id="907" r:id="rId20"/>
    <p:sldId id="911" r:id="rId21"/>
    <p:sldId id="406" r:id="rId22"/>
    <p:sldId id="407" r:id="rId23"/>
    <p:sldId id="408" r:id="rId24"/>
    <p:sldId id="409" r:id="rId25"/>
    <p:sldId id="410" r:id="rId26"/>
    <p:sldId id="411" r:id="rId27"/>
    <p:sldId id="412" r:id="rId28"/>
    <p:sldId id="413" r:id="rId29"/>
    <p:sldId id="414" r:id="rId30"/>
    <p:sldId id="420" r:id="rId31"/>
    <p:sldId id="415" r:id="rId32"/>
    <p:sldId id="416" r:id="rId33"/>
    <p:sldId id="417" r:id="rId34"/>
    <p:sldId id="418" r:id="rId35"/>
    <p:sldId id="908" r:id="rId36"/>
    <p:sldId id="900" r:id="rId37"/>
  </p:sldIdLst>
  <p:sldSz cx="9144000" cy="6858000" type="screen4x3"/>
  <p:notesSz cx="6858000" cy="9144000"/>
  <p:embeddedFontLst>
    <p:embeddedFont>
      <p:font typeface="Arial Nova Cond" panose="020B0506020202020204" pitchFamily="34" charset="0"/>
      <p:regular r:id="rId39"/>
      <p:bold r:id="rId40"/>
      <p:italic r:id="rId41"/>
      <p:boldItalic r:id="rId42"/>
    </p:embeddedFont>
    <p:embeddedFont>
      <p:font typeface="Bookman Old Style" panose="02050604050505020204" pitchFamily="18" charset="0"/>
      <p:regular r:id="rId43"/>
      <p:bold r:id="rId44"/>
      <p:italic r:id="rId45"/>
      <p:boldItalic r:id="rId46"/>
    </p:embeddedFont>
    <p:embeddedFont>
      <p:font typeface="Calibri" panose="020F0502020204030204" pitchFamily="34" charset="0"/>
      <p:regular r:id="rId47"/>
      <p:bold r:id="rId48"/>
      <p:italic r:id="rId49"/>
      <p:boldItalic r:id="rId50"/>
    </p:embeddedFont>
    <p:embeddedFont>
      <p:font typeface="Calibri Light" panose="020F0302020204030204" pitchFamily="34" charset="0"/>
      <p:regular r:id="rId51"/>
      <p:italic r:id="rId52"/>
    </p:embeddedFont>
    <p:embeddedFont>
      <p:font typeface="Cambria Math" panose="02040503050406030204" pitchFamily="18" charset="0"/>
      <p:regular r:id="rId53"/>
    </p:embeddedFont>
    <p:embeddedFont>
      <p:font typeface="Gill Sans MT" panose="020B0502020104020203" pitchFamily="34" charset="0"/>
      <p:regular r:id="rId54"/>
      <p:bold r:id="rId55"/>
      <p:italic r:id="rId56"/>
      <p:boldItalic r:id="rId57"/>
    </p:embeddedFont>
    <p:embeddedFont>
      <p:font typeface="Wingdings 3" panose="05040102010807070707" pitchFamily="18" charset="2"/>
      <p:regular r:id="rId58"/>
    </p:embeddedFont>
  </p:embeddedFontLst>
  <p:custDataLst>
    <p:tags r:id="rId59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FF9900"/>
    <a:srgbClr val="0B0E8F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93792" autoAdjust="0"/>
  </p:normalViewPr>
  <p:slideViewPr>
    <p:cSldViewPr>
      <p:cViewPr varScale="1">
        <p:scale>
          <a:sx n="62" d="100"/>
          <a:sy n="62" d="100"/>
        </p:scale>
        <p:origin x="13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.fntdata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63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font" Target="fonts/font20.fntdata"/><Relationship Id="rId5" Type="http://schemas.openxmlformats.org/officeDocument/2006/relationships/slide" Target="slides/slide2.xml"/><Relationship Id="rId61" Type="http://schemas.openxmlformats.org/officeDocument/2006/relationships/viewProps" Target="viewProps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font" Target="fonts/font18.fntdata"/><Relationship Id="rId8" Type="http://schemas.openxmlformats.org/officeDocument/2006/relationships/slide" Target="slides/slide5.xml"/><Relationship Id="rId51" Type="http://schemas.openxmlformats.org/officeDocument/2006/relationships/font" Target="fonts/font13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tags" Target="tags/tag1.xml"/><Relationship Id="rId20" Type="http://schemas.openxmlformats.org/officeDocument/2006/relationships/slide" Target="slides/slide17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font" Target="fonts/font11.fntdata"/><Relationship Id="rId57" Type="http://schemas.openxmlformats.org/officeDocument/2006/relationships/font" Target="fonts/font19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6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3/5/2021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3/5/2021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3/5/2021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3/5/2021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3/5/2021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3/5/2021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3/5/2021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3/5/2021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3/5/2021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3/5/2021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17:   </a:t>
            </a:r>
            <a:r>
              <a:rPr lang="en-US" sz="2800" i="1" dirty="0"/>
              <a:t>Kruskal’s algorithm for MST, and hierarchical clustering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weighted undirected graph </a:t>
                </a:r>
              </a:p>
              <a:p>
                <a:pPr lvl="1"/>
                <a:r>
                  <a:rPr lang="en-US" dirty="0">
                    <a:solidFill>
                      <a:srgbClr val="700000"/>
                    </a:solidFill>
                  </a:rPr>
                  <a:t>Prim’s</a:t>
                </a:r>
                <a:r>
                  <a:rPr lang="en-US" dirty="0"/>
                  <a:t> algorithm to compute the minimum spanning tree (MST)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</a:t>
                </a:r>
              </a:p>
              <a:p>
                <a:pPr lvl="2"/>
                <a:r>
                  <a:rPr lang="en-US" dirty="0"/>
                  <a:t>It is a greedy algorithm</a:t>
                </a:r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r>
                  <a:rPr lang="en-US" dirty="0"/>
                  <a:t>Today: </a:t>
                </a:r>
              </a:p>
              <a:p>
                <a:pPr lvl="1"/>
                <a:r>
                  <a:rPr lang="en-US" dirty="0"/>
                  <a:t>Yet another greedy algorithm to compute MST, called </a:t>
                </a:r>
                <a:r>
                  <a:rPr lang="en-US" dirty="0">
                    <a:solidFill>
                      <a:srgbClr val="700000"/>
                    </a:solidFill>
                  </a:rPr>
                  <a:t>Kruskal’s</a:t>
                </a:r>
                <a:r>
                  <a:rPr lang="en-US" dirty="0"/>
                  <a:t> algorithm</a:t>
                </a:r>
              </a:p>
              <a:p>
                <a:pPr lvl="1"/>
                <a:r>
                  <a:rPr lang="en-US" dirty="0"/>
                  <a:t>Relation to hierarchical clustering </a:t>
                </a:r>
              </a:p>
              <a:p>
                <a:pPr lvl="1"/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C494781-9569-4BCE-B3A3-2C8EB0F99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Kruskal’s Algorithm for MST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5E012-94A7-4E1F-A0B2-ADC818115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the general greedy idea: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B6D40-B41E-439E-95B0-F5C364018BF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</p:spPr>
            <p:txBody>
              <a:bodyPr/>
              <a:lstStyle/>
              <a:p>
                <a:r>
                  <a:rPr lang="en-US" dirty="0"/>
                  <a:t>Input:  </a:t>
                </a:r>
              </a:p>
              <a:p>
                <a:pPr lvl="1"/>
                <a:r>
                  <a:rPr lang="en-US" dirty="0"/>
                  <a:t>a weighted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b="0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the set of edges in a MST </a:t>
                </a:r>
                <a14:m>
                  <m:oMath xmlns:m="http://schemas.openxmlformats.org/officeDocument/2006/math">
                    <m:r>
                      <a:rPr lang="en-US" i="1" kern="0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kern="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B6D40-B41E-439E-95B0-F5C364018B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1981200"/>
              </a:xfrm>
              <a:blipFill>
                <a:blip r:embed="rId2"/>
                <a:stretch>
                  <a:fillRect l="-667" t="-2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EDA43A5-71D8-4B9C-A021-5134C8C250F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41434" y="3426372"/>
                <a:ext cx="8229600" cy="2743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0" kern="0" dirty="0"/>
                  <a:t>A MST </a:t>
                </a:r>
                <a14:m>
                  <m:oMath xmlns:m="http://schemas.openxmlformats.org/officeDocument/2006/math">
                    <m:r>
                      <a:rPr lang="en-US" b="0" i="1" kern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b="0" kern="0" dirty="0"/>
                  <a:t> is </a:t>
                </a:r>
                <a14:m>
                  <m:oMath xmlns:m="http://schemas.openxmlformats.org/officeDocument/2006/math"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kern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kern="0" dirty="0"/>
                  <a:t> number of edges that connect all nodes, with no cycle. </a:t>
                </a:r>
              </a:p>
              <a:p>
                <a:r>
                  <a:rPr lang="en-US" b="0" kern="0" dirty="0"/>
                  <a:t>Intuitively, we will choose “</a:t>
                </a:r>
                <a:r>
                  <a:rPr lang="en-US" b="0" kern="0" dirty="0">
                    <a:solidFill>
                      <a:srgbClr val="00B050"/>
                    </a:solidFill>
                  </a:rPr>
                  <a:t>safe</a:t>
                </a:r>
                <a:r>
                  <a:rPr lang="en-US" b="0" kern="0" dirty="0"/>
                  <a:t>” edges greedily to incrementally build </a:t>
                </a:r>
                <a14:m>
                  <m:oMath xmlns:m="http://schemas.openxmlformats.org/officeDocument/2006/math">
                    <m:r>
                      <a:rPr lang="en-US" b="0" i="1" kern="0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b="0" kern="0" dirty="0"/>
                  <a:t> </a:t>
                </a:r>
              </a:p>
              <a:p>
                <a:pPr lvl="1"/>
                <a:r>
                  <a:rPr lang="en-US" kern="0" dirty="0"/>
                  <a:t>such that any time, the edges we choose will form a part of some MST </a:t>
                </a:r>
                <a:endParaRPr lang="en-US" b="0" kern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DEDA43A5-71D8-4B9C-A021-5134C8C25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434" y="3426372"/>
                <a:ext cx="8229600" cy="2743200"/>
              </a:xfrm>
              <a:prstGeom prst="rect">
                <a:avLst/>
              </a:prstGeom>
              <a:blipFill>
                <a:blip r:embed="rId3"/>
                <a:stretch>
                  <a:fillRect l="-667" t="-2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3189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0E38-816F-453B-8F84-12004B688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2E213-A65B-4F99-8C82-0649CC4A3C5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Last time: Prim’s algorithm</a:t>
            </a:r>
          </a:p>
          <a:p>
            <a:pPr lvl="1"/>
            <a:r>
              <a:rPr lang="en-US" dirty="0"/>
              <a:t>Starting from any node, it starts to </a:t>
            </a:r>
            <a:r>
              <a:rPr lang="en-US" dirty="0">
                <a:solidFill>
                  <a:srgbClr val="700000"/>
                </a:solidFill>
              </a:rPr>
              <a:t>grow a partial tree</a:t>
            </a:r>
            <a:r>
              <a:rPr lang="en-US" dirty="0"/>
              <a:t>, by repeatedly choosing </a:t>
            </a:r>
            <a:r>
              <a:rPr lang="en-US" dirty="0">
                <a:solidFill>
                  <a:srgbClr val="700000"/>
                </a:solidFill>
              </a:rPr>
              <a:t>the minimum-weight edge </a:t>
            </a:r>
            <a:r>
              <a:rPr lang="en-US" dirty="0"/>
              <a:t>to reach an unvisited node, till it connects all graph nodes </a:t>
            </a:r>
          </a:p>
          <a:p>
            <a:pPr lvl="1"/>
            <a:endParaRPr lang="en-US" dirty="0"/>
          </a:p>
          <a:p>
            <a:r>
              <a:rPr lang="en-US" dirty="0"/>
              <a:t>Today:  Kruskal’s algorithm </a:t>
            </a:r>
          </a:p>
          <a:p>
            <a:pPr lvl="1"/>
            <a:r>
              <a:rPr lang="en-US" dirty="0"/>
              <a:t>We will choose the ``</a:t>
            </a:r>
            <a:r>
              <a:rPr lang="en-US" dirty="0">
                <a:solidFill>
                  <a:srgbClr val="00B050"/>
                </a:solidFill>
              </a:rPr>
              <a:t>safe</a:t>
            </a:r>
            <a:r>
              <a:rPr lang="en-US" dirty="0"/>
              <a:t>” edges in a different order, and still grow the tree edge by edge</a:t>
            </a:r>
          </a:p>
          <a:p>
            <a:pPr lvl="2"/>
            <a:r>
              <a:rPr lang="en-US" dirty="0"/>
              <a:t>However, during the intermediate stages, what we have may not be a partial tree, could be disconnected.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92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71F5-038E-4B3C-B986-9DC12D60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981E7-8C22-4C9F-B5D8-2F0749C1282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5410200"/>
            <a:ext cx="8229600" cy="990600"/>
          </a:xfrm>
        </p:spPr>
        <p:txBody>
          <a:bodyPr/>
          <a:lstStyle/>
          <a:p>
            <a:r>
              <a:rPr lang="en-US" dirty="0"/>
              <a:t>What is a </a:t>
            </a:r>
            <a:r>
              <a:rPr lang="en-US" b="0" kern="0" dirty="0"/>
              <a:t>“</a:t>
            </a:r>
            <a:r>
              <a:rPr lang="en-US" b="0" kern="0" dirty="0">
                <a:solidFill>
                  <a:srgbClr val="00B050"/>
                </a:solidFill>
              </a:rPr>
              <a:t>safe</a:t>
            </a:r>
            <a:r>
              <a:rPr lang="en-US" b="0" kern="0" dirty="0"/>
              <a:t>”</a:t>
            </a:r>
            <a:r>
              <a:rPr lang="en-US" dirty="0"/>
              <a:t> edge to add first?</a:t>
            </a:r>
          </a:p>
          <a:p>
            <a:r>
              <a:rPr lang="en-US" dirty="0"/>
              <a:t>What will be the next a </a:t>
            </a:r>
            <a:r>
              <a:rPr lang="en-US" b="0" kern="0" dirty="0"/>
              <a:t>“</a:t>
            </a:r>
            <a:r>
              <a:rPr lang="en-US" b="0" kern="0" dirty="0">
                <a:solidFill>
                  <a:srgbClr val="00B050"/>
                </a:solidFill>
              </a:rPr>
              <a:t>safe</a:t>
            </a:r>
            <a:r>
              <a:rPr lang="en-US" b="0" kern="0" dirty="0"/>
              <a:t>”</a:t>
            </a:r>
            <a:r>
              <a:rPr lang="en-US" dirty="0"/>
              <a:t> edge to add? 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6CF743A3-4358-41D9-9678-CE3C98CEE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4712"/>
            <a:ext cx="8315325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1005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B0F8-F5C6-4AB5-9C29-1B5C39ABB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of Kruskal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20A78-6072-4934-B1BA-9CFEAA6C7E5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We will add edges gradually in a greedy manner using smallest weights, while maintaining what we have so far does not have any cycle</a:t>
            </a:r>
          </a:p>
          <a:p>
            <a:pPr lvl="1"/>
            <a:r>
              <a:rPr lang="en-US" sz="2000" dirty="0"/>
              <a:t>add edges to tree in ascending order by weight</a:t>
            </a:r>
          </a:p>
          <a:p>
            <a:pPr lvl="1"/>
            <a:r>
              <a:rPr lang="en-US" sz="2000" dirty="0"/>
              <a:t>but if an edge creates a </a:t>
            </a:r>
            <a:r>
              <a:rPr lang="en-US" sz="2000" dirty="0">
                <a:solidFill>
                  <a:srgbClr val="700000"/>
                </a:solidFill>
              </a:rPr>
              <a:t>cycle</a:t>
            </a:r>
            <a:r>
              <a:rPr lang="en-US" sz="2000" dirty="0"/>
              <a:t>, no not add it, and move on to next edge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0D6EC57-0614-4864-9FE9-E79D65024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860" y="3191619"/>
            <a:ext cx="6105525" cy="29653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6E47D35-CF66-4076-AE05-D3F9C10244A8}"/>
              </a:ext>
            </a:extLst>
          </p:cNvPr>
          <p:cNvGrpSpPr/>
          <p:nvPr/>
        </p:nvGrpSpPr>
        <p:grpSpPr>
          <a:xfrm>
            <a:off x="1736676" y="3657601"/>
            <a:ext cx="5273724" cy="2133600"/>
            <a:chOff x="990600" y="2057400"/>
            <a:chExt cx="7086600" cy="29083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2F96EEC-8F8B-487D-BD48-A08B8A7A527B}"/>
                </a:ext>
              </a:extLst>
            </p:cNvPr>
            <p:cNvCxnSpPr/>
            <p:nvPr/>
          </p:nvCxnSpPr>
          <p:spPr bwMode="auto">
            <a:xfrm flipH="1" flipV="1">
              <a:off x="990600" y="3708400"/>
              <a:ext cx="8382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7491417B-AEF5-4225-929E-A782976B9F25}"/>
                </a:ext>
              </a:extLst>
            </p:cNvPr>
            <p:cNvCxnSpPr/>
            <p:nvPr/>
          </p:nvCxnSpPr>
          <p:spPr bwMode="auto">
            <a:xfrm flipH="1">
              <a:off x="990600" y="2286000"/>
              <a:ext cx="838200" cy="9271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3F87734-66F6-4F92-8B1D-1D4440440893}"/>
                </a:ext>
              </a:extLst>
            </p:cNvPr>
            <p:cNvCxnSpPr/>
            <p:nvPr/>
          </p:nvCxnSpPr>
          <p:spPr bwMode="auto">
            <a:xfrm flipH="1">
              <a:off x="2362200" y="4965700"/>
              <a:ext cx="19050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BCAE83D8-FC82-4922-B05E-4B82279D15DB}"/>
                </a:ext>
              </a:extLst>
            </p:cNvPr>
            <p:cNvCxnSpPr/>
            <p:nvPr/>
          </p:nvCxnSpPr>
          <p:spPr bwMode="auto">
            <a:xfrm flipH="1">
              <a:off x="4876800" y="4965700"/>
              <a:ext cx="19050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2A4A8F4-7468-4DCE-8A82-B2453E7286E0}"/>
                </a:ext>
              </a:extLst>
            </p:cNvPr>
            <p:cNvCxnSpPr/>
            <p:nvPr/>
          </p:nvCxnSpPr>
          <p:spPr bwMode="auto">
            <a:xfrm flipH="1">
              <a:off x="3619500" y="3505200"/>
              <a:ext cx="19050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C63D93A-BF57-4761-A56B-B70560BC75BB}"/>
                </a:ext>
              </a:extLst>
            </p:cNvPr>
            <p:cNvCxnSpPr/>
            <p:nvPr/>
          </p:nvCxnSpPr>
          <p:spPr bwMode="auto">
            <a:xfrm flipH="1" flipV="1">
              <a:off x="3505200" y="3708400"/>
              <a:ext cx="8382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D212FE9-44D0-4101-A521-537C3FBA66E7}"/>
                </a:ext>
              </a:extLst>
            </p:cNvPr>
            <p:cNvCxnSpPr/>
            <p:nvPr/>
          </p:nvCxnSpPr>
          <p:spPr bwMode="auto">
            <a:xfrm flipH="1" flipV="1">
              <a:off x="7239000" y="2247900"/>
              <a:ext cx="838200" cy="101600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EF2A7D4-C217-4C5F-8A56-D4630F958851}"/>
                </a:ext>
              </a:extLst>
            </p:cNvPr>
            <p:cNvCxnSpPr/>
            <p:nvPr/>
          </p:nvCxnSpPr>
          <p:spPr bwMode="auto">
            <a:xfrm flipH="1">
              <a:off x="2362200" y="2057400"/>
              <a:ext cx="4419600" cy="0"/>
            </a:xfrm>
            <a:prstGeom prst="line">
              <a:avLst/>
            </a:prstGeom>
            <a:ln w="47625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670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B0F8-F5C6-4AB5-9C29-1B5C39ABB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20A78-6072-4934-B1BA-9CFEAA6C7E5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We will add edges gradually in a greedy manner using smallest weights, while maintaining what we have so far does not have any cycle</a:t>
                </a:r>
              </a:p>
              <a:p>
                <a:pPr lvl="1"/>
                <a:r>
                  <a:rPr lang="en-US" sz="2000" dirty="0"/>
                  <a:t>add edges to tree in ascending order by weight</a:t>
                </a:r>
              </a:p>
              <a:p>
                <a:pPr lvl="1"/>
                <a:r>
                  <a:rPr lang="en-US" sz="2000" dirty="0"/>
                  <a:t>but if an edge creates a </a:t>
                </a:r>
                <a:r>
                  <a:rPr lang="en-US" sz="2000" dirty="0">
                    <a:solidFill>
                      <a:srgbClr val="700000"/>
                    </a:solidFill>
                  </a:rPr>
                  <a:t>cycle</a:t>
                </a:r>
                <a:r>
                  <a:rPr lang="en-US" sz="2000" dirty="0"/>
                  <a:t>, no not add it, and move on to next edge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How do we check whether adding a new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creates a </a:t>
                </a:r>
                <a:r>
                  <a:rPr lang="en-US" sz="2400" dirty="0">
                    <a:solidFill>
                      <a:srgbClr val="700000"/>
                    </a:solidFill>
                  </a:rPr>
                  <a:t>cycle</a:t>
                </a:r>
                <a:r>
                  <a:rPr lang="en-US" sz="2400" dirty="0"/>
                  <a:t> or not? </a:t>
                </a:r>
              </a:p>
              <a:p>
                <a:pPr lvl="1"/>
                <a:r>
                  <a:rPr lang="en-US" sz="2100" dirty="0"/>
                  <a:t>check whether nodes </a:t>
                </a:r>
                <a14:m>
                  <m:oMath xmlns:m="http://schemas.openxmlformats.org/officeDocument/2006/math"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1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100" dirty="0"/>
                  <a:t> are in the same component in the  collection of edges we added so far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20A78-6072-4934-B1BA-9CFEAA6C7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035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2EF8F7-A9A3-44F1-88C6-D33FC0993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7677150" cy="3057525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BA3AA3-17EE-4173-8D27-D058EE487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C7FD28-E69C-44E9-95E4-FB862631D5F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433618"/>
                <a:ext cx="8229600" cy="1967182"/>
              </a:xfrm>
            </p:spPr>
            <p:txBody>
              <a:bodyPr/>
              <a:lstStyle/>
              <a:p>
                <a:r>
                  <a:rPr lang="en-US" sz="2400" dirty="0"/>
                  <a:t>We can maintain the components information of edges already collected, and perform </a:t>
                </a:r>
                <a:r>
                  <a:rPr lang="en-US" sz="2400" dirty="0" err="1">
                    <a:solidFill>
                      <a:srgbClr val="00B050"/>
                    </a:solidFill>
                    <a:latin typeface="Arial Nova Cond" panose="020B0506020202020204" pitchFamily="34" charset="0"/>
                  </a:rPr>
                  <a:t>mst.in_same_component</a:t>
                </a:r>
                <a:r>
                  <a:rPr lang="en-US" sz="2400" dirty="0">
                    <a:solidFill>
                      <a:srgbClr val="00B050"/>
                    </a:solidFill>
                  </a:rPr>
                  <a:t> </a:t>
                </a:r>
                <a:r>
                  <a:rPr lang="en-US" sz="2400" dirty="0"/>
                  <a:t>using the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union-find</a:t>
                </a:r>
                <a:r>
                  <a:rPr lang="en-US" sz="2400" dirty="0"/>
                  <a:t> data structure</a:t>
                </a:r>
              </a:p>
              <a:p>
                <a:r>
                  <a:rPr lang="en-US" sz="2400" dirty="0"/>
                  <a:t>The algorithm can be implemented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func>
                      <m:func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time</a:t>
                </a:r>
              </a:p>
              <a:p>
                <a:pPr lvl="1"/>
                <a:r>
                  <a:rPr lang="en-US" sz="2100" dirty="0"/>
                  <a:t>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func>
                          <m:funcPr>
                            <m:ctrlP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1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1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100" dirty="0"/>
                  <a:t> time if input graph is connected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C7FD28-E69C-44E9-95E4-FB862631D5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433618"/>
                <a:ext cx="8229600" cy="1967182"/>
              </a:xfrm>
              <a:blipFill>
                <a:blip r:embed="rId3"/>
                <a:stretch>
                  <a:fillRect l="-519" t="-2477" r="-1704" b="-8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6FA7E240-B6C3-446E-B05D-340C898E8937}"/>
              </a:ext>
            </a:extLst>
          </p:cNvPr>
          <p:cNvSpPr/>
          <p:nvPr/>
        </p:nvSpPr>
        <p:spPr>
          <a:xfrm>
            <a:off x="2819400" y="3124200"/>
            <a:ext cx="5105400" cy="304800"/>
          </a:xfrm>
          <a:prstGeom prst="rect">
            <a:avLst/>
          </a:prstGeom>
          <a:solidFill>
            <a:srgbClr val="FF99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59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MSTs and (hierarchical) clustering</a:t>
            </a:r>
          </a:p>
        </p:txBody>
      </p:sp>
    </p:spTree>
    <p:extLst>
      <p:ext uri="{BB962C8B-B14F-4D97-AF65-F5344CB8AC3E}">
        <p14:creationId xmlns:p14="http://schemas.microsoft.com/office/powerpoint/2010/main" val="21275372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D5194-C623-4B92-B7EC-54B9CD19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077CF-6D8A-4885-8B79-B23D30E2B2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Identify the groups in data</a:t>
                </a:r>
              </a:p>
              <a:p>
                <a:r>
                  <a:rPr lang="en-US" dirty="0"/>
                  <a:t>We frame clustering as a loss minimization problem</a:t>
                </a:r>
              </a:p>
              <a:p>
                <a:pPr lvl="1"/>
                <a:r>
                  <a:rPr lang="en-US" dirty="0"/>
                  <a:t>Input: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data points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Goal:    assign each data point a color (red or blue, which is class labels) so that the distance between the closest pair of red and blue points is maximized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077CF-6D8A-4885-8B79-B23D30E2B2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2A8130F-1950-4EDB-BF76-87379F8AD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52552"/>
            <a:ext cx="2857500" cy="2019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1A51BE-F298-4656-A7A4-C624B3B611B1}"/>
              </a:ext>
            </a:extLst>
          </p:cNvPr>
          <p:cNvSpPr txBox="1"/>
          <p:nvPr/>
        </p:nvSpPr>
        <p:spPr>
          <a:xfrm>
            <a:off x="781050" y="5871852"/>
            <a:ext cx="236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points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7DAB146-2DE1-4000-BC5B-616F716A3EE6}"/>
              </a:ext>
            </a:extLst>
          </p:cNvPr>
          <p:cNvGrpSpPr/>
          <p:nvPr/>
        </p:nvGrpSpPr>
        <p:grpSpPr>
          <a:xfrm>
            <a:off x="4681270" y="3733800"/>
            <a:ext cx="2771454" cy="2499360"/>
            <a:chOff x="4681270" y="3733800"/>
            <a:chExt cx="2771454" cy="249936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420E85B-60FF-4872-AF3B-22128F3FA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81270" y="3733800"/>
              <a:ext cx="2743200" cy="1990725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42775C-7AEA-4F50-A73A-6C16DECEDA5A}"/>
                </a:ext>
              </a:extLst>
            </p:cNvPr>
            <p:cNvSpPr txBox="1"/>
            <p:nvPr/>
          </p:nvSpPr>
          <p:spPr>
            <a:xfrm>
              <a:off x="5090524" y="5852160"/>
              <a:ext cx="23622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bad clustering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535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D5194-C623-4B92-B7EC-54B9CD19B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077CF-6D8A-4885-8B79-B23D30E2B2B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Identify the groups in data</a:t>
                </a:r>
              </a:p>
              <a:p>
                <a:r>
                  <a:rPr lang="en-US" dirty="0"/>
                  <a:t>We frame clustering as a loss minimization problem</a:t>
                </a:r>
              </a:p>
              <a:p>
                <a:pPr lvl="1"/>
                <a:r>
                  <a:rPr lang="en-US" dirty="0"/>
                  <a:t>Input: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data points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Goal:    assign each data point a color (red or blue, which is class labels) so that the distance between the closest pair of red and blue points is maximized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077CF-6D8A-4885-8B79-B23D30E2B2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2A8130F-1950-4EDB-BF76-87379F8AD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52552"/>
            <a:ext cx="2857500" cy="2019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1A51BE-F298-4656-A7A4-C624B3B611B1}"/>
              </a:ext>
            </a:extLst>
          </p:cNvPr>
          <p:cNvSpPr txBox="1"/>
          <p:nvPr/>
        </p:nvSpPr>
        <p:spPr>
          <a:xfrm>
            <a:off x="781050" y="5871852"/>
            <a:ext cx="236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input points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BDB89C-8DDF-4D56-898A-67F3597E6E56}"/>
              </a:ext>
            </a:extLst>
          </p:cNvPr>
          <p:cNvGrpSpPr/>
          <p:nvPr/>
        </p:nvGrpSpPr>
        <p:grpSpPr>
          <a:xfrm>
            <a:off x="4781550" y="3767769"/>
            <a:ext cx="2686050" cy="2404431"/>
            <a:chOff x="5029200" y="3800475"/>
            <a:chExt cx="2686050" cy="240443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3AA7062-4DF1-4AD2-BEE0-805EEC596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9200" y="3800475"/>
              <a:ext cx="2686050" cy="1990725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3AE5D9E-C74D-4D41-AAF0-2211CA0B209B}"/>
                </a:ext>
              </a:extLst>
            </p:cNvPr>
            <p:cNvSpPr txBox="1"/>
            <p:nvPr/>
          </p:nvSpPr>
          <p:spPr>
            <a:xfrm>
              <a:off x="5267325" y="5823906"/>
              <a:ext cx="23622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00B050"/>
                  </a:solidFill>
                </a:rPr>
                <a:t>good clustering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501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315BA-AEF8-4499-824D-3AA8FC905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the brute-force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88B3EB-6541-4A76-B443-8AE9877B792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Try all possible assignments</a:t>
                </a:r>
              </a:p>
              <a:p>
                <a:pPr lvl="1"/>
                <a:r>
                  <a:rPr lang="en-US" dirty="0"/>
                  <a:t>there 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possible assignments!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number of input points)</a:t>
                </a:r>
              </a:p>
              <a:p>
                <a:pPr lvl="1"/>
                <a:r>
                  <a:rPr lang="en-US" dirty="0"/>
                  <a:t>highly not efficient!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Instead, we will convert it to a graph problem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88B3EB-6541-4A76-B443-8AE9877B79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96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39BD7-8BA9-40A6-B5BE-18332264E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graph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E38215-0FDD-4EC7-B941-C5E648D2D82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data points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{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create a complete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such that for any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there is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weight of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call this resulting weighted graph the </a:t>
                </a:r>
                <a:r>
                  <a:rPr lang="en-US" dirty="0">
                    <a:solidFill>
                      <a:srgbClr val="C00000"/>
                    </a:solidFill>
                  </a:rPr>
                  <a:t>distance graph </a:t>
                </a:r>
                <a:r>
                  <a:rPr lang="en-US" dirty="0"/>
                  <a:t>spanned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E38215-0FDD-4EC7-B941-C5E648D2D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88EB9B7-F87C-4730-A875-23D5EDD83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962400"/>
            <a:ext cx="5867400" cy="2438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80847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C0A99-E556-4272-8B12-B7B7BA06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linkage clustering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927150-16D1-4BC8-BE87-4A56EF21B7C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Given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data points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{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Create distance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Run Kruskal’s Algorithm to compute MST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0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1000" dirty="0"/>
              </a:p>
              <a:p>
                <a:r>
                  <a:rPr lang="en-US" sz="2000" dirty="0"/>
                  <a:t>Delete largest edge in MST,  and we obtain two components =&gt; </a:t>
                </a:r>
                <a:r>
                  <a:rPr lang="en-US" sz="2000" dirty="0">
                    <a:solidFill>
                      <a:srgbClr val="00B050"/>
                    </a:solidFill>
                  </a:rPr>
                  <a:t>clusters</a:t>
                </a:r>
                <a:r>
                  <a:rPr lang="en-US" sz="2000" dirty="0"/>
                  <a:t>! </a:t>
                </a:r>
              </a:p>
              <a:p>
                <a:r>
                  <a:rPr lang="en-US" sz="2000" dirty="0"/>
                  <a:t>In general, if we remove largest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000" dirty="0"/>
                  <a:t> edges in MST</a:t>
                </a:r>
              </a:p>
              <a:p>
                <a:pPr lvl="1"/>
                <a:r>
                  <a:rPr lang="en-US" sz="2000" dirty="0"/>
                  <a:t>then we obtain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0B050"/>
                    </a:solidFill>
                  </a:rPr>
                  <a:t>clusters</a:t>
                </a:r>
                <a:r>
                  <a:rPr lang="en-US" sz="2000" dirty="0"/>
                  <a:t> (components)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927150-16D1-4BC8-BE87-4A56EF21B7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 t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3F54573-1238-4E94-A6A4-E979BCCF2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438400"/>
            <a:ext cx="30861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18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90E92-1C8B-4CCA-940A-A63E0CB1E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linkage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09F452-5170-4020-8901-2E2A221516D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Alternatively, we can perform Kruskal’s algorithm, adding edges in ascending order by weights without forming cycles, and stop till we have a target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number of components (clusters) </a:t>
                </a:r>
              </a:p>
              <a:p>
                <a:pPr lvl="1"/>
                <a:r>
                  <a:rPr lang="en-US" sz="2000" dirty="0"/>
                  <a:t>That is, we terminate early in the Kruskal’s algorithm</a:t>
                </a:r>
              </a:p>
              <a:p>
                <a:r>
                  <a:rPr lang="en-US" sz="2300" dirty="0"/>
                  <a:t>Time complexity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000" dirty="0"/>
                  <a:t>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this case</a:t>
                </a:r>
              </a:p>
              <a:p>
                <a:pPr lvl="1"/>
                <a:endParaRPr lang="en-US" sz="2000" dirty="0"/>
              </a:p>
              <a:p>
                <a:r>
                  <a:rPr lang="en-US" sz="2400" dirty="0"/>
                  <a:t>This is called the </a:t>
                </a:r>
                <a:r>
                  <a:rPr lang="en-US" sz="2400" dirty="0">
                    <a:solidFill>
                      <a:srgbClr val="00B050"/>
                    </a:solidFill>
                  </a:rPr>
                  <a:t>single-linkage clustering </a:t>
                </a:r>
                <a:r>
                  <a:rPr lang="en-US" sz="2400" dirty="0"/>
                  <a:t>algorithm </a:t>
                </a:r>
              </a:p>
              <a:p>
                <a:pPr lvl="1"/>
                <a:r>
                  <a:rPr lang="en-US" sz="2000" dirty="0"/>
                  <a:t>One of the most well-known clustering algorithm. </a:t>
                </a:r>
              </a:p>
              <a:p>
                <a:pPr lvl="1"/>
                <a:r>
                  <a:rPr lang="en-US" sz="2000" dirty="0"/>
                  <a:t>It is popular, although it suffers from the so-called </a:t>
                </a:r>
                <a:r>
                  <a:rPr lang="en-US" sz="2000" dirty="0">
                    <a:solidFill>
                      <a:srgbClr val="C00000"/>
                    </a:solidFill>
                  </a:rPr>
                  <a:t>chaining-effect</a:t>
                </a:r>
                <a:r>
                  <a:rPr lang="en-US" sz="2000" dirty="0"/>
                  <a:t> in practice. </a:t>
                </a:r>
              </a:p>
              <a:p>
                <a:pPr lvl="1"/>
                <a:r>
                  <a:rPr lang="en-US" sz="2000" dirty="0"/>
                  <a:t>Variants of it, e.g., average-linkage clustering  algorithm and complete-linkage clustering algorithm, are popular as a simple clustering algorithm. </a:t>
                </a:r>
              </a:p>
              <a:p>
                <a:pPr lvl="1"/>
                <a:endParaRPr lang="en-US" sz="2000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09F452-5170-4020-8901-2E2A221516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988" r="-1630" b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482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FC90-0460-41DA-8616-473C28FE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chaining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12E9C-E594-4936-9902-4F880AF436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47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Hierarchical clustering</a:t>
            </a:r>
          </a:p>
        </p:txBody>
      </p:sp>
    </p:spTree>
    <p:extLst>
      <p:ext uri="{BB962C8B-B14F-4D97-AF65-F5344CB8AC3E}">
        <p14:creationId xmlns:p14="http://schemas.microsoft.com/office/powerpoint/2010/main" val="642240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709" y="2595446"/>
            <a:ext cx="1838582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60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1709" y="2504946"/>
            <a:ext cx="2200582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876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31" y="2199806"/>
            <a:ext cx="7611537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78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073" y="2104532"/>
            <a:ext cx="7725853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13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Hierarchical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78" y="1809184"/>
            <a:ext cx="8192643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93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62" y="1409025"/>
            <a:ext cx="8421275" cy="48393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Hierarchical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469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6" y="1447800"/>
            <a:ext cx="9011908" cy="543953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687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Clustering Tree (HCT)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3505200"/>
            <a:ext cx="5149694" cy="3108325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03054"/>
            <a:ext cx="4287987" cy="24292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57804" y="1388465"/>
            <a:ext cx="4475013" cy="2031325"/>
          </a:xfrm>
          <a:prstGeom prst="rect">
            <a:avLst/>
          </a:prstGeom>
          <a:noFill/>
          <a:ln w="22225">
            <a:solidFill>
              <a:schemeClr val="accent4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internal tree node indicates a cluster, containing all leaves in subtree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Ancestor/descendent indicates containment relation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Height at each tree node corresponds to certain </a:t>
            </a:r>
            <a:r>
              <a:rPr lang="en-US" i="1" dirty="0">
                <a:solidFill>
                  <a:srgbClr val="700000"/>
                </a:solidFill>
              </a:rPr>
              <a:t>cost</a:t>
            </a:r>
            <a:r>
              <a:rPr lang="en-US" dirty="0"/>
              <a:t> of the corresponding cluster (</a:t>
            </a:r>
            <a:r>
              <a:rPr lang="en-US" dirty="0" err="1"/>
              <a:t>e.g</a:t>
            </a:r>
            <a:r>
              <a:rPr lang="en-US" dirty="0"/>
              <a:t>, tightness of cluster)</a:t>
            </a:r>
          </a:p>
        </p:txBody>
      </p:sp>
    </p:spTree>
    <p:extLst>
      <p:ext uri="{BB962C8B-B14F-4D97-AF65-F5344CB8AC3E}">
        <p14:creationId xmlns:p14="http://schemas.microsoft.com/office/powerpoint/2010/main" val="2984798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Linkage Clustering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One of the family of </a:t>
                </a:r>
                <a:r>
                  <a:rPr lang="en-US" dirty="0">
                    <a:solidFill>
                      <a:srgbClr val="700000"/>
                    </a:solidFill>
                  </a:rPr>
                  <a:t>agglomerative clustering </a:t>
                </a:r>
                <a:r>
                  <a:rPr lang="en-US" dirty="0"/>
                  <a:t>methods</a:t>
                </a:r>
              </a:p>
              <a:p>
                <a:endParaRPr lang="en-US" dirty="0"/>
              </a:p>
              <a:p>
                <a:r>
                  <a:rPr lang="en-US" dirty="0"/>
                  <a:t>Input:  A discrete n-point metric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A hierarchical clustering tree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with points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being leaves</a:t>
                </a:r>
              </a:p>
              <a:p>
                <a:endParaRPr lang="en-US" dirty="0"/>
              </a:p>
              <a:p>
                <a:r>
                  <a:rPr lang="en-US" dirty="0"/>
                  <a:t>Starting with each data point as a single cluster</a:t>
                </a:r>
              </a:p>
              <a:p>
                <a:r>
                  <a:rPr lang="en-US" dirty="0"/>
                  <a:t>Keep merging clusters based on nearest distance between points from their members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088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Linkage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Starting with each data point as a single cluster</a:t>
            </a:r>
          </a:p>
          <a:p>
            <a:r>
              <a:rPr lang="en-US" dirty="0"/>
              <a:t>Keep merging clusters based on nearest distance between points from their members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962400"/>
            <a:ext cx="4496427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210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Linkage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Starting with each data point as a single cluster</a:t>
            </a:r>
          </a:p>
          <a:p>
            <a:r>
              <a:rPr lang="en-US" dirty="0"/>
              <a:t>Keep merging clusters based on nearest distance between points from their members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86" y="4038600"/>
            <a:ext cx="4496427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83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Linkage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Starting with each data point as a single cluster</a:t>
            </a:r>
          </a:p>
          <a:p>
            <a:r>
              <a:rPr lang="en-US" dirty="0"/>
              <a:t>Keep merging clusters based on nearest distance between points from their members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038813"/>
            <a:ext cx="4496427" cy="15242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73" y="4038600"/>
            <a:ext cx="4496427" cy="15242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73" y="4038813"/>
            <a:ext cx="4496427" cy="15242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73" y="4038813"/>
            <a:ext cx="4496427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4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Linkage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Starting with each data point as a single cluster</a:t>
            </a:r>
          </a:p>
          <a:p>
            <a:r>
              <a:rPr lang="en-US" dirty="0"/>
              <a:t>Keep merging clusters based on nearest distance between points from their members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73" y="4038600"/>
            <a:ext cx="4496427" cy="15242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671" y="2971800"/>
            <a:ext cx="3096057" cy="304842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8610600" y="2590800"/>
            <a:ext cx="0" cy="3276600"/>
          </a:xfrm>
          <a:prstGeom prst="straightConnector1">
            <a:avLst/>
          </a:prstGeom>
          <a:ln w="25400"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308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Example: Single Linkage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Starting with each data point as a single cluster</a:t>
            </a:r>
          </a:p>
          <a:p>
            <a:r>
              <a:rPr lang="en-US" dirty="0"/>
              <a:t>Keep merging clusters based on nearest distance between points from their members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173" y="4038600"/>
            <a:ext cx="4496427" cy="15242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5671" y="2971800"/>
            <a:ext cx="3096057" cy="304842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8610600" y="2590800"/>
            <a:ext cx="0" cy="3276600"/>
          </a:xfrm>
          <a:prstGeom prst="straightConnector1">
            <a:avLst/>
          </a:prstGeom>
          <a:ln w="25400">
            <a:headEnd w="lg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172200" y="4343400"/>
            <a:ext cx="24384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337264" y="4343400"/>
                <a:ext cx="489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264" y="4343400"/>
                <a:ext cx="4891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579035" y="4126680"/>
                <a:ext cx="489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9035" y="4126680"/>
                <a:ext cx="48917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295400" y="4254349"/>
                <a:ext cx="489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254349"/>
                <a:ext cx="489172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570953" y="2787134"/>
                <a:ext cx="489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0953" y="2787134"/>
                <a:ext cx="4891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/>
          <p:cNvCxnSpPr/>
          <p:nvPr/>
        </p:nvCxnSpPr>
        <p:spPr>
          <a:xfrm>
            <a:off x="6934200" y="2971800"/>
            <a:ext cx="16764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92703AB-1982-4432-BFA9-367A488071B6}"/>
              </a:ext>
            </a:extLst>
          </p:cNvPr>
          <p:cNvSpPr/>
          <p:nvPr/>
        </p:nvSpPr>
        <p:spPr>
          <a:xfrm>
            <a:off x="640664" y="2787133"/>
            <a:ext cx="4769536" cy="9466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This procedure is exactly Kruskal’s algorithm! </a:t>
            </a:r>
          </a:p>
        </p:txBody>
      </p:sp>
    </p:spTree>
    <p:extLst>
      <p:ext uri="{BB962C8B-B14F-4D97-AF65-F5344CB8AC3E}">
        <p14:creationId xmlns:p14="http://schemas.microsoft.com/office/powerpoint/2010/main" val="4096292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A4E3-BA9C-4845-AEFB-8CB1E909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C6F97-F2E7-424A-942B-7C7B566145D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MST for weighted undirected graphs</a:t>
                </a:r>
              </a:p>
              <a:p>
                <a:pPr lvl="1"/>
                <a:r>
                  <a:rPr lang="en-US" dirty="0"/>
                  <a:t>Prim’s algorithm</a:t>
                </a:r>
              </a:p>
              <a:p>
                <a:pPr lvl="1"/>
                <a:r>
                  <a:rPr lang="en-US" dirty="0"/>
                  <a:t>Kruskal’s algorithm </a:t>
                </a:r>
              </a:p>
              <a:p>
                <a:pPr lvl="1"/>
                <a:r>
                  <a:rPr lang="en-US" dirty="0"/>
                  <a:t>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connected graphs)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Kruskal’s algorithm can be used to produce single linkage clustering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7C6F97-F2E7-424A-942B-7C7B566145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1219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41224311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20709</TotalTime>
  <Words>1170</Words>
  <Application>Microsoft Office PowerPoint</Application>
  <PresentationFormat>On-screen Show (4:3)</PresentationFormat>
  <Paragraphs>153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6" baseType="lpstr">
      <vt:lpstr>Bookman Old Style</vt:lpstr>
      <vt:lpstr>Calibri</vt:lpstr>
      <vt:lpstr>Gill Sans MT</vt:lpstr>
      <vt:lpstr>Calibri Light</vt:lpstr>
      <vt:lpstr>Arial</vt:lpstr>
      <vt:lpstr>Wingdings 3</vt:lpstr>
      <vt:lpstr>Cambria Math</vt:lpstr>
      <vt:lpstr>Arial Nova Cond</vt:lpstr>
      <vt:lpstr>Wingdings</vt:lpstr>
      <vt:lpstr>Origin</vt:lpstr>
      <vt:lpstr>1_Custom Design</vt:lpstr>
      <vt:lpstr>Custom Design</vt:lpstr>
      <vt:lpstr>DSC40B: Theoretical Foundations of Data Science II </vt:lpstr>
      <vt:lpstr>Previously </vt:lpstr>
      <vt:lpstr>Kruskal’s Algorithm for MST</vt:lpstr>
      <vt:lpstr>Recall the general greedy idea: </vt:lpstr>
      <vt:lpstr>PowerPoint Presentation</vt:lpstr>
      <vt:lpstr>Example</vt:lpstr>
      <vt:lpstr>Strategy of Kruskal</vt:lpstr>
      <vt:lpstr>Strategy</vt:lpstr>
      <vt:lpstr>Kruskal’s algorithm </vt:lpstr>
      <vt:lpstr>MSTs and (hierarchical) clustering</vt:lpstr>
      <vt:lpstr>Clustering problem</vt:lpstr>
      <vt:lpstr>Clustering problem</vt:lpstr>
      <vt:lpstr>Recall the brute-force solution</vt:lpstr>
      <vt:lpstr>Distance graph</vt:lpstr>
      <vt:lpstr>Single linkage clustering</vt:lpstr>
      <vt:lpstr>Single linkage clustering</vt:lpstr>
      <vt:lpstr>Example of chaining effect</vt:lpstr>
      <vt:lpstr>Hierarchical clustering</vt:lpstr>
      <vt:lpstr>Clustering</vt:lpstr>
      <vt:lpstr>Clustering</vt:lpstr>
      <vt:lpstr>Hierarchical Clustering </vt:lpstr>
      <vt:lpstr>Hierarchical Clustering  </vt:lpstr>
      <vt:lpstr> Hierarchical Clustering </vt:lpstr>
      <vt:lpstr> Hierarchical Clustering </vt:lpstr>
      <vt:lpstr>Hierarchical Clustering </vt:lpstr>
      <vt:lpstr>Hierarchical Clustering Tree (HCT)</vt:lpstr>
      <vt:lpstr>Single Linkage Clustering</vt:lpstr>
      <vt:lpstr>Single Linkage Clustering</vt:lpstr>
      <vt:lpstr>Single Linkage Clustering</vt:lpstr>
      <vt:lpstr>Single Linkage Clustering</vt:lpstr>
      <vt:lpstr>Single Linkage Clustering</vt:lpstr>
      <vt:lpstr>One Example: Single Linkage Clustering</vt:lpstr>
      <vt:lpstr>Summary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1285</cp:revision>
  <dcterms:created xsi:type="dcterms:W3CDTF">2006-08-16T00:00:00Z</dcterms:created>
  <dcterms:modified xsi:type="dcterms:W3CDTF">2021-03-05T22:17:35Z</dcterms:modified>
</cp:coreProperties>
</file>